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52b6dfbe-8ffa-e0bb-1515-7b1d2c6ce6eb}">
          <p14:sldIdLst>
            <p14:sldId id="256"/>
            <p14:sldId id="257"/>
          </p14:sldIdLst>
        </p14:section>
        <p14:section name="Concept" id="{724fc076-7b33-bf0f-5552-3ba1b7ec81ef}">
          <p14:sldIdLst>
            <p14:sldId id="258"/>
            <p14:sldId id="259"/>
          </p14:sldIdLst>
        </p14:section>
        <p14:section name="Key Elements" id="{beba6c0d-8d4a-423c-547a-4f647c8753d5}">
          <p14:sldIdLst>
            <p14:sldId id="260"/>
            <p14:sldId id="261"/>
          </p14:sldIdLst>
        </p14:section>
        <p14:section name="Simulation" id="{acf81c33-d385-0e92-9a45-8b5d06759014}">
          <p14:sldIdLst>
            <p14:sldId id="262"/>
            <p14:sldId id="263"/>
          </p14:sldIdLst>
        </p14:section>
        <p14:section name="Platform" id="{979734ff-1426-8063-3578-7348fdb2875d}">
          <p14:sldIdLst>
            <p14:sldId id="264"/>
          </p14:sldIdLst>
        </p14:section>
        <p14:section name="Execution" id="{dba7cc30-cbe4-494d-9022-af7d3361c7b8}">
          <p14:sldIdLst>
            <p14:sldId id="265"/>
            <p14:sldId id="266"/>
          </p14:sldIdLst>
        </p14:section>
        <p14:section name="Conclusion" id="{28aa7e2a-69db-c96e-2037-e6cc02689208}">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2 moves us from a concept to an OSIP-style proposal. The core objective is evidence-based: we want to prove which client-side serviceability features are technically useful, economically justified, and suitable for a ClearSpace roadmap. Everything in this deck feeds one of those three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1 proposed a Configurable Serviceability Platform Family. Every satellite carries a baseline of navigation aids, a capture interface and an end-of-life provision. On top of that, mission-specific add-ons: docking, refuelling and health monitoring for high-value GEO; upgrade and propulsion PODs for long-life assets; and a low-cost removal interface for LEO constellations, where unit cost dominates.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central Phase 2 question: what is the minimum set of client-side features that keeps a satellite serviceable not only when it is healthy, but also when it is degraded or fully non-cooperative and tumbling? Most existing interfaces assume a cooperative client. We design for the worst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core innovation is the combination, not any single part. IOS Mode covers the cooperative case; the independent service beacon covers degraded states; passive fiducials and a MICE-like capture provision cover non-cooperative targets; OSAN adds a full service node for high-value platforms.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service beacon is a small, independently powered transmitter. If the main on-board computer or comms degrade, it still broadcasts the minimum a servicer needs: who the satellite is, where and what the interface is, the IOS state, basic health flags, an angular-rate estimate, and whether the servicer is authenticated.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IOS Mode solves the 'two controllers' problem. The client steps through a defined state machine: Normal, Service Standby, Approach Permitted, IOS Mode where its attitude control goes passive or is handed over, Mated/Servicing, Verification, then Release. Abort is always available and drives both vehicles to a safe configuration.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simulate rendezvous and capture against four client cases, from an unprepared target (A0) through fiducials and capture geometry (A1), an available service beacon (A2), to full IOS Mode (A3). For each we measure capture success, abort rate, collision risk, delta-V, capture time and robustness to tumbling. The difference between cases is what quantifies the value of each client-side feature.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trajectory tells us almost nothing about robustness. On MeluXina we can run thousands of Monte-Carlo cases, varying tumble rate, navigation noise, beacon packet loss, latency, initial attitude and control uncertainty. The output is a set of probability maps — the serviceability envelope — showing where servicing remains feasible for each client case. The map on the slide is an illustration of the format, not a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OSAN is the physical side of the architecture for high-value spacecraft: one integrated zone handling capture and load transfer, power and data, optional fluid transfer and POD attachment. The aim is not to invent a new interface but to integrate existing ideas such as MICE, MASI and ASSIST into a scalable platform concept.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workstreams, one owner each. The systems lead integrates everything into the OSIP proposal; simulation and HPC produce the evidence; beacon and IOS/OSAN owners define the client-side features; business and regulatory turns it into a credible roadmap.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proposal follows the OSIP structure: executive summary, need and state of the art, innovation versus existing work, objectives, technical approach and work packages, expected results, risks and mitigation, and a roadmap from ground demonstration through in-orbit demonstration to market.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message: we are not proposing yet another docking port. We are investigating the minimum spacecraft-side preparation that makes future satellites safely serviceable even when degraded, and turning that into a scalable platform roadmap for ClearSpace.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B1730"/>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1234440"/>
            <a:ext cx="6766560" cy="365760"/>
          </a:xfrm>
          <a:prstGeom prst="rect">
            <a:avLst/>
          </a:prstGeom>
          <a:noFill/>
          <a:ln/>
        </p:spPr>
        <p:txBody>
          <a:bodyPr wrap="square" rtlCol="0"/>
          <a:lstStyle>
            <a:lvl1pPr indent="0" marL="0">
              <a:buNone/>
              <a:defRPr lang="en-US" sz="1400" b="1" spc="300" kern="0" dirty="0">
                <a:solidFill>
                  <a:schemeClr val="accent1"/>
                </a:solidFill>
              </a:defRPr>
            </a:lvl1pPr>
          </a:lstStyle>
          <a:p>
            <a:pPr indent="0" marL="0">
              <a:buNone/>
            </a:pPr>
            <a:endParaRPr lang="en-US" sz="1400" dirty="0"/>
          </a:p>
        </p:txBody>
      </p:sp>
      <p:sp>
        <p:nvSpPr>
          <p:cNvPr id="3" name="Text 0"/>
          <p:cNvSpPr/>
          <p:nvPr>
            <p:ph idx="101" type="title" hasCustomPrompt="1"/>
          </p:nvPr>
        </p:nvSpPr>
        <p:spPr>
          <a:xfrm>
            <a:off x="640080" y="1645920"/>
            <a:ext cx="6949440" cy="160020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0"/>
          <p:cNvSpPr/>
          <p:nvPr>
            <p:ph idx="102" type="body" hasCustomPrompt="1"/>
          </p:nvPr>
        </p:nvSpPr>
        <p:spPr>
          <a:xfrm>
            <a:off x="640080" y="3291840"/>
            <a:ext cx="6766560" cy="640080"/>
          </a:xfrm>
          <a:prstGeom prst="rect">
            <a:avLst/>
          </a:prstGeom>
          <a:noFill/>
          <a:ln/>
        </p:spPr>
        <p:txBody>
          <a:bodyPr wrap="square" rtlCol="0"/>
          <a:lstStyle>
            <a:lvl1pPr indent="0" marL="0">
              <a:buNone/>
              <a:defRPr lang="en-US" sz="1800" dirty="0">
                <a:solidFill>
                  <a:schemeClr val="accent2"/>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6"/>
                </a:solidFill>
              </a:rPr>
              <a:t>Phase 2  ·  Client-Side Serviceability Study</a:t>
            </a:r>
            <a:endParaRPr lang="en-US" sz="1000" dirty="0"/>
          </a:p>
        </p:txBody>
      </p:sp>
      <p:sp>
        <p:nvSpPr>
          <p:cNvPr id="3" name="Text 1"/>
          <p:cNvSpPr/>
          <p:nvPr>
            <p:ph idx="101" type="body" hasCustomPrompt="1"/>
          </p:nvPr>
        </p:nvSpPr>
        <p:spPr>
          <a:xfrm>
            <a:off x="548640" y="320040"/>
            <a:ext cx="11064240" cy="292608"/>
          </a:xfrm>
          <a:prstGeom prst="rect">
            <a:avLst/>
          </a:prstGeom>
          <a:noFill/>
          <a:ln/>
        </p:spPr>
        <p:txBody>
          <a:bodyPr wrap="square" rtlCol="0"/>
          <a:lstStyle>
            <a:lvl1pPr indent="0" marL="0">
              <a:buNone/>
              <a:defRPr lang="en-US" sz="1200" b="1" spc="300" kern="0" dirty="0">
                <a:solidFill>
                  <a:schemeClr val="accent3"/>
                </a:solidFill>
              </a:defRPr>
            </a:lvl1pPr>
          </a:lstStyle>
          <a:p>
            <a:pPr indent="0" marL="0">
              <a:buNone/>
            </a:pPr>
            <a:endParaRPr lang="en-US" sz="1200" dirty="0"/>
          </a:p>
        </p:txBody>
      </p:sp>
      <p:sp>
        <p:nvSpPr>
          <p:cNvPr id="4" name="Text 1"/>
          <p:cNvSpPr/>
          <p:nvPr>
            <p:ph idx="102" type="title" hasCustomPrompt="1"/>
          </p:nvPr>
        </p:nvSpPr>
        <p:spPr>
          <a:xfrm>
            <a:off x="548640" y="621792"/>
            <a:ext cx="11064240" cy="68580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8A9BB0"/>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rgbClr val="0B1730"/>
        </a:solidFill>
      </p:bgPr>
    </p:bg>
    <p:spTree>
      <p:nvGrpSpPr>
        <p:cNvPr id="1" name=""/>
        <p:cNvGrpSpPr/>
        <p:nvPr/>
      </p:nvGrpSpPr>
      <p:grpSpPr>
        <a:xfrm>
          <a:off x="0" y="0"/>
          <a:ext cx="0" cy="0"/>
          <a:chOff x="0" y="0"/>
          <a:chExt cx="0" cy="0"/>
        </a:xfrm>
      </p:grpSpPr>
      <p:sp>
        <p:nvSpPr>
          <p:cNvPr id="2"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6"/>
                </a:solidFill>
              </a:rPr>
              <a:t>Phase 2  ·  Client-Side Serviceability Study</a:t>
            </a:r>
            <a:endParaRPr lang="en-US" sz="1000" dirty="0"/>
          </a:p>
        </p:txBody>
      </p:sp>
      <p:sp>
        <p:nvSpPr>
          <p:cNvPr id="3" name="Text 1"/>
          <p:cNvSpPr/>
          <p:nvPr>
            <p:ph idx="101" type="body" hasCustomPrompt="1"/>
          </p:nvPr>
        </p:nvSpPr>
        <p:spPr>
          <a:xfrm>
            <a:off x="548640" y="320040"/>
            <a:ext cx="11064240" cy="292608"/>
          </a:xfrm>
          <a:prstGeom prst="rect">
            <a:avLst/>
          </a:prstGeom>
          <a:noFill/>
          <a:ln/>
        </p:spPr>
        <p:txBody>
          <a:bodyPr wrap="square" rtlCol="0"/>
          <a:lstStyle>
            <a:lvl1pPr indent="0" marL="0">
              <a:buNone/>
              <a:defRPr lang="en-US" sz="1200" b="1" spc="300" kern="0" dirty="0">
                <a:solidFill>
                  <a:schemeClr val="accent1"/>
                </a:solidFill>
              </a:defRPr>
            </a:lvl1pPr>
          </a:lstStyle>
          <a:p>
            <a:pPr indent="0" marL="0">
              <a:buNone/>
            </a:pPr>
            <a:endParaRPr lang="en-US" sz="1200" dirty="0"/>
          </a:p>
        </p:txBody>
      </p:sp>
      <p:sp>
        <p:nvSpPr>
          <p:cNvPr id="4" name="Text 1"/>
          <p:cNvSpPr/>
          <p:nvPr>
            <p:ph idx="102" type="title" hasCustomPrompt="1"/>
          </p:nvPr>
        </p:nvSpPr>
        <p:spPr>
          <a:xfrm>
            <a:off x="548640" y="621792"/>
            <a:ext cx="11064240" cy="68580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8A9BB0"/>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8A9BB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2.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3.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slideLayout" Target="../slideLayouts/slideLayout3.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slideLayout" Target="../slideLayouts/slideLayout3.xml"/><Relationship Id="rId1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4.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3.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3.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2.xml"/><Relationship Id="rId7"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640080" y="1234440"/>
            <a:ext cx="6766560" cy="365760"/>
          </a:xfrm>
          <a:prstGeom prst="rect">
            <a:avLst/>
          </a:prstGeom>
          <a:noFill/>
          <a:ln/>
        </p:spPr>
        <p:txBody>
          <a:bodyPr wrap="square" lIns="0" tIns="0" rIns="0" bIns="0" rtlCol="0"/>
          <a:lstStyle/>
          <a:p>
            <a:pPr indent="0" marL="0">
              <a:buNone/>
            </a:pPr>
            <a:r>
              <a:rPr lang="en-US" sz="1400" b="1" spc="300" kern="0" dirty="0">
                <a:solidFill>
                  <a:schemeClr val="accent1"/>
                </a:solidFill>
              </a:rPr>
              <a:t>PHASE 2 GOAL</a:t>
            </a:r>
            <a:endParaRPr lang="en-US" sz="1400" dirty="0"/>
          </a:p>
        </p:txBody>
      </p:sp>
      <p:sp>
        <p:nvSpPr>
          <p:cNvPr id="3" name="Text 0"/>
          <p:cNvSpPr/>
          <p:nvPr>
            <p:ph idx="101" type="title" hasCustomPrompt="1"/>
          </p:nvPr>
        </p:nvSpPr>
        <p:spPr>
          <a:xfrm>
            <a:off x="640080" y="1645920"/>
            <a:ext cx="6949440" cy="1600200"/>
          </a:xfrm>
          <a:prstGeom prst="rect">
            <a:avLst/>
          </a:prstGeom>
          <a:noFill/>
          <a:ln/>
        </p:spPr>
        <p:txBody>
          <a:bodyPr wrap="square" lIns="0" tIns="0" rIns="0" bIns="0" rtlCol="0" anchor="t"/>
          <a:lstStyle/>
          <a:p>
            <a:pPr algn="l" indent="0" marL="0">
              <a:buNone/>
            </a:pPr>
            <a:r>
              <a:rPr lang="en-US" sz="4400" b="1" dirty="0">
                <a:solidFill>
                  <a:schemeClr val="bg1"/>
                </a:solidFill>
              </a:rPr>
              <a:t>From Concept to OSIP-Style Proposal</a:t>
            </a:r>
            <a:endParaRPr lang="en-US" sz="4400" dirty="0"/>
          </a:p>
        </p:txBody>
      </p:sp>
      <p:sp>
        <p:nvSpPr>
          <p:cNvPr id="4" name="Text 0"/>
          <p:cNvSpPr/>
          <p:nvPr>
            <p:ph idx="102" type="body" hasCustomPrompt="1"/>
          </p:nvPr>
        </p:nvSpPr>
        <p:spPr>
          <a:xfrm>
            <a:off x="640080" y="3291840"/>
            <a:ext cx="6766560" cy="640080"/>
          </a:xfrm>
          <a:prstGeom prst="rect">
            <a:avLst/>
          </a:prstGeom>
          <a:noFill/>
          <a:ln/>
        </p:spPr>
        <p:txBody>
          <a:bodyPr wrap="square" lIns="0" tIns="0" rIns="0" bIns="0" rtlCol="0" anchor="t"/>
          <a:lstStyle/>
          <a:p>
            <a:pPr indent="0" marL="0">
              <a:buNone/>
            </a:pPr>
            <a:r>
              <a:rPr lang="en-US" sz="1800" dirty="0">
                <a:solidFill>
                  <a:schemeClr val="accent2"/>
                </a:solidFill>
              </a:rPr>
              <a:t>Client-side serviceability features for a ClearSpace roadmap</a:t>
            </a:r>
            <a:endParaRPr lang="en-US" sz="1800" dirty="0"/>
          </a:p>
        </p:txBody>
      </p:sp>
      <p:sp>
        <p:nvSpPr>
          <p:cNvPr id="5" name="Core objective panel"/>
          <p:cNvSpPr/>
          <p:nvPr/>
        </p:nvSpPr>
        <p:spPr>
          <a:xfrm>
            <a:off x="640080" y="4069080"/>
            <a:ext cx="6949440" cy="1965960"/>
          </a:xfrm>
          <a:prstGeom prst="roundRect">
            <a:avLst>
              <a:gd name="adj" fmla="val 4651"/>
            </a:avLst>
          </a:prstGeom>
          <a:solidFill>
            <a:schemeClr val="tx2"/>
          </a:solidFill>
          <a:ln w="9525">
            <a:solidFill>
              <a:schemeClr val="tx2"/>
            </a:solidFill>
            <a:prstDash val="solid"/>
          </a:ln>
        </p:spPr>
      </p:sp>
      <p:sp>
        <p:nvSpPr>
          <p:cNvPr id="6" name="Text 4"/>
          <p:cNvSpPr txBox="1"/>
          <p:nvPr/>
        </p:nvSpPr>
        <p:spPr>
          <a:xfrm>
            <a:off x="914400" y="4251960"/>
            <a:ext cx="6400800" cy="274320"/>
          </a:xfrm>
          <a:prstGeom prst="rect">
            <a:avLst/>
          </a:prstGeom>
          <a:noFill/>
          <a:ln/>
        </p:spPr>
        <p:txBody>
          <a:bodyPr wrap="square" lIns="0" tIns="0" rIns="0" bIns="0" rtlCol="0" anchor="t"/>
          <a:lstStyle/>
          <a:p>
            <a:pPr indent="0" marL="0">
              <a:buNone/>
            </a:pPr>
            <a:r>
              <a:rPr lang="en-US" sz="1200" b="1" spc="300" kern="0" dirty="0">
                <a:solidFill>
                  <a:schemeClr val="accent1"/>
                </a:solidFill>
              </a:rPr>
              <a:t>CORE OBJECTIVE</a:t>
            </a:r>
            <a:endParaRPr lang="en-US" sz="1200" dirty="0"/>
          </a:p>
        </p:txBody>
      </p:sp>
      <p:sp>
        <p:nvSpPr>
          <p:cNvPr id="7" name="Text 5"/>
          <p:cNvSpPr txBox="1"/>
          <p:nvPr/>
        </p:nvSpPr>
        <p:spPr>
          <a:xfrm>
            <a:off x="914400" y="4572000"/>
            <a:ext cx="6400800" cy="365760"/>
          </a:xfrm>
          <a:prstGeom prst="rect">
            <a:avLst/>
          </a:prstGeom>
          <a:noFill/>
          <a:ln/>
        </p:spPr>
        <p:txBody>
          <a:bodyPr wrap="square" lIns="0" tIns="0" rIns="0" bIns="0" rtlCol="0" anchor="t"/>
          <a:lstStyle/>
          <a:p>
            <a:pPr indent="0" marL="0">
              <a:buNone/>
            </a:pPr>
            <a:r>
              <a:rPr lang="en-US" sz="1800" dirty="0">
                <a:solidFill>
                  <a:schemeClr val="bg1"/>
                </a:solidFill>
              </a:rPr>
              <a:t>Prove which client-side serviceability features are:</a:t>
            </a:r>
            <a:endParaRPr lang="en-US" sz="1800" dirty="0"/>
          </a:p>
        </p:txBody>
      </p:sp>
      <p:sp>
        <p:nvSpPr>
          <p:cNvPr id="8" name="Criterion 1"/>
          <p:cNvSpPr/>
          <p:nvPr/>
        </p:nvSpPr>
        <p:spPr>
          <a:xfrm>
            <a:off x="914400" y="5120640"/>
            <a:ext cx="2029968" cy="548640"/>
          </a:xfrm>
          <a:prstGeom prst="roundRect">
            <a:avLst>
              <a:gd name="adj" fmla="val 50000"/>
            </a:avLst>
          </a:prstGeom>
          <a:solidFill>
            <a:schemeClr val="tx1"/>
          </a:solidFill>
          <a:ln w="9525">
            <a:solidFill>
              <a:schemeClr val="tx1"/>
            </a:solidFill>
            <a:prstDash val="solid"/>
          </a:ln>
        </p:spPr>
      </p:sp>
      <p:pic>
        <p:nvPicPr>
          <p:cNvPr id="9" name="Image 0" descr="preencoded.png">    </p:cNvPr>
          <p:cNvPicPr>
            <a:picLocks noChangeAspect="1"/>
          </p:cNvPicPr>
          <p:nvPr/>
        </p:nvPicPr>
        <p:blipFill>
          <a:blip r:embed="rId1"/>
          <a:stretch>
            <a:fillRect/>
          </a:stretch>
        </p:blipFill>
        <p:spPr>
          <a:xfrm>
            <a:off x="1078992" y="5257800"/>
            <a:ext cx="274320" cy="274320"/>
          </a:xfrm>
          <a:prstGeom prst="rect">
            <a:avLst/>
          </a:prstGeom>
        </p:spPr>
      </p:pic>
      <p:sp>
        <p:nvSpPr>
          <p:cNvPr id="10" name="Text 7"/>
          <p:cNvSpPr txBox="1"/>
          <p:nvPr/>
        </p:nvSpPr>
        <p:spPr>
          <a:xfrm>
            <a:off x="1444752" y="5120640"/>
            <a:ext cx="1463040" cy="548640"/>
          </a:xfrm>
          <a:prstGeom prst="rect">
            <a:avLst/>
          </a:prstGeom>
          <a:noFill/>
          <a:ln/>
        </p:spPr>
        <p:txBody>
          <a:bodyPr wrap="square" lIns="0" tIns="0" rIns="0" bIns="0" rtlCol="0" anchor="ctr"/>
          <a:lstStyle/>
          <a:p>
            <a:pPr indent="0" marL="0">
              <a:buNone/>
            </a:pPr>
            <a:r>
              <a:rPr lang="en-US" sz="1400" b="1" dirty="0">
                <a:solidFill>
                  <a:schemeClr val="bg1"/>
                </a:solidFill>
              </a:rPr>
              <a:t>Technically useful</a:t>
            </a:r>
            <a:endParaRPr lang="en-US" sz="1400" dirty="0"/>
          </a:p>
        </p:txBody>
      </p:sp>
      <p:sp>
        <p:nvSpPr>
          <p:cNvPr id="11" name="Criterion 2"/>
          <p:cNvSpPr/>
          <p:nvPr/>
        </p:nvSpPr>
        <p:spPr>
          <a:xfrm>
            <a:off x="3081528" y="5120640"/>
            <a:ext cx="2029968" cy="548640"/>
          </a:xfrm>
          <a:prstGeom prst="roundRect">
            <a:avLst>
              <a:gd name="adj" fmla="val 50000"/>
            </a:avLst>
          </a:prstGeom>
          <a:solidFill>
            <a:schemeClr val="tx1"/>
          </a:solidFill>
          <a:ln w="9525">
            <a:solidFill>
              <a:schemeClr val="tx1"/>
            </a:solidFill>
            <a:prstDash val="solid"/>
          </a:ln>
        </p:spPr>
      </p:sp>
      <p:pic>
        <p:nvPicPr>
          <p:cNvPr id="12" name="Image 1" descr="preencoded.png">    </p:cNvPr>
          <p:cNvPicPr>
            <a:picLocks noChangeAspect="1"/>
          </p:cNvPicPr>
          <p:nvPr/>
        </p:nvPicPr>
        <p:blipFill>
          <a:blip r:embed="rId2"/>
          <a:stretch>
            <a:fillRect/>
          </a:stretch>
        </p:blipFill>
        <p:spPr>
          <a:xfrm>
            <a:off x="3246120" y="5257800"/>
            <a:ext cx="274320" cy="274320"/>
          </a:xfrm>
          <a:prstGeom prst="rect">
            <a:avLst/>
          </a:prstGeom>
        </p:spPr>
      </p:pic>
      <p:sp>
        <p:nvSpPr>
          <p:cNvPr id="13" name="Text 9"/>
          <p:cNvSpPr txBox="1"/>
          <p:nvPr/>
        </p:nvSpPr>
        <p:spPr>
          <a:xfrm>
            <a:off x="3611880" y="5120640"/>
            <a:ext cx="1463040" cy="548640"/>
          </a:xfrm>
          <a:prstGeom prst="rect">
            <a:avLst/>
          </a:prstGeom>
          <a:noFill/>
          <a:ln/>
        </p:spPr>
        <p:txBody>
          <a:bodyPr wrap="square" lIns="0" tIns="0" rIns="0" bIns="0" rtlCol="0" anchor="ctr"/>
          <a:lstStyle/>
          <a:p>
            <a:pPr indent="0" marL="0">
              <a:buNone/>
            </a:pPr>
            <a:r>
              <a:rPr lang="en-US" sz="1400" b="1" dirty="0">
                <a:solidFill>
                  <a:schemeClr val="bg1"/>
                </a:solidFill>
              </a:rPr>
              <a:t>Economically justified</a:t>
            </a:r>
            <a:endParaRPr lang="en-US" sz="1400" dirty="0"/>
          </a:p>
        </p:txBody>
      </p:sp>
      <p:sp>
        <p:nvSpPr>
          <p:cNvPr id="14" name="Criterion 3"/>
          <p:cNvSpPr/>
          <p:nvPr/>
        </p:nvSpPr>
        <p:spPr>
          <a:xfrm>
            <a:off x="5248656" y="5120640"/>
            <a:ext cx="2029968" cy="548640"/>
          </a:xfrm>
          <a:prstGeom prst="roundRect">
            <a:avLst>
              <a:gd name="adj" fmla="val 50000"/>
            </a:avLst>
          </a:prstGeom>
          <a:solidFill>
            <a:schemeClr val="tx1"/>
          </a:solidFill>
          <a:ln w="9525">
            <a:solidFill>
              <a:schemeClr val="tx1"/>
            </a:solidFill>
            <a:prstDash val="solid"/>
          </a:ln>
        </p:spPr>
      </p:sp>
      <p:pic>
        <p:nvPicPr>
          <p:cNvPr id="15" name="Image 2" descr="preencoded.png">    </p:cNvPr>
          <p:cNvPicPr>
            <a:picLocks noChangeAspect="1"/>
          </p:cNvPicPr>
          <p:nvPr/>
        </p:nvPicPr>
        <p:blipFill>
          <a:blip r:embed="rId3"/>
          <a:stretch>
            <a:fillRect/>
          </a:stretch>
        </p:blipFill>
        <p:spPr>
          <a:xfrm>
            <a:off x="5413248" y="5257800"/>
            <a:ext cx="274320" cy="274320"/>
          </a:xfrm>
          <a:prstGeom prst="rect">
            <a:avLst/>
          </a:prstGeom>
        </p:spPr>
      </p:pic>
      <p:sp>
        <p:nvSpPr>
          <p:cNvPr id="16" name="Text 11"/>
          <p:cNvSpPr txBox="1"/>
          <p:nvPr/>
        </p:nvSpPr>
        <p:spPr>
          <a:xfrm>
            <a:off x="5779008" y="5120640"/>
            <a:ext cx="1463040" cy="548640"/>
          </a:xfrm>
          <a:prstGeom prst="rect">
            <a:avLst/>
          </a:prstGeom>
          <a:noFill/>
          <a:ln/>
        </p:spPr>
        <p:txBody>
          <a:bodyPr wrap="square" lIns="0" tIns="0" rIns="0" bIns="0" rtlCol="0" anchor="ctr"/>
          <a:lstStyle/>
          <a:p>
            <a:pPr indent="0" marL="0">
              <a:buNone/>
            </a:pPr>
            <a:r>
              <a:rPr lang="en-US" sz="1400" b="1" dirty="0">
                <a:solidFill>
                  <a:schemeClr val="bg1"/>
                </a:solidFill>
              </a:rPr>
              <a:t>Roadmap-ready</a:t>
            </a:r>
            <a:endParaRPr lang="en-US" sz="1400" dirty="0"/>
          </a:p>
        </p:txBody>
      </p:sp>
      <p:sp>
        <p:nvSpPr>
          <p:cNvPr id="17" name="Orbit ring 1"/>
          <p:cNvSpPr/>
          <p:nvPr/>
        </p:nvSpPr>
        <p:spPr>
          <a:xfrm>
            <a:off x="7635240" y="1234440"/>
            <a:ext cx="4389120" cy="4389120"/>
          </a:xfrm>
          <a:prstGeom prst="ellipse">
            <a:avLst/>
          </a:prstGeom>
          <a:solidFill>
            <a:schemeClr val="tx1">
              <a:alpha val="0"/>
            </a:schemeClr>
          </a:solidFill>
          <a:ln w="12700">
            <a:solidFill>
              <a:schemeClr val="accent6">
                <a:alpha val="60000"/>
              </a:schemeClr>
            </a:solidFill>
            <a:prstDash val="dash"/>
          </a:ln>
        </p:spPr>
      </p:sp>
      <p:sp>
        <p:nvSpPr>
          <p:cNvPr id="18" name="Orbit ring 2"/>
          <p:cNvSpPr/>
          <p:nvPr/>
        </p:nvSpPr>
        <p:spPr>
          <a:xfrm>
            <a:off x="8229600" y="1828800"/>
            <a:ext cx="3200400" cy="3200400"/>
          </a:xfrm>
          <a:prstGeom prst="ellipse">
            <a:avLst/>
          </a:prstGeom>
          <a:solidFill>
            <a:schemeClr val="tx1">
              <a:alpha val="0"/>
            </a:schemeClr>
          </a:solidFill>
          <a:ln w="12700">
            <a:solidFill>
              <a:schemeClr val="accent6">
                <a:alpha val="45000"/>
              </a:schemeClr>
            </a:solidFill>
            <a:prstDash val="solid"/>
          </a:ln>
        </p:spPr>
      </p:sp>
      <p:sp>
        <p:nvSpPr>
          <p:cNvPr id="19" name="Orbit ring 3"/>
          <p:cNvSpPr/>
          <p:nvPr/>
        </p:nvSpPr>
        <p:spPr>
          <a:xfrm>
            <a:off x="8823960" y="2423160"/>
            <a:ext cx="2011680" cy="2011680"/>
          </a:xfrm>
          <a:prstGeom prst="ellipse">
            <a:avLst/>
          </a:prstGeom>
          <a:solidFill>
            <a:schemeClr val="tx1">
              <a:alpha val="0"/>
            </a:schemeClr>
          </a:solidFill>
          <a:ln w="12700">
            <a:solidFill>
              <a:schemeClr val="accent6">
                <a:alpha val="30000"/>
              </a:schemeClr>
            </a:solidFill>
            <a:prstDash val="solid"/>
          </a:ln>
        </p:spPr>
      </p:sp>
      <p:sp>
        <p:nvSpPr>
          <p:cNvPr id="20" name="Client satellite"/>
          <p:cNvSpPr/>
          <p:nvPr/>
        </p:nvSpPr>
        <p:spPr>
          <a:xfrm>
            <a:off x="9281160" y="2880360"/>
            <a:ext cx="1097280" cy="1097280"/>
          </a:xfrm>
          <a:prstGeom prst="ellipse">
            <a:avLst/>
          </a:prstGeom>
          <a:solidFill>
            <a:schemeClr val="accent1"/>
          </a:solidFill>
          <a:ln w="12700">
            <a:solidFill>
              <a:schemeClr val="accent1"/>
            </a:solidFill>
            <a:prstDash val="solid"/>
          </a:ln>
        </p:spPr>
      </p:sp>
      <p:pic>
        <p:nvPicPr>
          <p:cNvPr id="21" name="Image 3" descr="FaSatellite">    </p:cNvPr>
          <p:cNvPicPr>
            <a:picLocks noChangeAspect="1"/>
          </p:cNvPicPr>
          <p:nvPr/>
        </p:nvPicPr>
        <p:blipFill>
          <a:blip r:embed="rId4"/>
          <a:stretch>
            <a:fillRect/>
          </a:stretch>
        </p:blipFill>
        <p:spPr>
          <a:xfrm>
            <a:off x="9555480" y="3154680"/>
            <a:ext cx="548640" cy="548640"/>
          </a:xfrm>
          <a:prstGeom prst="rect">
            <a:avLst/>
          </a:prstGeom>
        </p:spPr>
      </p:pic>
      <p:sp>
        <p:nvSpPr>
          <p:cNvPr id="22" name="Servicer"/>
          <p:cNvSpPr/>
          <p:nvPr/>
        </p:nvSpPr>
        <p:spPr>
          <a:xfrm>
            <a:off x="7909560" y="1828800"/>
            <a:ext cx="594360" cy="594360"/>
          </a:xfrm>
          <a:prstGeom prst="ellipse">
            <a:avLst/>
          </a:prstGeom>
          <a:solidFill>
            <a:schemeClr val="accent2"/>
          </a:solidFill>
          <a:ln w="12700">
            <a:solidFill>
              <a:schemeClr val="accent2"/>
            </a:solidFill>
            <a:prstDash val="solid"/>
          </a:ln>
        </p:spPr>
      </p:sp>
      <p:pic>
        <p:nvPicPr>
          <p:cNvPr id="23" name="Image 4" descr="FaRocket">    </p:cNvPr>
          <p:cNvPicPr>
            <a:picLocks noChangeAspect="1"/>
          </p:cNvPicPr>
          <p:nvPr/>
        </p:nvPicPr>
        <p:blipFill>
          <a:blip r:embed="rId5"/>
          <a:stretch>
            <a:fillRect/>
          </a:stretch>
        </p:blipFill>
        <p:spPr>
          <a:xfrm>
            <a:off x="8058150" y="1977390"/>
            <a:ext cx="297180" cy="297180"/>
          </a:xfrm>
          <a:prstGeom prst="rect">
            <a:avLst/>
          </a:prstGeom>
        </p:spPr>
      </p:pic>
      <p:sp>
        <p:nvSpPr>
          <p:cNvPr id="24" name="Text 17"/>
          <p:cNvSpPr txBox="1"/>
          <p:nvPr/>
        </p:nvSpPr>
        <p:spPr>
          <a:xfrm>
            <a:off x="9281160" y="4069080"/>
            <a:ext cx="1097280" cy="274320"/>
          </a:xfrm>
          <a:prstGeom prst="rect">
            <a:avLst/>
          </a:prstGeom>
          <a:noFill/>
          <a:ln/>
        </p:spPr>
        <p:txBody>
          <a:bodyPr wrap="square" lIns="0" tIns="0" rIns="0" bIns="0" rtlCol="0" anchor="t"/>
          <a:lstStyle/>
          <a:p>
            <a:pPr algn="ctr" indent="0" marL="0">
              <a:buNone/>
            </a:pPr>
            <a:r>
              <a:rPr lang="en-US" sz="1200" dirty="0">
                <a:solidFill>
                  <a:schemeClr val="accent6"/>
                </a:solidFill>
              </a:rPr>
              <a:t>Client</a:t>
            </a:r>
            <a:endParaRPr lang="en-US" sz="1200" dirty="0"/>
          </a:p>
        </p:txBody>
      </p:sp>
      <p:sp>
        <p:nvSpPr>
          <p:cNvPr id="25" name="Text 18"/>
          <p:cNvSpPr txBox="1"/>
          <p:nvPr/>
        </p:nvSpPr>
        <p:spPr>
          <a:xfrm>
            <a:off x="7589520" y="2468880"/>
            <a:ext cx="1234440" cy="274320"/>
          </a:xfrm>
          <a:prstGeom prst="rect">
            <a:avLst/>
          </a:prstGeom>
          <a:noFill/>
          <a:ln/>
        </p:spPr>
        <p:txBody>
          <a:bodyPr wrap="square" lIns="0" tIns="0" rIns="0" bIns="0" rtlCol="0" anchor="t"/>
          <a:lstStyle/>
          <a:p>
            <a:pPr algn="ctr" indent="0" marL="0">
              <a:buNone/>
            </a:pPr>
            <a:r>
              <a:rPr lang="en-US" sz="1200" dirty="0">
                <a:solidFill>
                  <a:schemeClr val="accent6"/>
                </a:solidFill>
              </a:rPr>
              <a:t>Servicer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548640" y="320040"/>
            <a:ext cx="11064240" cy="292608"/>
          </a:xfrm>
          <a:prstGeom prst="rect">
            <a:avLst/>
          </a:prstGeom>
          <a:noFill/>
          <a:ln/>
        </p:spPr>
        <p:txBody>
          <a:bodyPr wrap="square" lIns="0" tIns="0" rIns="0" bIns="0" rtlCol="0"/>
          <a:lstStyle/>
          <a:p>
            <a:pPr indent="0" marL="0">
              <a:buNone/>
            </a:pPr>
            <a:r>
              <a:rPr lang="en-US" sz="1200" b="1" spc="300" kern="0" dirty="0">
                <a:solidFill>
                  <a:schemeClr val="accent3"/>
                </a:solidFill>
              </a:rPr>
              <a:t>WHERE WE STAND · PHASE 1</a:t>
            </a:r>
            <a:endParaRPr lang="en-US" sz="1200" dirty="0"/>
          </a:p>
        </p:txBody>
      </p:sp>
      <p:sp>
        <p:nvSpPr>
          <p:cNvPr id="3" name="Text 1"/>
          <p:cNvSpPr/>
          <p:nvPr>
            <p:ph idx="102" type="title" hasCustomPrompt="1"/>
          </p:nvPr>
        </p:nvSpPr>
        <p:spPr>
          <a:xfrm>
            <a:off x="548640" y="621792"/>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Configurable Serviceability Platform Family</a:t>
            </a:r>
            <a:endParaRPr lang="en-US" sz="3200" dirty="0"/>
          </a:p>
        </p:txBody>
      </p:sp>
      <p:sp>
        <p:nvSpPr>
          <p:cNvPr id="4" name="Text 2"/>
          <p:cNvSpPr txBox="1"/>
          <p:nvPr/>
        </p:nvSpPr>
        <p:spPr>
          <a:xfrm>
            <a:off x="548640" y="1371600"/>
            <a:ext cx="11064240" cy="365760"/>
          </a:xfrm>
          <a:prstGeom prst="rect">
            <a:avLst/>
          </a:prstGeom>
          <a:noFill/>
          <a:ln/>
        </p:spPr>
        <p:txBody>
          <a:bodyPr wrap="square" lIns="0" tIns="0" rIns="0" bIns="0" rtlCol="0" anchor="t"/>
          <a:lstStyle/>
          <a:p>
            <a:pPr indent="0" marL="0">
              <a:buNone/>
            </a:pPr>
            <a:r>
              <a:rPr lang="en-US" sz="1600" dirty="0">
                <a:solidFill>
                  <a:schemeClr val="tx2"/>
                </a:solidFill>
              </a:rPr>
              <a:t>One modular client-side design, scaled to each mission's value and lifetime</a:t>
            </a:r>
            <a:endParaRPr lang="en-US" sz="1600" dirty="0"/>
          </a:p>
        </p:txBody>
      </p:sp>
      <p:sp>
        <p:nvSpPr>
          <p:cNvPr id="5" name="High-value GEO card"/>
          <p:cNvSpPr/>
          <p:nvPr/>
        </p:nvSpPr>
        <p:spPr>
          <a:xfrm>
            <a:off x="548640" y="1920240"/>
            <a:ext cx="3520440" cy="2788920"/>
          </a:xfrm>
          <a:prstGeom prst="roundRect">
            <a:avLst>
              <a:gd name="adj" fmla="val 3279"/>
            </a:avLst>
          </a:prstGeom>
          <a:solidFill>
            <a:schemeClr val="bg1"/>
          </a:solidFill>
          <a:ln w="9525">
            <a:solidFill>
              <a:srgbClr val="D5DCE6"/>
            </a:solidFill>
            <a:prstDash val="solid"/>
          </a:ln>
          <a:effectLst>
            <a:outerShdw sx="100000" sy="100000" kx="0" ky="0" algn="bl" rotWithShape="0" blurRad="101600" dist="25400" dir="5400000">
              <a:srgbClr val="0B1730">
                <a:alpha val="12000"/>
              </a:srgbClr>
            </a:outerShdw>
          </a:effectLst>
        </p:spPr>
      </p:sp>
      <p:sp>
        <p:nvSpPr>
          <p:cNvPr id="6" name="Shape 4"/>
          <p:cNvSpPr/>
          <p:nvPr/>
        </p:nvSpPr>
        <p:spPr>
          <a:xfrm>
            <a:off x="822960" y="2148840"/>
            <a:ext cx="594360" cy="594360"/>
          </a:xfrm>
          <a:prstGeom prst="ellipse">
            <a:avLst/>
          </a:prstGeom>
          <a:solidFill>
            <a:schemeClr val="accent1"/>
          </a:solidFill>
          <a:ln w="12700">
            <a:solidFill>
              <a:schemeClr val="accent1"/>
            </a:solidFill>
            <a:prstDash val="solid"/>
          </a:ln>
        </p:spPr>
      </p:sp>
      <p:pic>
        <p:nvPicPr>
          <p:cNvPr id="7" name="Image 0" descr="FaGasPump">    </p:cNvPr>
          <p:cNvPicPr>
            <a:picLocks noChangeAspect="1"/>
          </p:cNvPicPr>
          <p:nvPr/>
        </p:nvPicPr>
        <p:blipFill>
          <a:blip r:embed="rId1"/>
          <a:stretch>
            <a:fillRect/>
          </a:stretch>
        </p:blipFill>
        <p:spPr>
          <a:xfrm>
            <a:off x="971550" y="2297430"/>
            <a:ext cx="297180" cy="297180"/>
          </a:xfrm>
          <a:prstGeom prst="rect">
            <a:avLst/>
          </a:prstGeom>
        </p:spPr>
      </p:pic>
      <p:sp>
        <p:nvSpPr>
          <p:cNvPr id="8" name="Text 5"/>
          <p:cNvSpPr txBox="1"/>
          <p:nvPr/>
        </p:nvSpPr>
        <p:spPr>
          <a:xfrm>
            <a:off x="1554480" y="2194560"/>
            <a:ext cx="2194560" cy="228600"/>
          </a:xfrm>
          <a:prstGeom prst="rect">
            <a:avLst/>
          </a:prstGeom>
          <a:noFill/>
          <a:ln/>
        </p:spPr>
        <p:txBody>
          <a:bodyPr wrap="square" lIns="0" tIns="0" rIns="0" bIns="0" rtlCol="0" anchor="t"/>
          <a:lstStyle/>
          <a:p>
            <a:pPr indent="0" marL="0">
              <a:buNone/>
            </a:pPr>
            <a:r>
              <a:rPr lang="en-US" sz="1000" b="1" spc="200" kern="0" dirty="0">
                <a:solidFill>
                  <a:schemeClr val="accent6"/>
                </a:solidFill>
              </a:rPr>
              <a:t>ADD-ON</a:t>
            </a:r>
            <a:endParaRPr lang="en-US" sz="1000" dirty="0"/>
          </a:p>
        </p:txBody>
      </p:sp>
      <p:sp>
        <p:nvSpPr>
          <p:cNvPr id="9" name="Text 6"/>
          <p:cNvSpPr txBox="1"/>
          <p:nvPr/>
        </p:nvSpPr>
        <p:spPr>
          <a:xfrm>
            <a:off x="1554480" y="2423160"/>
            <a:ext cx="2377440" cy="365760"/>
          </a:xfrm>
          <a:prstGeom prst="rect">
            <a:avLst/>
          </a:prstGeom>
          <a:noFill/>
          <a:ln/>
        </p:spPr>
        <p:txBody>
          <a:bodyPr wrap="square" lIns="0" tIns="0" rIns="0" bIns="0" rtlCol="0" anchor="t"/>
          <a:lstStyle/>
          <a:p>
            <a:pPr indent="0" marL="0">
              <a:buNone/>
            </a:pPr>
            <a:r>
              <a:rPr lang="en-US" sz="1800" b="1" dirty="0">
                <a:solidFill>
                  <a:schemeClr val="tx1"/>
                </a:solidFill>
              </a:rPr>
              <a:t>High-value GEO</a:t>
            </a:r>
            <a:endParaRPr lang="en-US" sz="1800" dirty="0"/>
          </a:p>
        </p:txBody>
      </p:sp>
      <p:sp>
        <p:nvSpPr>
          <p:cNvPr id="10" name="Text 7"/>
          <p:cNvSpPr txBox="1"/>
          <p:nvPr/>
        </p:nvSpPr>
        <p:spPr>
          <a:xfrm>
            <a:off x="822960" y="2971800"/>
            <a:ext cx="3017520" cy="914400"/>
          </a:xfrm>
          <a:prstGeom prst="rect">
            <a:avLst/>
          </a:prstGeom>
          <a:noFill/>
          <a:ln/>
        </p:spPr>
        <p:txBody>
          <a:bodyPr wrap="square" lIns="0" tIns="0" rIns="0" bIns="0" rtlCol="0" anchor="t"/>
          <a:lstStyle/>
          <a:p>
            <a:pPr marL="203200" indent="-203200">
              <a:spcAft>
                <a:spcPts val="300"/>
              </a:spcAft>
              <a:buSzPct val="100000"/>
              <a:buChar char="•"/>
            </a:pPr>
            <a:r>
              <a:rPr lang="en-US" sz="1500" dirty="0">
                <a:solidFill>
                  <a:schemeClr val="tx1"/>
                </a:solidFill>
              </a:rPr>
              <a:t>Docking</a:t>
            </a:r>
            <a:endParaRPr lang="en-US" sz="1500" dirty="0"/>
          </a:p>
          <a:p>
            <a:pPr marL="203200" indent="-203200">
              <a:spcAft>
                <a:spcPts val="300"/>
              </a:spcAft>
              <a:buSzPct val="100000"/>
              <a:buChar char="•"/>
            </a:pPr>
            <a:r>
              <a:rPr lang="en-US" sz="1500" dirty="0">
                <a:solidFill>
                  <a:schemeClr val="tx1"/>
                </a:solidFill>
              </a:rPr>
              <a:t>Refuelling</a:t>
            </a:r>
            <a:endParaRPr lang="en-US" sz="1500" dirty="0"/>
          </a:p>
          <a:p>
            <a:pPr marL="203200" indent="-203200">
              <a:spcAft>
                <a:spcPts val="300"/>
              </a:spcAft>
              <a:buSzPct val="100000"/>
              <a:buChar char="•"/>
            </a:pPr>
            <a:r>
              <a:rPr lang="en-US" sz="1500" dirty="0">
                <a:solidFill>
                  <a:schemeClr val="tx1"/>
                </a:solidFill>
              </a:rPr>
              <a:t>Health monitoring</a:t>
            </a:r>
            <a:endParaRPr lang="en-US" sz="1500" dirty="0"/>
          </a:p>
        </p:txBody>
      </p:sp>
      <p:sp>
        <p:nvSpPr>
          <p:cNvPr id="11" name="Text 8"/>
          <p:cNvSpPr txBox="1"/>
          <p:nvPr/>
        </p:nvSpPr>
        <p:spPr>
          <a:xfrm>
            <a:off x="822960" y="3977640"/>
            <a:ext cx="3017520" cy="594360"/>
          </a:xfrm>
          <a:prstGeom prst="rect">
            <a:avLst/>
          </a:prstGeom>
          <a:noFill/>
          <a:ln/>
        </p:spPr>
        <p:txBody>
          <a:bodyPr wrap="square" lIns="0" tIns="0" rIns="0" bIns="0" rtlCol="0" anchor="t"/>
          <a:lstStyle/>
          <a:p>
            <a:pPr indent="0" marL="0">
              <a:buNone/>
            </a:pPr>
            <a:r>
              <a:rPr lang="en-US" sz="1200" i="1" dirty="0">
                <a:solidFill>
                  <a:schemeClr val="tx2"/>
                </a:solidFill>
              </a:rPr>
              <a:t>Maximise revenue-generating life of expensive assets</a:t>
            </a:r>
            <a:endParaRPr lang="en-US" sz="1200" dirty="0"/>
          </a:p>
        </p:txBody>
      </p:sp>
      <p:sp>
        <p:nvSpPr>
          <p:cNvPr id="12" name="Long-life assets card"/>
          <p:cNvSpPr/>
          <p:nvPr/>
        </p:nvSpPr>
        <p:spPr>
          <a:xfrm>
            <a:off x="4320540" y="1920240"/>
            <a:ext cx="3520440" cy="2788920"/>
          </a:xfrm>
          <a:prstGeom prst="roundRect">
            <a:avLst>
              <a:gd name="adj" fmla="val 3279"/>
            </a:avLst>
          </a:prstGeom>
          <a:solidFill>
            <a:schemeClr val="bg1"/>
          </a:solidFill>
          <a:ln w="9525">
            <a:solidFill>
              <a:srgbClr val="D5DCE6"/>
            </a:solidFill>
            <a:prstDash val="solid"/>
          </a:ln>
          <a:effectLst>
            <a:outerShdw sx="100000" sy="100000" kx="0" ky="0" algn="bl" rotWithShape="0" blurRad="101600" dist="25400" dir="5400000">
              <a:srgbClr val="0B1730">
                <a:alpha val="12000"/>
              </a:srgbClr>
            </a:outerShdw>
          </a:effectLst>
        </p:spPr>
      </p:sp>
      <p:sp>
        <p:nvSpPr>
          <p:cNvPr id="13" name="Shape 10"/>
          <p:cNvSpPr/>
          <p:nvPr/>
        </p:nvSpPr>
        <p:spPr>
          <a:xfrm>
            <a:off x="4594860" y="2148840"/>
            <a:ext cx="594360" cy="594360"/>
          </a:xfrm>
          <a:prstGeom prst="ellipse">
            <a:avLst/>
          </a:prstGeom>
          <a:solidFill>
            <a:schemeClr val="accent3"/>
          </a:solidFill>
          <a:ln w="12700">
            <a:solidFill>
              <a:schemeClr val="accent3"/>
            </a:solidFill>
            <a:prstDash val="solid"/>
          </a:ln>
        </p:spPr>
      </p:sp>
      <p:pic>
        <p:nvPicPr>
          <p:cNvPr id="14" name="Image 1" descr="FaPuzzlePiece">    </p:cNvPr>
          <p:cNvPicPr>
            <a:picLocks noChangeAspect="1"/>
          </p:cNvPicPr>
          <p:nvPr/>
        </p:nvPicPr>
        <p:blipFill>
          <a:blip r:embed="rId2"/>
          <a:stretch>
            <a:fillRect/>
          </a:stretch>
        </p:blipFill>
        <p:spPr>
          <a:xfrm>
            <a:off x="4743450" y="2297430"/>
            <a:ext cx="297180" cy="297180"/>
          </a:xfrm>
          <a:prstGeom prst="rect">
            <a:avLst/>
          </a:prstGeom>
        </p:spPr>
      </p:pic>
      <p:sp>
        <p:nvSpPr>
          <p:cNvPr id="15" name="Text 11"/>
          <p:cNvSpPr txBox="1"/>
          <p:nvPr/>
        </p:nvSpPr>
        <p:spPr>
          <a:xfrm>
            <a:off x="5326380" y="2194560"/>
            <a:ext cx="2194560" cy="228600"/>
          </a:xfrm>
          <a:prstGeom prst="rect">
            <a:avLst/>
          </a:prstGeom>
          <a:noFill/>
          <a:ln/>
        </p:spPr>
        <p:txBody>
          <a:bodyPr wrap="square" lIns="0" tIns="0" rIns="0" bIns="0" rtlCol="0" anchor="t"/>
          <a:lstStyle/>
          <a:p>
            <a:pPr indent="0" marL="0">
              <a:buNone/>
            </a:pPr>
            <a:r>
              <a:rPr lang="en-US" sz="1000" b="1" spc="200" kern="0" dirty="0">
                <a:solidFill>
                  <a:schemeClr val="accent6"/>
                </a:solidFill>
              </a:rPr>
              <a:t>ADD-ON</a:t>
            </a:r>
            <a:endParaRPr lang="en-US" sz="1000" dirty="0"/>
          </a:p>
        </p:txBody>
      </p:sp>
      <p:sp>
        <p:nvSpPr>
          <p:cNvPr id="16" name="Text 12"/>
          <p:cNvSpPr txBox="1"/>
          <p:nvPr/>
        </p:nvSpPr>
        <p:spPr>
          <a:xfrm>
            <a:off x="5326380" y="2423160"/>
            <a:ext cx="2377440" cy="365760"/>
          </a:xfrm>
          <a:prstGeom prst="rect">
            <a:avLst/>
          </a:prstGeom>
          <a:noFill/>
          <a:ln/>
        </p:spPr>
        <p:txBody>
          <a:bodyPr wrap="square" lIns="0" tIns="0" rIns="0" bIns="0" rtlCol="0" anchor="t"/>
          <a:lstStyle/>
          <a:p>
            <a:pPr indent="0" marL="0">
              <a:buNone/>
            </a:pPr>
            <a:r>
              <a:rPr lang="en-US" sz="1800" b="1" dirty="0">
                <a:solidFill>
                  <a:schemeClr val="tx1"/>
                </a:solidFill>
              </a:rPr>
              <a:t>Long-life assets</a:t>
            </a:r>
            <a:endParaRPr lang="en-US" sz="1800" dirty="0"/>
          </a:p>
        </p:txBody>
      </p:sp>
      <p:sp>
        <p:nvSpPr>
          <p:cNvPr id="17" name="Text 13"/>
          <p:cNvSpPr txBox="1"/>
          <p:nvPr/>
        </p:nvSpPr>
        <p:spPr>
          <a:xfrm>
            <a:off x="4594860" y="2971800"/>
            <a:ext cx="3017520" cy="914400"/>
          </a:xfrm>
          <a:prstGeom prst="rect">
            <a:avLst/>
          </a:prstGeom>
          <a:noFill/>
          <a:ln/>
        </p:spPr>
        <p:txBody>
          <a:bodyPr wrap="square" lIns="0" tIns="0" rIns="0" bIns="0" rtlCol="0" anchor="t"/>
          <a:lstStyle/>
          <a:p>
            <a:pPr marL="203200" indent="-203200">
              <a:spcAft>
                <a:spcPts val="300"/>
              </a:spcAft>
              <a:buSzPct val="100000"/>
              <a:buChar char="•"/>
            </a:pPr>
            <a:r>
              <a:rPr lang="en-US" sz="1500" dirty="0">
                <a:solidFill>
                  <a:schemeClr val="tx1"/>
                </a:solidFill>
              </a:rPr>
              <a:t>Upgrade PODs</a:t>
            </a:r>
            <a:endParaRPr lang="en-US" sz="1500" dirty="0"/>
          </a:p>
          <a:p>
            <a:pPr marL="203200" indent="-203200">
              <a:spcAft>
                <a:spcPts val="300"/>
              </a:spcAft>
              <a:buSzPct val="100000"/>
              <a:buChar char="•"/>
            </a:pPr>
            <a:r>
              <a:rPr lang="en-US" sz="1500" dirty="0">
                <a:solidFill>
                  <a:schemeClr val="tx1"/>
                </a:solidFill>
              </a:rPr>
              <a:t>Propulsion PODs</a:t>
            </a:r>
            <a:endParaRPr lang="en-US" sz="1500" dirty="0"/>
          </a:p>
        </p:txBody>
      </p:sp>
      <p:sp>
        <p:nvSpPr>
          <p:cNvPr id="18" name="Text 14"/>
          <p:cNvSpPr txBox="1"/>
          <p:nvPr/>
        </p:nvSpPr>
        <p:spPr>
          <a:xfrm>
            <a:off x="4594860" y="3977640"/>
            <a:ext cx="3017520" cy="594360"/>
          </a:xfrm>
          <a:prstGeom prst="rect">
            <a:avLst/>
          </a:prstGeom>
          <a:noFill/>
          <a:ln/>
        </p:spPr>
        <p:txBody>
          <a:bodyPr wrap="square" lIns="0" tIns="0" rIns="0" bIns="0" rtlCol="0" anchor="t"/>
          <a:lstStyle/>
          <a:p>
            <a:pPr indent="0" marL="0">
              <a:buNone/>
            </a:pPr>
            <a:r>
              <a:rPr lang="en-US" sz="1200" i="1" dirty="0">
                <a:solidFill>
                  <a:schemeClr val="tx2"/>
                </a:solidFill>
              </a:rPr>
              <a:t>Add capability or ΔV after launch instead of replacing the satellite</a:t>
            </a:r>
            <a:endParaRPr lang="en-US" sz="1200" dirty="0"/>
          </a:p>
        </p:txBody>
      </p:sp>
      <p:sp>
        <p:nvSpPr>
          <p:cNvPr id="19" name="LEO constellations card"/>
          <p:cNvSpPr/>
          <p:nvPr/>
        </p:nvSpPr>
        <p:spPr>
          <a:xfrm>
            <a:off x="8092440" y="1920240"/>
            <a:ext cx="3520440" cy="2788920"/>
          </a:xfrm>
          <a:prstGeom prst="roundRect">
            <a:avLst>
              <a:gd name="adj" fmla="val 3279"/>
            </a:avLst>
          </a:prstGeom>
          <a:solidFill>
            <a:schemeClr val="bg1"/>
          </a:solidFill>
          <a:ln w="9525">
            <a:solidFill>
              <a:srgbClr val="D5DCE6"/>
            </a:solidFill>
            <a:prstDash val="solid"/>
          </a:ln>
          <a:effectLst>
            <a:outerShdw sx="100000" sy="100000" kx="0" ky="0" algn="bl" rotWithShape="0" blurRad="101600" dist="25400" dir="5400000">
              <a:srgbClr val="0B1730">
                <a:alpha val="12000"/>
              </a:srgbClr>
            </a:outerShdw>
          </a:effectLst>
        </p:spPr>
      </p:sp>
      <p:sp>
        <p:nvSpPr>
          <p:cNvPr id="20" name="Shape 16"/>
          <p:cNvSpPr/>
          <p:nvPr/>
        </p:nvSpPr>
        <p:spPr>
          <a:xfrm>
            <a:off x="8366760" y="2148840"/>
            <a:ext cx="594360" cy="594360"/>
          </a:xfrm>
          <a:prstGeom prst="ellipse">
            <a:avLst/>
          </a:prstGeom>
          <a:solidFill>
            <a:schemeClr val="accent5"/>
          </a:solidFill>
          <a:ln w="12700">
            <a:solidFill>
              <a:schemeClr val="accent5"/>
            </a:solidFill>
            <a:prstDash val="solid"/>
          </a:ln>
        </p:spPr>
      </p:sp>
      <p:pic>
        <p:nvPicPr>
          <p:cNvPr id="21" name="Image 2" descr="FaRecycle">    </p:cNvPr>
          <p:cNvPicPr>
            <a:picLocks noChangeAspect="1"/>
          </p:cNvPicPr>
          <p:nvPr/>
        </p:nvPicPr>
        <p:blipFill>
          <a:blip r:embed="rId3"/>
          <a:stretch>
            <a:fillRect/>
          </a:stretch>
        </p:blipFill>
        <p:spPr>
          <a:xfrm>
            <a:off x="8515350" y="2297430"/>
            <a:ext cx="297180" cy="297180"/>
          </a:xfrm>
          <a:prstGeom prst="rect">
            <a:avLst/>
          </a:prstGeom>
        </p:spPr>
      </p:pic>
      <p:sp>
        <p:nvSpPr>
          <p:cNvPr id="22" name="Text 17"/>
          <p:cNvSpPr txBox="1"/>
          <p:nvPr/>
        </p:nvSpPr>
        <p:spPr>
          <a:xfrm>
            <a:off x="9098280" y="2194560"/>
            <a:ext cx="2194560" cy="228600"/>
          </a:xfrm>
          <a:prstGeom prst="rect">
            <a:avLst/>
          </a:prstGeom>
          <a:noFill/>
          <a:ln/>
        </p:spPr>
        <p:txBody>
          <a:bodyPr wrap="square" lIns="0" tIns="0" rIns="0" bIns="0" rtlCol="0" anchor="t"/>
          <a:lstStyle/>
          <a:p>
            <a:pPr indent="0" marL="0">
              <a:buNone/>
            </a:pPr>
            <a:r>
              <a:rPr lang="en-US" sz="1000" b="1" spc="200" kern="0" dirty="0">
                <a:solidFill>
                  <a:schemeClr val="accent6"/>
                </a:solidFill>
              </a:rPr>
              <a:t>ADD-ON</a:t>
            </a:r>
            <a:endParaRPr lang="en-US" sz="1000" dirty="0"/>
          </a:p>
        </p:txBody>
      </p:sp>
      <p:sp>
        <p:nvSpPr>
          <p:cNvPr id="23" name="Text 18"/>
          <p:cNvSpPr txBox="1"/>
          <p:nvPr/>
        </p:nvSpPr>
        <p:spPr>
          <a:xfrm>
            <a:off x="9098280" y="2423160"/>
            <a:ext cx="2377440" cy="365760"/>
          </a:xfrm>
          <a:prstGeom prst="rect">
            <a:avLst/>
          </a:prstGeom>
          <a:noFill/>
          <a:ln/>
        </p:spPr>
        <p:txBody>
          <a:bodyPr wrap="square" lIns="0" tIns="0" rIns="0" bIns="0" rtlCol="0" anchor="t"/>
          <a:lstStyle/>
          <a:p>
            <a:pPr indent="0" marL="0">
              <a:buNone/>
            </a:pPr>
            <a:r>
              <a:rPr lang="en-US" sz="1800" b="1" dirty="0">
                <a:solidFill>
                  <a:schemeClr val="tx1"/>
                </a:solidFill>
              </a:rPr>
              <a:t>LEO constellations</a:t>
            </a:r>
            <a:endParaRPr lang="en-US" sz="1800" dirty="0"/>
          </a:p>
        </p:txBody>
      </p:sp>
      <p:sp>
        <p:nvSpPr>
          <p:cNvPr id="24" name="Text 19"/>
          <p:cNvSpPr txBox="1"/>
          <p:nvPr/>
        </p:nvSpPr>
        <p:spPr>
          <a:xfrm>
            <a:off x="8366760" y="2971800"/>
            <a:ext cx="3017520" cy="914400"/>
          </a:xfrm>
          <a:prstGeom prst="rect">
            <a:avLst/>
          </a:prstGeom>
          <a:noFill/>
          <a:ln/>
        </p:spPr>
        <p:txBody>
          <a:bodyPr wrap="square" lIns="0" tIns="0" rIns="0" bIns="0" rtlCol="0" anchor="t"/>
          <a:lstStyle/>
          <a:p>
            <a:pPr marL="203200" indent="-203200">
              <a:spcAft>
                <a:spcPts val="300"/>
              </a:spcAft>
              <a:buSzPct val="100000"/>
              <a:buChar char="•"/>
            </a:pPr>
            <a:r>
              <a:rPr lang="en-US" sz="1500" dirty="0">
                <a:solidFill>
                  <a:schemeClr val="tx1"/>
                </a:solidFill>
              </a:rPr>
              <a:t>Low-cost removal interface</a:t>
            </a:r>
            <a:endParaRPr lang="en-US" sz="1500" dirty="0"/>
          </a:p>
        </p:txBody>
      </p:sp>
      <p:sp>
        <p:nvSpPr>
          <p:cNvPr id="25" name="Text 20"/>
          <p:cNvSpPr txBox="1"/>
          <p:nvPr/>
        </p:nvSpPr>
        <p:spPr>
          <a:xfrm>
            <a:off x="8366760" y="3977640"/>
            <a:ext cx="3017520" cy="594360"/>
          </a:xfrm>
          <a:prstGeom prst="rect">
            <a:avLst/>
          </a:prstGeom>
          <a:noFill/>
          <a:ln/>
        </p:spPr>
        <p:txBody>
          <a:bodyPr wrap="square" lIns="0" tIns="0" rIns="0" bIns="0" rtlCol="0" anchor="t"/>
          <a:lstStyle/>
          <a:p>
            <a:pPr indent="0" marL="0">
              <a:buNone/>
            </a:pPr>
            <a:r>
              <a:rPr lang="en-US" sz="1200" i="1" dirty="0">
                <a:solidFill>
                  <a:schemeClr val="tx2"/>
                </a:solidFill>
              </a:rPr>
              <a:t>Minimal per-unit cost with guaranteed, debris-free disposal</a:t>
            </a:r>
            <a:endParaRPr lang="en-US" sz="1200" dirty="0"/>
          </a:p>
        </p:txBody>
      </p:sp>
      <p:sp>
        <p:nvSpPr>
          <p:cNvPr id="26" name="Baseline tier"/>
          <p:cNvSpPr/>
          <p:nvPr/>
        </p:nvSpPr>
        <p:spPr>
          <a:xfrm>
            <a:off x="548640" y="4983480"/>
            <a:ext cx="11064240" cy="1143000"/>
          </a:xfrm>
          <a:prstGeom prst="roundRect">
            <a:avLst>
              <a:gd name="adj" fmla="val 8000"/>
            </a:avLst>
          </a:prstGeom>
          <a:solidFill>
            <a:schemeClr val="tx1"/>
          </a:solidFill>
          <a:ln w="9525">
            <a:solidFill>
              <a:schemeClr val="tx1"/>
            </a:solidFill>
            <a:prstDash val="solid"/>
          </a:ln>
        </p:spPr>
      </p:sp>
      <p:sp>
        <p:nvSpPr>
          <p:cNvPr id="27" name="Text 22"/>
          <p:cNvSpPr txBox="1"/>
          <p:nvPr/>
        </p:nvSpPr>
        <p:spPr>
          <a:xfrm>
            <a:off x="868680" y="5138928"/>
            <a:ext cx="2286000" cy="274320"/>
          </a:xfrm>
          <a:prstGeom prst="rect">
            <a:avLst/>
          </a:prstGeom>
          <a:noFill/>
          <a:ln/>
        </p:spPr>
        <p:txBody>
          <a:bodyPr wrap="square" lIns="0" tIns="0" rIns="0" bIns="0" rtlCol="0" anchor="t"/>
          <a:lstStyle/>
          <a:p>
            <a:pPr indent="0" marL="0">
              <a:buNone/>
            </a:pPr>
            <a:r>
              <a:rPr lang="en-US" sz="1200" b="1" spc="300" kern="0" dirty="0">
                <a:solidFill>
                  <a:schemeClr val="accent1"/>
                </a:solidFill>
              </a:rPr>
              <a:t>BASELINE</a:t>
            </a:r>
            <a:endParaRPr lang="en-US" sz="1200" dirty="0"/>
          </a:p>
        </p:txBody>
      </p:sp>
      <p:sp>
        <p:nvSpPr>
          <p:cNvPr id="28" name="Text 23"/>
          <p:cNvSpPr txBox="1"/>
          <p:nvPr/>
        </p:nvSpPr>
        <p:spPr>
          <a:xfrm>
            <a:off x="868680" y="5413248"/>
            <a:ext cx="2286000" cy="457200"/>
          </a:xfrm>
          <a:prstGeom prst="rect">
            <a:avLst/>
          </a:prstGeom>
          <a:noFill/>
          <a:ln/>
        </p:spPr>
        <p:txBody>
          <a:bodyPr wrap="square" lIns="0" tIns="0" rIns="0" bIns="0" rtlCol="0" anchor="t"/>
          <a:lstStyle/>
          <a:p>
            <a:pPr indent="0" marL="0">
              <a:buNone/>
            </a:pPr>
            <a:r>
              <a:rPr lang="en-US" sz="1800" b="1" dirty="0">
                <a:solidFill>
                  <a:schemeClr val="bg1"/>
                </a:solidFill>
              </a:rPr>
              <a:t>Every satellite</a:t>
            </a:r>
            <a:endParaRPr lang="en-US" sz="1800" dirty="0"/>
          </a:p>
        </p:txBody>
      </p:sp>
      <p:sp>
        <p:nvSpPr>
          <p:cNvPr id="29" name="Shape 24"/>
          <p:cNvSpPr/>
          <p:nvPr/>
        </p:nvSpPr>
        <p:spPr>
          <a:xfrm>
            <a:off x="3291840" y="5257800"/>
            <a:ext cx="548640" cy="548640"/>
          </a:xfrm>
          <a:prstGeom prst="ellipse">
            <a:avLst/>
          </a:prstGeom>
          <a:solidFill>
            <a:schemeClr val="tx2"/>
          </a:solidFill>
          <a:ln w="12700">
            <a:solidFill>
              <a:schemeClr val="tx2"/>
            </a:solidFill>
            <a:prstDash val="solid"/>
          </a:ln>
        </p:spPr>
      </p:sp>
      <p:pic>
        <p:nvPicPr>
          <p:cNvPr id="30" name="Image 3" descr="FaCrosshairs">    </p:cNvPr>
          <p:cNvPicPr>
            <a:picLocks noChangeAspect="1"/>
          </p:cNvPicPr>
          <p:nvPr/>
        </p:nvPicPr>
        <p:blipFill>
          <a:blip r:embed="rId4"/>
          <a:stretch>
            <a:fillRect/>
          </a:stretch>
        </p:blipFill>
        <p:spPr>
          <a:xfrm>
            <a:off x="3429000" y="5394960"/>
            <a:ext cx="274320" cy="274320"/>
          </a:xfrm>
          <a:prstGeom prst="rect">
            <a:avLst/>
          </a:prstGeom>
        </p:spPr>
      </p:pic>
      <p:sp>
        <p:nvSpPr>
          <p:cNvPr id="31" name="Text 25"/>
          <p:cNvSpPr txBox="1"/>
          <p:nvPr/>
        </p:nvSpPr>
        <p:spPr>
          <a:xfrm>
            <a:off x="3977640" y="5257800"/>
            <a:ext cx="2011680" cy="548640"/>
          </a:xfrm>
          <a:prstGeom prst="rect">
            <a:avLst/>
          </a:prstGeom>
          <a:noFill/>
          <a:ln/>
        </p:spPr>
        <p:txBody>
          <a:bodyPr wrap="square" lIns="0" tIns="0" rIns="0" bIns="0" rtlCol="0" anchor="ctr"/>
          <a:lstStyle/>
          <a:p>
            <a:pPr indent="0" marL="0">
              <a:buNone/>
            </a:pPr>
            <a:r>
              <a:rPr lang="en-US" sz="1500" b="1" dirty="0">
                <a:solidFill>
                  <a:schemeClr val="bg1"/>
                </a:solidFill>
              </a:rPr>
              <a:t>Navigation aids</a:t>
            </a:r>
            <a:endParaRPr lang="en-US" sz="1500" dirty="0"/>
          </a:p>
        </p:txBody>
      </p:sp>
      <p:sp>
        <p:nvSpPr>
          <p:cNvPr id="32" name="Shape 26"/>
          <p:cNvSpPr/>
          <p:nvPr/>
        </p:nvSpPr>
        <p:spPr>
          <a:xfrm>
            <a:off x="6035040" y="5257800"/>
            <a:ext cx="548640" cy="548640"/>
          </a:xfrm>
          <a:prstGeom prst="ellipse">
            <a:avLst/>
          </a:prstGeom>
          <a:solidFill>
            <a:schemeClr val="tx2"/>
          </a:solidFill>
          <a:ln w="12700">
            <a:solidFill>
              <a:schemeClr val="tx2"/>
            </a:solidFill>
            <a:prstDash val="solid"/>
          </a:ln>
        </p:spPr>
      </p:sp>
      <p:pic>
        <p:nvPicPr>
          <p:cNvPr id="33" name="Image 4" descr="FaLink">    </p:cNvPr>
          <p:cNvPicPr>
            <a:picLocks noChangeAspect="1"/>
          </p:cNvPicPr>
          <p:nvPr/>
        </p:nvPicPr>
        <p:blipFill>
          <a:blip r:embed="rId5"/>
          <a:stretch>
            <a:fillRect/>
          </a:stretch>
        </p:blipFill>
        <p:spPr>
          <a:xfrm>
            <a:off x="6172200" y="5394960"/>
            <a:ext cx="274320" cy="274320"/>
          </a:xfrm>
          <a:prstGeom prst="rect">
            <a:avLst/>
          </a:prstGeom>
        </p:spPr>
      </p:pic>
      <p:sp>
        <p:nvSpPr>
          <p:cNvPr id="34" name="Text 27"/>
          <p:cNvSpPr txBox="1"/>
          <p:nvPr/>
        </p:nvSpPr>
        <p:spPr>
          <a:xfrm>
            <a:off x="6720840" y="5257800"/>
            <a:ext cx="2011680" cy="548640"/>
          </a:xfrm>
          <a:prstGeom prst="rect">
            <a:avLst/>
          </a:prstGeom>
          <a:noFill/>
          <a:ln/>
        </p:spPr>
        <p:txBody>
          <a:bodyPr wrap="square" lIns="0" tIns="0" rIns="0" bIns="0" rtlCol="0" anchor="ctr"/>
          <a:lstStyle/>
          <a:p>
            <a:pPr indent="0" marL="0">
              <a:buNone/>
            </a:pPr>
            <a:r>
              <a:rPr lang="en-US" sz="1500" b="1" dirty="0">
                <a:solidFill>
                  <a:schemeClr val="bg1"/>
                </a:solidFill>
              </a:rPr>
              <a:t>Capture interface</a:t>
            </a:r>
            <a:endParaRPr lang="en-US" sz="1500" dirty="0"/>
          </a:p>
        </p:txBody>
      </p:sp>
      <p:sp>
        <p:nvSpPr>
          <p:cNvPr id="35" name="Shape 28"/>
          <p:cNvSpPr/>
          <p:nvPr/>
        </p:nvSpPr>
        <p:spPr>
          <a:xfrm>
            <a:off x="8778240" y="5257800"/>
            <a:ext cx="548640" cy="548640"/>
          </a:xfrm>
          <a:prstGeom prst="ellipse">
            <a:avLst/>
          </a:prstGeom>
          <a:solidFill>
            <a:schemeClr val="tx2"/>
          </a:solidFill>
          <a:ln w="12700">
            <a:solidFill>
              <a:schemeClr val="tx2"/>
            </a:solidFill>
            <a:prstDash val="solid"/>
          </a:ln>
        </p:spPr>
      </p:sp>
      <p:pic>
        <p:nvPicPr>
          <p:cNvPr id="36" name="Image 5" descr="FaRecycle">    </p:cNvPr>
          <p:cNvPicPr>
            <a:picLocks noChangeAspect="1"/>
          </p:cNvPicPr>
          <p:nvPr/>
        </p:nvPicPr>
        <p:blipFill>
          <a:blip r:embed="rId6"/>
          <a:stretch>
            <a:fillRect/>
          </a:stretch>
        </p:blipFill>
        <p:spPr>
          <a:xfrm>
            <a:off x="8915400" y="5394960"/>
            <a:ext cx="274320" cy="274320"/>
          </a:xfrm>
          <a:prstGeom prst="rect">
            <a:avLst/>
          </a:prstGeom>
        </p:spPr>
      </p:pic>
      <p:sp>
        <p:nvSpPr>
          <p:cNvPr id="37" name="Text 29"/>
          <p:cNvSpPr txBox="1"/>
          <p:nvPr/>
        </p:nvSpPr>
        <p:spPr>
          <a:xfrm>
            <a:off x="9464040" y="5257800"/>
            <a:ext cx="2011680" cy="548640"/>
          </a:xfrm>
          <a:prstGeom prst="rect">
            <a:avLst/>
          </a:prstGeom>
          <a:noFill/>
          <a:ln/>
        </p:spPr>
        <p:txBody>
          <a:bodyPr wrap="square" lIns="0" tIns="0" rIns="0" bIns="0" rtlCol="0" anchor="ctr"/>
          <a:lstStyle/>
          <a:p>
            <a:pPr indent="0" marL="0">
              <a:buNone/>
            </a:pPr>
            <a:r>
              <a:rPr lang="en-US" sz="1500" b="1" dirty="0">
                <a:solidFill>
                  <a:schemeClr val="bg1"/>
                </a:solidFill>
              </a:rPr>
              <a:t>End-of-life provision</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8A9BB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body" hasCustomPrompt="1"/>
          </p:nvPr>
        </p:nvSpPr>
        <p:spPr>
          <a:xfrm>
            <a:off x="548640" y="320040"/>
            <a:ext cx="11064240" cy="292608"/>
          </a:xfrm>
          <a:prstGeom prst="rect">
            <a:avLst/>
          </a:prstGeom>
          <a:noFill/>
          <a:ln/>
        </p:spPr>
        <p:txBody>
          <a:bodyPr wrap="square" lIns="0" tIns="0" rIns="0" bIns="0" rtlCol="0"/>
          <a:lstStyle/>
          <a:p>
            <a:pPr indent="0" marL="0">
              <a:buNone/>
            </a:pPr>
            <a:r>
              <a:rPr lang="en-US" sz="1200" b="1" spc="300" kern="0" dirty="0">
                <a:solidFill>
                  <a:schemeClr val="accent3"/>
                </a:solidFill>
              </a:rPr>
              <a:t>PHASE 2 FOCUS</a:t>
            </a:r>
            <a:endParaRPr lang="en-US" sz="1200" dirty="0"/>
          </a:p>
        </p:txBody>
      </p:sp>
      <p:sp>
        <p:nvSpPr>
          <p:cNvPr id="3" name="Text 1"/>
          <p:cNvSpPr/>
          <p:nvPr>
            <p:ph idx="102" type="title" hasCustomPrompt="1"/>
          </p:nvPr>
        </p:nvSpPr>
        <p:spPr>
          <a:xfrm>
            <a:off x="548640" y="621792"/>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The Main Question</a:t>
            </a:r>
            <a:endParaRPr lang="en-US" sz="3200" dirty="0"/>
          </a:p>
        </p:txBody>
      </p:sp>
      <p:sp>
        <p:nvSpPr>
          <p:cNvPr id="4" name="Main question panel"/>
          <p:cNvSpPr/>
          <p:nvPr/>
        </p:nvSpPr>
        <p:spPr>
          <a:xfrm>
            <a:off x="548640" y="1554480"/>
            <a:ext cx="4663440" cy="4480560"/>
          </a:xfrm>
          <a:prstGeom prst="roundRect">
            <a:avLst>
              <a:gd name="adj" fmla="val 2041"/>
            </a:avLst>
          </a:prstGeom>
          <a:solidFill>
            <a:schemeClr val="tx1"/>
          </a:solidFill>
          <a:ln w="9525">
            <a:solidFill>
              <a:schemeClr val="tx1"/>
            </a:solidFill>
            <a:prstDash val="solid"/>
          </a:ln>
        </p:spPr>
      </p:sp>
      <p:sp>
        <p:nvSpPr>
          <p:cNvPr id="5" name="Shape 3"/>
          <p:cNvSpPr/>
          <p:nvPr/>
        </p:nvSpPr>
        <p:spPr>
          <a:xfrm>
            <a:off x="868680" y="1874520"/>
            <a:ext cx="685800" cy="685800"/>
          </a:xfrm>
          <a:prstGeom prst="ellipse">
            <a:avLst/>
          </a:prstGeom>
          <a:solidFill>
            <a:schemeClr val="accent1"/>
          </a:solidFill>
          <a:ln w="12700">
            <a:solidFill>
              <a:schemeClr val="accent1"/>
            </a:solidFill>
            <a:prstDash val="solid"/>
          </a:ln>
        </p:spPr>
      </p:sp>
      <p:pic>
        <p:nvPicPr>
          <p:cNvPr id="6" name="Image 0" descr="FaQuestion">    </p:cNvPr>
          <p:cNvPicPr>
            <a:picLocks noChangeAspect="1"/>
          </p:cNvPicPr>
          <p:nvPr/>
        </p:nvPicPr>
        <p:blipFill>
          <a:blip r:embed="rId1"/>
          <a:stretch>
            <a:fillRect/>
          </a:stretch>
        </p:blipFill>
        <p:spPr>
          <a:xfrm>
            <a:off x="1040130" y="2045970"/>
            <a:ext cx="342900" cy="342900"/>
          </a:xfrm>
          <a:prstGeom prst="rect">
            <a:avLst/>
          </a:prstGeom>
        </p:spPr>
      </p:pic>
      <p:sp>
        <p:nvSpPr>
          <p:cNvPr id="7" name="Text 4"/>
          <p:cNvSpPr txBox="1"/>
          <p:nvPr/>
        </p:nvSpPr>
        <p:spPr>
          <a:xfrm>
            <a:off x="868680" y="2788920"/>
            <a:ext cx="4023360" cy="1828800"/>
          </a:xfrm>
          <a:prstGeom prst="rect">
            <a:avLst/>
          </a:prstGeom>
          <a:noFill/>
          <a:ln/>
        </p:spPr>
        <p:txBody>
          <a:bodyPr wrap="square" lIns="0" tIns="0" rIns="0" bIns="0" rtlCol="0" anchor="t"/>
          <a:lstStyle/>
          <a:p>
            <a:pPr indent="0" marL="0">
              <a:buNone/>
            </a:pPr>
            <a:r>
              <a:rPr lang="en-US" sz="2400" b="1" dirty="0">
                <a:solidFill>
                  <a:schemeClr val="bg1"/>
                </a:solidFill>
              </a:rPr>
              <a:t>What minimum client-side features allow a satellite to remain serviceable in every state?</a:t>
            </a:r>
            <a:endParaRPr lang="en-US" sz="2400" dirty="0"/>
          </a:p>
        </p:txBody>
      </p:sp>
      <p:sp>
        <p:nvSpPr>
          <p:cNvPr id="8" name="Text 5"/>
          <p:cNvSpPr txBox="1"/>
          <p:nvPr/>
        </p:nvSpPr>
        <p:spPr>
          <a:xfrm>
            <a:off x="868680" y="5074920"/>
            <a:ext cx="4023360" cy="640080"/>
          </a:xfrm>
          <a:prstGeom prst="rect">
            <a:avLst/>
          </a:prstGeom>
          <a:noFill/>
          <a:ln/>
        </p:spPr>
        <p:txBody>
          <a:bodyPr wrap="square" lIns="0" tIns="0" rIns="0" bIns="0" rtlCol="0" anchor="t"/>
          <a:lstStyle/>
          <a:p>
            <a:pPr indent="0" marL="0">
              <a:buNone/>
            </a:pPr>
            <a:r>
              <a:rPr lang="en-US" sz="1500" i="1" dirty="0">
                <a:solidFill>
                  <a:schemeClr val="accent1"/>
                </a:solidFill>
              </a:rPr>
              <a:t>Design for the worst day in orbit, not the best one.</a:t>
            </a:r>
            <a:endParaRPr lang="en-US" sz="1500" dirty="0"/>
          </a:p>
        </p:txBody>
      </p:sp>
      <p:sp>
        <p:nvSpPr>
          <p:cNvPr id="9" name="Nominal state"/>
          <p:cNvSpPr/>
          <p:nvPr/>
        </p:nvSpPr>
        <p:spPr>
          <a:xfrm>
            <a:off x="5532120" y="1554480"/>
            <a:ext cx="6080760" cy="1335024"/>
          </a:xfrm>
          <a:prstGeom prst="roundRect">
            <a:avLst>
              <a:gd name="adj" fmla="val 6849"/>
            </a:avLst>
          </a:prstGeom>
          <a:solidFill>
            <a:schemeClr val="bg2"/>
          </a:solidFill>
          <a:ln w="9525">
            <a:solidFill>
              <a:schemeClr val="bg2"/>
            </a:solidFill>
            <a:prstDash val="solid"/>
          </a:ln>
        </p:spPr>
      </p:sp>
      <p:sp>
        <p:nvSpPr>
          <p:cNvPr id="10" name="Shape 7"/>
          <p:cNvSpPr/>
          <p:nvPr/>
        </p:nvSpPr>
        <p:spPr>
          <a:xfrm>
            <a:off x="5760720" y="1901952"/>
            <a:ext cx="640080" cy="640080"/>
          </a:xfrm>
          <a:prstGeom prst="ellipse">
            <a:avLst/>
          </a:prstGeom>
          <a:solidFill>
            <a:schemeClr val="accent5"/>
          </a:solidFill>
          <a:ln w="12700">
            <a:solidFill>
              <a:schemeClr val="accent5"/>
            </a:solidFill>
            <a:prstDash val="solid"/>
          </a:ln>
        </p:spPr>
      </p:sp>
      <p:pic>
        <p:nvPicPr>
          <p:cNvPr id="11" name="Image 1" descr="FaCheckCircle">    </p:cNvPr>
          <p:cNvPicPr>
            <a:picLocks noChangeAspect="1"/>
          </p:cNvPicPr>
          <p:nvPr/>
        </p:nvPicPr>
        <p:blipFill>
          <a:blip r:embed="rId2"/>
          <a:stretch>
            <a:fillRect/>
          </a:stretch>
        </p:blipFill>
        <p:spPr>
          <a:xfrm>
            <a:off x="5920740" y="2061972"/>
            <a:ext cx="320040" cy="320040"/>
          </a:xfrm>
          <a:prstGeom prst="rect">
            <a:avLst/>
          </a:prstGeom>
        </p:spPr>
      </p:pic>
      <p:sp>
        <p:nvSpPr>
          <p:cNvPr id="12" name="Text 8"/>
          <p:cNvSpPr txBox="1"/>
          <p:nvPr/>
        </p:nvSpPr>
        <p:spPr>
          <a:xfrm>
            <a:off x="6629400" y="1737360"/>
            <a:ext cx="3017520" cy="365760"/>
          </a:xfrm>
          <a:prstGeom prst="rect">
            <a:avLst/>
          </a:prstGeom>
          <a:noFill/>
          <a:ln/>
        </p:spPr>
        <p:txBody>
          <a:bodyPr wrap="square" lIns="0" tIns="0" rIns="0" bIns="0" rtlCol="0" anchor="t"/>
          <a:lstStyle/>
          <a:p>
            <a:pPr indent="0" marL="0">
              <a:buNone/>
            </a:pPr>
            <a:r>
              <a:rPr lang="en-US" sz="1800" b="1" dirty="0">
                <a:solidFill>
                  <a:schemeClr val="tx1"/>
                </a:solidFill>
              </a:rPr>
              <a:t>Nominal</a:t>
            </a:r>
            <a:endParaRPr lang="en-US" sz="1800" dirty="0"/>
          </a:p>
        </p:txBody>
      </p:sp>
      <p:sp>
        <p:nvSpPr>
          <p:cNvPr id="13" name="Tag"/>
          <p:cNvSpPr/>
          <p:nvPr/>
        </p:nvSpPr>
        <p:spPr>
          <a:xfrm>
            <a:off x="9555480" y="1755648"/>
            <a:ext cx="1828800" cy="310896"/>
          </a:xfrm>
          <a:prstGeom prst="roundRect">
            <a:avLst>
              <a:gd name="adj" fmla="val 50000"/>
            </a:avLst>
          </a:prstGeom>
          <a:solidFill>
            <a:schemeClr val="accent5">
              <a:alpha val="20000"/>
            </a:schemeClr>
          </a:solidFill>
          <a:ln w="9525">
            <a:solidFill>
              <a:schemeClr val="accent5"/>
            </a:solidFill>
            <a:prstDash val="solid"/>
          </a:ln>
        </p:spPr>
      </p:sp>
      <p:sp>
        <p:nvSpPr>
          <p:cNvPr id="14" name="Text 10"/>
          <p:cNvSpPr txBox="1"/>
          <p:nvPr/>
        </p:nvSpPr>
        <p:spPr>
          <a:xfrm>
            <a:off x="9555480" y="1755648"/>
            <a:ext cx="1828800" cy="310896"/>
          </a:xfrm>
          <a:prstGeom prst="rect">
            <a:avLst/>
          </a:prstGeom>
          <a:noFill/>
          <a:ln/>
        </p:spPr>
        <p:txBody>
          <a:bodyPr wrap="square" lIns="0" tIns="0" rIns="0" bIns="0" rtlCol="0" anchor="ctr"/>
          <a:lstStyle/>
          <a:p>
            <a:pPr algn="ctr" indent="0" marL="0">
              <a:buNone/>
            </a:pPr>
            <a:r>
              <a:rPr lang="en-US" sz="1100" b="1" dirty="0">
                <a:solidFill>
                  <a:schemeClr val="tx2"/>
                </a:solidFill>
              </a:rPr>
              <a:t>Cooperative</a:t>
            </a:r>
            <a:endParaRPr lang="en-US" sz="1100" dirty="0"/>
          </a:p>
        </p:txBody>
      </p:sp>
      <p:sp>
        <p:nvSpPr>
          <p:cNvPr id="15" name="Text 11"/>
          <p:cNvSpPr txBox="1"/>
          <p:nvPr/>
        </p:nvSpPr>
        <p:spPr>
          <a:xfrm>
            <a:off x="6629400" y="2148840"/>
            <a:ext cx="4754880" cy="640080"/>
          </a:xfrm>
          <a:prstGeom prst="rect">
            <a:avLst/>
          </a:prstGeom>
          <a:noFill/>
          <a:ln/>
        </p:spPr>
        <p:txBody>
          <a:bodyPr wrap="square" lIns="0" tIns="0" rIns="0" bIns="0" rtlCol="0" anchor="t"/>
          <a:lstStyle/>
          <a:p>
            <a:pPr indent="0" marL="0">
              <a:buNone/>
            </a:pPr>
            <a:r>
              <a:rPr lang="en-US" sz="1400" dirty="0">
                <a:solidFill>
                  <a:schemeClr val="tx2"/>
                </a:solidFill>
              </a:rPr>
              <a:t>Healthy, attitude-controlled and communicating — servicing through planned interfaces.</a:t>
            </a:r>
            <a:endParaRPr lang="en-US" sz="1400" dirty="0"/>
          </a:p>
        </p:txBody>
      </p:sp>
      <p:sp>
        <p:nvSpPr>
          <p:cNvPr id="16" name="Degraded state"/>
          <p:cNvSpPr/>
          <p:nvPr/>
        </p:nvSpPr>
        <p:spPr>
          <a:xfrm>
            <a:off x="5532120" y="3127248"/>
            <a:ext cx="6080760" cy="1335024"/>
          </a:xfrm>
          <a:prstGeom prst="roundRect">
            <a:avLst>
              <a:gd name="adj" fmla="val 6849"/>
            </a:avLst>
          </a:prstGeom>
          <a:solidFill>
            <a:schemeClr val="bg2"/>
          </a:solidFill>
          <a:ln w="9525">
            <a:solidFill>
              <a:schemeClr val="bg2"/>
            </a:solidFill>
            <a:prstDash val="solid"/>
          </a:ln>
        </p:spPr>
      </p:sp>
      <p:sp>
        <p:nvSpPr>
          <p:cNvPr id="17" name="Shape 13"/>
          <p:cNvSpPr/>
          <p:nvPr/>
        </p:nvSpPr>
        <p:spPr>
          <a:xfrm>
            <a:off x="5760720" y="3474720"/>
            <a:ext cx="640080" cy="640080"/>
          </a:xfrm>
          <a:prstGeom prst="ellipse">
            <a:avLst/>
          </a:prstGeom>
          <a:solidFill>
            <a:schemeClr val="accent1"/>
          </a:solidFill>
          <a:ln w="12700">
            <a:solidFill>
              <a:schemeClr val="accent1"/>
            </a:solidFill>
            <a:prstDash val="solid"/>
          </a:ln>
        </p:spPr>
      </p:sp>
      <p:pic>
        <p:nvPicPr>
          <p:cNvPr id="18" name="Image 2" descr="FaExclamationTriangle">    </p:cNvPr>
          <p:cNvPicPr>
            <a:picLocks noChangeAspect="1"/>
          </p:cNvPicPr>
          <p:nvPr/>
        </p:nvPicPr>
        <p:blipFill>
          <a:blip r:embed="rId3"/>
          <a:stretch>
            <a:fillRect/>
          </a:stretch>
        </p:blipFill>
        <p:spPr>
          <a:xfrm>
            <a:off x="5920740" y="3634740"/>
            <a:ext cx="320040" cy="320040"/>
          </a:xfrm>
          <a:prstGeom prst="rect">
            <a:avLst/>
          </a:prstGeom>
        </p:spPr>
      </p:pic>
      <p:sp>
        <p:nvSpPr>
          <p:cNvPr id="19" name="Text 14"/>
          <p:cNvSpPr txBox="1"/>
          <p:nvPr/>
        </p:nvSpPr>
        <p:spPr>
          <a:xfrm>
            <a:off x="6629400" y="3310128"/>
            <a:ext cx="3017520" cy="365760"/>
          </a:xfrm>
          <a:prstGeom prst="rect">
            <a:avLst/>
          </a:prstGeom>
          <a:noFill/>
          <a:ln/>
        </p:spPr>
        <p:txBody>
          <a:bodyPr wrap="square" lIns="0" tIns="0" rIns="0" bIns="0" rtlCol="0" anchor="t"/>
          <a:lstStyle/>
          <a:p>
            <a:pPr indent="0" marL="0">
              <a:buNone/>
            </a:pPr>
            <a:r>
              <a:rPr lang="en-US" sz="1800" b="1" dirty="0">
                <a:solidFill>
                  <a:schemeClr val="tx1"/>
                </a:solidFill>
              </a:rPr>
              <a:t>Degraded</a:t>
            </a:r>
            <a:endParaRPr lang="en-US" sz="1800" dirty="0"/>
          </a:p>
        </p:txBody>
      </p:sp>
      <p:sp>
        <p:nvSpPr>
          <p:cNvPr id="20" name="Tag"/>
          <p:cNvSpPr/>
          <p:nvPr/>
        </p:nvSpPr>
        <p:spPr>
          <a:xfrm>
            <a:off x="9555480" y="3328416"/>
            <a:ext cx="1828800" cy="310896"/>
          </a:xfrm>
          <a:prstGeom prst="roundRect">
            <a:avLst>
              <a:gd name="adj" fmla="val 50000"/>
            </a:avLst>
          </a:prstGeom>
          <a:solidFill>
            <a:schemeClr val="accent1">
              <a:alpha val="20000"/>
            </a:schemeClr>
          </a:solidFill>
          <a:ln w="9525">
            <a:solidFill>
              <a:schemeClr val="accent1"/>
            </a:solidFill>
            <a:prstDash val="solid"/>
          </a:ln>
        </p:spPr>
      </p:sp>
      <p:sp>
        <p:nvSpPr>
          <p:cNvPr id="21" name="Text 16"/>
          <p:cNvSpPr txBox="1"/>
          <p:nvPr/>
        </p:nvSpPr>
        <p:spPr>
          <a:xfrm>
            <a:off x="9555480" y="3328416"/>
            <a:ext cx="1828800" cy="310896"/>
          </a:xfrm>
          <a:prstGeom prst="rect">
            <a:avLst/>
          </a:prstGeom>
          <a:noFill/>
          <a:ln/>
        </p:spPr>
        <p:txBody>
          <a:bodyPr wrap="square" lIns="0" tIns="0" rIns="0" bIns="0" rtlCol="0" anchor="ctr"/>
          <a:lstStyle/>
          <a:p>
            <a:pPr algn="ctr" indent="0" marL="0">
              <a:buNone/>
            </a:pPr>
            <a:r>
              <a:rPr lang="en-US" sz="1100" b="1" dirty="0">
                <a:solidFill>
                  <a:schemeClr val="tx2"/>
                </a:solidFill>
              </a:rPr>
              <a:t>Partially cooperative</a:t>
            </a:r>
            <a:endParaRPr lang="en-US" sz="1100" dirty="0"/>
          </a:p>
        </p:txBody>
      </p:sp>
      <p:sp>
        <p:nvSpPr>
          <p:cNvPr id="22" name="Text 17"/>
          <p:cNvSpPr txBox="1"/>
          <p:nvPr/>
        </p:nvSpPr>
        <p:spPr>
          <a:xfrm>
            <a:off x="6629400" y="3721608"/>
            <a:ext cx="4754880" cy="640080"/>
          </a:xfrm>
          <a:prstGeom prst="rect">
            <a:avLst/>
          </a:prstGeom>
          <a:noFill/>
          <a:ln/>
        </p:spPr>
        <p:txBody>
          <a:bodyPr wrap="square" lIns="0" tIns="0" rIns="0" bIns="0" rtlCol="0" anchor="t"/>
          <a:lstStyle/>
          <a:p>
            <a:pPr indent="0" marL="0">
              <a:buNone/>
            </a:pPr>
            <a:r>
              <a:rPr lang="en-US" sz="1400" dirty="0">
                <a:solidFill>
                  <a:schemeClr val="tx2"/>
                </a:solidFill>
              </a:rPr>
              <a:t>Partial OBC, power or comms failure — key service data must still be reachable.</a:t>
            </a:r>
            <a:endParaRPr lang="en-US" sz="1400" dirty="0"/>
          </a:p>
        </p:txBody>
      </p:sp>
      <p:sp>
        <p:nvSpPr>
          <p:cNvPr id="23" name="Non-cooperative / tumbling state"/>
          <p:cNvSpPr/>
          <p:nvPr/>
        </p:nvSpPr>
        <p:spPr>
          <a:xfrm>
            <a:off x="5532120" y="4700016"/>
            <a:ext cx="6080760" cy="1335024"/>
          </a:xfrm>
          <a:prstGeom prst="roundRect">
            <a:avLst>
              <a:gd name="adj" fmla="val 6849"/>
            </a:avLst>
          </a:prstGeom>
          <a:solidFill>
            <a:schemeClr val="bg2"/>
          </a:solidFill>
          <a:ln w="9525">
            <a:solidFill>
              <a:schemeClr val="bg2"/>
            </a:solidFill>
            <a:prstDash val="solid"/>
          </a:ln>
        </p:spPr>
      </p:sp>
      <p:sp>
        <p:nvSpPr>
          <p:cNvPr id="24" name="Shape 19"/>
          <p:cNvSpPr/>
          <p:nvPr/>
        </p:nvSpPr>
        <p:spPr>
          <a:xfrm>
            <a:off x="5760720" y="5047488"/>
            <a:ext cx="640080" cy="640080"/>
          </a:xfrm>
          <a:prstGeom prst="ellipse">
            <a:avLst/>
          </a:prstGeom>
          <a:solidFill>
            <a:schemeClr val="accent4"/>
          </a:solidFill>
          <a:ln w="12700">
            <a:solidFill>
              <a:schemeClr val="accent4"/>
            </a:solidFill>
            <a:prstDash val="solid"/>
          </a:ln>
        </p:spPr>
      </p:sp>
      <p:pic>
        <p:nvPicPr>
          <p:cNvPr id="25" name="Image 3" descr="FaSyncAlt">    </p:cNvPr>
          <p:cNvPicPr>
            <a:picLocks noChangeAspect="1"/>
          </p:cNvPicPr>
          <p:nvPr/>
        </p:nvPicPr>
        <p:blipFill>
          <a:blip r:embed="rId4"/>
          <a:stretch>
            <a:fillRect/>
          </a:stretch>
        </p:blipFill>
        <p:spPr>
          <a:xfrm>
            <a:off x="5920740" y="5207508"/>
            <a:ext cx="320040" cy="320040"/>
          </a:xfrm>
          <a:prstGeom prst="rect">
            <a:avLst/>
          </a:prstGeom>
        </p:spPr>
      </p:pic>
      <p:sp>
        <p:nvSpPr>
          <p:cNvPr id="26" name="Text 20"/>
          <p:cNvSpPr txBox="1"/>
          <p:nvPr/>
        </p:nvSpPr>
        <p:spPr>
          <a:xfrm>
            <a:off x="6629400" y="4882896"/>
            <a:ext cx="3017520" cy="365760"/>
          </a:xfrm>
          <a:prstGeom prst="rect">
            <a:avLst/>
          </a:prstGeom>
          <a:noFill/>
          <a:ln/>
        </p:spPr>
        <p:txBody>
          <a:bodyPr wrap="square" lIns="0" tIns="0" rIns="0" bIns="0" rtlCol="0" anchor="t"/>
          <a:lstStyle/>
          <a:p>
            <a:pPr indent="0" marL="0">
              <a:buNone/>
            </a:pPr>
            <a:r>
              <a:rPr lang="en-US" sz="1800" b="1" dirty="0">
                <a:solidFill>
                  <a:schemeClr val="tx1"/>
                </a:solidFill>
              </a:rPr>
              <a:t>Non-cooperative / tumbling</a:t>
            </a:r>
            <a:endParaRPr lang="en-US" sz="1800" dirty="0"/>
          </a:p>
        </p:txBody>
      </p:sp>
      <p:sp>
        <p:nvSpPr>
          <p:cNvPr id="27" name="Tag"/>
          <p:cNvSpPr/>
          <p:nvPr/>
        </p:nvSpPr>
        <p:spPr>
          <a:xfrm>
            <a:off x="9555480" y="4901184"/>
            <a:ext cx="1828800" cy="310896"/>
          </a:xfrm>
          <a:prstGeom prst="roundRect">
            <a:avLst>
              <a:gd name="adj" fmla="val 50000"/>
            </a:avLst>
          </a:prstGeom>
          <a:solidFill>
            <a:schemeClr val="accent4">
              <a:alpha val="20000"/>
            </a:schemeClr>
          </a:solidFill>
          <a:ln w="9525">
            <a:solidFill>
              <a:schemeClr val="accent4"/>
            </a:solidFill>
            <a:prstDash val="solid"/>
          </a:ln>
        </p:spPr>
      </p:sp>
      <p:sp>
        <p:nvSpPr>
          <p:cNvPr id="28" name="Text 22"/>
          <p:cNvSpPr txBox="1"/>
          <p:nvPr/>
        </p:nvSpPr>
        <p:spPr>
          <a:xfrm>
            <a:off x="9555480" y="4901184"/>
            <a:ext cx="1828800" cy="310896"/>
          </a:xfrm>
          <a:prstGeom prst="rect">
            <a:avLst/>
          </a:prstGeom>
          <a:noFill/>
          <a:ln/>
        </p:spPr>
        <p:txBody>
          <a:bodyPr wrap="square" lIns="0" tIns="0" rIns="0" bIns="0" rtlCol="0" anchor="ctr"/>
          <a:lstStyle/>
          <a:p>
            <a:pPr algn="ctr" indent="0" marL="0">
              <a:buNone/>
            </a:pPr>
            <a:r>
              <a:rPr lang="en-US" sz="1100" b="1" dirty="0">
                <a:solidFill>
                  <a:schemeClr val="tx2"/>
                </a:solidFill>
              </a:rPr>
              <a:t>Non-cooperative</a:t>
            </a:r>
            <a:endParaRPr lang="en-US" sz="1100" dirty="0"/>
          </a:p>
        </p:txBody>
      </p:sp>
      <p:sp>
        <p:nvSpPr>
          <p:cNvPr id="29" name="Text 23"/>
          <p:cNvSpPr txBox="1"/>
          <p:nvPr/>
        </p:nvSpPr>
        <p:spPr>
          <a:xfrm>
            <a:off x="6629400" y="5294376"/>
            <a:ext cx="4754880" cy="640080"/>
          </a:xfrm>
          <a:prstGeom prst="rect">
            <a:avLst/>
          </a:prstGeom>
          <a:noFill/>
          <a:ln/>
        </p:spPr>
        <p:txBody>
          <a:bodyPr wrap="square" lIns="0" tIns="0" rIns="0" bIns="0" rtlCol="0" anchor="t"/>
          <a:lstStyle/>
          <a:p>
            <a:pPr indent="0" marL="0">
              <a:buNone/>
            </a:pPr>
            <a:r>
              <a:rPr lang="en-US" sz="1400" dirty="0">
                <a:solidFill>
                  <a:schemeClr val="tx2"/>
                </a:solidFill>
              </a:rPr>
              <a:t>No control or comms, possibly tumbling — servicer relies on passive aids and robust capture.</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8A9BB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body" hasCustomPrompt="1"/>
          </p:nvPr>
        </p:nvSpPr>
        <p:spPr>
          <a:xfrm>
            <a:off x="548640" y="320040"/>
            <a:ext cx="11064240" cy="292608"/>
          </a:xfrm>
          <a:prstGeom prst="rect">
            <a:avLst/>
          </a:prstGeom>
          <a:noFill/>
          <a:ln/>
        </p:spPr>
        <p:txBody>
          <a:bodyPr wrap="square" lIns="0" tIns="0" rIns="0" bIns="0" rtlCol="0"/>
          <a:lstStyle/>
          <a:p>
            <a:pPr indent="0" marL="0">
              <a:buNone/>
            </a:pPr>
            <a:r>
              <a:rPr lang="en-US" sz="1200" b="1" spc="300" kern="0" dirty="0">
                <a:solidFill>
                  <a:schemeClr val="accent3"/>
                </a:solidFill>
              </a:rPr>
              <a:t>CORE INNOVATION</a:t>
            </a:r>
            <a:endParaRPr lang="en-US" sz="1200" dirty="0"/>
          </a:p>
        </p:txBody>
      </p:sp>
      <p:sp>
        <p:nvSpPr>
          <p:cNvPr id="3" name="Text 1"/>
          <p:cNvSpPr/>
          <p:nvPr>
            <p:ph idx="102" type="title" hasCustomPrompt="1"/>
          </p:nvPr>
        </p:nvSpPr>
        <p:spPr>
          <a:xfrm>
            <a:off x="548640" y="621792"/>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Cooperative / Degraded Serviceability Architecture</a:t>
            </a:r>
            <a:endParaRPr lang="en-US" sz="3200" dirty="0"/>
          </a:p>
        </p:txBody>
      </p:sp>
      <p:sp>
        <p:nvSpPr>
          <p:cNvPr id="4" name="IOS Mode card"/>
          <p:cNvSpPr/>
          <p:nvPr/>
        </p:nvSpPr>
        <p:spPr>
          <a:xfrm>
            <a:off x="548640" y="1600200"/>
            <a:ext cx="2029968" cy="3977640"/>
          </a:xfrm>
          <a:prstGeom prst="roundRect">
            <a:avLst>
              <a:gd name="adj" fmla="val 4505"/>
            </a:avLst>
          </a:prstGeom>
          <a:solidFill>
            <a:schemeClr val="bg1"/>
          </a:solidFill>
          <a:ln w="9525">
            <a:solidFill>
              <a:srgbClr val="D5DCE6"/>
            </a:solidFill>
            <a:prstDash val="solid"/>
          </a:ln>
          <a:effectLst>
            <a:outerShdw sx="100000" sy="100000" kx="0" ky="0" algn="bl" rotWithShape="0" blurRad="101600" dist="25400" dir="5400000">
              <a:srgbClr val="0B1730">
                <a:alpha val="12000"/>
              </a:srgbClr>
            </a:outerShdw>
          </a:effectLst>
        </p:spPr>
      </p:sp>
      <p:sp>
        <p:nvSpPr>
          <p:cNvPr id="5" name="Shape 3"/>
          <p:cNvSpPr/>
          <p:nvPr/>
        </p:nvSpPr>
        <p:spPr>
          <a:xfrm>
            <a:off x="777240" y="1828800"/>
            <a:ext cx="685800" cy="685800"/>
          </a:xfrm>
          <a:prstGeom prst="ellipse">
            <a:avLst/>
          </a:prstGeom>
          <a:solidFill>
            <a:schemeClr val="accent1"/>
          </a:solidFill>
          <a:ln w="12700">
            <a:solidFill>
              <a:schemeClr val="accent1"/>
            </a:solidFill>
            <a:prstDash val="solid"/>
          </a:ln>
        </p:spPr>
      </p:sp>
      <p:pic>
        <p:nvPicPr>
          <p:cNvPr id="6" name="Image 0" descr="FaToggleOn">    </p:cNvPr>
          <p:cNvPicPr>
            <a:picLocks noChangeAspect="1"/>
          </p:cNvPicPr>
          <p:nvPr/>
        </p:nvPicPr>
        <p:blipFill>
          <a:blip r:embed="rId1"/>
          <a:stretch>
            <a:fillRect/>
          </a:stretch>
        </p:blipFill>
        <p:spPr>
          <a:xfrm>
            <a:off x="948690" y="2000250"/>
            <a:ext cx="342900" cy="342900"/>
          </a:xfrm>
          <a:prstGeom prst="rect">
            <a:avLst/>
          </a:prstGeom>
        </p:spPr>
      </p:pic>
      <p:sp>
        <p:nvSpPr>
          <p:cNvPr id="7" name="Text 4"/>
          <p:cNvSpPr txBox="1"/>
          <p:nvPr/>
        </p:nvSpPr>
        <p:spPr>
          <a:xfrm>
            <a:off x="777240" y="2697480"/>
            <a:ext cx="1618488" cy="685800"/>
          </a:xfrm>
          <a:prstGeom prst="rect">
            <a:avLst/>
          </a:prstGeom>
          <a:noFill/>
          <a:ln/>
        </p:spPr>
        <p:txBody>
          <a:bodyPr wrap="square" lIns="0" tIns="0" rIns="0" bIns="0" rtlCol="0" anchor="t"/>
          <a:lstStyle/>
          <a:p>
            <a:pPr indent="0" marL="0">
              <a:buNone/>
            </a:pPr>
            <a:r>
              <a:rPr lang="en-US" sz="1600" b="1" dirty="0">
                <a:solidFill>
                  <a:schemeClr val="tx1"/>
                </a:solidFill>
              </a:rPr>
              <a:t>IOS Mode</a:t>
            </a:r>
            <a:endParaRPr lang="en-US" sz="1600" dirty="0"/>
          </a:p>
        </p:txBody>
      </p:sp>
      <p:sp>
        <p:nvSpPr>
          <p:cNvPr id="8" name="Text 5"/>
          <p:cNvSpPr txBox="1"/>
          <p:nvPr/>
        </p:nvSpPr>
        <p:spPr>
          <a:xfrm>
            <a:off x="777240" y="3429000"/>
            <a:ext cx="1618488" cy="1463040"/>
          </a:xfrm>
          <a:prstGeom prst="rect">
            <a:avLst/>
          </a:prstGeom>
          <a:noFill/>
          <a:ln/>
        </p:spPr>
        <p:txBody>
          <a:bodyPr wrap="square" lIns="0" tIns="0" rIns="0" bIns="0" rtlCol="0" anchor="t"/>
          <a:lstStyle/>
          <a:p>
            <a:pPr indent="0" marL="0">
              <a:buNone/>
            </a:pPr>
            <a:r>
              <a:rPr lang="en-US" sz="1400" dirty="0">
                <a:solidFill>
                  <a:schemeClr val="tx2"/>
                </a:solidFill>
              </a:rPr>
              <a:t>Defined client mode that hands control to the servicer so the two vehicles never fight.</a:t>
            </a:r>
            <a:endParaRPr lang="en-US" sz="1400" dirty="0"/>
          </a:p>
        </p:txBody>
      </p:sp>
      <p:sp>
        <p:nvSpPr>
          <p:cNvPr id="9" name="Tag"/>
          <p:cNvSpPr/>
          <p:nvPr/>
        </p:nvSpPr>
        <p:spPr>
          <a:xfrm>
            <a:off x="777240" y="5029200"/>
            <a:ext cx="1572768" cy="329184"/>
          </a:xfrm>
          <a:prstGeom prst="roundRect">
            <a:avLst>
              <a:gd name="adj" fmla="val 50000"/>
            </a:avLst>
          </a:prstGeom>
          <a:solidFill>
            <a:schemeClr val="accent1">
              <a:alpha val="18000"/>
            </a:schemeClr>
          </a:solidFill>
          <a:ln w="9525">
            <a:solidFill>
              <a:schemeClr val="accent1"/>
            </a:solidFill>
            <a:prstDash val="solid"/>
          </a:ln>
        </p:spPr>
      </p:sp>
      <p:sp>
        <p:nvSpPr>
          <p:cNvPr id="10" name="Text 7"/>
          <p:cNvSpPr txBox="1"/>
          <p:nvPr/>
        </p:nvSpPr>
        <p:spPr>
          <a:xfrm>
            <a:off x="777240" y="5029200"/>
            <a:ext cx="1572768" cy="329184"/>
          </a:xfrm>
          <a:prstGeom prst="rect">
            <a:avLst/>
          </a:prstGeom>
          <a:noFill/>
          <a:ln/>
        </p:spPr>
        <p:txBody>
          <a:bodyPr wrap="square" lIns="0" tIns="0" rIns="0" bIns="0" rtlCol="0" anchor="ctr"/>
          <a:lstStyle/>
          <a:p>
            <a:pPr algn="ctr" indent="0" marL="0">
              <a:buNone/>
            </a:pPr>
            <a:r>
              <a:rPr lang="en-US" sz="1100" b="1" dirty="0">
                <a:solidFill>
                  <a:schemeClr val="tx2"/>
                </a:solidFill>
              </a:rPr>
              <a:t>Cooperative</a:t>
            </a:r>
            <a:endParaRPr lang="en-US" sz="1100" dirty="0"/>
          </a:p>
        </p:txBody>
      </p:sp>
      <p:sp>
        <p:nvSpPr>
          <p:cNvPr id="11" name="Independent Service Beacon card"/>
          <p:cNvSpPr/>
          <p:nvPr/>
        </p:nvSpPr>
        <p:spPr>
          <a:xfrm>
            <a:off x="2807208" y="1600200"/>
            <a:ext cx="2029968" cy="3977640"/>
          </a:xfrm>
          <a:prstGeom prst="roundRect">
            <a:avLst>
              <a:gd name="adj" fmla="val 4505"/>
            </a:avLst>
          </a:prstGeom>
          <a:solidFill>
            <a:schemeClr val="bg1"/>
          </a:solidFill>
          <a:ln w="9525">
            <a:solidFill>
              <a:srgbClr val="D5DCE6"/>
            </a:solidFill>
            <a:prstDash val="solid"/>
          </a:ln>
          <a:effectLst>
            <a:outerShdw sx="100000" sy="100000" kx="0" ky="0" algn="bl" rotWithShape="0" blurRad="101600" dist="25400" dir="5400000">
              <a:srgbClr val="0B1730">
                <a:alpha val="12000"/>
              </a:srgbClr>
            </a:outerShdw>
          </a:effectLst>
        </p:spPr>
      </p:sp>
      <p:sp>
        <p:nvSpPr>
          <p:cNvPr id="12" name="Shape 9"/>
          <p:cNvSpPr/>
          <p:nvPr/>
        </p:nvSpPr>
        <p:spPr>
          <a:xfrm>
            <a:off x="3035808" y="1828800"/>
            <a:ext cx="685800" cy="685800"/>
          </a:xfrm>
          <a:prstGeom prst="ellipse">
            <a:avLst/>
          </a:prstGeom>
          <a:solidFill>
            <a:schemeClr val="accent2"/>
          </a:solidFill>
          <a:ln w="12700">
            <a:solidFill>
              <a:schemeClr val="accent2"/>
            </a:solidFill>
            <a:prstDash val="solid"/>
          </a:ln>
        </p:spPr>
      </p:sp>
      <p:pic>
        <p:nvPicPr>
          <p:cNvPr id="13" name="Image 1" descr="FaBroadcastTower">    </p:cNvPr>
          <p:cNvPicPr>
            <a:picLocks noChangeAspect="1"/>
          </p:cNvPicPr>
          <p:nvPr/>
        </p:nvPicPr>
        <p:blipFill>
          <a:blip r:embed="rId2"/>
          <a:stretch>
            <a:fillRect/>
          </a:stretch>
        </p:blipFill>
        <p:spPr>
          <a:xfrm>
            <a:off x="3207258" y="2000250"/>
            <a:ext cx="342900" cy="342900"/>
          </a:xfrm>
          <a:prstGeom prst="rect">
            <a:avLst/>
          </a:prstGeom>
        </p:spPr>
      </p:pic>
      <p:sp>
        <p:nvSpPr>
          <p:cNvPr id="14" name="Text 10"/>
          <p:cNvSpPr txBox="1"/>
          <p:nvPr/>
        </p:nvSpPr>
        <p:spPr>
          <a:xfrm>
            <a:off x="3035808" y="2697480"/>
            <a:ext cx="1618488" cy="685800"/>
          </a:xfrm>
          <a:prstGeom prst="rect">
            <a:avLst/>
          </a:prstGeom>
          <a:noFill/>
          <a:ln/>
        </p:spPr>
        <p:txBody>
          <a:bodyPr wrap="square" lIns="0" tIns="0" rIns="0" bIns="0" rtlCol="0" anchor="t"/>
          <a:lstStyle/>
          <a:p>
            <a:pPr indent="0" marL="0">
              <a:buNone/>
            </a:pPr>
            <a:r>
              <a:rPr lang="en-US" sz="1600" b="1" dirty="0">
                <a:solidFill>
                  <a:schemeClr val="tx1"/>
                </a:solidFill>
              </a:rPr>
              <a:t>Independent Service Beacon</a:t>
            </a:r>
            <a:endParaRPr lang="en-US" sz="1600" dirty="0"/>
          </a:p>
        </p:txBody>
      </p:sp>
      <p:sp>
        <p:nvSpPr>
          <p:cNvPr id="15" name="Text 11"/>
          <p:cNvSpPr txBox="1"/>
          <p:nvPr/>
        </p:nvSpPr>
        <p:spPr>
          <a:xfrm>
            <a:off x="3035808" y="3429000"/>
            <a:ext cx="1618488" cy="1463040"/>
          </a:xfrm>
          <a:prstGeom prst="rect">
            <a:avLst/>
          </a:prstGeom>
          <a:noFill/>
          <a:ln/>
        </p:spPr>
        <p:txBody>
          <a:bodyPr wrap="square" lIns="0" tIns="0" rIns="0" bIns="0" rtlCol="0" anchor="t"/>
          <a:lstStyle/>
          <a:p>
            <a:pPr indent="0" marL="0">
              <a:buNone/>
            </a:pPr>
            <a:r>
              <a:rPr lang="en-US" sz="1400" dirty="0">
                <a:solidFill>
                  <a:schemeClr val="tx2"/>
                </a:solidFill>
              </a:rPr>
              <a:t>Keeps broadcasting service data even if the main OBC or comms fail.</a:t>
            </a:r>
            <a:endParaRPr lang="en-US" sz="1400" dirty="0"/>
          </a:p>
        </p:txBody>
      </p:sp>
      <p:sp>
        <p:nvSpPr>
          <p:cNvPr id="16" name="Tag"/>
          <p:cNvSpPr/>
          <p:nvPr/>
        </p:nvSpPr>
        <p:spPr>
          <a:xfrm>
            <a:off x="3035808" y="5029200"/>
            <a:ext cx="1572768" cy="329184"/>
          </a:xfrm>
          <a:prstGeom prst="roundRect">
            <a:avLst>
              <a:gd name="adj" fmla="val 50000"/>
            </a:avLst>
          </a:prstGeom>
          <a:solidFill>
            <a:schemeClr val="accent2">
              <a:alpha val="18000"/>
            </a:schemeClr>
          </a:solidFill>
          <a:ln w="9525">
            <a:solidFill>
              <a:schemeClr val="accent2"/>
            </a:solidFill>
            <a:prstDash val="solid"/>
          </a:ln>
        </p:spPr>
      </p:sp>
      <p:sp>
        <p:nvSpPr>
          <p:cNvPr id="17" name="Text 13"/>
          <p:cNvSpPr txBox="1"/>
          <p:nvPr/>
        </p:nvSpPr>
        <p:spPr>
          <a:xfrm>
            <a:off x="3035808" y="5029200"/>
            <a:ext cx="1572768" cy="329184"/>
          </a:xfrm>
          <a:prstGeom prst="rect">
            <a:avLst/>
          </a:prstGeom>
          <a:noFill/>
          <a:ln/>
        </p:spPr>
        <p:txBody>
          <a:bodyPr wrap="square" lIns="0" tIns="0" rIns="0" bIns="0" rtlCol="0" anchor="ctr"/>
          <a:lstStyle/>
          <a:p>
            <a:pPr algn="ctr" indent="0" marL="0">
              <a:buNone/>
            </a:pPr>
            <a:r>
              <a:rPr lang="en-US" sz="1100" b="1" dirty="0">
                <a:solidFill>
                  <a:schemeClr val="tx2"/>
                </a:solidFill>
              </a:rPr>
              <a:t>Degraded</a:t>
            </a:r>
            <a:endParaRPr lang="en-US" sz="1100" dirty="0"/>
          </a:p>
        </p:txBody>
      </p:sp>
      <p:sp>
        <p:nvSpPr>
          <p:cNvPr id="18" name="Navigation aids / fiducials card"/>
          <p:cNvSpPr/>
          <p:nvPr/>
        </p:nvSpPr>
        <p:spPr>
          <a:xfrm>
            <a:off x="5065776" y="1600200"/>
            <a:ext cx="2029968" cy="3977640"/>
          </a:xfrm>
          <a:prstGeom prst="roundRect">
            <a:avLst>
              <a:gd name="adj" fmla="val 4505"/>
            </a:avLst>
          </a:prstGeom>
          <a:solidFill>
            <a:schemeClr val="bg1"/>
          </a:solidFill>
          <a:ln w="9525">
            <a:solidFill>
              <a:srgbClr val="D5DCE6"/>
            </a:solidFill>
            <a:prstDash val="solid"/>
          </a:ln>
          <a:effectLst>
            <a:outerShdw sx="100000" sy="100000" kx="0" ky="0" algn="bl" rotWithShape="0" blurRad="101600" dist="25400" dir="5400000">
              <a:srgbClr val="0B1730">
                <a:alpha val="12000"/>
              </a:srgbClr>
            </a:outerShdw>
          </a:effectLst>
        </p:spPr>
      </p:sp>
      <p:sp>
        <p:nvSpPr>
          <p:cNvPr id="19" name="Shape 15"/>
          <p:cNvSpPr/>
          <p:nvPr/>
        </p:nvSpPr>
        <p:spPr>
          <a:xfrm>
            <a:off x="5294376" y="1828800"/>
            <a:ext cx="685800" cy="685800"/>
          </a:xfrm>
          <a:prstGeom prst="ellipse">
            <a:avLst/>
          </a:prstGeom>
          <a:solidFill>
            <a:schemeClr val="accent3"/>
          </a:solidFill>
          <a:ln w="12700">
            <a:solidFill>
              <a:schemeClr val="accent3"/>
            </a:solidFill>
            <a:prstDash val="solid"/>
          </a:ln>
        </p:spPr>
      </p:sp>
      <p:pic>
        <p:nvPicPr>
          <p:cNvPr id="20" name="Image 2" descr="FaCrosshairs">    </p:cNvPr>
          <p:cNvPicPr>
            <a:picLocks noChangeAspect="1"/>
          </p:cNvPicPr>
          <p:nvPr/>
        </p:nvPicPr>
        <p:blipFill>
          <a:blip r:embed="rId3"/>
          <a:stretch>
            <a:fillRect/>
          </a:stretch>
        </p:blipFill>
        <p:spPr>
          <a:xfrm>
            <a:off x="5465826" y="2000250"/>
            <a:ext cx="342900" cy="342900"/>
          </a:xfrm>
          <a:prstGeom prst="rect">
            <a:avLst/>
          </a:prstGeom>
        </p:spPr>
      </p:pic>
      <p:sp>
        <p:nvSpPr>
          <p:cNvPr id="21" name="Text 16"/>
          <p:cNvSpPr txBox="1"/>
          <p:nvPr/>
        </p:nvSpPr>
        <p:spPr>
          <a:xfrm>
            <a:off x="5294376" y="2697480"/>
            <a:ext cx="1618488" cy="685800"/>
          </a:xfrm>
          <a:prstGeom prst="rect">
            <a:avLst/>
          </a:prstGeom>
          <a:noFill/>
          <a:ln/>
        </p:spPr>
        <p:txBody>
          <a:bodyPr wrap="square" lIns="0" tIns="0" rIns="0" bIns="0" rtlCol="0" anchor="t"/>
          <a:lstStyle/>
          <a:p>
            <a:pPr indent="0" marL="0">
              <a:buNone/>
            </a:pPr>
            <a:r>
              <a:rPr lang="en-US" sz="1600" b="1" dirty="0">
                <a:solidFill>
                  <a:schemeClr val="tx1"/>
                </a:solidFill>
              </a:rPr>
              <a:t>Navigation aids / fiducials</a:t>
            </a:r>
            <a:endParaRPr lang="en-US" sz="1600" dirty="0"/>
          </a:p>
        </p:txBody>
      </p:sp>
      <p:sp>
        <p:nvSpPr>
          <p:cNvPr id="22" name="Text 17"/>
          <p:cNvSpPr txBox="1"/>
          <p:nvPr/>
        </p:nvSpPr>
        <p:spPr>
          <a:xfrm>
            <a:off x="5294376" y="3429000"/>
            <a:ext cx="1618488" cy="1463040"/>
          </a:xfrm>
          <a:prstGeom prst="rect">
            <a:avLst/>
          </a:prstGeom>
          <a:noFill/>
          <a:ln/>
        </p:spPr>
        <p:txBody>
          <a:bodyPr wrap="square" lIns="0" tIns="0" rIns="0" bIns="0" rtlCol="0" anchor="t"/>
          <a:lstStyle/>
          <a:p>
            <a:pPr indent="0" marL="0">
              <a:buNone/>
            </a:pPr>
            <a:r>
              <a:rPr lang="en-US" sz="1400" dirty="0">
                <a:solidFill>
                  <a:schemeClr val="tx2"/>
                </a:solidFill>
              </a:rPr>
              <a:t>Passive markers enabling relative navigation with no power needed.</a:t>
            </a:r>
            <a:endParaRPr lang="en-US" sz="1400" dirty="0"/>
          </a:p>
        </p:txBody>
      </p:sp>
      <p:sp>
        <p:nvSpPr>
          <p:cNvPr id="23" name="Tag"/>
          <p:cNvSpPr/>
          <p:nvPr/>
        </p:nvSpPr>
        <p:spPr>
          <a:xfrm>
            <a:off x="5294376" y="5029200"/>
            <a:ext cx="1572768" cy="329184"/>
          </a:xfrm>
          <a:prstGeom prst="roundRect">
            <a:avLst>
              <a:gd name="adj" fmla="val 50000"/>
            </a:avLst>
          </a:prstGeom>
          <a:solidFill>
            <a:schemeClr val="accent3">
              <a:alpha val="18000"/>
            </a:schemeClr>
          </a:solidFill>
          <a:ln w="9525">
            <a:solidFill>
              <a:schemeClr val="accent3"/>
            </a:solidFill>
            <a:prstDash val="solid"/>
          </a:ln>
        </p:spPr>
      </p:sp>
      <p:sp>
        <p:nvSpPr>
          <p:cNvPr id="24" name="Text 19"/>
          <p:cNvSpPr txBox="1"/>
          <p:nvPr/>
        </p:nvSpPr>
        <p:spPr>
          <a:xfrm>
            <a:off x="5294376" y="5029200"/>
            <a:ext cx="1572768" cy="329184"/>
          </a:xfrm>
          <a:prstGeom prst="rect">
            <a:avLst/>
          </a:prstGeom>
          <a:noFill/>
          <a:ln/>
        </p:spPr>
        <p:txBody>
          <a:bodyPr wrap="square" lIns="0" tIns="0" rIns="0" bIns="0" rtlCol="0" anchor="ctr"/>
          <a:lstStyle/>
          <a:p>
            <a:pPr algn="ctr" indent="0" marL="0">
              <a:buNone/>
            </a:pPr>
            <a:r>
              <a:rPr lang="en-US" sz="1100" b="1" dirty="0">
                <a:solidFill>
                  <a:schemeClr val="tx2"/>
                </a:solidFill>
              </a:rPr>
              <a:t>Non-cooperative</a:t>
            </a:r>
            <a:endParaRPr lang="en-US" sz="1100" dirty="0"/>
          </a:p>
        </p:txBody>
      </p:sp>
      <p:sp>
        <p:nvSpPr>
          <p:cNvPr id="25" name="MICE-like capture provision card"/>
          <p:cNvSpPr/>
          <p:nvPr/>
        </p:nvSpPr>
        <p:spPr>
          <a:xfrm>
            <a:off x="7324344" y="1600200"/>
            <a:ext cx="2029968" cy="3977640"/>
          </a:xfrm>
          <a:prstGeom prst="roundRect">
            <a:avLst>
              <a:gd name="adj" fmla="val 4505"/>
            </a:avLst>
          </a:prstGeom>
          <a:solidFill>
            <a:schemeClr val="bg1"/>
          </a:solidFill>
          <a:ln w="9525">
            <a:solidFill>
              <a:srgbClr val="D5DCE6"/>
            </a:solidFill>
            <a:prstDash val="solid"/>
          </a:ln>
          <a:effectLst>
            <a:outerShdw sx="100000" sy="100000" kx="0" ky="0" algn="bl" rotWithShape="0" blurRad="101600" dist="25400" dir="5400000">
              <a:srgbClr val="0B1730">
                <a:alpha val="12000"/>
              </a:srgbClr>
            </a:outerShdw>
          </a:effectLst>
        </p:spPr>
      </p:sp>
      <p:sp>
        <p:nvSpPr>
          <p:cNvPr id="26" name="Shape 21"/>
          <p:cNvSpPr/>
          <p:nvPr/>
        </p:nvSpPr>
        <p:spPr>
          <a:xfrm>
            <a:off x="7552944" y="1828800"/>
            <a:ext cx="685800" cy="685800"/>
          </a:xfrm>
          <a:prstGeom prst="ellipse">
            <a:avLst/>
          </a:prstGeom>
          <a:solidFill>
            <a:schemeClr val="accent5"/>
          </a:solidFill>
          <a:ln w="12700">
            <a:solidFill>
              <a:schemeClr val="accent5"/>
            </a:solidFill>
            <a:prstDash val="solid"/>
          </a:ln>
        </p:spPr>
      </p:sp>
      <p:pic>
        <p:nvPicPr>
          <p:cNvPr id="27" name="Image 3" descr="FaLink">    </p:cNvPr>
          <p:cNvPicPr>
            <a:picLocks noChangeAspect="1"/>
          </p:cNvPicPr>
          <p:nvPr/>
        </p:nvPicPr>
        <p:blipFill>
          <a:blip r:embed="rId4"/>
          <a:stretch>
            <a:fillRect/>
          </a:stretch>
        </p:blipFill>
        <p:spPr>
          <a:xfrm>
            <a:off x="7724394" y="2000250"/>
            <a:ext cx="342900" cy="342900"/>
          </a:xfrm>
          <a:prstGeom prst="rect">
            <a:avLst/>
          </a:prstGeom>
        </p:spPr>
      </p:pic>
      <p:sp>
        <p:nvSpPr>
          <p:cNvPr id="28" name="Text 22"/>
          <p:cNvSpPr txBox="1"/>
          <p:nvPr/>
        </p:nvSpPr>
        <p:spPr>
          <a:xfrm>
            <a:off x="7552944" y="2697480"/>
            <a:ext cx="1618488" cy="685800"/>
          </a:xfrm>
          <a:prstGeom prst="rect">
            <a:avLst/>
          </a:prstGeom>
          <a:noFill/>
          <a:ln/>
        </p:spPr>
        <p:txBody>
          <a:bodyPr wrap="square" lIns="0" tIns="0" rIns="0" bIns="0" rtlCol="0" anchor="t"/>
          <a:lstStyle/>
          <a:p>
            <a:pPr indent="0" marL="0">
              <a:buNone/>
            </a:pPr>
            <a:r>
              <a:rPr lang="en-US" sz="1600" b="1" dirty="0">
                <a:solidFill>
                  <a:schemeClr val="tx1"/>
                </a:solidFill>
              </a:rPr>
              <a:t>MICE-like capture provision</a:t>
            </a:r>
            <a:endParaRPr lang="en-US" sz="1600" dirty="0"/>
          </a:p>
        </p:txBody>
      </p:sp>
      <p:sp>
        <p:nvSpPr>
          <p:cNvPr id="29" name="Text 23"/>
          <p:cNvSpPr txBox="1"/>
          <p:nvPr/>
        </p:nvSpPr>
        <p:spPr>
          <a:xfrm>
            <a:off x="7552944" y="3429000"/>
            <a:ext cx="1618488" cy="1463040"/>
          </a:xfrm>
          <a:prstGeom prst="rect">
            <a:avLst/>
          </a:prstGeom>
          <a:noFill/>
          <a:ln/>
        </p:spPr>
        <p:txBody>
          <a:bodyPr wrap="square" lIns="0" tIns="0" rIns="0" bIns="0" rtlCol="0" anchor="t"/>
          <a:lstStyle/>
          <a:p>
            <a:pPr indent="0" marL="0">
              <a:buNone/>
            </a:pPr>
            <a:r>
              <a:rPr lang="en-US" sz="1400" dirty="0">
                <a:solidFill>
                  <a:schemeClr val="tx2"/>
                </a:solidFill>
              </a:rPr>
              <a:t>Standardised mechanical grapple point for safe, repeatable capture.</a:t>
            </a:r>
            <a:endParaRPr lang="en-US" sz="1400" dirty="0"/>
          </a:p>
        </p:txBody>
      </p:sp>
      <p:sp>
        <p:nvSpPr>
          <p:cNvPr id="30" name="Tag"/>
          <p:cNvSpPr/>
          <p:nvPr/>
        </p:nvSpPr>
        <p:spPr>
          <a:xfrm>
            <a:off x="7552944" y="5029200"/>
            <a:ext cx="1572768" cy="329184"/>
          </a:xfrm>
          <a:prstGeom prst="roundRect">
            <a:avLst>
              <a:gd name="adj" fmla="val 50000"/>
            </a:avLst>
          </a:prstGeom>
          <a:solidFill>
            <a:schemeClr val="accent5">
              <a:alpha val="18000"/>
            </a:schemeClr>
          </a:solidFill>
          <a:ln w="9525">
            <a:solidFill>
              <a:schemeClr val="accent5"/>
            </a:solidFill>
            <a:prstDash val="solid"/>
          </a:ln>
        </p:spPr>
      </p:sp>
      <p:sp>
        <p:nvSpPr>
          <p:cNvPr id="31" name="Text 25"/>
          <p:cNvSpPr txBox="1"/>
          <p:nvPr/>
        </p:nvSpPr>
        <p:spPr>
          <a:xfrm>
            <a:off x="7552944" y="5029200"/>
            <a:ext cx="1572768" cy="329184"/>
          </a:xfrm>
          <a:prstGeom prst="rect">
            <a:avLst/>
          </a:prstGeom>
          <a:noFill/>
          <a:ln/>
        </p:spPr>
        <p:txBody>
          <a:bodyPr wrap="square" lIns="0" tIns="0" rIns="0" bIns="0" rtlCol="0" anchor="ctr"/>
          <a:lstStyle/>
          <a:p>
            <a:pPr algn="ctr" indent="0" marL="0">
              <a:buNone/>
            </a:pPr>
            <a:r>
              <a:rPr lang="en-US" sz="1100" b="1" dirty="0">
                <a:solidFill>
                  <a:schemeClr val="tx2"/>
                </a:solidFill>
              </a:rPr>
              <a:t>All states</a:t>
            </a:r>
            <a:endParaRPr lang="en-US" sz="1100" dirty="0"/>
          </a:p>
        </p:txBody>
      </p:sp>
      <p:sp>
        <p:nvSpPr>
          <p:cNvPr id="32" name="OSAN card"/>
          <p:cNvSpPr/>
          <p:nvPr/>
        </p:nvSpPr>
        <p:spPr>
          <a:xfrm>
            <a:off x="9582912" y="1600200"/>
            <a:ext cx="2029968" cy="3977640"/>
          </a:xfrm>
          <a:prstGeom prst="roundRect">
            <a:avLst>
              <a:gd name="adj" fmla="val 4505"/>
            </a:avLst>
          </a:prstGeom>
          <a:solidFill>
            <a:schemeClr val="bg1"/>
          </a:solidFill>
          <a:ln w="9525">
            <a:solidFill>
              <a:srgbClr val="D5DCE6"/>
            </a:solidFill>
            <a:prstDash val="solid"/>
          </a:ln>
          <a:effectLst>
            <a:outerShdw sx="100000" sy="100000" kx="0" ky="0" algn="bl" rotWithShape="0" blurRad="101600" dist="25400" dir="5400000">
              <a:srgbClr val="0B1730">
                <a:alpha val="12000"/>
              </a:srgbClr>
            </a:outerShdw>
          </a:effectLst>
        </p:spPr>
      </p:sp>
      <p:sp>
        <p:nvSpPr>
          <p:cNvPr id="33" name="Shape 27"/>
          <p:cNvSpPr/>
          <p:nvPr/>
        </p:nvSpPr>
        <p:spPr>
          <a:xfrm>
            <a:off x="9811512" y="1828800"/>
            <a:ext cx="685800" cy="685800"/>
          </a:xfrm>
          <a:prstGeom prst="ellipse">
            <a:avLst/>
          </a:prstGeom>
          <a:solidFill>
            <a:schemeClr val="accent4"/>
          </a:solidFill>
          <a:ln w="12700">
            <a:solidFill>
              <a:schemeClr val="accent4"/>
            </a:solidFill>
            <a:prstDash val="solid"/>
          </a:ln>
        </p:spPr>
      </p:sp>
      <p:pic>
        <p:nvPicPr>
          <p:cNvPr id="34" name="Image 4" descr="FaProjectDiagram">    </p:cNvPr>
          <p:cNvPicPr>
            <a:picLocks noChangeAspect="1"/>
          </p:cNvPicPr>
          <p:nvPr/>
        </p:nvPicPr>
        <p:blipFill>
          <a:blip r:embed="rId5"/>
          <a:stretch>
            <a:fillRect/>
          </a:stretch>
        </p:blipFill>
        <p:spPr>
          <a:xfrm>
            <a:off x="9982962" y="2000250"/>
            <a:ext cx="342900" cy="342900"/>
          </a:xfrm>
          <a:prstGeom prst="rect">
            <a:avLst/>
          </a:prstGeom>
        </p:spPr>
      </p:pic>
      <p:sp>
        <p:nvSpPr>
          <p:cNvPr id="35" name="Text 28"/>
          <p:cNvSpPr txBox="1"/>
          <p:nvPr/>
        </p:nvSpPr>
        <p:spPr>
          <a:xfrm>
            <a:off x="9811512" y="2697480"/>
            <a:ext cx="1618488" cy="685800"/>
          </a:xfrm>
          <a:prstGeom prst="rect">
            <a:avLst/>
          </a:prstGeom>
          <a:noFill/>
          <a:ln/>
        </p:spPr>
        <p:txBody>
          <a:bodyPr wrap="square" lIns="0" tIns="0" rIns="0" bIns="0" rtlCol="0" anchor="t"/>
          <a:lstStyle/>
          <a:p>
            <a:pPr indent="0" marL="0">
              <a:buNone/>
            </a:pPr>
            <a:r>
              <a:rPr lang="en-US" sz="1600" b="1" dirty="0">
                <a:solidFill>
                  <a:schemeClr val="tx1"/>
                </a:solidFill>
              </a:rPr>
              <a:t>OSAN</a:t>
            </a:r>
            <a:endParaRPr lang="en-US" sz="1600" dirty="0"/>
          </a:p>
        </p:txBody>
      </p:sp>
      <p:sp>
        <p:nvSpPr>
          <p:cNvPr id="36" name="Text 29"/>
          <p:cNvSpPr txBox="1"/>
          <p:nvPr/>
        </p:nvSpPr>
        <p:spPr>
          <a:xfrm>
            <a:off x="9811512" y="3429000"/>
            <a:ext cx="1618488" cy="1463040"/>
          </a:xfrm>
          <a:prstGeom prst="rect">
            <a:avLst/>
          </a:prstGeom>
          <a:noFill/>
          <a:ln/>
        </p:spPr>
        <p:txBody>
          <a:bodyPr wrap="square" lIns="0" tIns="0" rIns="0" bIns="0" rtlCol="0" anchor="t"/>
          <a:lstStyle/>
          <a:p>
            <a:pPr indent="0" marL="0">
              <a:buNone/>
            </a:pPr>
            <a:r>
              <a:rPr lang="en-US" sz="1400" dirty="0">
                <a:solidFill>
                  <a:schemeClr val="tx2"/>
                </a:solidFill>
              </a:rPr>
              <a:t>Integrated service node for high-value platforms: power, data, fluids, PODs.</a:t>
            </a:r>
            <a:endParaRPr lang="en-US" sz="1400" dirty="0"/>
          </a:p>
        </p:txBody>
      </p:sp>
      <p:sp>
        <p:nvSpPr>
          <p:cNvPr id="37" name="Tag"/>
          <p:cNvSpPr/>
          <p:nvPr/>
        </p:nvSpPr>
        <p:spPr>
          <a:xfrm>
            <a:off x="9811512" y="5029200"/>
            <a:ext cx="1572768" cy="329184"/>
          </a:xfrm>
          <a:prstGeom prst="roundRect">
            <a:avLst>
              <a:gd name="adj" fmla="val 50000"/>
            </a:avLst>
          </a:prstGeom>
          <a:solidFill>
            <a:schemeClr val="accent4">
              <a:alpha val="18000"/>
            </a:schemeClr>
          </a:solidFill>
          <a:ln w="9525">
            <a:solidFill>
              <a:schemeClr val="accent4"/>
            </a:solidFill>
            <a:prstDash val="solid"/>
          </a:ln>
        </p:spPr>
      </p:sp>
      <p:sp>
        <p:nvSpPr>
          <p:cNvPr id="38" name="Text 31"/>
          <p:cNvSpPr txBox="1"/>
          <p:nvPr/>
        </p:nvSpPr>
        <p:spPr>
          <a:xfrm>
            <a:off x="9811512" y="5029200"/>
            <a:ext cx="1572768" cy="329184"/>
          </a:xfrm>
          <a:prstGeom prst="rect">
            <a:avLst/>
          </a:prstGeom>
          <a:noFill/>
          <a:ln/>
        </p:spPr>
        <p:txBody>
          <a:bodyPr wrap="square" lIns="0" tIns="0" rIns="0" bIns="0" rtlCol="0" anchor="ctr"/>
          <a:lstStyle/>
          <a:p>
            <a:pPr algn="ctr" indent="0" marL="0">
              <a:buNone/>
            </a:pPr>
            <a:r>
              <a:rPr lang="en-US" sz="1100" b="1" dirty="0">
                <a:solidFill>
                  <a:schemeClr val="tx2"/>
                </a:solidFill>
              </a:rPr>
              <a:t>High-value</a:t>
            </a:r>
            <a:endParaRPr lang="en-US" sz="1100" dirty="0"/>
          </a:p>
        </p:txBody>
      </p:sp>
      <p:sp>
        <p:nvSpPr>
          <p:cNvPr id="39" name="Text 32"/>
          <p:cNvSpPr txBox="1"/>
          <p:nvPr/>
        </p:nvSpPr>
        <p:spPr>
          <a:xfrm>
            <a:off x="548640" y="5806440"/>
            <a:ext cx="11064240" cy="365760"/>
          </a:xfrm>
          <a:prstGeom prst="rect">
            <a:avLst/>
          </a:prstGeom>
          <a:noFill/>
          <a:ln/>
        </p:spPr>
        <p:txBody>
          <a:bodyPr wrap="square" lIns="0" tIns="0" rIns="0" bIns="0" rtlCol="0" anchor="t"/>
          <a:lstStyle/>
          <a:p>
            <a:pPr indent="0" marL="0">
              <a:buNone/>
            </a:pPr>
            <a:r>
              <a:rPr lang="en-US" sz="1500" i="1" dirty="0">
                <a:solidFill>
                  <a:schemeClr val="tx2"/>
                </a:solidFill>
              </a:rPr>
              <a:t>A layered architecture: each element keeps the satellite serviceable one step further as its condition degrades.</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8A9BB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body" hasCustomPrompt="1"/>
          </p:nvPr>
        </p:nvSpPr>
        <p:spPr>
          <a:xfrm>
            <a:off x="548640" y="320040"/>
            <a:ext cx="11064240" cy="292608"/>
          </a:xfrm>
          <a:prstGeom prst="rect">
            <a:avLst/>
          </a:prstGeom>
          <a:noFill/>
          <a:ln/>
        </p:spPr>
        <p:txBody>
          <a:bodyPr wrap="square" lIns="0" tIns="0" rIns="0" bIns="0" rtlCol="0"/>
          <a:lstStyle/>
          <a:p>
            <a:pPr indent="0" marL="0">
              <a:buNone/>
            </a:pPr>
            <a:r>
              <a:rPr lang="en-US" sz="1200" b="1" spc="300" kern="0" dirty="0">
                <a:solidFill>
                  <a:schemeClr val="accent3"/>
                </a:solidFill>
              </a:rPr>
              <a:t>KEY ELEMENT · SERVICE BEACON</a:t>
            </a:r>
            <a:endParaRPr lang="en-US" sz="1200" dirty="0"/>
          </a:p>
        </p:txBody>
      </p:sp>
      <p:sp>
        <p:nvSpPr>
          <p:cNvPr id="3" name="Text 1"/>
          <p:cNvSpPr/>
          <p:nvPr>
            <p:ph idx="102" type="title" hasCustomPrompt="1"/>
          </p:nvPr>
        </p:nvSpPr>
        <p:spPr>
          <a:xfrm>
            <a:off x="548640" y="621792"/>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Service Beacon Concept</a:t>
            </a:r>
            <a:endParaRPr lang="en-US" sz="3200" dirty="0"/>
          </a:p>
        </p:txBody>
      </p:sp>
      <p:sp>
        <p:nvSpPr>
          <p:cNvPr id="4" name="Purpose panel"/>
          <p:cNvSpPr/>
          <p:nvPr/>
        </p:nvSpPr>
        <p:spPr>
          <a:xfrm>
            <a:off x="548640" y="1554480"/>
            <a:ext cx="5120640" cy="1280160"/>
          </a:xfrm>
          <a:prstGeom prst="roundRect">
            <a:avLst>
              <a:gd name="adj" fmla="val 7143"/>
            </a:avLst>
          </a:prstGeom>
          <a:solidFill>
            <a:schemeClr val="accent2">
              <a:alpha val="12000"/>
            </a:schemeClr>
          </a:solidFill>
          <a:ln w="9525">
            <a:solidFill>
              <a:schemeClr val="accent2"/>
            </a:solidFill>
            <a:prstDash val="solid"/>
          </a:ln>
        </p:spPr>
      </p:sp>
      <p:sp>
        <p:nvSpPr>
          <p:cNvPr id="5" name="Text 3"/>
          <p:cNvSpPr txBox="1"/>
          <p:nvPr/>
        </p:nvSpPr>
        <p:spPr>
          <a:xfrm>
            <a:off x="822960" y="1691640"/>
            <a:ext cx="4572000" cy="274320"/>
          </a:xfrm>
          <a:prstGeom prst="rect">
            <a:avLst/>
          </a:prstGeom>
          <a:noFill/>
          <a:ln/>
        </p:spPr>
        <p:txBody>
          <a:bodyPr wrap="square" lIns="0" tIns="0" rIns="0" bIns="0" rtlCol="0" anchor="t"/>
          <a:lstStyle/>
          <a:p>
            <a:pPr indent="0" marL="0">
              <a:buNone/>
            </a:pPr>
            <a:r>
              <a:rPr lang="en-US" sz="1200" b="1" spc="300" kern="0" dirty="0">
                <a:solidFill>
                  <a:schemeClr val="accent3"/>
                </a:solidFill>
              </a:rPr>
              <a:t>PURPOSE</a:t>
            </a:r>
            <a:endParaRPr lang="en-US" sz="1200" dirty="0"/>
          </a:p>
        </p:txBody>
      </p:sp>
      <p:sp>
        <p:nvSpPr>
          <p:cNvPr id="6" name="Text 4"/>
          <p:cNvSpPr txBox="1"/>
          <p:nvPr/>
        </p:nvSpPr>
        <p:spPr>
          <a:xfrm>
            <a:off x="822960" y="2011680"/>
            <a:ext cx="4663440" cy="731520"/>
          </a:xfrm>
          <a:prstGeom prst="rect">
            <a:avLst/>
          </a:prstGeom>
          <a:noFill/>
          <a:ln/>
        </p:spPr>
        <p:txBody>
          <a:bodyPr wrap="square" lIns="0" tIns="0" rIns="0" bIns="0" rtlCol="0" anchor="t"/>
          <a:lstStyle/>
          <a:p>
            <a:pPr indent="0" marL="0">
              <a:buNone/>
            </a:pPr>
            <a:r>
              <a:rPr lang="en-US" sz="1800" b="1" dirty="0">
                <a:solidFill>
                  <a:schemeClr val="tx1"/>
                </a:solidFill>
              </a:rPr>
              <a:t>Retain minimum service information even if the main OBC or comms degrade.</a:t>
            </a:r>
            <a:endParaRPr lang="en-US" sz="1800" dirty="0"/>
          </a:p>
        </p:txBody>
      </p:sp>
      <p:sp>
        <p:nvSpPr>
          <p:cNvPr id="7" name="Main OBC box"/>
          <p:cNvSpPr/>
          <p:nvPr/>
        </p:nvSpPr>
        <p:spPr>
          <a:xfrm>
            <a:off x="548640" y="3200400"/>
            <a:ext cx="2286000" cy="868680"/>
          </a:xfrm>
          <a:prstGeom prst="roundRect">
            <a:avLst>
              <a:gd name="adj" fmla="val 10526"/>
            </a:avLst>
          </a:prstGeom>
          <a:solidFill>
            <a:schemeClr val="bg2"/>
          </a:solidFill>
          <a:ln w="9525">
            <a:solidFill>
              <a:srgbClr val="C9D1DC"/>
            </a:solidFill>
            <a:prstDash val="solid"/>
          </a:ln>
        </p:spPr>
      </p:sp>
      <p:sp>
        <p:nvSpPr>
          <p:cNvPr id="8" name="Text 6"/>
          <p:cNvSpPr txBox="1"/>
          <p:nvPr/>
        </p:nvSpPr>
        <p:spPr>
          <a:xfrm>
            <a:off x="685800" y="3273552"/>
            <a:ext cx="2011680" cy="365760"/>
          </a:xfrm>
          <a:prstGeom prst="rect">
            <a:avLst/>
          </a:prstGeom>
          <a:noFill/>
          <a:ln/>
        </p:spPr>
        <p:txBody>
          <a:bodyPr wrap="square" lIns="0" tIns="0" rIns="0" bIns="0" rtlCol="0" anchor="t"/>
          <a:lstStyle/>
          <a:p>
            <a:pPr indent="0" marL="0">
              <a:buNone/>
            </a:pPr>
            <a:r>
              <a:rPr lang="en-US" sz="1400" b="1" dirty="0">
                <a:solidFill>
                  <a:schemeClr val="tx2"/>
                </a:solidFill>
              </a:rPr>
              <a:t>Main OBC / Comms</a:t>
            </a:r>
            <a:endParaRPr lang="en-US" sz="1400" dirty="0"/>
          </a:p>
        </p:txBody>
      </p:sp>
      <p:sp>
        <p:nvSpPr>
          <p:cNvPr id="9" name="Text 7"/>
          <p:cNvSpPr txBox="1"/>
          <p:nvPr/>
        </p:nvSpPr>
        <p:spPr>
          <a:xfrm>
            <a:off x="685800" y="3639312"/>
            <a:ext cx="2011680" cy="320040"/>
          </a:xfrm>
          <a:prstGeom prst="rect">
            <a:avLst/>
          </a:prstGeom>
          <a:noFill/>
          <a:ln/>
        </p:spPr>
        <p:txBody>
          <a:bodyPr wrap="square" lIns="0" tIns="0" rIns="0" bIns="0" rtlCol="0" anchor="t"/>
          <a:lstStyle/>
          <a:p>
            <a:pPr indent="0" marL="0">
              <a:buNone/>
            </a:pPr>
            <a:r>
              <a:rPr lang="en-US" sz="1200" b="1" dirty="0">
                <a:solidFill>
                  <a:schemeClr val="accent4"/>
                </a:solidFill>
              </a:rPr>
              <a:t>✕  degraded / offline</a:t>
            </a:r>
            <a:endParaRPr lang="en-US" sz="1200" dirty="0"/>
          </a:p>
        </p:txBody>
      </p:sp>
      <p:sp>
        <p:nvSpPr>
          <p:cNvPr id="10" name="Shape 8"/>
          <p:cNvSpPr/>
          <p:nvPr/>
        </p:nvSpPr>
        <p:spPr>
          <a:xfrm>
            <a:off x="1691640" y="4069080"/>
            <a:ext cx="914" cy="457200"/>
          </a:xfrm>
          <a:prstGeom prst="line">
            <a:avLst/>
          </a:prstGeom>
          <a:noFill/>
          <a:ln w="19050">
            <a:solidFill>
              <a:schemeClr val="accent6"/>
            </a:solidFill>
            <a:prstDash val="dash"/>
          </a:ln>
        </p:spPr>
      </p:sp>
      <p:sp>
        <p:nvSpPr>
          <p:cNvPr id="11" name="Beacon box"/>
          <p:cNvSpPr/>
          <p:nvPr/>
        </p:nvSpPr>
        <p:spPr>
          <a:xfrm>
            <a:off x="548640" y="4526280"/>
            <a:ext cx="2194560" cy="1234440"/>
          </a:xfrm>
          <a:prstGeom prst="roundRect">
            <a:avLst>
              <a:gd name="adj" fmla="val 7407"/>
            </a:avLst>
          </a:prstGeom>
          <a:solidFill>
            <a:schemeClr val="accent2"/>
          </a:solidFill>
          <a:ln w="9525">
            <a:solidFill>
              <a:schemeClr val="accent2"/>
            </a:solidFill>
            <a:prstDash val="solid"/>
          </a:ln>
        </p:spPr>
      </p:sp>
      <p:pic>
        <p:nvPicPr>
          <p:cNvPr id="12" name="Image 0" descr="preencoded.png">    </p:cNvPr>
          <p:cNvPicPr>
            <a:picLocks noChangeAspect="1"/>
          </p:cNvPicPr>
          <p:nvPr/>
        </p:nvPicPr>
        <p:blipFill>
          <a:blip r:embed="rId1"/>
          <a:stretch>
            <a:fillRect/>
          </a:stretch>
        </p:blipFill>
        <p:spPr>
          <a:xfrm>
            <a:off x="731520" y="4681728"/>
            <a:ext cx="320040" cy="320040"/>
          </a:xfrm>
          <a:prstGeom prst="rect">
            <a:avLst/>
          </a:prstGeom>
        </p:spPr>
      </p:pic>
      <p:sp>
        <p:nvSpPr>
          <p:cNvPr id="13" name="Text 10"/>
          <p:cNvSpPr txBox="1"/>
          <p:nvPr/>
        </p:nvSpPr>
        <p:spPr>
          <a:xfrm>
            <a:off x="1143000" y="4663440"/>
            <a:ext cx="1645920" cy="365760"/>
          </a:xfrm>
          <a:prstGeom prst="rect">
            <a:avLst/>
          </a:prstGeom>
          <a:noFill/>
          <a:ln/>
        </p:spPr>
        <p:txBody>
          <a:bodyPr wrap="square" lIns="0" tIns="0" rIns="0" bIns="0" rtlCol="0" anchor="t"/>
          <a:lstStyle/>
          <a:p>
            <a:pPr indent="0" marL="0">
              <a:buNone/>
            </a:pPr>
            <a:r>
              <a:rPr lang="en-US" sz="1500" b="1" dirty="0">
                <a:solidFill>
                  <a:schemeClr val="bg1"/>
                </a:solidFill>
              </a:rPr>
              <a:t>Service Beacon</a:t>
            </a:r>
            <a:endParaRPr lang="en-US" sz="1500" dirty="0"/>
          </a:p>
        </p:txBody>
      </p:sp>
      <p:sp>
        <p:nvSpPr>
          <p:cNvPr id="14" name="Text 11"/>
          <p:cNvSpPr txBox="1"/>
          <p:nvPr/>
        </p:nvSpPr>
        <p:spPr>
          <a:xfrm>
            <a:off x="731520" y="5074920"/>
            <a:ext cx="2011680" cy="594360"/>
          </a:xfrm>
          <a:prstGeom prst="rect">
            <a:avLst/>
          </a:prstGeom>
          <a:noFill/>
          <a:ln/>
        </p:spPr>
        <p:txBody>
          <a:bodyPr wrap="square" lIns="0" tIns="0" rIns="0" bIns="0" rtlCol="0" anchor="t"/>
          <a:lstStyle/>
          <a:p>
            <a:pPr indent="0" marL="0">
              <a:buNone/>
            </a:pPr>
            <a:r>
              <a:rPr lang="en-US" sz="1200" dirty="0">
                <a:solidFill>
                  <a:schemeClr val="bg1"/>
                </a:solidFill>
              </a:rPr>
              <a:t>Own power + low-rate RF, independent of the OBC</a:t>
            </a:r>
            <a:endParaRPr lang="en-US" sz="1200" dirty="0"/>
          </a:p>
        </p:txBody>
      </p:sp>
      <p:sp>
        <p:nvSpPr>
          <p:cNvPr id="15" name="Shape 12"/>
          <p:cNvSpPr/>
          <p:nvPr/>
        </p:nvSpPr>
        <p:spPr>
          <a:xfrm>
            <a:off x="2788920" y="5138928"/>
            <a:ext cx="640080" cy="914"/>
          </a:xfrm>
          <a:prstGeom prst="line">
            <a:avLst/>
          </a:prstGeom>
          <a:noFill/>
          <a:ln w="25400">
            <a:solidFill>
              <a:schemeClr val="tx2"/>
            </a:solidFill>
            <a:prstDash val="solid"/>
            <a:tailEnd type="triangle"/>
          </a:ln>
        </p:spPr>
      </p:sp>
      <p:sp>
        <p:nvSpPr>
          <p:cNvPr id="16" name="Text 13"/>
          <p:cNvSpPr txBox="1"/>
          <p:nvPr/>
        </p:nvSpPr>
        <p:spPr>
          <a:xfrm>
            <a:off x="2743200" y="4828032"/>
            <a:ext cx="731520" cy="274320"/>
          </a:xfrm>
          <a:prstGeom prst="rect">
            <a:avLst/>
          </a:prstGeom>
          <a:noFill/>
          <a:ln/>
        </p:spPr>
        <p:txBody>
          <a:bodyPr wrap="square" lIns="0" tIns="0" rIns="0" bIns="0" rtlCol="0" anchor="t"/>
          <a:lstStyle/>
          <a:p>
            <a:pPr algn="ctr" indent="0" marL="0">
              <a:buNone/>
            </a:pPr>
            <a:r>
              <a:rPr lang="en-US" sz="1000" dirty="0">
                <a:solidFill>
                  <a:schemeClr val="accent6"/>
                </a:solidFill>
              </a:rPr>
              <a:t>broadcast</a:t>
            </a:r>
            <a:endParaRPr lang="en-US" sz="1000" dirty="0"/>
          </a:p>
        </p:txBody>
      </p:sp>
      <p:sp>
        <p:nvSpPr>
          <p:cNvPr id="17" name="Servicer box"/>
          <p:cNvSpPr/>
          <p:nvPr/>
        </p:nvSpPr>
        <p:spPr>
          <a:xfrm>
            <a:off x="3474720" y="4526280"/>
            <a:ext cx="2194560" cy="1234440"/>
          </a:xfrm>
          <a:prstGeom prst="roundRect">
            <a:avLst>
              <a:gd name="adj" fmla="val 7407"/>
            </a:avLst>
          </a:prstGeom>
          <a:solidFill>
            <a:schemeClr val="tx1"/>
          </a:solidFill>
          <a:ln w="9525">
            <a:solidFill>
              <a:schemeClr val="tx1"/>
            </a:solidFill>
            <a:prstDash val="solid"/>
          </a:ln>
        </p:spPr>
      </p:sp>
      <p:pic>
        <p:nvPicPr>
          <p:cNvPr id="18" name="Image 1" descr="preencoded.png">    </p:cNvPr>
          <p:cNvPicPr>
            <a:picLocks noChangeAspect="1"/>
          </p:cNvPicPr>
          <p:nvPr/>
        </p:nvPicPr>
        <p:blipFill>
          <a:blip r:embed="rId2"/>
          <a:stretch>
            <a:fillRect/>
          </a:stretch>
        </p:blipFill>
        <p:spPr>
          <a:xfrm>
            <a:off x="3657600" y="4681728"/>
            <a:ext cx="320040" cy="320040"/>
          </a:xfrm>
          <a:prstGeom prst="rect">
            <a:avLst/>
          </a:prstGeom>
        </p:spPr>
      </p:pic>
      <p:sp>
        <p:nvSpPr>
          <p:cNvPr id="19" name="Text 15"/>
          <p:cNvSpPr txBox="1"/>
          <p:nvPr/>
        </p:nvSpPr>
        <p:spPr>
          <a:xfrm>
            <a:off x="4069080" y="4663440"/>
            <a:ext cx="1645920" cy="365760"/>
          </a:xfrm>
          <a:prstGeom prst="rect">
            <a:avLst/>
          </a:prstGeom>
          <a:noFill/>
          <a:ln/>
        </p:spPr>
        <p:txBody>
          <a:bodyPr wrap="square" lIns="0" tIns="0" rIns="0" bIns="0" rtlCol="0" anchor="t"/>
          <a:lstStyle/>
          <a:p>
            <a:pPr indent="0" marL="0">
              <a:buNone/>
            </a:pPr>
            <a:r>
              <a:rPr lang="en-US" sz="1500" b="1" dirty="0">
                <a:solidFill>
                  <a:schemeClr val="bg1"/>
                </a:solidFill>
              </a:rPr>
              <a:t>Servicer</a:t>
            </a:r>
            <a:endParaRPr lang="en-US" sz="1500" dirty="0"/>
          </a:p>
        </p:txBody>
      </p:sp>
      <p:sp>
        <p:nvSpPr>
          <p:cNvPr id="20" name="Text 16"/>
          <p:cNvSpPr txBox="1"/>
          <p:nvPr/>
        </p:nvSpPr>
        <p:spPr>
          <a:xfrm>
            <a:off x="3657600" y="5074920"/>
            <a:ext cx="1920240" cy="594360"/>
          </a:xfrm>
          <a:prstGeom prst="rect">
            <a:avLst/>
          </a:prstGeom>
          <a:noFill/>
          <a:ln/>
        </p:spPr>
        <p:txBody>
          <a:bodyPr wrap="square" lIns="0" tIns="0" rIns="0" bIns="0" rtlCol="0" anchor="t"/>
          <a:lstStyle/>
          <a:p>
            <a:pPr indent="0" marL="0">
              <a:buNone/>
            </a:pPr>
            <a:r>
              <a:rPr lang="en-US" sz="1200" dirty="0">
                <a:solidFill>
                  <a:schemeClr val="bg1"/>
                </a:solidFill>
              </a:rPr>
              <a:t>Plans approach and capture from beacon data</a:t>
            </a:r>
            <a:endParaRPr lang="en-US" sz="1200" dirty="0"/>
          </a:p>
        </p:txBody>
      </p:sp>
      <p:sp>
        <p:nvSpPr>
          <p:cNvPr id="21" name="Text 17"/>
          <p:cNvSpPr txBox="1"/>
          <p:nvPr/>
        </p:nvSpPr>
        <p:spPr>
          <a:xfrm>
            <a:off x="6126480" y="1554480"/>
            <a:ext cx="5486400" cy="365760"/>
          </a:xfrm>
          <a:prstGeom prst="rect">
            <a:avLst/>
          </a:prstGeom>
          <a:noFill/>
          <a:ln/>
        </p:spPr>
        <p:txBody>
          <a:bodyPr wrap="square" lIns="0" tIns="0" rIns="0" bIns="0" rtlCol="0" anchor="t"/>
          <a:lstStyle/>
          <a:p>
            <a:pPr indent="0" marL="0">
              <a:buNone/>
            </a:pPr>
            <a:r>
              <a:rPr lang="en-US" sz="1800" b="1" dirty="0">
                <a:solidFill>
                  <a:schemeClr val="tx1"/>
                </a:solidFill>
              </a:rPr>
              <a:t>Possible beacon data</a:t>
            </a:r>
            <a:endParaRPr lang="en-US" sz="1800" dirty="0"/>
          </a:p>
        </p:txBody>
      </p:sp>
      <p:sp>
        <p:nvSpPr>
          <p:cNvPr id="22" name="Satellite ID tile"/>
          <p:cNvSpPr/>
          <p:nvPr/>
        </p:nvSpPr>
        <p:spPr>
          <a:xfrm>
            <a:off x="6126480" y="2057400"/>
            <a:ext cx="2651760" cy="1097280"/>
          </a:xfrm>
          <a:prstGeom prst="roundRect">
            <a:avLst>
              <a:gd name="adj" fmla="val 8333"/>
            </a:avLst>
          </a:prstGeom>
          <a:solidFill>
            <a:schemeClr val="bg2"/>
          </a:solidFill>
          <a:ln w="9525">
            <a:solidFill>
              <a:schemeClr val="bg2"/>
            </a:solidFill>
            <a:prstDash val="solid"/>
          </a:ln>
        </p:spPr>
      </p:sp>
      <p:sp>
        <p:nvSpPr>
          <p:cNvPr id="23" name="Shape 19"/>
          <p:cNvSpPr/>
          <p:nvPr/>
        </p:nvSpPr>
        <p:spPr>
          <a:xfrm>
            <a:off x="6309360" y="2331720"/>
            <a:ext cx="548640" cy="548640"/>
          </a:xfrm>
          <a:prstGeom prst="ellipse">
            <a:avLst/>
          </a:prstGeom>
          <a:solidFill>
            <a:schemeClr val="accent2"/>
          </a:solidFill>
          <a:ln w="12700">
            <a:solidFill>
              <a:schemeClr val="accent2"/>
            </a:solidFill>
            <a:prstDash val="solid"/>
          </a:ln>
        </p:spPr>
      </p:sp>
      <p:pic>
        <p:nvPicPr>
          <p:cNvPr id="24" name="Image 2" descr="FaIdCard">    </p:cNvPr>
          <p:cNvPicPr>
            <a:picLocks noChangeAspect="1"/>
          </p:cNvPicPr>
          <p:nvPr/>
        </p:nvPicPr>
        <p:blipFill>
          <a:blip r:embed="rId3"/>
          <a:stretch>
            <a:fillRect/>
          </a:stretch>
        </p:blipFill>
        <p:spPr>
          <a:xfrm>
            <a:off x="6446520" y="2468880"/>
            <a:ext cx="274320" cy="274320"/>
          </a:xfrm>
          <a:prstGeom prst="rect">
            <a:avLst/>
          </a:prstGeom>
        </p:spPr>
      </p:pic>
      <p:sp>
        <p:nvSpPr>
          <p:cNvPr id="25" name="Text 20"/>
          <p:cNvSpPr txBox="1"/>
          <p:nvPr/>
        </p:nvSpPr>
        <p:spPr>
          <a:xfrm>
            <a:off x="6995160" y="2221992"/>
            <a:ext cx="1691640" cy="457200"/>
          </a:xfrm>
          <a:prstGeom prst="rect">
            <a:avLst/>
          </a:prstGeom>
          <a:noFill/>
          <a:ln/>
        </p:spPr>
        <p:txBody>
          <a:bodyPr wrap="square" lIns="0" tIns="0" rIns="0" bIns="0" rtlCol="0" anchor="ctr"/>
          <a:lstStyle/>
          <a:p>
            <a:pPr indent="0" marL="0">
              <a:buNone/>
            </a:pPr>
            <a:r>
              <a:rPr lang="en-US" sz="1400" b="1" dirty="0">
                <a:solidFill>
                  <a:schemeClr val="tx1"/>
                </a:solidFill>
              </a:rPr>
              <a:t>Satellite ID</a:t>
            </a:r>
            <a:endParaRPr lang="en-US" sz="1400" dirty="0"/>
          </a:p>
        </p:txBody>
      </p:sp>
      <p:sp>
        <p:nvSpPr>
          <p:cNvPr id="26" name="Text 21"/>
          <p:cNvSpPr txBox="1"/>
          <p:nvPr/>
        </p:nvSpPr>
        <p:spPr>
          <a:xfrm>
            <a:off x="6995160" y="2679192"/>
            <a:ext cx="1691640" cy="384048"/>
          </a:xfrm>
          <a:prstGeom prst="rect">
            <a:avLst/>
          </a:prstGeom>
          <a:noFill/>
          <a:ln/>
        </p:spPr>
        <p:txBody>
          <a:bodyPr wrap="square" lIns="0" tIns="0" rIns="0" bIns="0" rtlCol="0" anchor="t"/>
          <a:lstStyle/>
          <a:p>
            <a:pPr indent="0" marL="0">
              <a:buNone/>
            </a:pPr>
            <a:r>
              <a:rPr lang="en-US" sz="1100" dirty="0">
                <a:solidFill>
                  <a:schemeClr val="tx2"/>
                </a:solidFill>
              </a:rPr>
              <a:t>Identity, owner and mission</a:t>
            </a:r>
            <a:endParaRPr lang="en-US" sz="1100" dirty="0"/>
          </a:p>
        </p:txBody>
      </p:sp>
      <p:sp>
        <p:nvSpPr>
          <p:cNvPr id="27" name="Interface location / type tile"/>
          <p:cNvSpPr/>
          <p:nvPr/>
        </p:nvSpPr>
        <p:spPr>
          <a:xfrm>
            <a:off x="8915400" y="2057400"/>
            <a:ext cx="2651760" cy="1097280"/>
          </a:xfrm>
          <a:prstGeom prst="roundRect">
            <a:avLst>
              <a:gd name="adj" fmla="val 8333"/>
            </a:avLst>
          </a:prstGeom>
          <a:solidFill>
            <a:schemeClr val="bg2"/>
          </a:solidFill>
          <a:ln w="9525">
            <a:solidFill>
              <a:schemeClr val="bg2"/>
            </a:solidFill>
            <a:prstDash val="solid"/>
          </a:ln>
        </p:spPr>
      </p:sp>
      <p:sp>
        <p:nvSpPr>
          <p:cNvPr id="28" name="Shape 23"/>
          <p:cNvSpPr/>
          <p:nvPr/>
        </p:nvSpPr>
        <p:spPr>
          <a:xfrm>
            <a:off x="9098280" y="2331720"/>
            <a:ext cx="548640" cy="548640"/>
          </a:xfrm>
          <a:prstGeom prst="ellipse">
            <a:avLst/>
          </a:prstGeom>
          <a:solidFill>
            <a:schemeClr val="accent2"/>
          </a:solidFill>
          <a:ln w="12700">
            <a:solidFill>
              <a:schemeClr val="accent2"/>
            </a:solidFill>
            <a:prstDash val="solid"/>
          </a:ln>
        </p:spPr>
      </p:sp>
      <p:pic>
        <p:nvPicPr>
          <p:cNvPr id="29" name="Image 3" descr="FaMapMarkerAlt">    </p:cNvPr>
          <p:cNvPicPr>
            <a:picLocks noChangeAspect="1"/>
          </p:cNvPicPr>
          <p:nvPr/>
        </p:nvPicPr>
        <p:blipFill>
          <a:blip r:embed="rId4"/>
          <a:stretch>
            <a:fillRect/>
          </a:stretch>
        </p:blipFill>
        <p:spPr>
          <a:xfrm>
            <a:off x="9235440" y="2468880"/>
            <a:ext cx="274320" cy="274320"/>
          </a:xfrm>
          <a:prstGeom prst="rect">
            <a:avLst/>
          </a:prstGeom>
        </p:spPr>
      </p:pic>
      <p:sp>
        <p:nvSpPr>
          <p:cNvPr id="30" name="Text 24"/>
          <p:cNvSpPr txBox="1"/>
          <p:nvPr/>
        </p:nvSpPr>
        <p:spPr>
          <a:xfrm>
            <a:off x="9784080" y="2221992"/>
            <a:ext cx="1691640" cy="457200"/>
          </a:xfrm>
          <a:prstGeom prst="rect">
            <a:avLst/>
          </a:prstGeom>
          <a:noFill/>
          <a:ln/>
        </p:spPr>
        <p:txBody>
          <a:bodyPr wrap="square" lIns="0" tIns="0" rIns="0" bIns="0" rtlCol="0" anchor="ctr"/>
          <a:lstStyle/>
          <a:p>
            <a:pPr indent="0" marL="0">
              <a:buNone/>
            </a:pPr>
            <a:r>
              <a:rPr lang="en-US" sz="1400" b="1" dirty="0">
                <a:solidFill>
                  <a:schemeClr val="tx1"/>
                </a:solidFill>
              </a:rPr>
              <a:t>Interface location / type</a:t>
            </a:r>
            <a:endParaRPr lang="en-US" sz="1400" dirty="0"/>
          </a:p>
        </p:txBody>
      </p:sp>
      <p:sp>
        <p:nvSpPr>
          <p:cNvPr id="31" name="Text 25"/>
          <p:cNvSpPr txBox="1"/>
          <p:nvPr/>
        </p:nvSpPr>
        <p:spPr>
          <a:xfrm>
            <a:off x="9784080" y="2679192"/>
            <a:ext cx="1691640" cy="384048"/>
          </a:xfrm>
          <a:prstGeom prst="rect">
            <a:avLst/>
          </a:prstGeom>
          <a:noFill/>
          <a:ln/>
        </p:spPr>
        <p:txBody>
          <a:bodyPr wrap="square" lIns="0" tIns="0" rIns="0" bIns="0" rtlCol="0" anchor="t"/>
          <a:lstStyle/>
          <a:p>
            <a:pPr indent="0" marL="0">
              <a:buNone/>
            </a:pPr>
            <a:r>
              <a:rPr lang="en-US" sz="1100" dirty="0">
                <a:solidFill>
                  <a:schemeClr val="tx2"/>
                </a:solidFill>
              </a:rPr>
              <a:t>Where and how to capture</a:t>
            </a:r>
            <a:endParaRPr lang="en-US" sz="1100" dirty="0"/>
          </a:p>
        </p:txBody>
      </p:sp>
      <p:sp>
        <p:nvSpPr>
          <p:cNvPr id="32" name="IOS state tile"/>
          <p:cNvSpPr/>
          <p:nvPr/>
        </p:nvSpPr>
        <p:spPr>
          <a:xfrm>
            <a:off x="6126480" y="3364992"/>
            <a:ext cx="2651760" cy="1097280"/>
          </a:xfrm>
          <a:prstGeom prst="roundRect">
            <a:avLst>
              <a:gd name="adj" fmla="val 8333"/>
            </a:avLst>
          </a:prstGeom>
          <a:solidFill>
            <a:schemeClr val="bg2"/>
          </a:solidFill>
          <a:ln w="9525">
            <a:solidFill>
              <a:schemeClr val="bg2"/>
            </a:solidFill>
            <a:prstDash val="solid"/>
          </a:ln>
        </p:spPr>
      </p:sp>
      <p:sp>
        <p:nvSpPr>
          <p:cNvPr id="33" name="Shape 27"/>
          <p:cNvSpPr/>
          <p:nvPr/>
        </p:nvSpPr>
        <p:spPr>
          <a:xfrm>
            <a:off x="6309360" y="3639312"/>
            <a:ext cx="548640" cy="548640"/>
          </a:xfrm>
          <a:prstGeom prst="ellipse">
            <a:avLst/>
          </a:prstGeom>
          <a:solidFill>
            <a:schemeClr val="accent2"/>
          </a:solidFill>
          <a:ln w="12700">
            <a:solidFill>
              <a:schemeClr val="accent2"/>
            </a:solidFill>
            <a:prstDash val="solid"/>
          </a:ln>
        </p:spPr>
      </p:sp>
      <p:pic>
        <p:nvPicPr>
          <p:cNvPr id="34" name="Image 4" descr="FaToggleOn">    </p:cNvPr>
          <p:cNvPicPr>
            <a:picLocks noChangeAspect="1"/>
          </p:cNvPicPr>
          <p:nvPr/>
        </p:nvPicPr>
        <p:blipFill>
          <a:blip r:embed="rId5"/>
          <a:stretch>
            <a:fillRect/>
          </a:stretch>
        </p:blipFill>
        <p:spPr>
          <a:xfrm>
            <a:off x="6446520" y="3776472"/>
            <a:ext cx="274320" cy="274320"/>
          </a:xfrm>
          <a:prstGeom prst="rect">
            <a:avLst/>
          </a:prstGeom>
        </p:spPr>
      </p:pic>
      <p:sp>
        <p:nvSpPr>
          <p:cNvPr id="35" name="Text 28"/>
          <p:cNvSpPr txBox="1"/>
          <p:nvPr/>
        </p:nvSpPr>
        <p:spPr>
          <a:xfrm>
            <a:off x="6995160" y="3529584"/>
            <a:ext cx="1691640" cy="457200"/>
          </a:xfrm>
          <a:prstGeom prst="rect">
            <a:avLst/>
          </a:prstGeom>
          <a:noFill/>
          <a:ln/>
        </p:spPr>
        <p:txBody>
          <a:bodyPr wrap="square" lIns="0" tIns="0" rIns="0" bIns="0" rtlCol="0" anchor="ctr"/>
          <a:lstStyle/>
          <a:p>
            <a:pPr indent="0" marL="0">
              <a:buNone/>
            </a:pPr>
            <a:r>
              <a:rPr lang="en-US" sz="1400" b="1" dirty="0">
                <a:solidFill>
                  <a:schemeClr val="tx1"/>
                </a:solidFill>
              </a:rPr>
              <a:t>IOS state</a:t>
            </a:r>
            <a:endParaRPr lang="en-US" sz="1400" dirty="0"/>
          </a:p>
        </p:txBody>
      </p:sp>
      <p:sp>
        <p:nvSpPr>
          <p:cNvPr id="36" name="Text 29"/>
          <p:cNvSpPr txBox="1"/>
          <p:nvPr/>
        </p:nvSpPr>
        <p:spPr>
          <a:xfrm>
            <a:off x="6995160" y="3986784"/>
            <a:ext cx="1691640" cy="384048"/>
          </a:xfrm>
          <a:prstGeom prst="rect">
            <a:avLst/>
          </a:prstGeom>
          <a:noFill/>
          <a:ln/>
        </p:spPr>
        <p:txBody>
          <a:bodyPr wrap="square" lIns="0" tIns="0" rIns="0" bIns="0" rtlCol="0" anchor="t"/>
          <a:lstStyle/>
          <a:p>
            <a:pPr indent="0" marL="0">
              <a:buNone/>
            </a:pPr>
            <a:r>
              <a:rPr lang="en-US" sz="1100" dirty="0">
                <a:solidFill>
                  <a:schemeClr val="tx2"/>
                </a:solidFill>
              </a:rPr>
              <a:t>Standby, permitted, IOS active</a:t>
            </a:r>
            <a:endParaRPr lang="en-US" sz="1100" dirty="0"/>
          </a:p>
        </p:txBody>
      </p:sp>
      <p:sp>
        <p:nvSpPr>
          <p:cNvPr id="37" name="Basic health flags tile"/>
          <p:cNvSpPr/>
          <p:nvPr/>
        </p:nvSpPr>
        <p:spPr>
          <a:xfrm>
            <a:off x="8915400" y="3364992"/>
            <a:ext cx="2651760" cy="1097280"/>
          </a:xfrm>
          <a:prstGeom prst="roundRect">
            <a:avLst>
              <a:gd name="adj" fmla="val 8333"/>
            </a:avLst>
          </a:prstGeom>
          <a:solidFill>
            <a:schemeClr val="bg2"/>
          </a:solidFill>
          <a:ln w="9525">
            <a:solidFill>
              <a:schemeClr val="bg2"/>
            </a:solidFill>
            <a:prstDash val="solid"/>
          </a:ln>
        </p:spPr>
      </p:sp>
      <p:sp>
        <p:nvSpPr>
          <p:cNvPr id="38" name="Shape 31"/>
          <p:cNvSpPr/>
          <p:nvPr/>
        </p:nvSpPr>
        <p:spPr>
          <a:xfrm>
            <a:off x="9098280" y="3639312"/>
            <a:ext cx="548640" cy="548640"/>
          </a:xfrm>
          <a:prstGeom prst="ellipse">
            <a:avLst/>
          </a:prstGeom>
          <a:solidFill>
            <a:schemeClr val="accent2"/>
          </a:solidFill>
          <a:ln w="12700">
            <a:solidFill>
              <a:schemeClr val="accent2"/>
            </a:solidFill>
            <a:prstDash val="solid"/>
          </a:ln>
        </p:spPr>
      </p:sp>
      <p:pic>
        <p:nvPicPr>
          <p:cNvPr id="39" name="Image 5" descr="FaHeartbeat">    </p:cNvPr>
          <p:cNvPicPr>
            <a:picLocks noChangeAspect="1"/>
          </p:cNvPicPr>
          <p:nvPr/>
        </p:nvPicPr>
        <p:blipFill>
          <a:blip r:embed="rId6"/>
          <a:stretch>
            <a:fillRect/>
          </a:stretch>
        </p:blipFill>
        <p:spPr>
          <a:xfrm>
            <a:off x="9235440" y="3776472"/>
            <a:ext cx="274320" cy="274320"/>
          </a:xfrm>
          <a:prstGeom prst="rect">
            <a:avLst/>
          </a:prstGeom>
        </p:spPr>
      </p:pic>
      <p:sp>
        <p:nvSpPr>
          <p:cNvPr id="40" name="Text 32"/>
          <p:cNvSpPr txBox="1"/>
          <p:nvPr/>
        </p:nvSpPr>
        <p:spPr>
          <a:xfrm>
            <a:off x="9784080" y="3529584"/>
            <a:ext cx="1691640" cy="457200"/>
          </a:xfrm>
          <a:prstGeom prst="rect">
            <a:avLst/>
          </a:prstGeom>
          <a:noFill/>
          <a:ln/>
        </p:spPr>
        <p:txBody>
          <a:bodyPr wrap="square" lIns="0" tIns="0" rIns="0" bIns="0" rtlCol="0" anchor="ctr"/>
          <a:lstStyle/>
          <a:p>
            <a:pPr indent="0" marL="0">
              <a:buNone/>
            </a:pPr>
            <a:r>
              <a:rPr lang="en-US" sz="1400" b="1" dirty="0">
                <a:solidFill>
                  <a:schemeClr val="tx1"/>
                </a:solidFill>
              </a:rPr>
              <a:t>Basic health flags</a:t>
            </a:r>
            <a:endParaRPr lang="en-US" sz="1400" dirty="0"/>
          </a:p>
        </p:txBody>
      </p:sp>
      <p:sp>
        <p:nvSpPr>
          <p:cNvPr id="41" name="Text 33"/>
          <p:cNvSpPr txBox="1"/>
          <p:nvPr/>
        </p:nvSpPr>
        <p:spPr>
          <a:xfrm>
            <a:off x="9784080" y="3986784"/>
            <a:ext cx="1691640" cy="384048"/>
          </a:xfrm>
          <a:prstGeom prst="rect">
            <a:avLst/>
          </a:prstGeom>
          <a:noFill/>
          <a:ln/>
        </p:spPr>
        <p:txBody>
          <a:bodyPr wrap="square" lIns="0" tIns="0" rIns="0" bIns="0" rtlCol="0" anchor="t"/>
          <a:lstStyle/>
          <a:p>
            <a:pPr indent="0" marL="0">
              <a:buNone/>
            </a:pPr>
            <a:r>
              <a:rPr lang="en-US" sz="1100" dirty="0">
                <a:solidFill>
                  <a:schemeClr val="tx2"/>
                </a:solidFill>
              </a:rPr>
              <a:t>Power, thermal, propulsion status</a:t>
            </a:r>
            <a:endParaRPr lang="en-US" sz="1100" dirty="0"/>
          </a:p>
        </p:txBody>
      </p:sp>
      <p:sp>
        <p:nvSpPr>
          <p:cNvPr id="42" name="Angular-rate estimate tile"/>
          <p:cNvSpPr/>
          <p:nvPr/>
        </p:nvSpPr>
        <p:spPr>
          <a:xfrm>
            <a:off x="6126480" y="4672584"/>
            <a:ext cx="2651760" cy="1097280"/>
          </a:xfrm>
          <a:prstGeom prst="roundRect">
            <a:avLst>
              <a:gd name="adj" fmla="val 8333"/>
            </a:avLst>
          </a:prstGeom>
          <a:solidFill>
            <a:schemeClr val="bg2"/>
          </a:solidFill>
          <a:ln w="9525">
            <a:solidFill>
              <a:schemeClr val="bg2"/>
            </a:solidFill>
            <a:prstDash val="solid"/>
          </a:ln>
        </p:spPr>
      </p:sp>
      <p:sp>
        <p:nvSpPr>
          <p:cNvPr id="43" name="Shape 35"/>
          <p:cNvSpPr/>
          <p:nvPr/>
        </p:nvSpPr>
        <p:spPr>
          <a:xfrm>
            <a:off x="6309360" y="4946904"/>
            <a:ext cx="548640" cy="548640"/>
          </a:xfrm>
          <a:prstGeom prst="ellipse">
            <a:avLst/>
          </a:prstGeom>
          <a:solidFill>
            <a:schemeClr val="accent2"/>
          </a:solidFill>
          <a:ln w="12700">
            <a:solidFill>
              <a:schemeClr val="accent2"/>
            </a:solidFill>
            <a:prstDash val="solid"/>
          </a:ln>
        </p:spPr>
      </p:sp>
      <p:pic>
        <p:nvPicPr>
          <p:cNvPr id="44" name="Image 6" descr="FaSyncAlt">    </p:cNvPr>
          <p:cNvPicPr>
            <a:picLocks noChangeAspect="1"/>
          </p:cNvPicPr>
          <p:nvPr/>
        </p:nvPicPr>
        <p:blipFill>
          <a:blip r:embed="rId7"/>
          <a:stretch>
            <a:fillRect/>
          </a:stretch>
        </p:blipFill>
        <p:spPr>
          <a:xfrm>
            <a:off x="6446520" y="5084064"/>
            <a:ext cx="274320" cy="274320"/>
          </a:xfrm>
          <a:prstGeom prst="rect">
            <a:avLst/>
          </a:prstGeom>
        </p:spPr>
      </p:pic>
      <p:sp>
        <p:nvSpPr>
          <p:cNvPr id="45" name="Text 36"/>
          <p:cNvSpPr txBox="1"/>
          <p:nvPr/>
        </p:nvSpPr>
        <p:spPr>
          <a:xfrm>
            <a:off x="6995160" y="4837176"/>
            <a:ext cx="1691640" cy="457200"/>
          </a:xfrm>
          <a:prstGeom prst="rect">
            <a:avLst/>
          </a:prstGeom>
          <a:noFill/>
          <a:ln/>
        </p:spPr>
        <p:txBody>
          <a:bodyPr wrap="square" lIns="0" tIns="0" rIns="0" bIns="0" rtlCol="0" anchor="ctr"/>
          <a:lstStyle/>
          <a:p>
            <a:pPr indent="0" marL="0">
              <a:buNone/>
            </a:pPr>
            <a:r>
              <a:rPr lang="en-US" sz="1400" b="1" dirty="0">
                <a:solidFill>
                  <a:schemeClr val="tx1"/>
                </a:solidFill>
              </a:rPr>
              <a:t>Angular-rate estimate</a:t>
            </a:r>
            <a:endParaRPr lang="en-US" sz="1400" dirty="0"/>
          </a:p>
        </p:txBody>
      </p:sp>
      <p:sp>
        <p:nvSpPr>
          <p:cNvPr id="46" name="Text 37"/>
          <p:cNvSpPr txBox="1"/>
          <p:nvPr/>
        </p:nvSpPr>
        <p:spPr>
          <a:xfrm>
            <a:off x="6995160" y="5294376"/>
            <a:ext cx="1691640" cy="384048"/>
          </a:xfrm>
          <a:prstGeom prst="rect">
            <a:avLst/>
          </a:prstGeom>
          <a:noFill/>
          <a:ln/>
        </p:spPr>
        <p:txBody>
          <a:bodyPr wrap="square" lIns="0" tIns="0" rIns="0" bIns="0" rtlCol="0" anchor="t"/>
          <a:lstStyle/>
          <a:p>
            <a:pPr indent="0" marL="0">
              <a:buNone/>
            </a:pPr>
            <a:r>
              <a:rPr lang="en-US" sz="1100" dirty="0">
                <a:solidFill>
                  <a:schemeClr val="tx2"/>
                </a:solidFill>
              </a:rPr>
              <a:t>Tumble rate for capture planning</a:t>
            </a:r>
            <a:endParaRPr lang="en-US" sz="1100" dirty="0"/>
          </a:p>
        </p:txBody>
      </p:sp>
      <p:sp>
        <p:nvSpPr>
          <p:cNvPr id="47" name="Authentication status tile"/>
          <p:cNvSpPr/>
          <p:nvPr/>
        </p:nvSpPr>
        <p:spPr>
          <a:xfrm>
            <a:off x="8915400" y="4672584"/>
            <a:ext cx="2651760" cy="1097280"/>
          </a:xfrm>
          <a:prstGeom prst="roundRect">
            <a:avLst>
              <a:gd name="adj" fmla="val 8333"/>
            </a:avLst>
          </a:prstGeom>
          <a:solidFill>
            <a:schemeClr val="bg2"/>
          </a:solidFill>
          <a:ln w="9525">
            <a:solidFill>
              <a:schemeClr val="bg2"/>
            </a:solidFill>
            <a:prstDash val="solid"/>
          </a:ln>
        </p:spPr>
      </p:sp>
      <p:sp>
        <p:nvSpPr>
          <p:cNvPr id="48" name="Shape 39"/>
          <p:cNvSpPr/>
          <p:nvPr/>
        </p:nvSpPr>
        <p:spPr>
          <a:xfrm>
            <a:off x="9098280" y="4946904"/>
            <a:ext cx="548640" cy="548640"/>
          </a:xfrm>
          <a:prstGeom prst="ellipse">
            <a:avLst/>
          </a:prstGeom>
          <a:solidFill>
            <a:schemeClr val="accent2"/>
          </a:solidFill>
          <a:ln w="12700">
            <a:solidFill>
              <a:schemeClr val="accent2"/>
            </a:solidFill>
            <a:prstDash val="solid"/>
          </a:ln>
        </p:spPr>
      </p:sp>
      <p:pic>
        <p:nvPicPr>
          <p:cNvPr id="49" name="Image 7" descr="FaKey">    </p:cNvPr>
          <p:cNvPicPr>
            <a:picLocks noChangeAspect="1"/>
          </p:cNvPicPr>
          <p:nvPr/>
        </p:nvPicPr>
        <p:blipFill>
          <a:blip r:embed="rId8"/>
          <a:stretch>
            <a:fillRect/>
          </a:stretch>
        </p:blipFill>
        <p:spPr>
          <a:xfrm>
            <a:off x="9235440" y="5084064"/>
            <a:ext cx="274320" cy="274320"/>
          </a:xfrm>
          <a:prstGeom prst="rect">
            <a:avLst/>
          </a:prstGeom>
        </p:spPr>
      </p:pic>
      <p:sp>
        <p:nvSpPr>
          <p:cNvPr id="50" name="Text 40"/>
          <p:cNvSpPr txBox="1"/>
          <p:nvPr/>
        </p:nvSpPr>
        <p:spPr>
          <a:xfrm>
            <a:off x="9784080" y="4837176"/>
            <a:ext cx="1691640" cy="457200"/>
          </a:xfrm>
          <a:prstGeom prst="rect">
            <a:avLst/>
          </a:prstGeom>
          <a:noFill/>
          <a:ln/>
        </p:spPr>
        <p:txBody>
          <a:bodyPr wrap="square" lIns="0" tIns="0" rIns="0" bIns="0" rtlCol="0" anchor="ctr"/>
          <a:lstStyle/>
          <a:p>
            <a:pPr indent="0" marL="0">
              <a:buNone/>
            </a:pPr>
            <a:r>
              <a:rPr lang="en-US" sz="1400" b="1" dirty="0">
                <a:solidFill>
                  <a:schemeClr val="tx1"/>
                </a:solidFill>
              </a:rPr>
              <a:t>Authentication status</a:t>
            </a:r>
            <a:endParaRPr lang="en-US" sz="1400" dirty="0"/>
          </a:p>
        </p:txBody>
      </p:sp>
      <p:sp>
        <p:nvSpPr>
          <p:cNvPr id="51" name="Text 41"/>
          <p:cNvSpPr txBox="1"/>
          <p:nvPr/>
        </p:nvSpPr>
        <p:spPr>
          <a:xfrm>
            <a:off x="9784080" y="5294376"/>
            <a:ext cx="1691640" cy="384048"/>
          </a:xfrm>
          <a:prstGeom prst="rect">
            <a:avLst/>
          </a:prstGeom>
          <a:noFill/>
          <a:ln/>
        </p:spPr>
        <p:txBody>
          <a:bodyPr wrap="square" lIns="0" tIns="0" rIns="0" bIns="0" rtlCol="0" anchor="t"/>
          <a:lstStyle/>
          <a:p>
            <a:pPr indent="0" marL="0">
              <a:buNone/>
            </a:pPr>
            <a:r>
              <a:rPr lang="en-US" sz="1100" dirty="0">
                <a:solidFill>
                  <a:schemeClr val="tx2"/>
                </a:solidFill>
              </a:rPr>
              <a:t>Only authorised servicers proceed</a:t>
            </a:r>
            <a:endParaRPr lang="en-US" sz="11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8A9BB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body" hasCustomPrompt="1"/>
          </p:nvPr>
        </p:nvSpPr>
        <p:spPr>
          <a:xfrm>
            <a:off x="548640" y="320040"/>
            <a:ext cx="11064240" cy="292608"/>
          </a:xfrm>
          <a:prstGeom prst="rect">
            <a:avLst/>
          </a:prstGeom>
          <a:noFill/>
          <a:ln/>
        </p:spPr>
        <p:txBody>
          <a:bodyPr wrap="square" lIns="0" tIns="0" rIns="0" bIns="0" rtlCol="0"/>
          <a:lstStyle/>
          <a:p>
            <a:pPr indent="0" marL="0">
              <a:buNone/>
            </a:pPr>
            <a:r>
              <a:rPr lang="en-US" sz="1200" b="1" spc="300" kern="0" dirty="0">
                <a:solidFill>
                  <a:schemeClr val="accent3"/>
                </a:solidFill>
              </a:rPr>
              <a:t>KEY ELEMENT · IOS MODE</a:t>
            </a:r>
            <a:endParaRPr lang="en-US" sz="1200" dirty="0"/>
          </a:p>
        </p:txBody>
      </p:sp>
      <p:sp>
        <p:nvSpPr>
          <p:cNvPr id="3" name="Text 1"/>
          <p:cNvSpPr/>
          <p:nvPr>
            <p:ph idx="102" type="title" hasCustomPrompt="1"/>
          </p:nvPr>
        </p:nvSpPr>
        <p:spPr>
          <a:xfrm>
            <a:off x="548640" y="621792"/>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IOS Mode &amp; Docked Control</a:t>
            </a:r>
            <a:endParaRPr lang="en-US" sz="3200" dirty="0"/>
          </a:p>
        </p:txBody>
      </p:sp>
      <p:sp>
        <p:nvSpPr>
          <p:cNvPr id="4" name="Problem panel"/>
          <p:cNvSpPr/>
          <p:nvPr/>
        </p:nvSpPr>
        <p:spPr>
          <a:xfrm>
            <a:off x="548640" y="1508760"/>
            <a:ext cx="11064240" cy="868680"/>
          </a:xfrm>
          <a:prstGeom prst="roundRect">
            <a:avLst>
              <a:gd name="adj" fmla="val 10526"/>
            </a:avLst>
          </a:prstGeom>
          <a:solidFill>
            <a:schemeClr val="accent4">
              <a:alpha val="12000"/>
            </a:schemeClr>
          </a:solidFill>
          <a:ln w="9525">
            <a:solidFill>
              <a:schemeClr val="accent4"/>
            </a:solidFill>
            <a:prstDash val="solid"/>
          </a:ln>
        </p:spPr>
      </p:sp>
      <p:sp>
        <p:nvSpPr>
          <p:cNvPr id="5" name="Shape 3"/>
          <p:cNvSpPr/>
          <p:nvPr/>
        </p:nvSpPr>
        <p:spPr>
          <a:xfrm>
            <a:off x="777240" y="1655064"/>
            <a:ext cx="566928" cy="566928"/>
          </a:xfrm>
          <a:prstGeom prst="ellipse">
            <a:avLst/>
          </a:prstGeom>
          <a:solidFill>
            <a:schemeClr val="accent4"/>
          </a:solidFill>
          <a:ln w="12700">
            <a:solidFill>
              <a:schemeClr val="accent4"/>
            </a:solidFill>
            <a:prstDash val="solid"/>
          </a:ln>
        </p:spPr>
      </p:sp>
      <p:pic>
        <p:nvPicPr>
          <p:cNvPr id="6" name="Image 0" descr="FaExclamationTriangle">    </p:cNvPr>
          <p:cNvPicPr>
            <a:picLocks noChangeAspect="1"/>
          </p:cNvPicPr>
          <p:nvPr/>
        </p:nvPicPr>
        <p:blipFill>
          <a:blip r:embed="rId1"/>
          <a:stretch>
            <a:fillRect/>
          </a:stretch>
        </p:blipFill>
        <p:spPr>
          <a:xfrm>
            <a:off x="918972" y="1796796"/>
            <a:ext cx="283464" cy="283464"/>
          </a:xfrm>
          <a:prstGeom prst="rect">
            <a:avLst/>
          </a:prstGeom>
        </p:spPr>
      </p:pic>
      <p:sp>
        <p:nvSpPr>
          <p:cNvPr id="7" name="Text 4"/>
          <p:cNvSpPr txBox="1"/>
          <p:nvPr/>
        </p:nvSpPr>
        <p:spPr>
          <a:xfrm>
            <a:off x="1554480" y="1508760"/>
            <a:ext cx="9875520" cy="868680"/>
          </a:xfrm>
          <a:prstGeom prst="rect">
            <a:avLst/>
          </a:prstGeom>
          <a:noFill/>
          <a:ln/>
        </p:spPr>
        <p:txBody>
          <a:bodyPr wrap="square" lIns="0" tIns="0" rIns="0" bIns="0" rtlCol="0" anchor="ctr"/>
          <a:lstStyle/>
          <a:p>
            <a:pPr indent="0" marL="0">
              <a:buNone/>
            </a:pPr>
            <a:r>
              <a:rPr lang="en-US" sz="1600" b="1" dirty="0">
                <a:solidFill>
                  <a:schemeClr val="accent4"/>
                </a:solidFill>
              </a:rPr>
              <a:t>Problem:  </a:t>
            </a:r>
            <a:pPr indent="0" marL="0">
              <a:buNone/>
            </a:pPr>
            <a:r>
              <a:rPr lang="en-US" sz="1600" dirty="0">
                <a:solidFill>
                  <a:schemeClr val="tx1"/>
                </a:solidFill>
              </a:rPr>
              <a:t>the client must not fight the servicer during approach and capture — uncoordinated attitude control risks collision or a failed capture.</a:t>
            </a:r>
            <a:endParaRPr lang="en-US" sz="1600" dirty="0"/>
          </a:p>
        </p:txBody>
      </p:sp>
      <p:sp>
        <p:nvSpPr>
          <p:cNvPr id="8" name="Text 5"/>
          <p:cNvSpPr txBox="1"/>
          <p:nvPr/>
        </p:nvSpPr>
        <p:spPr>
          <a:xfrm>
            <a:off x="548640" y="2651760"/>
            <a:ext cx="5486400" cy="365760"/>
          </a:xfrm>
          <a:prstGeom prst="rect">
            <a:avLst/>
          </a:prstGeom>
          <a:noFill/>
          <a:ln/>
        </p:spPr>
        <p:txBody>
          <a:bodyPr wrap="square" lIns="0" tIns="0" rIns="0" bIns="0" rtlCol="0" anchor="t"/>
          <a:lstStyle/>
          <a:p>
            <a:pPr indent="0" marL="0">
              <a:buNone/>
            </a:pPr>
            <a:r>
              <a:rPr lang="en-US" sz="1800" b="1" dirty="0">
                <a:solidFill>
                  <a:schemeClr val="tx1"/>
                </a:solidFill>
              </a:rPr>
              <a:t>Client state flow</a:t>
            </a:r>
            <a:endParaRPr lang="en-US" sz="1800" dirty="0"/>
          </a:p>
        </p:txBody>
      </p:sp>
      <p:sp>
        <p:nvSpPr>
          <p:cNvPr id="9" name="Normal state"/>
          <p:cNvSpPr/>
          <p:nvPr/>
        </p:nvSpPr>
        <p:spPr>
          <a:xfrm>
            <a:off x="548640" y="3154680"/>
            <a:ext cx="1344168" cy="868680"/>
          </a:xfrm>
          <a:prstGeom prst="roundRect">
            <a:avLst>
              <a:gd name="adj" fmla="val 10526"/>
            </a:avLst>
          </a:prstGeom>
          <a:solidFill>
            <a:schemeClr val="tx2"/>
          </a:solidFill>
          <a:ln w="9525">
            <a:solidFill>
              <a:schemeClr val="tx2"/>
            </a:solidFill>
            <a:prstDash val="solid"/>
          </a:ln>
        </p:spPr>
      </p:sp>
      <p:sp>
        <p:nvSpPr>
          <p:cNvPr id="10" name="Text 7"/>
          <p:cNvSpPr txBox="1"/>
          <p:nvPr/>
        </p:nvSpPr>
        <p:spPr>
          <a:xfrm>
            <a:off x="621792" y="3154680"/>
            <a:ext cx="1197864" cy="868680"/>
          </a:xfrm>
          <a:prstGeom prst="rect">
            <a:avLst/>
          </a:prstGeom>
          <a:noFill/>
          <a:ln/>
        </p:spPr>
        <p:txBody>
          <a:bodyPr wrap="square" lIns="0" tIns="0" rIns="0" bIns="0" rtlCol="0" anchor="ctr"/>
          <a:lstStyle/>
          <a:p>
            <a:pPr algn="ctr" indent="0" marL="0">
              <a:buNone/>
            </a:pPr>
            <a:r>
              <a:rPr lang="en-US" sz="1400" b="1" dirty="0">
                <a:solidFill>
                  <a:schemeClr val="bg1"/>
                </a:solidFill>
              </a:rPr>
              <a:t>Normal</a:t>
            </a:r>
            <a:endParaRPr lang="en-US" sz="1400" dirty="0"/>
          </a:p>
        </p:txBody>
      </p:sp>
      <p:sp>
        <p:nvSpPr>
          <p:cNvPr id="11" name="Text 8"/>
          <p:cNvSpPr txBox="1"/>
          <p:nvPr/>
        </p:nvSpPr>
        <p:spPr>
          <a:xfrm>
            <a:off x="548640" y="4160520"/>
            <a:ext cx="1344168" cy="685800"/>
          </a:xfrm>
          <a:prstGeom prst="rect">
            <a:avLst/>
          </a:prstGeom>
          <a:noFill/>
          <a:ln/>
        </p:spPr>
        <p:txBody>
          <a:bodyPr wrap="square" lIns="0" tIns="0" rIns="0" bIns="0" rtlCol="0" anchor="t"/>
          <a:lstStyle/>
          <a:p>
            <a:pPr algn="ctr" indent="0" marL="0">
              <a:buNone/>
            </a:pPr>
            <a:r>
              <a:rPr lang="en-US" sz="1200" dirty="0">
                <a:solidFill>
                  <a:schemeClr val="tx2"/>
                </a:solidFill>
              </a:rPr>
              <a:t>Own mission, own attitude control</a:t>
            </a:r>
            <a:endParaRPr lang="en-US" sz="1200" dirty="0"/>
          </a:p>
        </p:txBody>
      </p:sp>
      <p:sp>
        <p:nvSpPr>
          <p:cNvPr id="12" name="Shape 9"/>
          <p:cNvSpPr/>
          <p:nvPr/>
        </p:nvSpPr>
        <p:spPr>
          <a:xfrm>
            <a:off x="1929384" y="3589020"/>
            <a:ext cx="201168" cy="914"/>
          </a:xfrm>
          <a:prstGeom prst="line">
            <a:avLst/>
          </a:prstGeom>
          <a:noFill/>
          <a:ln w="19050">
            <a:solidFill>
              <a:schemeClr val="accent6"/>
            </a:solidFill>
            <a:prstDash val="solid"/>
            <a:tailEnd type="triangle"/>
          </a:ln>
        </p:spPr>
      </p:sp>
      <p:sp>
        <p:nvSpPr>
          <p:cNvPr id="13" name="Service Standby state"/>
          <p:cNvSpPr/>
          <p:nvPr/>
        </p:nvSpPr>
        <p:spPr>
          <a:xfrm>
            <a:off x="2167128" y="3154680"/>
            <a:ext cx="1344168" cy="868680"/>
          </a:xfrm>
          <a:prstGeom prst="roundRect">
            <a:avLst>
              <a:gd name="adj" fmla="val 10526"/>
            </a:avLst>
          </a:prstGeom>
          <a:solidFill>
            <a:schemeClr val="tx2"/>
          </a:solidFill>
          <a:ln w="9525">
            <a:solidFill>
              <a:schemeClr val="tx2"/>
            </a:solidFill>
            <a:prstDash val="solid"/>
          </a:ln>
        </p:spPr>
      </p:sp>
      <p:sp>
        <p:nvSpPr>
          <p:cNvPr id="14" name="Text 11"/>
          <p:cNvSpPr txBox="1"/>
          <p:nvPr/>
        </p:nvSpPr>
        <p:spPr>
          <a:xfrm>
            <a:off x="2240280" y="3154680"/>
            <a:ext cx="1197864" cy="868680"/>
          </a:xfrm>
          <a:prstGeom prst="rect">
            <a:avLst/>
          </a:prstGeom>
          <a:noFill/>
          <a:ln/>
        </p:spPr>
        <p:txBody>
          <a:bodyPr wrap="square" lIns="0" tIns="0" rIns="0" bIns="0" rtlCol="0" anchor="ctr"/>
          <a:lstStyle/>
          <a:p>
            <a:pPr algn="ctr" indent="0" marL="0">
              <a:buNone/>
            </a:pPr>
            <a:r>
              <a:rPr lang="en-US" sz="1400" b="1" dirty="0">
                <a:solidFill>
                  <a:schemeClr val="bg1"/>
                </a:solidFill>
              </a:rPr>
              <a:t>Service Standby</a:t>
            </a:r>
            <a:endParaRPr lang="en-US" sz="1400" dirty="0"/>
          </a:p>
        </p:txBody>
      </p:sp>
      <p:sp>
        <p:nvSpPr>
          <p:cNvPr id="15" name="Text 12"/>
          <p:cNvSpPr txBox="1"/>
          <p:nvPr/>
        </p:nvSpPr>
        <p:spPr>
          <a:xfrm>
            <a:off x="2167128" y="4160520"/>
            <a:ext cx="1344168" cy="685800"/>
          </a:xfrm>
          <a:prstGeom prst="rect">
            <a:avLst/>
          </a:prstGeom>
          <a:noFill/>
          <a:ln/>
        </p:spPr>
        <p:txBody>
          <a:bodyPr wrap="square" lIns="0" tIns="0" rIns="0" bIns="0" rtlCol="0" anchor="t"/>
          <a:lstStyle/>
          <a:p>
            <a:pPr algn="ctr" indent="0" marL="0">
              <a:buNone/>
            </a:pPr>
            <a:r>
              <a:rPr lang="en-US" sz="1200" dirty="0">
                <a:solidFill>
                  <a:schemeClr val="tx2"/>
                </a:solidFill>
              </a:rPr>
              <a:t>Beacon active, awaiting servicer</a:t>
            </a:r>
            <a:endParaRPr lang="en-US" sz="1200" dirty="0"/>
          </a:p>
        </p:txBody>
      </p:sp>
      <p:sp>
        <p:nvSpPr>
          <p:cNvPr id="16" name="Shape 13"/>
          <p:cNvSpPr/>
          <p:nvPr/>
        </p:nvSpPr>
        <p:spPr>
          <a:xfrm>
            <a:off x="3547872" y="3589020"/>
            <a:ext cx="201168" cy="914"/>
          </a:xfrm>
          <a:prstGeom prst="line">
            <a:avLst/>
          </a:prstGeom>
          <a:noFill/>
          <a:ln w="19050">
            <a:solidFill>
              <a:schemeClr val="accent6"/>
            </a:solidFill>
            <a:prstDash val="solid"/>
            <a:tailEnd type="triangle"/>
          </a:ln>
        </p:spPr>
      </p:sp>
      <p:sp>
        <p:nvSpPr>
          <p:cNvPr id="17" name="Approach Permitted state"/>
          <p:cNvSpPr/>
          <p:nvPr/>
        </p:nvSpPr>
        <p:spPr>
          <a:xfrm>
            <a:off x="3785616" y="3154680"/>
            <a:ext cx="1344168" cy="868680"/>
          </a:xfrm>
          <a:prstGeom prst="roundRect">
            <a:avLst>
              <a:gd name="adj" fmla="val 10526"/>
            </a:avLst>
          </a:prstGeom>
          <a:solidFill>
            <a:schemeClr val="tx2"/>
          </a:solidFill>
          <a:ln w="9525">
            <a:solidFill>
              <a:schemeClr val="tx2"/>
            </a:solidFill>
            <a:prstDash val="solid"/>
          </a:ln>
        </p:spPr>
      </p:sp>
      <p:sp>
        <p:nvSpPr>
          <p:cNvPr id="18" name="Text 15"/>
          <p:cNvSpPr txBox="1"/>
          <p:nvPr/>
        </p:nvSpPr>
        <p:spPr>
          <a:xfrm>
            <a:off x="3858768" y="3154680"/>
            <a:ext cx="1197864" cy="868680"/>
          </a:xfrm>
          <a:prstGeom prst="rect">
            <a:avLst/>
          </a:prstGeom>
          <a:noFill/>
          <a:ln/>
        </p:spPr>
        <p:txBody>
          <a:bodyPr wrap="square" lIns="0" tIns="0" rIns="0" bIns="0" rtlCol="0" anchor="ctr"/>
          <a:lstStyle/>
          <a:p>
            <a:pPr algn="ctr" indent="0" marL="0">
              <a:buNone/>
            </a:pPr>
            <a:r>
              <a:rPr lang="en-US" sz="1400" b="1" dirty="0">
                <a:solidFill>
                  <a:schemeClr val="bg1"/>
                </a:solidFill>
              </a:rPr>
              <a:t>Approach Permitted</a:t>
            </a:r>
            <a:endParaRPr lang="en-US" sz="1400" dirty="0"/>
          </a:p>
        </p:txBody>
      </p:sp>
      <p:sp>
        <p:nvSpPr>
          <p:cNvPr id="19" name="Text 16"/>
          <p:cNvSpPr txBox="1"/>
          <p:nvPr/>
        </p:nvSpPr>
        <p:spPr>
          <a:xfrm>
            <a:off x="3785616" y="4160520"/>
            <a:ext cx="1344168" cy="685800"/>
          </a:xfrm>
          <a:prstGeom prst="rect">
            <a:avLst/>
          </a:prstGeom>
          <a:noFill/>
          <a:ln/>
        </p:spPr>
        <p:txBody>
          <a:bodyPr wrap="square" lIns="0" tIns="0" rIns="0" bIns="0" rtlCol="0" anchor="t"/>
          <a:lstStyle/>
          <a:p>
            <a:pPr algn="ctr" indent="0" marL="0">
              <a:buNone/>
            </a:pPr>
            <a:r>
              <a:rPr lang="en-US" sz="1200" dirty="0">
                <a:solidFill>
                  <a:schemeClr val="tx2"/>
                </a:solidFill>
              </a:rPr>
              <a:t>Authenticated go for RPO</a:t>
            </a:r>
            <a:endParaRPr lang="en-US" sz="1200" dirty="0"/>
          </a:p>
        </p:txBody>
      </p:sp>
      <p:sp>
        <p:nvSpPr>
          <p:cNvPr id="20" name="Shape 17"/>
          <p:cNvSpPr/>
          <p:nvPr/>
        </p:nvSpPr>
        <p:spPr>
          <a:xfrm>
            <a:off x="5166360" y="3589020"/>
            <a:ext cx="201168" cy="914"/>
          </a:xfrm>
          <a:prstGeom prst="line">
            <a:avLst/>
          </a:prstGeom>
          <a:noFill/>
          <a:ln w="19050">
            <a:solidFill>
              <a:schemeClr val="accent6"/>
            </a:solidFill>
            <a:prstDash val="solid"/>
            <a:tailEnd type="triangle"/>
          </a:ln>
        </p:spPr>
      </p:sp>
      <p:sp>
        <p:nvSpPr>
          <p:cNvPr id="21" name="IOS Mode state"/>
          <p:cNvSpPr/>
          <p:nvPr/>
        </p:nvSpPr>
        <p:spPr>
          <a:xfrm>
            <a:off x="5404104" y="3154680"/>
            <a:ext cx="1344168" cy="868680"/>
          </a:xfrm>
          <a:prstGeom prst="roundRect">
            <a:avLst>
              <a:gd name="adj" fmla="val 10526"/>
            </a:avLst>
          </a:prstGeom>
          <a:solidFill>
            <a:schemeClr val="accent1"/>
          </a:solidFill>
          <a:ln w="9525">
            <a:solidFill>
              <a:schemeClr val="accent1"/>
            </a:solidFill>
            <a:prstDash val="solid"/>
          </a:ln>
        </p:spPr>
      </p:sp>
      <p:sp>
        <p:nvSpPr>
          <p:cNvPr id="22" name="Text 19"/>
          <p:cNvSpPr txBox="1"/>
          <p:nvPr/>
        </p:nvSpPr>
        <p:spPr>
          <a:xfrm>
            <a:off x="5477256" y="3154680"/>
            <a:ext cx="1197864" cy="868680"/>
          </a:xfrm>
          <a:prstGeom prst="rect">
            <a:avLst/>
          </a:prstGeom>
          <a:noFill/>
          <a:ln/>
        </p:spPr>
        <p:txBody>
          <a:bodyPr wrap="square" lIns="0" tIns="0" rIns="0" bIns="0" rtlCol="0" anchor="ctr"/>
          <a:lstStyle/>
          <a:p>
            <a:pPr algn="ctr" indent="0" marL="0">
              <a:buNone/>
            </a:pPr>
            <a:r>
              <a:rPr lang="en-US" sz="1400" b="1" dirty="0">
                <a:solidFill>
                  <a:schemeClr val="tx1"/>
                </a:solidFill>
              </a:rPr>
              <a:t>IOS Mode</a:t>
            </a:r>
            <a:endParaRPr lang="en-US" sz="1400" dirty="0"/>
          </a:p>
        </p:txBody>
      </p:sp>
      <p:sp>
        <p:nvSpPr>
          <p:cNvPr id="23" name="Text 20"/>
          <p:cNvSpPr txBox="1"/>
          <p:nvPr/>
        </p:nvSpPr>
        <p:spPr>
          <a:xfrm>
            <a:off x="5404104" y="4160520"/>
            <a:ext cx="1344168" cy="685800"/>
          </a:xfrm>
          <a:prstGeom prst="rect">
            <a:avLst/>
          </a:prstGeom>
          <a:noFill/>
          <a:ln/>
        </p:spPr>
        <p:txBody>
          <a:bodyPr wrap="square" lIns="0" tIns="0" rIns="0" bIns="0" rtlCol="0" anchor="t"/>
          <a:lstStyle/>
          <a:p>
            <a:pPr algn="ctr" indent="0" marL="0">
              <a:buNone/>
            </a:pPr>
            <a:r>
              <a:rPr lang="en-US" sz="1200" dirty="0">
                <a:solidFill>
                  <a:schemeClr val="tx2"/>
                </a:solidFill>
              </a:rPr>
              <a:t>Client control passive / handed over</a:t>
            </a:r>
            <a:endParaRPr lang="en-US" sz="1200" dirty="0"/>
          </a:p>
        </p:txBody>
      </p:sp>
      <p:sp>
        <p:nvSpPr>
          <p:cNvPr id="24" name="Shape 21"/>
          <p:cNvSpPr/>
          <p:nvPr/>
        </p:nvSpPr>
        <p:spPr>
          <a:xfrm>
            <a:off x="6784848" y="3589020"/>
            <a:ext cx="201168" cy="914"/>
          </a:xfrm>
          <a:prstGeom prst="line">
            <a:avLst/>
          </a:prstGeom>
          <a:noFill/>
          <a:ln w="19050">
            <a:solidFill>
              <a:schemeClr val="accent6"/>
            </a:solidFill>
            <a:prstDash val="solid"/>
            <a:tailEnd type="triangle"/>
          </a:ln>
        </p:spPr>
      </p:sp>
      <p:sp>
        <p:nvSpPr>
          <p:cNvPr id="25" name="Mated / Servicing state"/>
          <p:cNvSpPr/>
          <p:nvPr/>
        </p:nvSpPr>
        <p:spPr>
          <a:xfrm>
            <a:off x="7022592" y="3154680"/>
            <a:ext cx="1344168" cy="868680"/>
          </a:xfrm>
          <a:prstGeom prst="roundRect">
            <a:avLst>
              <a:gd name="adj" fmla="val 10526"/>
            </a:avLst>
          </a:prstGeom>
          <a:solidFill>
            <a:schemeClr val="tx1"/>
          </a:solidFill>
          <a:ln w="9525">
            <a:solidFill>
              <a:schemeClr val="tx1"/>
            </a:solidFill>
            <a:prstDash val="solid"/>
          </a:ln>
        </p:spPr>
      </p:sp>
      <p:sp>
        <p:nvSpPr>
          <p:cNvPr id="26" name="Text 23"/>
          <p:cNvSpPr txBox="1"/>
          <p:nvPr/>
        </p:nvSpPr>
        <p:spPr>
          <a:xfrm>
            <a:off x="7095744" y="3154680"/>
            <a:ext cx="1197864" cy="868680"/>
          </a:xfrm>
          <a:prstGeom prst="rect">
            <a:avLst/>
          </a:prstGeom>
          <a:noFill/>
          <a:ln/>
        </p:spPr>
        <p:txBody>
          <a:bodyPr wrap="square" lIns="0" tIns="0" rIns="0" bIns="0" rtlCol="0" anchor="ctr"/>
          <a:lstStyle/>
          <a:p>
            <a:pPr algn="ctr" indent="0" marL="0">
              <a:buNone/>
            </a:pPr>
            <a:r>
              <a:rPr lang="en-US" sz="1400" b="1" dirty="0">
                <a:solidFill>
                  <a:schemeClr val="bg1"/>
                </a:solidFill>
              </a:rPr>
              <a:t>Mated / Servicing</a:t>
            </a:r>
            <a:endParaRPr lang="en-US" sz="1400" dirty="0"/>
          </a:p>
        </p:txBody>
      </p:sp>
      <p:sp>
        <p:nvSpPr>
          <p:cNvPr id="27" name="Text 24"/>
          <p:cNvSpPr txBox="1"/>
          <p:nvPr/>
        </p:nvSpPr>
        <p:spPr>
          <a:xfrm>
            <a:off x="7022592" y="4160520"/>
            <a:ext cx="1344168" cy="685800"/>
          </a:xfrm>
          <a:prstGeom prst="rect">
            <a:avLst/>
          </a:prstGeom>
          <a:noFill/>
          <a:ln/>
        </p:spPr>
        <p:txBody>
          <a:bodyPr wrap="square" lIns="0" tIns="0" rIns="0" bIns="0" rtlCol="0" anchor="t"/>
          <a:lstStyle/>
          <a:p>
            <a:pPr algn="ctr" indent="0" marL="0">
              <a:buNone/>
            </a:pPr>
            <a:r>
              <a:rPr lang="en-US" sz="1200" dirty="0">
                <a:solidFill>
                  <a:schemeClr val="tx2"/>
                </a:solidFill>
              </a:rPr>
              <a:t>Joint stack, servicer in control</a:t>
            </a:r>
            <a:endParaRPr lang="en-US" sz="1200" dirty="0"/>
          </a:p>
        </p:txBody>
      </p:sp>
      <p:sp>
        <p:nvSpPr>
          <p:cNvPr id="28" name="Shape 25"/>
          <p:cNvSpPr/>
          <p:nvPr/>
        </p:nvSpPr>
        <p:spPr>
          <a:xfrm>
            <a:off x="8403336" y="3589020"/>
            <a:ext cx="201168" cy="914"/>
          </a:xfrm>
          <a:prstGeom prst="line">
            <a:avLst/>
          </a:prstGeom>
          <a:noFill/>
          <a:ln w="19050">
            <a:solidFill>
              <a:schemeClr val="accent6"/>
            </a:solidFill>
            <a:prstDash val="solid"/>
            <a:tailEnd type="triangle"/>
          </a:ln>
        </p:spPr>
      </p:sp>
      <p:sp>
        <p:nvSpPr>
          <p:cNvPr id="29" name="Verification state"/>
          <p:cNvSpPr/>
          <p:nvPr/>
        </p:nvSpPr>
        <p:spPr>
          <a:xfrm>
            <a:off x="8641080" y="3154680"/>
            <a:ext cx="1344168" cy="868680"/>
          </a:xfrm>
          <a:prstGeom prst="roundRect">
            <a:avLst>
              <a:gd name="adj" fmla="val 10526"/>
            </a:avLst>
          </a:prstGeom>
          <a:solidFill>
            <a:schemeClr val="tx1"/>
          </a:solidFill>
          <a:ln w="9525">
            <a:solidFill>
              <a:schemeClr val="tx1"/>
            </a:solidFill>
            <a:prstDash val="solid"/>
          </a:ln>
        </p:spPr>
      </p:sp>
      <p:sp>
        <p:nvSpPr>
          <p:cNvPr id="30" name="Text 27"/>
          <p:cNvSpPr txBox="1"/>
          <p:nvPr/>
        </p:nvSpPr>
        <p:spPr>
          <a:xfrm>
            <a:off x="8714232" y="3154680"/>
            <a:ext cx="1197864" cy="868680"/>
          </a:xfrm>
          <a:prstGeom prst="rect">
            <a:avLst/>
          </a:prstGeom>
          <a:noFill/>
          <a:ln/>
        </p:spPr>
        <p:txBody>
          <a:bodyPr wrap="square" lIns="0" tIns="0" rIns="0" bIns="0" rtlCol="0" anchor="ctr"/>
          <a:lstStyle/>
          <a:p>
            <a:pPr algn="ctr" indent="0" marL="0">
              <a:buNone/>
            </a:pPr>
            <a:r>
              <a:rPr lang="en-US" sz="1400" b="1" dirty="0">
                <a:solidFill>
                  <a:schemeClr val="bg1"/>
                </a:solidFill>
              </a:rPr>
              <a:t>Verification</a:t>
            </a:r>
            <a:endParaRPr lang="en-US" sz="1400" dirty="0"/>
          </a:p>
        </p:txBody>
      </p:sp>
      <p:sp>
        <p:nvSpPr>
          <p:cNvPr id="31" name="Text 28"/>
          <p:cNvSpPr txBox="1"/>
          <p:nvPr/>
        </p:nvSpPr>
        <p:spPr>
          <a:xfrm>
            <a:off x="8641080" y="4160520"/>
            <a:ext cx="1344168" cy="685800"/>
          </a:xfrm>
          <a:prstGeom prst="rect">
            <a:avLst/>
          </a:prstGeom>
          <a:noFill/>
          <a:ln/>
        </p:spPr>
        <p:txBody>
          <a:bodyPr wrap="square" lIns="0" tIns="0" rIns="0" bIns="0" rtlCol="0" anchor="t"/>
          <a:lstStyle/>
          <a:p>
            <a:pPr algn="ctr" indent="0" marL="0">
              <a:buNone/>
            </a:pPr>
            <a:r>
              <a:rPr lang="en-US" sz="1200" dirty="0">
                <a:solidFill>
                  <a:schemeClr val="tx2"/>
                </a:solidFill>
              </a:rPr>
              <a:t>Health and interface checks</a:t>
            </a:r>
            <a:endParaRPr lang="en-US" sz="1200" dirty="0"/>
          </a:p>
        </p:txBody>
      </p:sp>
      <p:sp>
        <p:nvSpPr>
          <p:cNvPr id="32" name="Shape 29"/>
          <p:cNvSpPr/>
          <p:nvPr/>
        </p:nvSpPr>
        <p:spPr>
          <a:xfrm>
            <a:off x="10021824" y="3589020"/>
            <a:ext cx="201168" cy="914"/>
          </a:xfrm>
          <a:prstGeom prst="line">
            <a:avLst/>
          </a:prstGeom>
          <a:noFill/>
          <a:ln w="19050">
            <a:solidFill>
              <a:schemeClr val="accent6"/>
            </a:solidFill>
            <a:prstDash val="solid"/>
            <a:tailEnd type="triangle"/>
          </a:ln>
        </p:spPr>
      </p:sp>
      <p:sp>
        <p:nvSpPr>
          <p:cNvPr id="33" name="Release state"/>
          <p:cNvSpPr/>
          <p:nvPr/>
        </p:nvSpPr>
        <p:spPr>
          <a:xfrm>
            <a:off x="10259568" y="3154680"/>
            <a:ext cx="1344168" cy="868680"/>
          </a:xfrm>
          <a:prstGeom prst="roundRect">
            <a:avLst>
              <a:gd name="adj" fmla="val 10526"/>
            </a:avLst>
          </a:prstGeom>
          <a:solidFill>
            <a:schemeClr val="tx1"/>
          </a:solidFill>
          <a:ln w="9525">
            <a:solidFill>
              <a:schemeClr val="tx1"/>
            </a:solidFill>
            <a:prstDash val="solid"/>
          </a:ln>
        </p:spPr>
      </p:sp>
      <p:sp>
        <p:nvSpPr>
          <p:cNvPr id="34" name="Text 31"/>
          <p:cNvSpPr txBox="1"/>
          <p:nvPr/>
        </p:nvSpPr>
        <p:spPr>
          <a:xfrm>
            <a:off x="10332720" y="3154680"/>
            <a:ext cx="1197864" cy="868680"/>
          </a:xfrm>
          <a:prstGeom prst="rect">
            <a:avLst/>
          </a:prstGeom>
          <a:noFill/>
          <a:ln/>
        </p:spPr>
        <p:txBody>
          <a:bodyPr wrap="square" lIns="0" tIns="0" rIns="0" bIns="0" rtlCol="0" anchor="ctr"/>
          <a:lstStyle/>
          <a:p>
            <a:pPr algn="ctr" indent="0" marL="0">
              <a:buNone/>
            </a:pPr>
            <a:r>
              <a:rPr lang="en-US" sz="1400" b="1" dirty="0">
                <a:solidFill>
                  <a:schemeClr val="bg1"/>
                </a:solidFill>
              </a:rPr>
              <a:t>Release</a:t>
            </a:r>
            <a:endParaRPr lang="en-US" sz="1400" dirty="0"/>
          </a:p>
        </p:txBody>
      </p:sp>
      <p:sp>
        <p:nvSpPr>
          <p:cNvPr id="35" name="Text 32"/>
          <p:cNvSpPr txBox="1"/>
          <p:nvPr/>
        </p:nvSpPr>
        <p:spPr>
          <a:xfrm>
            <a:off x="10259568" y="4160520"/>
            <a:ext cx="1344168" cy="685800"/>
          </a:xfrm>
          <a:prstGeom prst="rect">
            <a:avLst/>
          </a:prstGeom>
          <a:noFill/>
          <a:ln/>
        </p:spPr>
        <p:txBody>
          <a:bodyPr wrap="square" lIns="0" tIns="0" rIns="0" bIns="0" rtlCol="0" anchor="t"/>
          <a:lstStyle/>
          <a:p>
            <a:pPr algn="ctr" indent="0" marL="0">
              <a:buNone/>
            </a:pPr>
            <a:r>
              <a:rPr lang="en-US" sz="1200" dirty="0">
                <a:solidFill>
                  <a:schemeClr val="tx2"/>
                </a:solidFill>
              </a:rPr>
              <a:t>Separation, back to Normal</a:t>
            </a:r>
            <a:endParaRPr lang="en-US" sz="1200" dirty="0"/>
          </a:p>
        </p:txBody>
      </p:sp>
      <p:sp>
        <p:nvSpPr>
          <p:cNvPr id="36" name="Abort path"/>
          <p:cNvSpPr/>
          <p:nvPr/>
        </p:nvSpPr>
        <p:spPr>
          <a:xfrm>
            <a:off x="548640" y="5074920"/>
            <a:ext cx="11064240" cy="960120"/>
          </a:xfrm>
          <a:prstGeom prst="roundRect">
            <a:avLst>
              <a:gd name="adj" fmla="val 9524"/>
            </a:avLst>
          </a:prstGeom>
          <a:solidFill>
            <a:schemeClr val="bg2"/>
          </a:solidFill>
          <a:ln w="15875">
            <a:solidFill>
              <a:srgbClr val="E5484D"/>
            </a:solidFill>
            <a:prstDash val="solid"/>
          </a:ln>
        </p:spPr>
      </p:sp>
      <p:sp>
        <p:nvSpPr>
          <p:cNvPr id="37" name="Shape 34"/>
          <p:cNvSpPr/>
          <p:nvPr/>
        </p:nvSpPr>
        <p:spPr>
          <a:xfrm>
            <a:off x="777240" y="5257800"/>
            <a:ext cx="566928" cy="566928"/>
          </a:xfrm>
          <a:prstGeom prst="ellipse">
            <a:avLst/>
          </a:prstGeom>
          <a:solidFill>
            <a:schemeClr val="accent4"/>
          </a:solidFill>
          <a:ln w="12700">
            <a:solidFill>
              <a:schemeClr val="accent4"/>
            </a:solidFill>
            <a:prstDash val="solid"/>
          </a:ln>
        </p:spPr>
      </p:sp>
      <p:pic>
        <p:nvPicPr>
          <p:cNvPr id="38" name="Image 1" descr="FaUndo">    </p:cNvPr>
          <p:cNvPicPr>
            <a:picLocks noChangeAspect="1"/>
          </p:cNvPicPr>
          <p:nvPr/>
        </p:nvPicPr>
        <p:blipFill>
          <a:blip r:embed="rId2"/>
          <a:stretch>
            <a:fillRect/>
          </a:stretch>
        </p:blipFill>
        <p:spPr>
          <a:xfrm>
            <a:off x="918972" y="5399532"/>
            <a:ext cx="283464" cy="283464"/>
          </a:xfrm>
          <a:prstGeom prst="rect">
            <a:avLst/>
          </a:prstGeom>
        </p:spPr>
      </p:pic>
      <p:sp>
        <p:nvSpPr>
          <p:cNvPr id="39" name="Text 35"/>
          <p:cNvSpPr txBox="1"/>
          <p:nvPr/>
        </p:nvSpPr>
        <p:spPr>
          <a:xfrm>
            <a:off x="1554480" y="5074920"/>
            <a:ext cx="9875520" cy="960120"/>
          </a:xfrm>
          <a:prstGeom prst="rect">
            <a:avLst/>
          </a:prstGeom>
          <a:noFill/>
          <a:ln/>
        </p:spPr>
        <p:txBody>
          <a:bodyPr wrap="square" lIns="0" tIns="0" rIns="0" bIns="0" rtlCol="0" anchor="ctr"/>
          <a:lstStyle/>
          <a:p>
            <a:pPr indent="0" marL="0">
              <a:buNone/>
            </a:pPr>
            <a:r>
              <a:rPr lang="en-US" sz="1500" b="1" dirty="0">
                <a:solidFill>
                  <a:schemeClr val="accent4"/>
                </a:solidFill>
              </a:rPr>
              <a:t>ABORT  </a:t>
            </a:r>
            <a:pPr indent="0" marL="0">
              <a:buNone/>
            </a:pPr>
            <a:r>
              <a:rPr lang="en-US" sz="1500" dirty="0">
                <a:solidFill>
                  <a:schemeClr val="tx1"/>
                </a:solidFill>
              </a:rPr>
              <a:t>— reachable from any state once servicing starts: the client returns to a safe, predictable attitude and the servicer retreats on a passively safe trajectory.</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8A9BB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body" hasCustomPrompt="1"/>
          </p:nvPr>
        </p:nvSpPr>
        <p:spPr>
          <a:xfrm>
            <a:off x="548640" y="320040"/>
            <a:ext cx="11064240" cy="292608"/>
          </a:xfrm>
          <a:prstGeom prst="rect">
            <a:avLst/>
          </a:prstGeom>
          <a:noFill/>
          <a:ln/>
        </p:spPr>
        <p:txBody>
          <a:bodyPr wrap="square" lIns="0" tIns="0" rIns="0" bIns="0" rtlCol="0"/>
          <a:lstStyle/>
          <a:p>
            <a:pPr indent="0" marL="0">
              <a:buNone/>
            </a:pPr>
            <a:r>
              <a:rPr lang="en-US" sz="1200" b="1" spc="300" kern="0" dirty="0">
                <a:solidFill>
                  <a:schemeClr val="accent3"/>
                </a:solidFill>
              </a:rPr>
              <a:t>SIMULATION</a:t>
            </a:r>
            <a:endParaRPr lang="en-US" sz="1200" dirty="0"/>
          </a:p>
        </p:txBody>
      </p:sp>
      <p:sp>
        <p:nvSpPr>
          <p:cNvPr id="3" name="Text 1"/>
          <p:cNvSpPr/>
          <p:nvPr>
            <p:ph idx="102" type="title" hasCustomPrompt="1"/>
          </p:nvPr>
        </p:nvSpPr>
        <p:spPr>
          <a:xfrm>
            <a:off x="548640" y="621792"/>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RPO Monte-Carlo Simulation</a:t>
            </a:r>
            <a:endParaRPr lang="en-US" sz="3200" dirty="0"/>
          </a:p>
        </p:txBody>
      </p:sp>
      <p:sp>
        <p:nvSpPr>
          <p:cNvPr id="4" name="Text 2"/>
          <p:cNvSpPr txBox="1"/>
          <p:nvPr/>
        </p:nvSpPr>
        <p:spPr>
          <a:xfrm>
            <a:off x="548640" y="1508760"/>
            <a:ext cx="5486400" cy="365760"/>
          </a:xfrm>
          <a:prstGeom prst="rect">
            <a:avLst/>
          </a:prstGeom>
          <a:noFill/>
          <a:ln/>
        </p:spPr>
        <p:txBody>
          <a:bodyPr wrap="square" lIns="0" tIns="0" rIns="0" bIns="0" rtlCol="0" anchor="t"/>
          <a:lstStyle/>
          <a:p>
            <a:pPr indent="0" marL="0">
              <a:buNone/>
            </a:pPr>
            <a:r>
              <a:rPr lang="en-US" sz="1800" b="1" dirty="0">
                <a:solidFill>
                  <a:schemeClr val="tx1"/>
                </a:solidFill>
              </a:rPr>
              <a:t>Four client-preparation cases</a:t>
            </a:r>
            <a:endParaRPr lang="en-US" sz="1800" dirty="0"/>
          </a:p>
        </p:txBody>
      </p:sp>
      <p:sp>
        <p:nvSpPr>
          <p:cNvPr id="5" name="Shape 3"/>
          <p:cNvSpPr/>
          <p:nvPr/>
        </p:nvSpPr>
        <p:spPr>
          <a:xfrm>
            <a:off x="548640" y="2057400"/>
            <a:ext cx="731520" cy="731520"/>
          </a:xfrm>
          <a:prstGeom prst="ellipse">
            <a:avLst/>
          </a:prstGeom>
          <a:solidFill>
            <a:schemeClr val="tx1"/>
          </a:solidFill>
          <a:ln w="12700">
            <a:solidFill>
              <a:schemeClr val="tx1"/>
            </a:solidFill>
            <a:prstDash val="solid"/>
          </a:ln>
        </p:spPr>
      </p:sp>
      <p:pic>
        <p:nvPicPr>
          <p:cNvPr id="6" name="Image 0" descr="FaSatellite">    </p:cNvPr>
          <p:cNvPicPr>
            <a:picLocks noChangeAspect="1"/>
          </p:cNvPicPr>
          <p:nvPr/>
        </p:nvPicPr>
        <p:blipFill>
          <a:blip r:embed="rId1"/>
          <a:stretch>
            <a:fillRect/>
          </a:stretch>
        </p:blipFill>
        <p:spPr>
          <a:xfrm>
            <a:off x="731520" y="2240280"/>
            <a:ext cx="365760" cy="365760"/>
          </a:xfrm>
          <a:prstGeom prst="rect">
            <a:avLst/>
          </a:prstGeom>
        </p:spPr>
      </p:pic>
      <p:sp>
        <p:nvSpPr>
          <p:cNvPr id="7" name="A0 bar"/>
          <p:cNvSpPr/>
          <p:nvPr/>
        </p:nvSpPr>
        <p:spPr>
          <a:xfrm>
            <a:off x="1463040" y="2103120"/>
            <a:ext cx="2103120" cy="640080"/>
          </a:xfrm>
          <a:prstGeom prst="roundRect">
            <a:avLst>
              <a:gd name="adj" fmla="val 11429"/>
            </a:avLst>
          </a:prstGeom>
          <a:solidFill>
            <a:schemeClr val="accent2">
              <a:alpha val="20000"/>
            </a:schemeClr>
          </a:solidFill>
          <a:ln w="9525">
            <a:solidFill>
              <a:schemeClr val="accent2"/>
            </a:solidFill>
            <a:prstDash val="solid"/>
          </a:ln>
        </p:spPr>
      </p:sp>
      <p:sp>
        <p:nvSpPr>
          <p:cNvPr id="8" name="Text 5"/>
          <p:cNvSpPr txBox="1"/>
          <p:nvPr/>
        </p:nvSpPr>
        <p:spPr>
          <a:xfrm>
            <a:off x="1645920" y="2103120"/>
            <a:ext cx="4572000" cy="640080"/>
          </a:xfrm>
          <a:prstGeom prst="rect">
            <a:avLst/>
          </a:prstGeom>
          <a:noFill/>
          <a:ln/>
        </p:spPr>
        <p:txBody>
          <a:bodyPr wrap="square" lIns="0" tIns="0" rIns="0" bIns="0" rtlCol="0" anchor="ctr"/>
          <a:lstStyle/>
          <a:p>
            <a:pPr indent="0" marL="0">
              <a:buNone/>
            </a:pPr>
            <a:r>
              <a:rPr lang="en-US" sz="1500" b="1" dirty="0">
                <a:solidFill>
                  <a:schemeClr val="tx1"/>
                </a:solidFill>
              </a:rPr>
              <a:t>A0   </a:t>
            </a:r>
            <a:pPr indent="0" marL="0">
              <a:buNone/>
            </a:pPr>
            <a:r>
              <a:rPr lang="en-US" sz="1500" dirty="0">
                <a:solidFill>
                  <a:schemeClr val="tx1"/>
                </a:solidFill>
              </a:rPr>
              <a:t>Unprepared target</a:t>
            </a:r>
            <a:endParaRPr lang="en-US" sz="1500" dirty="0"/>
          </a:p>
        </p:txBody>
      </p:sp>
      <p:sp>
        <p:nvSpPr>
          <p:cNvPr id="9" name="Shape 6"/>
          <p:cNvSpPr/>
          <p:nvPr/>
        </p:nvSpPr>
        <p:spPr>
          <a:xfrm>
            <a:off x="548640" y="2971800"/>
            <a:ext cx="731520" cy="731520"/>
          </a:xfrm>
          <a:prstGeom prst="ellipse">
            <a:avLst/>
          </a:prstGeom>
          <a:solidFill>
            <a:schemeClr val="tx1"/>
          </a:solidFill>
          <a:ln w="12700">
            <a:solidFill>
              <a:schemeClr val="tx1"/>
            </a:solidFill>
            <a:prstDash val="solid"/>
          </a:ln>
        </p:spPr>
      </p:sp>
      <p:pic>
        <p:nvPicPr>
          <p:cNvPr id="10" name="Image 1" descr="FaSatellite">    </p:cNvPr>
          <p:cNvPicPr>
            <a:picLocks noChangeAspect="1"/>
          </p:cNvPicPr>
          <p:nvPr/>
        </p:nvPicPr>
        <p:blipFill>
          <a:blip r:embed="rId2"/>
          <a:stretch>
            <a:fillRect/>
          </a:stretch>
        </p:blipFill>
        <p:spPr>
          <a:xfrm>
            <a:off x="731520" y="3154680"/>
            <a:ext cx="365760" cy="365760"/>
          </a:xfrm>
          <a:prstGeom prst="rect">
            <a:avLst/>
          </a:prstGeom>
        </p:spPr>
      </p:pic>
      <p:sp>
        <p:nvSpPr>
          <p:cNvPr id="11" name="A1 bar"/>
          <p:cNvSpPr/>
          <p:nvPr/>
        </p:nvSpPr>
        <p:spPr>
          <a:xfrm>
            <a:off x="1463040" y="3017520"/>
            <a:ext cx="3017520" cy="640080"/>
          </a:xfrm>
          <a:prstGeom prst="roundRect">
            <a:avLst>
              <a:gd name="adj" fmla="val 11429"/>
            </a:avLst>
          </a:prstGeom>
          <a:solidFill>
            <a:schemeClr val="accent2">
              <a:alpha val="40000"/>
            </a:schemeClr>
          </a:solidFill>
          <a:ln w="9525">
            <a:solidFill>
              <a:schemeClr val="accent2"/>
            </a:solidFill>
            <a:prstDash val="solid"/>
          </a:ln>
        </p:spPr>
      </p:sp>
      <p:sp>
        <p:nvSpPr>
          <p:cNvPr id="12" name="Text 8"/>
          <p:cNvSpPr txBox="1"/>
          <p:nvPr/>
        </p:nvSpPr>
        <p:spPr>
          <a:xfrm>
            <a:off x="1645920" y="3017520"/>
            <a:ext cx="4572000" cy="640080"/>
          </a:xfrm>
          <a:prstGeom prst="rect">
            <a:avLst/>
          </a:prstGeom>
          <a:noFill/>
          <a:ln/>
        </p:spPr>
        <p:txBody>
          <a:bodyPr wrap="square" lIns="0" tIns="0" rIns="0" bIns="0" rtlCol="0" anchor="ctr"/>
          <a:lstStyle/>
          <a:p>
            <a:pPr indent="0" marL="0">
              <a:buNone/>
            </a:pPr>
            <a:r>
              <a:rPr lang="en-US" sz="1500" b="1" dirty="0">
                <a:solidFill>
                  <a:schemeClr val="tx1"/>
                </a:solidFill>
              </a:rPr>
              <a:t>A1   </a:t>
            </a:r>
            <a:pPr indent="0" marL="0">
              <a:buNone/>
            </a:pPr>
            <a:r>
              <a:rPr lang="en-US" sz="1500" dirty="0">
                <a:solidFill>
                  <a:schemeClr val="tx1"/>
                </a:solidFill>
              </a:rPr>
              <a:t>Fiducials + capture geometry</a:t>
            </a:r>
            <a:endParaRPr lang="en-US" sz="1500" dirty="0"/>
          </a:p>
        </p:txBody>
      </p:sp>
      <p:sp>
        <p:nvSpPr>
          <p:cNvPr id="13" name="Shape 9"/>
          <p:cNvSpPr/>
          <p:nvPr/>
        </p:nvSpPr>
        <p:spPr>
          <a:xfrm>
            <a:off x="548640" y="3886200"/>
            <a:ext cx="731520" cy="731520"/>
          </a:xfrm>
          <a:prstGeom prst="ellipse">
            <a:avLst/>
          </a:prstGeom>
          <a:solidFill>
            <a:schemeClr val="tx1"/>
          </a:solidFill>
          <a:ln w="12700">
            <a:solidFill>
              <a:schemeClr val="tx1"/>
            </a:solidFill>
            <a:prstDash val="solid"/>
          </a:ln>
        </p:spPr>
      </p:sp>
      <p:pic>
        <p:nvPicPr>
          <p:cNvPr id="14" name="Image 2" descr="FaSatellite">    </p:cNvPr>
          <p:cNvPicPr>
            <a:picLocks noChangeAspect="1"/>
          </p:cNvPicPr>
          <p:nvPr/>
        </p:nvPicPr>
        <p:blipFill>
          <a:blip r:embed="rId3"/>
          <a:stretch>
            <a:fillRect/>
          </a:stretch>
        </p:blipFill>
        <p:spPr>
          <a:xfrm>
            <a:off x="731520" y="4069080"/>
            <a:ext cx="365760" cy="365760"/>
          </a:xfrm>
          <a:prstGeom prst="rect">
            <a:avLst/>
          </a:prstGeom>
        </p:spPr>
      </p:pic>
      <p:sp>
        <p:nvSpPr>
          <p:cNvPr id="15" name="A2 bar"/>
          <p:cNvSpPr/>
          <p:nvPr/>
        </p:nvSpPr>
        <p:spPr>
          <a:xfrm>
            <a:off x="1463040" y="3931920"/>
            <a:ext cx="3931920" cy="640080"/>
          </a:xfrm>
          <a:prstGeom prst="roundRect">
            <a:avLst>
              <a:gd name="adj" fmla="val 11429"/>
            </a:avLst>
          </a:prstGeom>
          <a:solidFill>
            <a:schemeClr val="accent2">
              <a:alpha val="65000"/>
            </a:schemeClr>
          </a:solidFill>
          <a:ln w="9525">
            <a:solidFill>
              <a:schemeClr val="accent2"/>
            </a:solidFill>
            <a:prstDash val="solid"/>
          </a:ln>
        </p:spPr>
      </p:sp>
      <p:sp>
        <p:nvSpPr>
          <p:cNvPr id="16" name="Text 11"/>
          <p:cNvSpPr txBox="1"/>
          <p:nvPr/>
        </p:nvSpPr>
        <p:spPr>
          <a:xfrm>
            <a:off x="1645920" y="3931920"/>
            <a:ext cx="4572000" cy="640080"/>
          </a:xfrm>
          <a:prstGeom prst="rect">
            <a:avLst/>
          </a:prstGeom>
          <a:noFill/>
          <a:ln/>
        </p:spPr>
        <p:txBody>
          <a:bodyPr wrap="square" lIns="0" tIns="0" rIns="0" bIns="0" rtlCol="0" anchor="ctr"/>
          <a:lstStyle/>
          <a:p>
            <a:pPr indent="0" marL="0">
              <a:buNone/>
            </a:pPr>
            <a:r>
              <a:rPr lang="en-US" sz="1500" b="1" dirty="0">
                <a:solidFill>
                  <a:schemeClr val="tx1"/>
                </a:solidFill>
              </a:rPr>
              <a:t>A2   </a:t>
            </a:r>
            <a:pPr indent="0" marL="0">
              <a:buNone/>
            </a:pPr>
            <a:r>
              <a:rPr lang="en-US" sz="1500" dirty="0">
                <a:solidFill>
                  <a:schemeClr val="tx1"/>
                </a:solidFill>
              </a:rPr>
              <a:t>Service Beacon available</a:t>
            </a:r>
            <a:endParaRPr lang="en-US" sz="1500" dirty="0"/>
          </a:p>
        </p:txBody>
      </p:sp>
      <p:sp>
        <p:nvSpPr>
          <p:cNvPr id="17" name="Shape 12"/>
          <p:cNvSpPr/>
          <p:nvPr/>
        </p:nvSpPr>
        <p:spPr>
          <a:xfrm>
            <a:off x="548640" y="4800600"/>
            <a:ext cx="731520" cy="731520"/>
          </a:xfrm>
          <a:prstGeom prst="ellipse">
            <a:avLst/>
          </a:prstGeom>
          <a:solidFill>
            <a:schemeClr val="tx1"/>
          </a:solidFill>
          <a:ln w="12700">
            <a:solidFill>
              <a:schemeClr val="tx1"/>
            </a:solidFill>
            <a:prstDash val="solid"/>
          </a:ln>
        </p:spPr>
      </p:sp>
      <p:pic>
        <p:nvPicPr>
          <p:cNvPr id="18" name="Image 3" descr="FaSatellite">    </p:cNvPr>
          <p:cNvPicPr>
            <a:picLocks noChangeAspect="1"/>
          </p:cNvPicPr>
          <p:nvPr/>
        </p:nvPicPr>
        <p:blipFill>
          <a:blip r:embed="rId4"/>
          <a:stretch>
            <a:fillRect/>
          </a:stretch>
        </p:blipFill>
        <p:spPr>
          <a:xfrm>
            <a:off x="731520" y="4983480"/>
            <a:ext cx="365760" cy="365760"/>
          </a:xfrm>
          <a:prstGeom prst="rect">
            <a:avLst/>
          </a:prstGeom>
        </p:spPr>
      </p:pic>
      <p:sp>
        <p:nvSpPr>
          <p:cNvPr id="19" name="A3 bar"/>
          <p:cNvSpPr/>
          <p:nvPr/>
        </p:nvSpPr>
        <p:spPr>
          <a:xfrm>
            <a:off x="1463040" y="4846320"/>
            <a:ext cx="4846320" cy="640080"/>
          </a:xfrm>
          <a:prstGeom prst="roundRect">
            <a:avLst>
              <a:gd name="adj" fmla="val 11429"/>
            </a:avLst>
          </a:prstGeom>
          <a:solidFill>
            <a:schemeClr val="accent2"/>
          </a:solidFill>
          <a:ln w="9525">
            <a:solidFill>
              <a:schemeClr val="accent2"/>
            </a:solidFill>
            <a:prstDash val="solid"/>
          </a:ln>
        </p:spPr>
      </p:sp>
      <p:sp>
        <p:nvSpPr>
          <p:cNvPr id="20" name="Text 14"/>
          <p:cNvSpPr txBox="1"/>
          <p:nvPr/>
        </p:nvSpPr>
        <p:spPr>
          <a:xfrm>
            <a:off x="1645920" y="4846320"/>
            <a:ext cx="4572000" cy="640080"/>
          </a:xfrm>
          <a:prstGeom prst="rect">
            <a:avLst/>
          </a:prstGeom>
          <a:noFill/>
          <a:ln/>
        </p:spPr>
        <p:txBody>
          <a:bodyPr wrap="square" lIns="0" tIns="0" rIns="0" bIns="0" rtlCol="0" anchor="ctr"/>
          <a:lstStyle/>
          <a:p>
            <a:pPr indent="0" marL="0">
              <a:buNone/>
            </a:pPr>
            <a:r>
              <a:rPr lang="en-US" sz="1500" b="1" dirty="0">
                <a:solidFill>
                  <a:schemeClr val="bg1"/>
                </a:solidFill>
              </a:rPr>
              <a:t>A3   </a:t>
            </a:r>
            <a:pPr indent="0" marL="0">
              <a:buNone/>
            </a:pPr>
            <a:r>
              <a:rPr lang="en-US" sz="1500" dirty="0">
                <a:solidFill>
                  <a:schemeClr val="bg1"/>
                </a:solidFill>
              </a:rPr>
              <a:t>Full IOS Mode</a:t>
            </a:r>
            <a:endParaRPr lang="en-US" sz="1500" dirty="0"/>
          </a:p>
        </p:txBody>
      </p:sp>
      <p:sp>
        <p:nvSpPr>
          <p:cNvPr id="21" name="Shape 15"/>
          <p:cNvSpPr/>
          <p:nvPr/>
        </p:nvSpPr>
        <p:spPr>
          <a:xfrm>
            <a:off x="1463040" y="5806440"/>
            <a:ext cx="4846320" cy="914"/>
          </a:xfrm>
          <a:prstGeom prst="line">
            <a:avLst/>
          </a:prstGeom>
          <a:noFill/>
          <a:ln w="19050">
            <a:solidFill>
              <a:schemeClr val="accent6"/>
            </a:solidFill>
            <a:prstDash val="solid"/>
            <a:tailEnd type="triangle"/>
          </a:ln>
        </p:spPr>
      </p:sp>
      <p:sp>
        <p:nvSpPr>
          <p:cNvPr id="22" name="Text 16"/>
          <p:cNvSpPr txBox="1"/>
          <p:nvPr/>
        </p:nvSpPr>
        <p:spPr>
          <a:xfrm>
            <a:off x="1463040" y="5870448"/>
            <a:ext cx="4846320" cy="274320"/>
          </a:xfrm>
          <a:prstGeom prst="rect">
            <a:avLst/>
          </a:prstGeom>
          <a:noFill/>
          <a:ln/>
        </p:spPr>
        <p:txBody>
          <a:bodyPr wrap="square" lIns="0" tIns="0" rIns="0" bIns="0" rtlCol="0" anchor="t"/>
          <a:lstStyle/>
          <a:p>
            <a:pPr indent="0" marL="0">
              <a:buNone/>
            </a:pPr>
            <a:r>
              <a:rPr lang="en-US" sz="1200" dirty="0">
                <a:solidFill>
                  <a:schemeClr val="accent6"/>
                </a:solidFill>
              </a:rPr>
              <a:t>Increasing client-side preparation</a:t>
            </a:r>
            <a:endParaRPr lang="en-US" sz="1200" dirty="0"/>
          </a:p>
        </p:txBody>
      </p:sp>
      <p:sp>
        <p:nvSpPr>
          <p:cNvPr id="23" name="Text 17"/>
          <p:cNvSpPr txBox="1"/>
          <p:nvPr/>
        </p:nvSpPr>
        <p:spPr>
          <a:xfrm>
            <a:off x="6858000" y="1508760"/>
            <a:ext cx="4572000" cy="365760"/>
          </a:xfrm>
          <a:prstGeom prst="rect">
            <a:avLst/>
          </a:prstGeom>
          <a:noFill/>
          <a:ln/>
        </p:spPr>
        <p:txBody>
          <a:bodyPr wrap="square" lIns="0" tIns="0" rIns="0" bIns="0" rtlCol="0" anchor="t"/>
          <a:lstStyle/>
          <a:p>
            <a:pPr indent="0" marL="0">
              <a:buNone/>
            </a:pPr>
            <a:r>
              <a:rPr lang="en-US" sz="1800" b="1" dirty="0">
                <a:solidFill>
                  <a:schemeClr val="tx1"/>
                </a:solidFill>
              </a:rPr>
              <a:t>What we measure</a:t>
            </a:r>
            <a:endParaRPr lang="en-US" sz="1800" dirty="0"/>
          </a:p>
        </p:txBody>
      </p:sp>
      <p:sp>
        <p:nvSpPr>
          <p:cNvPr id="24" name="Capture success metric"/>
          <p:cNvSpPr/>
          <p:nvPr/>
        </p:nvSpPr>
        <p:spPr>
          <a:xfrm>
            <a:off x="6858000" y="2057400"/>
            <a:ext cx="2286000" cy="1097280"/>
          </a:xfrm>
          <a:prstGeom prst="roundRect">
            <a:avLst>
              <a:gd name="adj" fmla="val 8333"/>
            </a:avLst>
          </a:prstGeom>
          <a:solidFill>
            <a:schemeClr val="bg2"/>
          </a:solidFill>
          <a:ln w="9525">
            <a:solidFill>
              <a:schemeClr val="bg2"/>
            </a:solidFill>
            <a:prstDash val="solid"/>
          </a:ln>
        </p:spPr>
      </p:sp>
      <p:sp>
        <p:nvSpPr>
          <p:cNvPr id="25" name="Shape 19"/>
          <p:cNvSpPr/>
          <p:nvPr/>
        </p:nvSpPr>
        <p:spPr>
          <a:xfrm>
            <a:off x="7040880" y="2331720"/>
            <a:ext cx="548640" cy="548640"/>
          </a:xfrm>
          <a:prstGeom prst="ellipse">
            <a:avLst/>
          </a:prstGeom>
          <a:solidFill>
            <a:schemeClr val="tx2"/>
          </a:solidFill>
          <a:ln w="12700">
            <a:solidFill>
              <a:schemeClr val="tx2"/>
            </a:solidFill>
            <a:prstDash val="solid"/>
          </a:ln>
        </p:spPr>
      </p:sp>
      <p:pic>
        <p:nvPicPr>
          <p:cNvPr id="26" name="Image 4" descr="FaCheckCircle">    </p:cNvPr>
          <p:cNvPicPr>
            <a:picLocks noChangeAspect="1"/>
          </p:cNvPicPr>
          <p:nvPr/>
        </p:nvPicPr>
        <p:blipFill>
          <a:blip r:embed="rId5"/>
          <a:stretch>
            <a:fillRect/>
          </a:stretch>
        </p:blipFill>
        <p:spPr>
          <a:xfrm>
            <a:off x="7178040" y="2468880"/>
            <a:ext cx="274320" cy="274320"/>
          </a:xfrm>
          <a:prstGeom prst="rect">
            <a:avLst/>
          </a:prstGeom>
        </p:spPr>
      </p:pic>
      <p:sp>
        <p:nvSpPr>
          <p:cNvPr id="27" name="Text 20"/>
          <p:cNvSpPr txBox="1"/>
          <p:nvPr/>
        </p:nvSpPr>
        <p:spPr>
          <a:xfrm>
            <a:off x="7726680" y="2194560"/>
            <a:ext cx="1371600" cy="548640"/>
          </a:xfrm>
          <a:prstGeom prst="rect">
            <a:avLst/>
          </a:prstGeom>
          <a:noFill/>
          <a:ln/>
        </p:spPr>
        <p:txBody>
          <a:bodyPr wrap="square" lIns="0" tIns="0" rIns="0" bIns="0" rtlCol="0" anchor="ctr"/>
          <a:lstStyle/>
          <a:p>
            <a:pPr indent="0" marL="0">
              <a:buNone/>
            </a:pPr>
            <a:r>
              <a:rPr lang="en-US" sz="1400" b="1" dirty="0">
                <a:solidFill>
                  <a:schemeClr val="tx1"/>
                </a:solidFill>
              </a:rPr>
              <a:t>Capture success</a:t>
            </a:r>
            <a:endParaRPr lang="en-US" sz="1400" dirty="0"/>
          </a:p>
        </p:txBody>
      </p:sp>
      <p:sp>
        <p:nvSpPr>
          <p:cNvPr id="28" name="Text 21"/>
          <p:cNvSpPr txBox="1"/>
          <p:nvPr/>
        </p:nvSpPr>
        <p:spPr>
          <a:xfrm>
            <a:off x="7726680" y="2743200"/>
            <a:ext cx="1371600" cy="274320"/>
          </a:xfrm>
          <a:prstGeom prst="rect">
            <a:avLst/>
          </a:prstGeom>
          <a:noFill/>
          <a:ln/>
        </p:spPr>
        <p:txBody>
          <a:bodyPr wrap="square" lIns="0" tIns="0" rIns="0" bIns="0" rtlCol="0" anchor="t"/>
          <a:lstStyle/>
          <a:p>
            <a:pPr indent="0" marL="0">
              <a:buNone/>
            </a:pPr>
            <a:r>
              <a:rPr lang="en-US" sz="1100" b="1" dirty="0">
                <a:solidFill>
                  <a:schemeClr val="accent5"/>
                </a:solidFill>
              </a:rPr>
              <a:t>▲ maximise</a:t>
            </a:r>
            <a:endParaRPr lang="en-US" sz="1100" dirty="0"/>
          </a:p>
        </p:txBody>
      </p:sp>
      <p:sp>
        <p:nvSpPr>
          <p:cNvPr id="29" name="Abort rate metric"/>
          <p:cNvSpPr/>
          <p:nvPr/>
        </p:nvSpPr>
        <p:spPr>
          <a:xfrm>
            <a:off x="9281160" y="2057400"/>
            <a:ext cx="2286000" cy="1097280"/>
          </a:xfrm>
          <a:prstGeom prst="roundRect">
            <a:avLst>
              <a:gd name="adj" fmla="val 8333"/>
            </a:avLst>
          </a:prstGeom>
          <a:solidFill>
            <a:schemeClr val="bg2"/>
          </a:solidFill>
          <a:ln w="9525">
            <a:solidFill>
              <a:schemeClr val="bg2"/>
            </a:solidFill>
            <a:prstDash val="solid"/>
          </a:ln>
        </p:spPr>
      </p:sp>
      <p:sp>
        <p:nvSpPr>
          <p:cNvPr id="30" name="Shape 23"/>
          <p:cNvSpPr/>
          <p:nvPr/>
        </p:nvSpPr>
        <p:spPr>
          <a:xfrm>
            <a:off x="9464040" y="2331720"/>
            <a:ext cx="548640" cy="548640"/>
          </a:xfrm>
          <a:prstGeom prst="ellipse">
            <a:avLst/>
          </a:prstGeom>
          <a:solidFill>
            <a:schemeClr val="tx2"/>
          </a:solidFill>
          <a:ln w="12700">
            <a:solidFill>
              <a:schemeClr val="tx2"/>
            </a:solidFill>
            <a:prstDash val="solid"/>
          </a:ln>
        </p:spPr>
      </p:sp>
      <p:pic>
        <p:nvPicPr>
          <p:cNvPr id="31" name="Image 5" descr="FaUndo">    </p:cNvPr>
          <p:cNvPicPr>
            <a:picLocks noChangeAspect="1"/>
          </p:cNvPicPr>
          <p:nvPr/>
        </p:nvPicPr>
        <p:blipFill>
          <a:blip r:embed="rId6"/>
          <a:stretch>
            <a:fillRect/>
          </a:stretch>
        </p:blipFill>
        <p:spPr>
          <a:xfrm>
            <a:off x="9601200" y="2468880"/>
            <a:ext cx="274320" cy="274320"/>
          </a:xfrm>
          <a:prstGeom prst="rect">
            <a:avLst/>
          </a:prstGeom>
        </p:spPr>
      </p:pic>
      <p:sp>
        <p:nvSpPr>
          <p:cNvPr id="32" name="Text 24"/>
          <p:cNvSpPr txBox="1"/>
          <p:nvPr/>
        </p:nvSpPr>
        <p:spPr>
          <a:xfrm>
            <a:off x="10149840" y="2194560"/>
            <a:ext cx="1371600" cy="548640"/>
          </a:xfrm>
          <a:prstGeom prst="rect">
            <a:avLst/>
          </a:prstGeom>
          <a:noFill/>
          <a:ln/>
        </p:spPr>
        <p:txBody>
          <a:bodyPr wrap="square" lIns="0" tIns="0" rIns="0" bIns="0" rtlCol="0" anchor="ctr"/>
          <a:lstStyle/>
          <a:p>
            <a:pPr indent="0" marL="0">
              <a:buNone/>
            </a:pPr>
            <a:r>
              <a:rPr lang="en-US" sz="1400" b="1" dirty="0">
                <a:solidFill>
                  <a:schemeClr val="tx1"/>
                </a:solidFill>
              </a:rPr>
              <a:t>Abort rate</a:t>
            </a:r>
            <a:endParaRPr lang="en-US" sz="1400" dirty="0"/>
          </a:p>
        </p:txBody>
      </p:sp>
      <p:sp>
        <p:nvSpPr>
          <p:cNvPr id="33" name="Text 25"/>
          <p:cNvSpPr txBox="1"/>
          <p:nvPr/>
        </p:nvSpPr>
        <p:spPr>
          <a:xfrm>
            <a:off x="10149840" y="2743200"/>
            <a:ext cx="1371600" cy="274320"/>
          </a:xfrm>
          <a:prstGeom prst="rect">
            <a:avLst/>
          </a:prstGeom>
          <a:noFill/>
          <a:ln/>
        </p:spPr>
        <p:txBody>
          <a:bodyPr wrap="square" lIns="0" tIns="0" rIns="0" bIns="0" rtlCol="0" anchor="t"/>
          <a:lstStyle/>
          <a:p>
            <a:pPr indent="0" marL="0">
              <a:buNone/>
            </a:pPr>
            <a:r>
              <a:rPr lang="en-US" sz="1100" b="1" dirty="0">
                <a:solidFill>
                  <a:schemeClr val="accent4"/>
                </a:solidFill>
              </a:rPr>
              <a:t>▼ minimise</a:t>
            </a:r>
            <a:endParaRPr lang="en-US" sz="1100" dirty="0"/>
          </a:p>
        </p:txBody>
      </p:sp>
      <p:sp>
        <p:nvSpPr>
          <p:cNvPr id="34" name="Collision risk metric"/>
          <p:cNvSpPr/>
          <p:nvPr/>
        </p:nvSpPr>
        <p:spPr>
          <a:xfrm>
            <a:off x="6858000" y="3337560"/>
            <a:ext cx="2286000" cy="1097280"/>
          </a:xfrm>
          <a:prstGeom prst="roundRect">
            <a:avLst>
              <a:gd name="adj" fmla="val 8333"/>
            </a:avLst>
          </a:prstGeom>
          <a:solidFill>
            <a:schemeClr val="bg2"/>
          </a:solidFill>
          <a:ln w="9525">
            <a:solidFill>
              <a:schemeClr val="bg2"/>
            </a:solidFill>
            <a:prstDash val="solid"/>
          </a:ln>
        </p:spPr>
      </p:sp>
      <p:sp>
        <p:nvSpPr>
          <p:cNvPr id="35" name="Shape 27"/>
          <p:cNvSpPr/>
          <p:nvPr/>
        </p:nvSpPr>
        <p:spPr>
          <a:xfrm>
            <a:off x="7040880" y="3611880"/>
            <a:ext cx="548640" cy="548640"/>
          </a:xfrm>
          <a:prstGeom prst="ellipse">
            <a:avLst/>
          </a:prstGeom>
          <a:solidFill>
            <a:schemeClr val="tx2"/>
          </a:solidFill>
          <a:ln w="12700">
            <a:solidFill>
              <a:schemeClr val="tx2"/>
            </a:solidFill>
            <a:prstDash val="solid"/>
          </a:ln>
        </p:spPr>
      </p:sp>
      <p:pic>
        <p:nvPicPr>
          <p:cNvPr id="36" name="Image 6" descr="FaExclamationTriangle">    </p:cNvPr>
          <p:cNvPicPr>
            <a:picLocks noChangeAspect="1"/>
          </p:cNvPicPr>
          <p:nvPr/>
        </p:nvPicPr>
        <p:blipFill>
          <a:blip r:embed="rId7"/>
          <a:stretch>
            <a:fillRect/>
          </a:stretch>
        </p:blipFill>
        <p:spPr>
          <a:xfrm>
            <a:off x="7178040" y="3749040"/>
            <a:ext cx="274320" cy="274320"/>
          </a:xfrm>
          <a:prstGeom prst="rect">
            <a:avLst/>
          </a:prstGeom>
        </p:spPr>
      </p:pic>
      <p:sp>
        <p:nvSpPr>
          <p:cNvPr id="37" name="Text 28"/>
          <p:cNvSpPr txBox="1"/>
          <p:nvPr/>
        </p:nvSpPr>
        <p:spPr>
          <a:xfrm>
            <a:off x="7726680" y="3474720"/>
            <a:ext cx="1371600" cy="548640"/>
          </a:xfrm>
          <a:prstGeom prst="rect">
            <a:avLst/>
          </a:prstGeom>
          <a:noFill/>
          <a:ln/>
        </p:spPr>
        <p:txBody>
          <a:bodyPr wrap="square" lIns="0" tIns="0" rIns="0" bIns="0" rtlCol="0" anchor="ctr"/>
          <a:lstStyle/>
          <a:p>
            <a:pPr indent="0" marL="0">
              <a:buNone/>
            </a:pPr>
            <a:r>
              <a:rPr lang="en-US" sz="1400" b="1" dirty="0">
                <a:solidFill>
                  <a:schemeClr val="tx1"/>
                </a:solidFill>
              </a:rPr>
              <a:t>Collision risk</a:t>
            </a:r>
            <a:endParaRPr lang="en-US" sz="1400" dirty="0"/>
          </a:p>
        </p:txBody>
      </p:sp>
      <p:sp>
        <p:nvSpPr>
          <p:cNvPr id="38" name="Text 29"/>
          <p:cNvSpPr txBox="1"/>
          <p:nvPr/>
        </p:nvSpPr>
        <p:spPr>
          <a:xfrm>
            <a:off x="7726680" y="4023360"/>
            <a:ext cx="1371600" cy="274320"/>
          </a:xfrm>
          <a:prstGeom prst="rect">
            <a:avLst/>
          </a:prstGeom>
          <a:noFill/>
          <a:ln/>
        </p:spPr>
        <p:txBody>
          <a:bodyPr wrap="square" lIns="0" tIns="0" rIns="0" bIns="0" rtlCol="0" anchor="t"/>
          <a:lstStyle/>
          <a:p>
            <a:pPr indent="0" marL="0">
              <a:buNone/>
            </a:pPr>
            <a:r>
              <a:rPr lang="en-US" sz="1100" b="1" dirty="0">
                <a:solidFill>
                  <a:schemeClr val="accent4"/>
                </a:solidFill>
              </a:rPr>
              <a:t>▼ minimise</a:t>
            </a:r>
            <a:endParaRPr lang="en-US" sz="1100" dirty="0"/>
          </a:p>
        </p:txBody>
      </p:sp>
      <p:sp>
        <p:nvSpPr>
          <p:cNvPr id="39" name="ΔV metric"/>
          <p:cNvSpPr/>
          <p:nvPr/>
        </p:nvSpPr>
        <p:spPr>
          <a:xfrm>
            <a:off x="9281160" y="3337560"/>
            <a:ext cx="2286000" cy="1097280"/>
          </a:xfrm>
          <a:prstGeom prst="roundRect">
            <a:avLst>
              <a:gd name="adj" fmla="val 8333"/>
            </a:avLst>
          </a:prstGeom>
          <a:solidFill>
            <a:schemeClr val="bg2"/>
          </a:solidFill>
          <a:ln w="9525">
            <a:solidFill>
              <a:schemeClr val="bg2"/>
            </a:solidFill>
            <a:prstDash val="solid"/>
          </a:ln>
        </p:spPr>
      </p:sp>
      <p:sp>
        <p:nvSpPr>
          <p:cNvPr id="40" name="Shape 31"/>
          <p:cNvSpPr/>
          <p:nvPr/>
        </p:nvSpPr>
        <p:spPr>
          <a:xfrm>
            <a:off x="9464040" y="3611880"/>
            <a:ext cx="548640" cy="548640"/>
          </a:xfrm>
          <a:prstGeom prst="ellipse">
            <a:avLst/>
          </a:prstGeom>
          <a:solidFill>
            <a:schemeClr val="tx2"/>
          </a:solidFill>
          <a:ln w="12700">
            <a:solidFill>
              <a:schemeClr val="tx2"/>
            </a:solidFill>
            <a:prstDash val="solid"/>
          </a:ln>
        </p:spPr>
      </p:sp>
      <p:pic>
        <p:nvPicPr>
          <p:cNvPr id="41" name="Image 7" descr="FaGasPump">    </p:cNvPr>
          <p:cNvPicPr>
            <a:picLocks noChangeAspect="1"/>
          </p:cNvPicPr>
          <p:nvPr/>
        </p:nvPicPr>
        <p:blipFill>
          <a:blip r:embed="rId8"/>
          <a:stretch>
            <a:fillRect/>
          </a:stretch>
        </p:blipFill>
        <p:spPr>
          <a:xfrm>
            <a:off x="9601200" y="3749040"/>
            <a:ext cx="274320" cy="274320"/>
          </a:xfrm>
          <a:prstGeom prst="rect">
            <a:avLst/>
          </a:prstGeom>
        </p:spPr>
      </p:pic>
      <p:sp>
        <p:nvSpPr>
          <p:cNvPr id="42" name="Text 32"/>
          <p:cNvSpPr txBox="1"/>
          <p:nvPr/>
        </p:nvSpPr>
        <p:spPr>
          <a:xfrm>
            <a:off x="10149840" y="3474720"/>
            <a:ext cx="1371600" cy="548640"/>
          </a:xfrm>
          <a:prstGeom prst="rect">
            <a:avLst/>
          </a:prstGeom>
          <a:noFill/>
          <a:ln/>
        </p:spPr>
        <p:txBody>
          <a:bodyPr wrap="square" lIns="0" tIns="0" rIns="0" bIns="0" rtlCol="0" anchor="ctr"/>
          <a:lstStyle/>
          <a:p>
            <a:pPr indent="0" marL="0">
              <a:buNone/>
            </a:pPr>
            <a:r>
              <a:rPr lang="en-US" sz="1400" b="1" dirty="0">
                <a:solidFill>
                  <a:schemeClr val="tx1"/>
                </a:solidFill>
              </a:rPr>
              <a:t>ΔV</a:t>
            </a:r>
            <a:endParaRPr lang="en-US" sz="1400" dirty="0"/>
          </a:p>
        </p:txBody>
      </p:sp>
      <p:sp>
        <p:nvSpPr>
          <p:cNvPr id="43" name="Text 33"/>
          <p:cNvSpPr txBox="1"/>
          <p:nvPr/>
        </p:nvSpPr>
        <p:spPr>
          <a:xfrm>
            <a:off x="10149840" y="4023360"/>
            <a:ext cx="1371600" cy="274320"/>
          </a:xfrm>
          <a:prstGeom prst="rect">
            <a:avLst/>
          </a:prstGeom>
          <a:noFill/>
          <a:ln/>
        </p:spPr>
        <p:txBody>
          <a:bodyPr wrap="square" lIns="0" tIns="0" rIns="0" bIns="0" rtlCol="0" anchor="t"/>
          <a:lstStyle/>
          <a:p>
            <a:pPr indent="0" marL="0">
              <a:buNone/>
            </a:pPr>
            <a:r>
              <a:rPr lang="en-US" sz="1100" b="1" dirty="0">
                <a:solidFill>
                  <a:schemeClr val="accent4"/>
                </a:solidFill>
              </a:rPr>
              <a:t>▼ minimise</a:t>
            </a:r>
            <a:endParaRPr lang="en-US" sz="1100" dirty="0"/>
          </a:p>
        </p:txBody>
      </p:sp>
      <p:sp>
        <p:nvSpPr>
          <p:cNvPr id="44" name="Capture time metric"/>
          <p:cNvSpPr/>
          <p:nvPr/>
        </p:nvSpPr>
        <p:spPr>
          <a:xfrm>
            <a:off x="6858000" y="4617720"/>
            <a:ext cx="2286000" cy="1097280"/>
          </a:xfrm>
          <a:prstGeom prst="roundRect">
            <a:avLst>
              <a:gd name="adj" fmla="val 8333"/>
            </a:avLst>
          </a:prstGeom>
          <a:solidFill>
            <a:schemeClr val="bg2"/>
          </a:solidFill>
          <a:ln w="9525">
            <a:solidFill>
              <a:schemeClr val="bg2"/>
            </a:solidFill>
            <a:prstDash val="solid"/>
          </a:ln>
        </p:spPr>
      </p:sp>
      <p:sp>
        <p:nvSpPr>
          <p:cNvPr id="45" name="Shape 35"/>
          <p:cNvSpPr/>
          <p:nvPr/>
        </p:nvSpPr>
        <p:spPr>
          <a:xfrm>
            <a:off x="7040880" y="4892040"/>
            <a:ext cx="548640" cy="548640"/>
          </a:xfrm>
          <a:prstGeom prst="ellipse">
            <a:avLst/>
          </a:prstGeom>
          <a:solidFill>
            <a:schemeClr val="tx2"/>
          </a:solidFill>
          <a:ln w="12700">
            <a:solidFill>
              <a:schemeClr val="tx2"/>
            </a:solidFill>
            <a:prstDash val="solid"/>
          </a:ln>
        </p:spPr>
      </p:sp>
      <p:pic>
        <p:nvPicPr>
          <p:cNvPr id="46" name="Image 8" descr="FaStopwatch">    </p:cNvPr>
          <p:cNvPicPr>
            <a:picLocks noChangeAspect="1"/>
          </p:cNvPicPr>
          <p:nvPr/>
        </p:nvPicPr>
        <p:blipFill>
          <a:blip r:embed="rId9"/>
          <a:stretch>
            <a:fillRect/>
          </a:stretch>
        </p:blipFill>
        <p:spPr>
          <a:xfrm>
            <a:off x="7178040" y="5029200"/>
            <a:ext cx="274320" cy="274320"/>
          </a:xfrm>
          <a:prstGeom prst="rect">
            <a:avLst/>
          </a:prstGeom>
        </p:spPr>
      </p:pic>
      <p:sp>
        <p:nvSpPr>
          <p:cNvPr id="47" name="Text 36"/>
          <p:cNvSpPr txBox="1"/>
          <p:nvPr/>
        </p:nvSpPr>
        <p:spPr>
          <a:xfrm>
            <a:off x="7726680" y="4754880"/>
            <a:ext cx="1371600" cy="548640"/>
          </a:xfrm>
          <a:prstGeom prst="rect">
            <a:avLst/>
          </a:prstGeom>
          <a:noFill/>
          <a:ln/>
        </p:spPr>
        <p:txBody>
          <a:bodyPr wrap="square" lIns="0" tIns="0" rIns="0" bIns="0" rtlCol="0" anchor="ctr"/>
          <a:lstStyle/>
          <a:p>
            <a:pPr indent="0" marL="0">
              <a:buNone/>
            </a:pPr>
            <a:r>
              <a:rPr lang="en-US" sz="1400" b="1" dirty="0">
                <a:solidFill>
                  <a:schemeClr val="tx1"/>
                </a:solidFill>
              </a:rPr>
              <a:t>Capture time</a:t>
            </a:r>
            <a:endParaRPr lang="en-US" sz="1400" dirty="0"/>
          </a:p>
        </p:txBody>
      </p:sp>
      <p:sp>
        <p:nvSpPr>
          <p:cNvPr id="48" name="Text 37"/>
          <p:cNvSpPr txBox="1"/>
          <p:nvPr/>
        </p:nvSpPr>
        <p:spPr>
          <a:xfrm>
            <a:off x="7726680" y="5303520"/>
            <a:ext cx="1371600" cy="274320"/>
          </a:xfrm>
          <a:prstGeom prst="rect">
            <a:avLst/>
          </a:prstGeom>
          <a:noFill/>
          <a:ln/>
        </p:spPr>
        <p:txBody>
          <a:bodyPr wrap="square" lIns="0" tIns="0" rIns="0" bIns="0" rtlCol="0" anchor="t"/>
          <a:lstStyle/>
          <a:p>
            <a:pPr indent="0" marL="0">
              <a:buNone/>
            </a:pPr>
            <a:r>
              <a:rPr lang="en-US" sz="1100" b="1" dirty="0">
                <a:solidFill>
                  <a:schemeClr val="accent4"/>
                </a:solidFill>
              </a:rPr>
              <a:t>▼ minimise</a:t>
            </a:r>
            <a:endParaRPr lang="en-US" sz="1100" dirty="0"/>
          </a:p>
        </p:txBody>
      </p:sp>
      <p:sp>
        <p:nvSpPr>
          <p:cNvPr id="49" name="Robustness vs tumbling metric"/>
          <p:cNvSpPr/>
          <p:nvPr/>
        </p:nvSpPr>
        <p:spPr>
          <a:xfrm>
            <a:off x="9281160" y="4617720"/>
            <a:ext cx="2286000" cy="1097280"/>
          </a:xfrm>
          <a:prstGeom prst="roundRect">
            <a:avLst>
              <a:gd name="adj" fmla="val 8333"/>
            </a:avLst>
          </a:prstGeom>
          <a:solidFill>
            <a:schemeClr val="bg2"/>
          </a:solidFill>
          <a:ln w="9525">
            <a:solidFill>
              <a:schemeClr val="bg2"/>
            </a:solidFill>
            <a:prstDash val="solid"/>
          </a:ln>
        </p:spPr>
      </p:sp>
      <p:sp>
        <p:nvSpPr>
          <p:cNvPr id="50" name="Shape 39"/>
          <p:cNvSpPr/>
          <p:nvPr/>
        </p:nvSpPr>
        <p:spPr>
          <a:xfrm>
            <a:off x="9464040" y="4892040"/>
            <a:ext cx="548640" cy="548640"/>
          </a:xfrm>
          <a:prstGeom prst="ellipse">
            <a:avLst/>
          </a:prstGeom>
          <a:solidFill>
            <a:schemeClr val="tx2"/>
          </a:solidFill>
          <a:ln w="12700">
            <a:solidFill>
              <a:schemeClr val="tx2"/>
            </a:solidFill>
            <a:prstDash val="solid"/>
          </a:ln>
        </p:spPr>
      </p:sp>
      <p:pic>
        <p:nvPicPr>
          <p:cNvPr id="51" name="Image 9" descr="FaSyncAlt">    </p:cNvPr>
          <p:cNvPicPr>
            <a:picLocks noChangeAspect="1"/>
          </p:cNvPicPr>
          <p:nvPr/>
        </p:nvPicPr>
        <p:blipFill>
          <a:blip r:embed="rId10"/>
          <a:stretch>
            <a:fillRect/>
          </a:stretch>
        </p:blipFill>
        <p:spPr>
          <a:xfrm>
            <a:off x="9601200" y="5029200"/>
            <a:ext cx="274320" cy="274320"/>
          </a:xfrm>
          <a:prstGeom prst="rect">
            <a:avLst/>
          </a:prstGeom>
        </p:spPr>
      </p:pic>
      <p:sp>
        <p:nvSpPr>
          <p:cNvPr id="52" name="Text 40"/>
          <p:cNvSpPr txBox="1"/>
          <p:nvPr/>
        </p:nvSpPr>
        <p:spPr>
          <a:xfrm>
            <a:off x="10149840" y="4754880"/>
            <a:ext cx="1371600" cy="548640"/>
          </a:xfrm>
          <a:prstGeom prst="rect">
            <a:avLst/>
          </a:prstGeom>
          <a:noFill/>
          <a:ln/>
        </p:spPr>
        <p:txBody>
          <a:bodyPr wrap="square" lIns="0" tIns="0" rIns="0" bIns="0" rtlCol="0" anchor="ctr"/>
          <a:lstStyle/>
          <a:p>
            <a:pPr indent="0" marL="0">
              <a:buNone/>
            </a:pPr>
            <a:r>
              <a:rPr lang="en-US" sz="1400" b="1" dirty="0">
                <a:solidFill>
                  <a:schemeClr val="tx1"/>
                </a:solidFill>
              </a:rPr>
              <a:t>Robustness vs tumbling</a:t>
            </a:r>
            <a:endParaRPr lang="en-US" sz="1400" dirty="0"/>
          </a:p>
        </p:txBody>
      </p:sp>
      <p:sp>
        <p:nvSpPr>
          <p:cNvPr id="53" name="Text 41"/>
          <p:cNvSpPr txBox="1"/>
          <p:nvPr/>
        </p:nvSpPr>
        <p:spPr>
          <a:xfrm>
            <a:off x="10149840" y="5303520"/>
            <a:ext cx="1371600" cy="274320"/>
          </a:xfrm>
          <a:prstGeom prst="rect">
            <a:avLst/>
          </a:prstGeom>
          <a:noFill/>
          <a:ln/>
        </p:spPr>
        <p:txBody>
          <a:bodyPr wrap="square" lIns="0" tIns="0" rIns="0" bIns="0" rtlCol="0" anchor="t"/>
          <a:lstStyle/>
          <a:p>
            <a:pPr indent="0" marL="0">
              <a:buNone/>
            </a:pPr>
            <a:r>
              <a:rPr lang="en-US" sz="1100" b="1" dirty="0">
                <a:solidFill>
                  <a:schemeClr val="accent5"/>
                </a:solidFill>
              </a:rPr>
              <a:t>▲ maximise</a:t>
            </a:r>
            <a:endParaRPr lang="en-US" sz="11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8A9BB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body" hasCustomPrompt="1"/>
          </p:nvPr>
        </p:nvSpPr>
        <p:spPr>
          <a:xfrm>
            <a:off x="548640" y="320040"/>
            <a:ext cx="11064240" cy="292608"/>
          </a:xfrm>
          <a:prstGeom prst="rect">
            <a:avLst/>
          </a:prstGeom>
          <a:noFill/>
          <a:ln/>
        </p:spPr>
        <p:txBody>
          <a:bodyPr wrap="square" lIns="0" tIns="0" rIns="0" bIns="0" rtlCol="0"/>
          <a:lstStyle/>
          <a:p>
            <a:pPr indent="0" marL="0">
              <a:buNone/>
            </a:pPr>
            <a:r>
              <a:rPr lang="en-US" sz="1200" b="1" spc="300" kern="0" dirty="0">
                <a:solidFill>
                  <a:schemeClr val="accent1"/>
                </a:solidFill>
              </a:rPr>
              <a:t>COMPUTE</a:t>
            </a:r>
            <a:endParaRPr lang="en-US" sz="1200" dirty="0"/>
          </a:p>
        </p:txBody>
      </p:sp>
      <p:sp>
        <p:nvSpPr>
          <p:cNvPr id="3" name="Text 1"/>
          <p:cNvSpPr/>
          <p:nvPr>
            <p:ph idx="102" type="title" hasCustomPrompt="1"/>
          </p:nvPr>
        </p:nvSpPr>
        <p:spPr>
          <a:xfrm>
            <a:off x="548640" y="621792"/>
            <a:ext cx="11064240" cy="685800"/>
          </a:xfrm>
          <a:prstGeom prst="rect">
            <a:avLst/>
          </a:prstGeom>
          <a:noFill/>
          <a:ln/>
        </p:spPr>
        <p:txBody>
          <a:bodyPr wrap="square" lIns="0" tIns="0" rIns="0" bIns="0" rtlCol="0" anchor="t"/>
          <a:lstStyle/>
          <a:p>
            <a:pPr algn="l" indent="0" marL="0">
              <a:buNone/>
            </a:pPr>
            <a:r>
              <a:rPr lang="en-US" sz="3200" b="1" dirty="0">
                <a:solidFill>
                  <a:schemeClr val="bg1"/>
                </a:solidFill>
              </a:rPr>
              <a:t>Why MeluXina HPC Helps</a:t>
            </a:r>
            <a:endParaRPr lang="en-US" sz="3200" dirty="0"/>
          </a:p>
        </p:txBody>
      </p:sp>
      <p:sp>
        <p:nvSpPr>
          <p:cNvPr id="4" name="Text 2"/>
          <p:cNvSpPr txBox="1"/>
          <p:nvPr/>
        </p:nvSpPr>
        <p:spPr>
          <a:xfrm>
            <a:off x="548640" y="1508760"/>
            <a:ext cx="3108960" cy="914400"/>
          </a:xfrm>
          <a:prstGeom prst="rect">
            <a:avLst/>
          </a:prstGeom>
          <a:noFill/>
          <a:ln/>
        </p:spPr>
        <p:txBody>
          <a:bodyPr wrap="square" lIns="0" tIns="0" rIns="0" bIns="0" rtlCol="0" anchor="t"/>
          <a:lstStyle/>
          <a:p>
            <a:pPr indent="0" marL="0">
              <a:buNone/>
            </a:pPr>
            <a:r>
              <a:rPr lang="en-US" sz="6000" b="1" dirty="0">
                <a:solidFill>
                  <a:schemeClr val="accent6"/>
                </a:solidFill>
                <a:latin typeface="Arial" pitchFamily="34" charset="0"/>
                <a:ea typeface="Arial" pitchFamily="34" charset="-122"/>
                <a:cs typeface="Arial" pitchFamily="34" charset="-120"/>
              </a:rPr>
              <a:t>1</a:t>
            </a:r>
            <a:endParaRPr lang="en-US" sz="6000" dirty="0"/>
          </a:p>
        </p:txBody>
      </p:sp>
      <p:sp>
        <p:nvSpPr>
          <p:cNvPr id="5" name="Text 3"/>
          <p:cNvSpPr txBox="1"/>
          <p:nvPr/>
        </p:nvSpPr>
        <p:spPr>
          <a:xfrm>
            <a:off x="548640" y="2468880"/>
            <a:ext cx="3108960" cy="548640"/>
          </a:xfrm>
          <a:prstGeom prst="rect">
            <a:avLst/>
          </a:prstGeom>
          <a:noFill/>
          <a:ln/>
        </p:spPr>
        <p:txBody>
          <a:bodyPr wrap="square" lIns="0" tIns="0" rIns="0" bIns="0" rtlCol="0" anchor="t"/>
          <a:lstStyle/>
          <a:p>
            <a:pPr indent="0" marL="0">
              <a:buNone/>
            </a:pPr>
            <a:r>
              <a:rPr lang="en-US" sz="1500" dirty="0">
                <a:solidFill>
                  <a:schemeClr val="bg1"/>
                </a:solidFill>
              </a:rPr>
              <a:t>single trajectory = limited insight</a:t>
            </a:r>
            <a:endParaRPr lang="en-US" sz="1500" dirty="0"/>
          </a:p>
        </p:txBody>
      </p:sp>
      <p:sp>
        <p:nvSpPr>
          <p:cNvPr id="6" name="Text 4"/>
          <p:cNvSpPr txBox="1"/>
          <p:nvPr/>
        </p:nvSpPr>
        <p:spPr>
          <a:xfrm>
            <a:off x="548640" y="3291840"/>
            <a:ext cx="3108960" cy="914400"/>
          </a:xfrm>
          <a:prstGeom prst="rect">
            <a:avLst/>
          </a:prstGeom>
          <a:noFill/>
          <a:ln/>
        </p:spPr>
        <p:txBody>
          <a:bodyPr wrap="square" lIns="0" tIns="0" rIns="0" bIns="0" rtlCol="0" anchor="t"/>
          <a:lstStyle/>
          <a:p>
            <a:pPr indent="0" marL="0">
              <a:buNone/>
            </a:pPr>
            <a:r>
              <a:rPr lang="en-US" sz="6000" b="1" dirty="0">
                <a:solidFill>
                  <a:schemeClr val="accent1"/>
                </a:solidFill>
                <a:latin typeface="Arial" pitchFamily="34" charset="0"/>
                <a:ea typeface="Arial" pitchFamily="34" charset="-122"/>
                <a:cs typeface="Arial" pitchFamily="34" charset="-120"/>
              </a:rPr>
              <a:t>1000s</a:t>
            </a:r>
            <a:endParaRPr lang="en-US" sz="6000" dirty="0"/>
          </a:p>
        </p:txBody>
      </p:sp>
      <p:sp>
        <p:nvSpPr>
          <p:cNvPr id="7" name="Text 5"/>
          <p:cNvSpPr txBox="1"/>
          <p:nvPr/>
        </p:nvSpPr>
        <p:spPr>
          <a:xfrm>
            <a:off x="548640" y="4251960"/>
            <a:ext cx="3108960" cy="548640"/>
          </a:xfrm>
          <a:prstGeom prst="rect">
            <a:avLst/>
          </a:prstGeom>
          <a:noFill/>
          <a:ln/>
        </p:spPr>
        <p:txBody>
          <a:bodyPr wrap="square" lIns="0" tIns="0" rIns="0" bIns="0" rtlCol="0" anchor="t"/>
          <a:lstStyle/>
          <a:p>
            <a:pPr indent="0" marL="0">
              <a:buNone/>
            </a:pPr>
            <a:r>
              <a:rPr lang="en-US" sz="1500" dirty="0">
                <a:solidFill>
                  <a:schemeClr val="bg1"/>
                </a:solidFill>
              </a:rPr>
              <a:t>of cases = a serviceability envelope</a:t>
            </a:r>
            <a:endParaRPr lang="en-US" sz="1500" dirty="0"/>
          </a:p>
        </p:txBody>
      </p:sp>
      <p:sp>
        <p:nvSpPr>
          <p:cNvPr id="8" name="Text 6"/>
          <p:cNvSpPr txBox="1"/>
          <p:nvPr/>
        </p:nvSpPr>
        <p:spPr>
          <a:xfrm>
            <a:off x="548640" y="5120640"/>
            <a:ext cx="3108960" cy="822960"/>
          </a:xfrm>
          <a:prstGeom prst="rect">
            <a:avLst/>
          </a:prstGeom>
          <a:noFill/>
          <a:ln/>
        </p:spPr>
        <p:txBody>
          <a:bodyPr wrap="square" lIns="0" tIns="0" rIns="0" bIns="0" rtlCol="0" anchor="t"/>
          <a:lstStyle/>
          <a:p>
            <a:pPr indent="0" marL="0">
              <a:buNone/>
            </a:pPr>
            <a:r>
              <a:rPr lang="en-US" sz="1400" i="1" dirty="0">
                <a:solidFill>
                  <a:schemeClr val="accent2"/>
                </a:solidFill>
              </a:rPr>
              <a:t>Statistics, not anecdotes: where does servicing stop being feasible?</a:t>
            </a:r>
            <a:endParaRPr lang="en-US" sz="1400" dirty="0"/>
          </a:p>
        </p:txBody>
      </p:sp>
      <p:sp>
        <p:nvSpPr>
          <p:cNvPr id="9" name="Text 7"/>
          <p:cNvSpPr txBox="1"/>
          <p:nvPr/>
        </p:nvSpPr>
        <p:spPr>
          <a:xfrm>
            <a:off x="4114800" y="1508760"/>
            <a:ext cx="3200400" cy="365760"/>
          </a:xfrm>
          <a:prstGeom prst="rect">
            <a:avLst/>
          </a:prstGeom>
          <a:noFill/>
          <a:ln/>
        </p:spPr>
        <p:txBody>
          <a:bodyPr wrap="square" lIns="0" tIns="0" rIns="0" bIns="0" rtlCol="0" anchor="t"/>
          <a:lstStyle/>
          <a:p>
            <a:pPr indent="0" marL="0">
              <a:buNone/>
            </a:pPr>
            <a:r>
              <a:rPr lang="en-US" sz="1800" b="1" dirty="0">
                <a:solidFill>
                  <a:schemeClr val="bg1"/>
                </a:solidFill>
              </a:rPr>
              <a:t>We vary</a:t>
            </a:r>
            <a:endParaRPr lang="en-US" sz="1800" dirty="0"/>
          </a:p>
        </p:txBody>
      </p:sp>
      <p:sp>
        <p:nvSpPr>
          <p:cNvPr id="10" name="Tumble rate chip"/>
          <p:cNvSpPr/>
          <p:nvPr/>
        </p:nvSpPr>
        <p:spPr>
          <a:xfrm>
            <a:off x="4114800" y="2011680"/>
            <a:ext cx="3200400" cy="530352"/>
          </a:xfrm>
          <a:prstGeom prst="roundRect">
            <a:avLst>
              <a:gd name="adj" fmla="val 50000"/>
            </a:avLst>
          </a:prstGeom>
          <a:solidFill>
            <a:schemeClr val="tx2"/>
          </a:solidFill>
          <a:ln w="9525">
            <a:solidFill>
              <a:schemeClr val="tx2"/>
            </a:solidFill>
            <a:prstDash val="solid"/>
          </a:ln>
        </p:spPr>
      </p:sp>
      <p:pic>
        <p:nvPicPr>
          <p:cNvPr id="11" name="Image 0" descr="preencoded.png">    </p:cNvPr>
          <p:cNvPicPr>
            <a:picLocks noChangeAspect="1"/>
          </p:cNvPicPr>
          <p:nvPr/>
        </p:nvPicPr>
        <p:blipFill>
          <a:blip r:embed="rId1"/>
          <a:stretch>
            <a:fillRect/>
          </a:stretch>
        </p:blipFill>
        <p:spPr>
          <a:xfrm>
            <a:off x="4315968" y="2139696"/>
            <a:ext cx="274320" cy="274320"/>
          </a:xfrm>
          <a:prstGeom prst="rect">
            <a:avLst/>
          </a:prstGeom>
        </p:spPr>
      </p:pic>
      <p:sp>
        <p:nvSpPr>
          <p:cNvPr id="12" name="Text 9"/>
          <p:cNvSpPr txBox="1"/>
          <p:nvPr/>
        </p:nvSpPr>
        <p:spPr>
          <a:xfrm>
            <a:off x="4754880" y="2011680"/>
            <a:ext cx="2468880" cy="530352"/>
          </a:xfrm>
          <a:prstGeom prst="rect">
            <a:avLst/>
          </a:prstGeom>
          <a:noFill/>
          <a:ln/>
        </p:spPr>
        <p:txBody>
          <a:bodyPr wrap="square" lIns="0" tIns="0" rIns="0" bIns="0" rtlCol="0" anchor="ctr"/>
          <a:lstStyle/>
          <a:p>
            <a:pPr indent="0" marL="0">
              <a:buNone/>
            </a:pPr>
            <a:r>
              <a:rPr lang="en-US" sz="1500" dirty="0">
                <a:solidFill>
                  <a:schemeClr val="bg1"/>
                </a:solidFill>
              </a:rPr>
              <a:t>Tumble rate</a:t>
            </a:r>
            <a:endParaRPr lang="en-US" sz="1500" dirty="0"/>
          </a:p>
        </p:txBody>
      </p:sp>
      <p:sp>
        <p:nvSpPr>
          <p:cNvPr id="13" name="Navigation noise chip"/>
          <p:cNvSpPr/>
          <p:nvPr/>
        </p:nvSpPr>
        <p:spPr>
          <a:xfrm>
            <a:off x="4114800" y="2679192"/>
            <a:ext cx="3200400" cy="530352"/>
          </a:xfrm>
          <a:prstGeom prst="roundRect">
            <a:avLst>
              <a:gd name="adj" fmla="val 50000"/>
            </a:avLst>
          </a:prstGeom>
          <a:solidFill>
            <a:schemeClr val="tx2"/>
          </a:solidFill>
          <a:ln w="9525">
            <a:solidFill>
              <a:schemeClr val="tx2"/>
            </a:solidFill>
            <a:prstDash val="solid"/>
          </a:ln>
        </p:spPr>
      </p:sp>
      <p:pic>
        <p:nvPicPr>
          <p:cNvPr id="14" name="Image 1" descr="preencoded.png">    </p:cNvPr>
          <p:cNvPicPr>
            <a:picLocks noChangeAspect="1"/>
          </p:cNvPicPr>
          <p:nvPr/>
        </p:nvPicPr>
        <p:blipFill>
          <a:blip r:embed="rId2"/>
          <a:stretch>
            <a:fillRect/>
          </a:stretch>
        </p:blipFill>
        <p:spPr>
          <a:xfrm>
            <a:off x="4315968" y="2807208"/>
            <a:ext cx="274320" cy="274320"/>
          </a:xfrm>
          <a:prstGeom prst="rect">
            <a:avLst/>
          </a:prstGeom>
        </p:spPr>
      </p:pic>
      <p:sp>
        <p:nvSpPr>
          <p:cNvPr id="15" name="Text 11"/>
          <p:cNvSpPr txBox="1"/>
          <p:nvPr/>
        </p:nvSpPr>
        <p:spPr>
          <a:xfrm>
            <a:off x="4754880" y="2679192"/>
            <a:ext cx="2468880" cy="530352"/>
          </a:xfrm>
          <a:prstGeom prst="rect">
            <a:avLst/>
          </a:prstGeom>
          <a:noFill/>
          <a:ln/>
        </p:spPr>
        <p:txBody>
          <a:bodyPr wrap="square" lIns="0" tIns="0" rIns="0" bIns="0" rtlCol="0" anchor="ctr"/>
          <a:lstStyle/>
          <a:p>
            <a:pPr indent="0" marL="0">
              <a:buNone/>
            </a:pPr>
            <a:r>
              <a:rPr lang="en-US" sz="1500" dirty="0">
                <a:solidFill>
                  <a:schemeClr val="bg1"/>
                </a:solidFill>
              </a:rPr>
              <a:t>Navigation noise</a:t>
            </a:r>
            <a:endParaRPr lang="en-US" sz="1500" dirty="0"/>
          </a:p>
        </p:txBody>
      </p:sp>
      <p:sp>
        <p:nvSpPr>
          <p:cNvPr id="16" name="Beacon packet loss chip"/>
          <p:cNvSpPr/>
          <p:nvPr/>
        </p:nvSpPr>
        <p:spPr>
          <a:xfrm>
            <a:off x="4114800" y="3346704"/>
            <a:ext cx="3200400" cy="530352"/>
          </a:xfrm>
          <a:prstGeom prst="roundRect">
            <a:avLst>
              <a:gd name="adj" fmla="val 50000"/>
            </a:avLst>
          </a:prstGeom>
          <a:solidFill>
            <a:schemeClr val="tx2"/>
          </a:solidFill>
          <a:ln w="9525">
            <a:solidFill>
              <a:schemeClr val="tx2"/>
            </a:solidFill>
            <a:prstDash val="solid"/>
          </a:ln>
        </p:spPr>
      </p:sp>
      <p:pic>
        <p:nvPicPr>
          <p:cNvPr id="17" name="Image 2" descr="preencoded.png">    </p:cNvPr>
          <p:cNvPicPr>
            <a:picLocks noChangeAspect="1"/>
          </p:cNvPicPr>
          <p:nvPr/>
        </p:nvPicPr>
        <p:blipFill>
          <a:blip r:embed="rId3"/>
          <a:stretch>
            <a:fillRect/>
          </a:stretch>
        </p:blipFill>
        <p:spPr>
          <a:xfrm>
            <a:off x="4315968" y="3474720"/>
            <a:ext cx="274320" cy="274320"/>
          </a:xfrm>
          <a:prstGeom prst="rect">
            <a:avLst/>
          </a:prstGeom>
        </p:spPr>
      </p:pic>
      <p:sp>
        <p:nvSpPr>
          <p:cNvPr id="18" name="Text 13"/>
          <p:cNvSpPr txBox="1"/>
          <p:nvPr/>
        </p:nvSpPr>
        <p:spPr>
          <a:xfrm>
            <a:off x="4754880" y="3346704"/>
            <a:ext cx="2468880" cy="530352"/>
          </a:xfrm>
          <a:prstGeom prst="rect">
            <a:avLst/>
          </a:prstGeom>
          <a:noFill/>
          <a:ln/>
        </p:spPr>
        <p:txBody>
          <a:bodyPr wrap="square" lIns="0" tIns="0" rIns="0" bIns="0" rtlCol="0" anchor="ctr"/>
          <a:lstStyle/>
          <a:p>
            <a:pPr indent="0" marL="0">
              <a:buNone/>
            </a:pPr>
            <a:r>
              <a:rPr lang="en-US" sz="1500" dirty="0">
                <a:solidFill>
                  <a:schemeClr val="bg1"/>
                </a:solidFill>
              </a:rPr>
              <a:t>Beacon packet loss</a:t>
            </a:r>
            <a:endParaRPr lang="en-US" sz="1500" dirty="0"/>
          </a:p>
        </p:txBody>
      </p:sp>
      <p:sp>
        <p:nvSpPr>
          <p:cNvPr id="19" name="Latency chip"/>
          <p:cNvSpPr/>
          <p:nvPr/>
        </p:nvSpPr>
        <p:spPr>
          <a:xfrm>
            <a:off x="4114800" y="4014216"/>
            <a:ext cx="3200400" cy="530352"/>
          </a:xfrm>
          <a:prstGeom prst="roundRect">
            <a:avLst>
              <a:gd name="adj" fmla="val 50000"/>
            </a:avLst>
          </a:prstGeom>
          <a:solidFill>
            <a:schemeClr val="tx2"/>
          </a:solidFill>
          <a:ln w="9525">
            <a:solidFill>
              <a:schemeClr val="tx2"/>
            </a:solidFill>
            <a:prstDash val="solid"/>
          </a:ln>
        </p:spPr>
      </p:sp>
      <p:pic>
        <p:nvPicPr>
          <p:cNvPr id="20" name="Image 3" descr="preencoded.png">    </p:cNvPr>
          <p:cNvPicPr>
            <a:picLocks noChangeAspect="1"/>
          </p:cNvPicPr>
          <p:nvPr/>
        </p:nvPicPr>
        <p:blipFill>
          <a:blip r:embed="rId4"/>
          <a:stretch>
            <a:fillRect/>
          </a:stretch>
        </p:blipFill>
        <p:spPr>
          <a:xfrm>
            <a:off x="4315968" y="4142232"/>
            <a:ext cx="274320" cy="274320"/>
          </a:xfrm>
          <a:prstGeom prst="rect">
            <a:avLst/>
          </a:prstGeom>
        </p:spPr>
      </p:pic>
      <p:sp>
        <p:nvSpPr>
          <p:cNvPr id="21" name="Text 15"/>
          <p:cNvSpPr txBox="1"/>
          <p:nvPr/>
        </p:nvSpPr>
        <p:spPr>
          <a:xfrm>
            <a:off x="4754880" y="4014216"/>
            <a:ext cx="2468880" cy="530352"/>
          </a:xfrm>
          <a:prstGeom prst="rect">
            <a:avLst/>
          </a:prstGeom>
          <a:noFill/>
          <a:ln/>
        </p:spPr>
        <p:txBody>
          <a:bodyPr wrap="square" lIns="0" tIns="0" rIns="0" bIns="0" rtlCol="0" anchor="ctr"/>
          <a:lstStyle/>
          <a:p>
            <a:pPr indent="0" marL="0">
              <a:buNone/>
            </a:pPr>
            <a:r>
              <a:rPr lang="en-US" sz="1500" dirty="0">
                <a:solidFill>
                  <a:schemeClr val="bg1"/>
                </a:solidFill>
              </a:rPr>
              <a:t>Latency</a:t>
            </a:r>
            <a:endParaRPr lang="en-US" sz="1500" dirty="0"/>
          </a:p>
        </p:txBody>
      </p:sp>
      <p:sp>
        <p:nvSpPr>
          <p:cNvPr id="22" name="Initial attitude chip"/>
          <p:cNvSpPr/>
          <p:nvPr/>
        </p:nvSpPr>
        <p:spPr>
          <a:xfrm>
            <a:off x="4114800" y="4681728"/>
            <a:ext cx="3200400" cy="530352"/>
          </a:xfrm>
          <a:prstGeom prst="roundRect">
            <a:avLst>
              <a:gd name="adj" fmla="val 50000"/>
            </a:avLst>
          </a:prstGeom>
          <a:solidFill>
            <a:schemeClr val="tx2"/>
          </a:solidFill>
          <a:ln w="9525">
            <a:solidFill>
              <a:schemeClr val="tx2"/>
            </a:solidFill>
            <a:prstDash val="solid"/>
          </a:ln>
        </p:spPr>
      </p:sp>
      <p:pic>
        <p:nvPicPr>
          <p:cNvPr id="23" name="Image 4" descr="preencoded.png">    </p:cNvPr>
          <p:cNvPicPr>
            <a:picLocks noChangeAspect="1"/>
          </p:cNvPicPr>
          <p:nvPr/>
        </p:nvPicPr>
        <p:blipFill>
          <a:blip r:embed="rId5"/>
          <a:stretch>
            <a:fillRect/>
          </a:stretch>
        </p:blipFill>
        <p:spPr>
          <a:xfrm>
            <a:off x="4315968" y="4809744"/>
            <a:ext cx="274320" cy="274320"/>
          </a:xfrm>
          <a:prstGeom prst="rect">
            <a:avLst/>
          </a:prstGeom>
        </p:spPr>
      </p:pic>
      <p:sp>
        <p:nvSpPr>
          <p:cNvPr id="24" name="Text 17"/>
          <p:cNvSpPr txBox="1"/>
          <p:nvPr/>
        </p:nvSpPr>
        <p:spPr>
          <a:xfrm>
            <a:off x="4754880" y="4681728"/>
            <a:ext cx="2468880" cy="530352"/>
          </a:xfrm>
          <a:prstGeom prst="rect">
            <a:avLst/>
          </a:prstGeom>
          <a:noFill/>
          <a:ln/>
        </p:spPr>
        <p:txBody>
          <a:bodyPr wrap="square" lIns="0" tIns="0" rIns="0" bIns="0" rtlCol="0" anchor="ctr"/>
          <a:lstStyle/>
          <a:p>
            <a:pPr indent="0" marL="0">
              <a:buNone/>
            </a:pPr>
            <a:r>
              <a:rPr lang="en-US" sz="1500" dirty="0">
                <a:solidFill>
                  <a:schemeClr val="bg1"/>
                </a:solidFill>
              </a:rPr>
              <a:t>Initial attitude</a:t>
            </a:r>
            <a:endParaRPr lang="en-US" sz="1500" dirty="0"/>
          </a:p>
        </p:txBody>
      </p:sp>
      <p:sp>
        <p:nvSpPr>
          <p:cNvPr id="25" name="Control uncertainty chip"/>
          <p:cNvSpPr/>
          <p:nvPr/>
        </p:nvSpPr>
        <p:spPr>
          <a:xfrm>
            <a:off x="4114800" y="5349240"/>
            <a:ext cx="3200400" cy="530352"/>
          </a:xfrm>
          <a:prstGeom prst="roundRect">
            <a:avLst>
              <a:gd name="adj" fmla="val 50000"/>
            </a:avLst>
          </a:prstGeom>
          <a:solidFill>
            <a:schemeClr val="tx2"/>
          </a:solidFill>
          <a:ln w="9525">
            <a:solidFill>
              <a:schemeClr val="tx2"/>
            </a:solidFill>
            <a:prstDash val="solid"/>
          </a:ln>
        </p:spPr>
      </p:sp>
      <p:pic>
        <p:nvPicPr>
          <p:cNvPr id="26" name="Image 5" descr="preencoded.png">    </p:cNvPr>
          <p:cNvPicPr>
            <a:picLocks noChangeAspect="1"/>
          </p:cNvPicPr>
          <p:nvPr/>
        </p:nvPicPr>
        <p:blipFill>
          <a:blip r:embed="rId6"/>
          <a:stretch>
            <a:fillRect/>
          </a:stretch>
        </p:blipFill>
        <p:spPr>
          <a:xfrm>
            <a:off x="4315968" y="5477256"/>
            <a:ext cx="274320" cy="274320"/>
          </a:xfrm>
          <a:prstGeom prst="rect">
            <a:avLst/>
          </a:prstGeom>
        </p:spPr>
      </p:pic>
      <p:sp>
        <p:nvSpPr>
          <p:cNvPr id="27" name="Text 19"/>
          <p:cNvSpPr txBox="1"/>
          <p:nvPr/>
        </p:nvSpPr>
        <p:spPr>
          <a:xfrm>
            <a:off x="4754880" y="5349240"/>
            <a:ext cx="2468880" cy="530352"/>
          </a:xfrm>
          <a:prstGeom prst="rect">
            <a:avLst/>
          </a:prstGeom>
          <a:noFill/>
          <a:ln/>
        </p:spPr>
        <p:txBody>
          <a:bodyPr wrap="square" lIns="0" tIns="0" rIns="0" bIns="0" rtlCol="0" anchor="ctr"/>
          <a:lstStyle/>
          <a:p>
            <a:pPr indent="0" marL="0">
              <a:buNone/>
            </a:pPr>
            <a:r>
              <a:rPr lang="en-US" sz="1500" dirty="0">
                <a:solidFill>
                  <a:schemeClr val="bg1"/>
                </a:solidFill>
              </a:rPr>
              <a:t>Control uncertainty</a:t>
            </a:r>
            <a:endParaRPr lang="en-US" sz="1500" dirty="0"/>
          </a:p>
        </p:txBody>
      </p:sp>
      <p:sp>
        <p:nvSpPr>
          <p:cNvPr id="28" name="Text 20"/>
          <p:cNvSpPr txBox="1"/>
          <p:nvPr/>
        </p:nvSpPr>
        <p:spPr>
          <a:xfrm>
            <a:off x="7863840" y="1508760"/>
            <a:ext cx="3749040" cy="365760"/>
          </a:xfrm>
          <a:prstGeom prst="rect">
            <a:avLst/>
          </a:prstGeom>
          <a:noFill/>
          <a:ln/>
        </p:spPr>
        <p:txBody>
          <a:bodyPr wrap="square" lIns="0" tIns="0" rIns="0" bIns="0" rtlCol="0" anchor="t"/>
          <a:lstStyle/>
          <a:p>
            <a:pPr indent="0" marL="0">
              <a:buNone/>
            </a:pPr>
            <a:r>
              <a:rPr lang="en-US" sz="1800" b="1" dirty="0">
                <a:solidFill>
                  <a:schemeClr val="bg1"/>
                </a:solidFill>
              </a:rPr>
              <a:t>Output: probability maps</a:t>
            </a:r>
            <a:endParaRPr lang="en-US" sz="1800" dirty="0"/>
          </a:p>
        </p:txBody>
      </p:sp>
      <p:sp>
        <p:nvSpPr>
          <p:cNvPr id="29" name="Shape 21"/>
          <p:cNvSpPr/>
          <p:nvPr/>
        </p:nvSpPr>
        <p:spPr>
          <a:xfrm>
            <a:off x="8275320" y="2057400"/>
            <a:ext cx="384048" cy="429768"/>
          </a:xfrm>
          <a:prstGeom prst="rect">
            <a:avLst/>
          </a:prstGeom>
          <a:solidFill>
            <a:srgbClr val="81AF58"/>
          </a:solidFill>
          <a:ln w="12700">
            <a:solidFill>
              <a:srgbClr val="81AF58"/>
            </a:solidFill>
            <a:prstDash val="solid"/>
          </a:ln>
        </p:spPr>
      </p:sp>
      <p:sp>
        <p:nvSpPr>
          <p:cNvPr id="30" name="Shape 22"/>
          <p:cNvSpPr/>
          <p:nvPr/>
        </p:nvSpPr>
        <p:spPr>
          <a:xfrm>
            <a:off x="8686800" y="2057400"/>
            <a:ext cx="384048" cy="429768"/>
          </a:xfrm>
          <a:prstGeom prst="rect">
            <a:avLst/>
          </a:prstGeom>
          <a:solidFill>
            <a:srgbClr val="CFA835"/>
          </a:solidFill>
          <a:ln w="12700">
            <a:solidFill>
              <a:srgbClr val="CFA835"/>
            </a:solidFill>
            <a:prstDash val="solid"/>
          </a:ln>
        </p:spPr>
      </p:sp>
      <p:sp>
        <p:nvSpPr>
          <p:cNvPr id="31" name="Shape 23"/>
          <p:cNvSpPr/>
          <p:nvPr/>
        </p:nvSpPr>
        <p:spPr>
          <a:xfrm>
            <a:off x="9098280" y="2057400"/>
            <a:ext cx="384048" cy="429768"/>
          </a:xfrm>
          <a:prstGeom prst="rect">
            <a:avLst/>
          </a:prstGeom>
          <a:solidFill>
            <a:srgbClr val="F08B30"/>
          </a:solidFill>
          <a:ln w="12700">
            <a:solidFill>
              <a:srgbClr val="F08B30"/>
            </a:solidFill>
            <a:prstDash val="solid"/>
          </a:ln>
        </p:spPr>
      </p:sp>
      <p:sp>
        <p:nvSpPr>
          <p:cNvPr id="32" name="Shape 24"/>
          <p:cNvSpPr/>
          <p:nvPr/>
        </p:nvSpPr>
        <p:spPr>
          <a:xfrm>
            <a:off x="9509760" y="2057400"/>
            <a:ext cx="384048" cy="429768"/>
          </a:xfrm>
          <a:prstGeom prst="rect">
            <a:avLst/>
          </a:prstGeom>
          <a:solidFill>
            <a:srgbClr val="EB693F"/>
          </a:solidFill>
          <a:ln w="12700">
            <a:solidFill>
              <a:srgbClr val="EB693F"/>
            </a:solidFill>
            <a:prstDash val="solid"/>
          </a:ln>
        </p:spPr>
      </p:sp>
      <p:sp>
        <p:nvSpPr>
          <p:cNvPr id="33" name="Shape 25"/>
          <p:cNvSpPr/>
          <p:nvPr/>
        </p:nvSpPr>
        <p:spPr>
          <a:xfrm>
            <a:off x="9921240" y="2057400"/>
            <a:ext cx="384048" cy="429768"/>
          </a:xfrm>
          <a:prstGeom prst="rect">
            <a:avLst/>
          </a:prstGeom>
          <a:solidFill>
            <a:srgbClr val="E75647"/>
          </a:solidFill>
          <a:ln w="12700">
            <a:solidFill>
              <a:srgbClr val="E75647"/>
            </a:solidFill>
            <a:prstDash val="solid"/>
          </a:ln>
        </p:spPr>
      </p:sp>
      <p:sp>
        <p:nvSpPr>
          <p:cNvPr id="34" name="Shape 26"/>
          <p:cNvSpPr/>
          <p:nvPr/>
        </p:nvSpPr>
        <p:spPr>
          <a:xfrm>
            <a:off x="10332720" y="2057400"/>
            <a:ext cx="384048" cy="429768"/>
          </a:xfrm>
          <a:prstGeom prst="rect">
            <a:avLst/>
          </a:prstGeom>
          <a:solidFill>
            <a:srgbClr val="E64E4B"/>
          </a:solidFill>
          <a:ln w="12700">
            <a:solidFill>
              <a:srgbClr val="E64E4B"/>
            </a:solidFill>
            <a:prstDash val="solid"/>
          </a:ln>
        </p:spPr>
      </p:sp>
      <p:sp>
        <p:nvSpPr>
          <p:cNvPr id="35" name="Shape 27"/>
          <p:cNvSpPr/>
          <p:nvPr/>
        </p:nvSpPr>
        <p:spPr>
          <a:xfrm>
            <a:off x="10744200" y="2057400"/>
            <a:ext cx="384048" cy="429768"/>
          </a:xfrm>
          <a:prstGeom prst="rect">
            <a:avLst/>
          </a:prstGeom>
          <a:solidFill>
            <a:srgbClr val="E54A4C"/>
          </a:solidFill>
          <a:ln w="12700">
            <a:solidFill>
              <a:srgbClr val="E54A4C"/>
            </a:solidFill>
            <a:prstDash val="solid"/>
          </a:ln>
        </p:spPr>
      </p:sp>
      <p:sp>
        <p:nvSpPr>
          <p:cNvPr id="36" name="Shape 28"/>
          <p:cNvSpPr/>
          <p:nvPr/>
        </p:nvSpPr>
        <p:spPr>
          <a:xfrm>
            <a:off x="11155680" y="2057400"/>
            <a:ext cx="384048" cy="429768"/>
          </a:xfrm>
          <a:prstGeom prst="rect">
            <a:avLst/>
          </a:prstGeom>
          <a:solidFill>
            <a:srgbClr val="E5494D"/>
          </a:solidFill>
          <a:ln w="12700">
            <a:solidFill>
              <a:srgbClr val="E5494D"/>
            </a:solidFill>
            <a:prstDash val="solid"/>
          </a:ln>
        </p:spPr>
      </p:sp>
      <p:sp>
        <p:nvSpPr>
          <p:cNvPr id="37" name="Shape 29"/>
          <p:cNvSpPr/>
          <p:nvPr/>
        </p:nvSpPr>
        <p:spPr>
          <a:xfrm>
            <a:off x="8275320" y="2514600"/>
            <a:ext cx="384048" cy="429768"/>
          </a:xfrm>
          <a:prstGeom prst="rect">
            <a:avLst/>
          </a:prstGeom>
          <a:solidFill>
            <a:srgbClr val="4FB36E"/>
          </a:solidFill>
          <a:ln w="12700">
            <a:solidFill>
              <a:srgbClr val="4FB36E"/>
            </a:solidFill>
            <a:prstDash val="solid"/>
          </a:ln>
        </p:spPr>
      </p:sp>
      <p:sp>
        <p:nvSpPr>
          <p:cNvPr id="38" name="Shape 30"/>
          <p:cNvSpPr/>
          <p:nvPr/>
        </p:nvSpPr>
        <p:spPr>
          <a:xfrm>
            <a:off x="8686800" y="2514600"/>
            <a:ext cx="384048" cy="429768"/>
          </a:xfrm>
          <a:prstGeom prst="rect">
            <a:avLst/>
          </a:prstGeom>
          <a:solidFill>
            <a:srgbClr val="79B05B"/>
          </a:solidFill>
          <a:ln w="12700">
            <a:solidFill>
              <a:srgbClr val="79B05B"/>
            </a:solidFill>
            <a:prstDash val="solid"/>
          </a:ln>
        </p:spPr>
      </p:sp>
      <p:sp>
        <p:nvSpPr>
          <p:cNvPr id="39" name="Shape 31"/>
          <p:cNvSpPr/>
          <p:nvPr/>
        </p:nvSpPr>
        <p:spPr>
          <a:xfrm>
            <a:off x="9098280" y="2514600"/>
            <a:ext cx="384048" cy="429768"/>
          </a:xfrm>
          <a:prstGeom prst="rect">
            <a:avLst/>
          </a:prstGeom>
          <a:solidFill>
            <a:srgbClr val="C4A93A"/>
          </a:solidFill>
          <a:ln w="12700">
            <a:solidFill>
              <a:srgbClr val="C4A93A"/>
            </a:solidFill>
            <a:prstDash val="solid"/>
          </a:ln>
        </p:spPr>
      </p:sp>
      <p:sp>
        <p:nvSpPr>
          <p:cNvPr id="40" name="Shape 32"/>
          <p:cNvSpPr/>
          <p:nvPr/>
        </p:nvSpPr>
        <p:spPr>
          <a:xfrm>
            <a:off x="9509760" y="2514600"/>
            <a:ext cx="384048" cy="429768"/>
          </a:xfrm>
          <a:prstGeom prst="rect">
            <a:avLst/>
          </a:prstGeom>
          <a:solidFill>
            <a:srgbClr val="F1902D"/>
          </a:solidFill>
          <a:ln w="12700">
            <a:solidFill>
              <a:srgbClr val="F1902D"/>
            </a:solidFill>
            <a:prstDash val="solid"/>
          </a:ln>
        </p:spPr>
      </p:sp>
      <p:sp>
        <p:nvSpPr>
          <p:cNvPr id="41" name="Shape 33"/>
          <p:cNvSpPr/>
          <p:nvPr/>
        </p:nvSpPr>
        <p:spPr>
          <a:xfrm>
            <a:off x="9921240" y="2514600"/>
            <a:ext cx="384048" cy="429768"/>
          </a:xfrm>
          <a:prstGeom prst="rect">
            <a:avLst/>
          </a:prstGeom>
          <a:solidFill>
            <a:srgbClr val="EB6C3D"/>
          </a:solidFill>
          <a:ln w="12700">
            <a:solidFill>
              <a:srgbClr val="EB6C3D"/>
            </a:solidFill>
            <a:prstDash val="solid"/>
          </a:ln>
        </p:spPr>
      </p:sp>
      <p:sp>
        <p:nvSpPr>
          <p:cNvPr id="42" name="Shape 34"/>
          <p:cNvSpPr/>
          <p:nvPr/>
        </p:nvSpPr>
        <p:spPr>
          <a:xfrm>
            <a:off x="10332720" y="2514600"/>
            <a:ext cx="384048" cy="429768"/>
          </a:xfrm>
          <a:prstGeom prst="rect">
            <a:avLst/>
          </a:prstGeom>
          <a:solidFill>
            <a:srgbClr val="E85846"/>
          </a:solidFill>
          <a:ln w="12700">
            <a:solidFill>
              <a:srgbClr val="E85846"/>
            </a:solidFill>
            <a:prstDash val="solid"/>
          </a:ln>
        </p:spPr>
      </p:sp>
      <p:sp>
        <p:nvSpPr>
          <p:cNvPr id="43" name="Shape 35"/>
          <p:cNvSpPr/>
          <p:nvPr/>
        </p:nvSpPr>
        <p:spPr>
          <a:xfrm>
            <a:off x="10744200" y="2514600"/>
            <a:ext cx="384048" cy="429768"/>
          </a:xfrm>
          <a:prstGeom prst="rect">
            <a:avLst/>
          </a:prstGeom>
          <a:solidFill>
            <a:srgbClr val="E64E4A"/>
          </a:solidFill>
          <a:ln w="12700">
            <a:solidFill>
              <a:srgbClr val="E64E4A"/>
            </a:solidFill>
            <a:prstDash val="solid"/>
          </a:ln>
        </p:spPr>
      </p:sp>
      <p:sp>
        <p:nvSpPr>
          <p:cNvPr id="44" name="Shape 36"/>
          <p:cNvSpPr/>
          <p:nvPr/>
        </p:nvSpPr>
        <p:spPr>
          <a:xfrm>
            <a:off x="11155680" y="2514600"/>
            <a:ext cx="384048" cy="429768"/>
          </a:xfrm>
          <a:prstGeom prst="rect">
            <a:avLst/>
          </a:prstGeom>
          <a:solidFill>
            <a:srgbClr val="E54A4C"/>
          </a:solidFill>
          <a:ln w="12700">
            <a:solidFill>
              <a:srgbClr val="E54A4C"/>
            </a:solidFill>
            <a:prstDash val="solid"/>
          </a:ln>
        </p:spPr>
      </p:sp>
      <p:sp>
        <p:nvSpPr>
          <p:cNvPr id="45" name="Shape 37"/>
          <p:cNvSpPr/>
          <p:nvPr/>
        </p:nvSpPr>
        <p:spPr>
          <a:xfrm>
            <a:off x="8275320" y="2971800"/>
            <a:ext cx="384048" cy="429768"/>
          </a:xfrm>
          <a:prstGeom prst="rect">
            <a:avLst/>
          </a:prstGeom>
          <a:solidFill>
            <a:srgbClr val="3AB577"/>
          </a:solidFill>
          <a:ln w="12700">
            <a:solidFill>
              <a:srgbClr val="3AB577"/>
            </a:solidFill>
            <a:prstDash val="solid"/>
          </a:ln>
        </p:spPr>
      </p:sp>
      <p:sp>
        <p:nvSpPr>
          <p:cNvPr id="46" name="Shape 38"/>
          <p:cNvSpPr/>
          <p:nvPr/>
        </p:nvSpPr>
        <p:spPr>
          <a:xfrm>
            <a:off x="8686800" y="2971800"/>
            <a:ext cx="384048" cy="429768"/>
          </a:xfrm>
          <a:prstGeom prst="rect">
            <a:avLst/>
          </a:prstGeom>
          <a:solidFill>
            <a:srgbClr val="4CB46F"/>
          </a:solidFill>
          <a:ln w="12700">
            <a:solidFill>
              <a:srgbClr val="4CB46F"/>
            </a:solidFill>
            <a:prstDash val="solid"/>
          </a:ln>
        </p:spPr>
      </p:sp>
      <p:sp>
        <p:nvSpPr>
          <p:cNvPr id="47" name="Shape 39"/>
          <p:cNvSpPr/>
          <p:nvPr/>
        </p:nvSpPr>
        <p:spPr>
          <a:xfrm>
            <a:off x="9098280" y="2971800"/>
            <a:ext cx="384048" cy="429768"/>
          </a:xfrm>
          <a:prstGeom prst="rect">
            <a:avLst/>
          </a:prstGeom>
          <a:solidFill>
            <a:srgbClr val="73B05E"/>
          </a:solidFill>
          <a:ln w="12700">
            <a:solidFill>
              <a:srgbClr val="73B05E"/>
            </a:solidFill>
            <a:prstDash val="solid"/>
          </a:ln>
        </p:spPr>
      </p:sp>
      <p:sp>
        <p:nvSpPr>
          <p:cNvPr id="48" name="Shape 40"/>
          <p:cNvSpPr/>
          <p:nvPr/>
        </p:nvSpPr>
        <p:spPr>
          <a:xfrm>
            <a:off x="9509760" y="2971800"/>
            <a:ext cx="384048" cy="429768"/>
          </a:xfrm>
          <a:prstGeom prst="rect">
            <a:avLst/>
          </a:prstGeom>
          <a:solidFill>
            <a:srgbClr val="BAAA3E"/>
          </a:solidFill>
          <a:ln w="12700">
            <a:solidFill>
              <a:srgbClr val="BAAA3E"/>
            </a:solidFill>
            <a:prstDash val="solid"/>
          </a:ln>
        </p:spPr>
      </p:sp>
      <p:sp>
        <p:nvSpPr>
          <p:cNvPr id="49" name="Shape 41"/>
          <p:cNvSpPr/>
          <p:nvPr/>
        </p:nvSpPr>
        <p:spPr>
          <a:xfrm>
            <a:off x="9921240" y="2971800"/>
            <a:ext cx="384048" cy="429768"/>
          </a:xfrm>
          <a:prstGeom prst="rect">
            <a:avLst/>
          </a:prstGeom>
          <a:solidFill>
            <a:srgbClr val="F2952B"/>
          </a:solidFill>
          <a:ln w="12700">
            <a:solidFill>
              <a:srgbClr val="F2952B"/>
            </a:solidFill>
            <a:prstDash val="solid"/>
          </a:ln>
        </p:spPr>
      </p:sp>
      <p:sp>
        <p:nvSpPr>
          <p:cNvPr id="50" name="Shape 42"/>
          <p:cNvSpPr/>
          <p:nvPr/>
        </p:nvSpPr>
        <p:spPr>
          <a:xfrm>
            <a:off x="10332720" y="2971800"/>
            <a:ext cx="384048" cy="429768"/>
          </a:xfrm>
          <a:prstGeom prst="rect">
            <a:avLst/>
          </a:prstGeom>
          <a:solidFill>
            <a:srgbClr val="EC6F3C"/>
          </a:solidFill>
          <a:ln w="12700">
            <a:solidFill>
              <a:srgbClr val="EC6F3C"/>
            </a:solidFill>
            <a:prstDash val="solid"/>
          </a:ln>
        </p:spPr>
      </p:sp>
      <p:sp>
        <p:nvSpPr>
          <p:cNvPr id="51" name="Shape 43"/>
          <p:cNvSpPr/>
          <p:nvPr/>
        </p:nvSpPr>
        <p:spPr>
          <a:xfrm>
            <a:off x="10744200" y="2971800"/>
            <a:ext cx="384048" cy="429768"/>
          </a:xfrm>
          <a:prstGeom prst="rect">
            <a:avLst/>
          </a:prstGeom>
          <a:solidFill>
            <a:srgbClr val="E85945"/>
          </a:solidFill>
          <a:ln w="12700">
            <a:solidFill>
              <a:srgbClr val="E85945"/>
            </a:solidFill>
            <a:prstDash val="solid"/>
          </a:ln>
        </p:spPr>
      </p:sp>
      <p:sp>
        <p:nvSpPr>
          <p:cNvPr id="52" name="Shape 44"/>
          <p:cNvSpPr/>
          <p:nvPr/>
        </p:nvSpPr>
        <p:spPr>
          <a:xfrm>
            <a:off x="11155680" y="2971800"/>
            <a:ext cx="384048" cy="429768"/>
          </a:xfrm>
          <a:prstGeom prst="rect">
            <a:avLst/>
          </a:prstGeom>
          <a:solidFill>
            <a:srgbClr val="E64F4A"/>
          </a:solidFill>
          <a:ln w="12700">
            <a:solidFill>
              <a:srgbClr val="E64F4A"/>
            </a:solidFill>
            <a:prstDash val="solid"/>
          </a:ln>
        </p:spPr>
      </p:sp>
      <p:sp>
        <p:nvSpPr>
          <p:cNvPr id="53" name="Shape 45"/>
          <p:cNvSpPr/>
          <p:nvPr/>
        </p:nvSpPr>
        <p:spPr>
          <a:xfrm>
            <a:off x="8275320" y="3429000"/>
            <a:ext cx="384048" cy="429768"/>
          </a:xfrm>
          <a:prstGeom prst="rect">
            <a:avLst/>
          </a:prstGeom>
          <a:solidFill>
            <a:srgbClr val="33B67A"/>
          </a:solidFill>
          <a:ln w="12700">
            <a:solidFill>
              <a:srgbClr val="33B67A"/>
            </a:solidFill>
            <a:prstDash val="solid"/>
          </a:ln>
        </p:spPr>
      </p:sp>
      <p:sp>
        <p:nvSpPr>
          <p:cNvPr id="54" name="Shape 46"/>
          <p:cNvSpPr/>
          <p:nvPr/>
        </p:nvSpPr>
        <p:spPr>
          <a:xfrm>
            <a:off x="8686800" y="3429000"/>
            <a:ext cx="384048" cy="429768"/>
          </a:xfrm>
          <a:prstGeom prst="rect">
            <a:avLst/>
          </a:prstGeom>
          <a:solidFill>
            <a:srgbClr val="39B577"/>
          </a:solidFill>
          <a:ln w="12700">
            <a:solidFill>
              <a:srgbClr val="39B577"/>
            </a:solidFill>
            <a:prstDash val="solid"/>
          </a:ln>
        </p:spPr>
      </p:sp>
      <p:sp>
        <p:nvSpPr>
          <p:cNvPr id="55" name="Shape 47"/>
          <p:cNvSpPr/>
          <p:nvPr/>
        </p:nvSpPr>
        <p:spPr>
          <a:xfrm>
            <a:off x="9098280" y="3429000"/>
            <a:ext cx="384048" cy="429768"/>
          </a:xfrm>
          <a:prstGeom prst="rect">
            <a:avLst/>
          </a:prstGeom>
          <a:solidFill>
            <a:srgbClr val="49B471"/>
          </a:solidFill>
          <a:ln w="12700">
            <a:solidFill>
              <a:srgbClr val="49B471"/>
            </a:solidFill>
            <a:prstDash val="solid"/>
          </a:ln>
        </p:spPr>
      </p:sp>
      <p:sp>
        <p:nvSpPr>
          <p:cNvPr id="56" name="Shape 48"/>
          <p:cNvSpPr/>
          <p:nvPr/>
        </p:nvSpPr>
        <p:spPr>
          <a:xfrm>
            <a:off x="9509760" y="3429000"/>
            <a:ext cx="384048" cy="429768"/>
          </a:xfrm>
          <a:prstGeom prst="rect">
            <a:avLst/>
          </a:prstGeom>
          <a:solidFill>
            <a:srgbClr val="6CB161"/>
          </a:solidFill>
          <a:ln w="12700">
            <a:solidFill>
              <a:srgbClr val="6CB161"/>
            </a:solidFill>
            <a:prstDash val="solid"/>
          </a:ln>
        </p:spPr>
      </p:sp>
      <p:sp>
        <p:nvSpPr>
          <p:cNvPr id="57" name="Shape 49"/>
          <p:cNvSpPr/>
          <p:nvPr/>
        </p:nvSpPr>
        <p:spPr>
          <a:xfrm>
            <a:off x="9921240" y="3429000"/>
            <a:ext cx="384048" cy="429768"/>
          </a:xfrm>
          <a:prstGeom prst="rect">
            <a:avLst/>
          </a:prstGeom>
          <a:solidFill>
            <a:srgbClr val="B0AB43"/>
          </a:solidFill>
          <a:ln w="12700">
            <a:solidFill>
              <a:srgbClr val="B0AB43"/>
            </a:solidFill>
            <a:prstDash val="solid"/>
          </a:ln>
        </p:spPr>
      </p:sp>
      <p:sp>
        <p:nvSpPr>
          <p:cNvPr id="58" name="Shape 50"/>
          <p:cNvSpPr/>
          <p:nvPr/>
        </p:nvSpPr>
        <p:spPr>
          <a:xfrm>
            <a:off x="10332720" y="3429000"/>
            <a:ext cx="384048" cy="429768"/>
          </a:xfrm>
          <a:prstGeom prst="rect">
            <a:avLst/>
          </a:prstGeom>
          <a:solidFill>
            <a:srgbClr val="F39A29"/>
          </a:solidFill>
          <a:ln w="12700">
            <a:solidFill>
              <a:srgbClr val="F39A29"/>
            </a:solidFill>
            <a:prstDash val="solid"/>
          </a:ln>
        </p:spPr>
      </p:sp>
      <p:sp>
        <p:nvSpPr>
          <p:cNvPr id="59" name="Shape 51"/>
          <p:cNvSpPr/>
          <p:nvPr/>
        </p:nvSpPr>
        <p:spPr>
          <a:xfrm>
            <a:off x="10744200" y="3429000"/>
            <a:ext cx="384048" cy="429768"/>
          </a:xfrm>
          <a:prstGeom prst="rect">
            <a:avLst/>
          </a:prstGeom>
          <a:solidFill>
            <a:srgbClr val="EC733A"/>
          </a:solidFill>
          <a:ln w="12700">
            <a:solidFill>
              <a:srgbClr val="EC733A"/>
            </a:solidFill>
            <a:prstDash val="solid"/>
          </a:ln>
        </p:spPr>
      </p:sp>
      <p:sp>
        <p:nvSpPr>
          <p:cNvPr id="60" name="Shape 52"/>
          <p:cNvSpPr/>
          <p:nvPr/>
        </p:nvSpPr>
        <p:spPr>
          <a:xfrm>
            <a:off x="11155680" y="3429000"/>
            <a:ext cx="384048" cy="429768"/>
          </a:xfrm>
          <a:prstGeom prst="rect">
            <a:avLst/>
          </a:prstGeom>
          <a:solidFill>
            <a:srgbClr val="E85B45"/>
          </a:solidFill>
          <a:ln w="12700">
            <a:solidFill>
              <a:srgbClr val="E85B45"/>
            </a:solidFill>
            <a:prstDash val="solid"/>
          </a:ln>
        </p:spPr>
      </p:sp>
      <p:sp>
        <p:nvSpPr>
          <p:cNvPr id="61" name="Shape 53"/>
          <p:cNvSpPr/>
          <p:nvPr/>
        </p:nvSpPr>
        <p:spPr>
          <a:xfrm>
            <a:off x="8275320" y="3886200"/>
            <a:ext cx="384048" cy="429768"/>
          </a:xfrm>
          <a:prstGeom prst="rect">
            <a:avLst/>
          </a:prstGeom>
          <a:solidFill>
            <a:srgbClr val="30B67B"/>
          </a:solidFill>
          <a:ln w="12700">
            <a:solidFill>
              <a:srgbClr val="30B67B"/>
            </a:solidFill>
            <a:prstDash val="solid"/>
          </a:ln>
        </p:spPr>
      </p:sp>
      <p:sp>
        <p:nvSpPr>
          <p:cNvPr id="62" name="Shape 54"/>
          <p:cNvSpPr/>
          <p:nvPr/>
        </p:nvSpPr>
        <p:spPr>
          <a:xfrm>
            <a:off x="8686800" y="3886200"/>
            <a:ext cx="384048" cy="429768"/>
          </a:xfrm>
          <a:prstGeom prst="rect">
            <a:avLst/>
          </a:prstGeom>
          <a:solidFill>
            <a:srgbClr val="33B67A"/>
          </a:solidFill>
          <a:ln w="12700">
            <a:solidFill>
              <a:srgbClr val="33B67A"/>
            </a:solidFill>
            <a:prstDash val="solid"/>
          </a:ln>
        </p:spPr>
      </p:sp>
      <p:sp>
        <p:nvSpPr>
          <p:cNvPr id="63" name="Shape 55"/>
          <p:cNvSpPr/>
          <p:nvPr/>
        </p:nvSpPr>
        <p:spPr>
          <a:xfrm>
            <a:off x="9098280" y="3886200"/>
            <a:ext cx="384048" cy="429768"/>
          </a:xfrm>
          <a:prstGeom prst="rect">
            <a:avLst/>
          </a:prstGeom>
          <a:solidFill>
            <a:srgbClr val="38B578"/>
          </a:solidFill>
          <a:ln w="12700">
            <a:solidFill>
              <a:srgbClr val="38B578"/>
            </a:solidFill>
            <a:prstDash val="solid"/>
          </a:ln>
        </p:spPr>
      </p:sp>
      <p:sp>
        <p:nvSpPr>
          <p:cNvPr id="64" name="Shape 56"/>
          <p:cNvSpPr/>
          <p:nvPr/>
        </p:nvSpPr>
        <p:spPr>
          <a:xfrm>
            <a:off x="9509760" y="3886200"/>
            <a:ext cx="384048" cy="429768"/>
          </a:xfrm>
          <a:prstGeom prst="rect">
            <a:avLst/>
          </a:prstGeom>
          <a:solidFill>
            <a:srgbClr val="46B472"/>
          </a:solidFill>
          <a:ln w="12700">
            <a:solidFill>
              <a:srgbClr val="46B472"/>
            </a:solidFill>
            <a:prstDash val="solid"/>
          </a:ln>
        </p:spPr>
      </p:sp>
      <p:sp>
        <p:nvSpPr>
          <p:cNvPr id="65" name="Shape 57"/>
          <p:cNvSpPr/>
          <p:nvPr/>
        </p:nvSpPr>
        <p:spPr>
          <a:xfrm>
            <a:off x="9921240" y="3886200"/>
            <a:ext cx="384048" cy="429768"/>
          </a:xfrm>
          <a:prstGeom prst="rect">
            <a:avLst/>
          </a:prstGeom>
          <a:solidFill>
            <a:srgbClr val="67B163"/>
          </a:solidFill>
          <a:ln w="12700">
            <a:solidFill>
              <a:srgbClr val="67B163"/>
            </a:solidFill>
            <a:prstDash val="solid"/>
          </a:ln>
        </p:spPr>
      </p:sp>
      <p:sp>
        <p:nvSpPr>
          <p:cNvPr id="66" name="Shape 58"/>
          <p:cNvSpPr/>
          <p:nvPr/>
        </p:nvSpPr>
        <p:spPr>
          <a:xfrm>
            <a:off x="10332720" y="3886200"/>
            <a:ext cx="384048" cy="429768"/>
          </a:xfrm>
          <a:prstGeom prst="rect">
            <a:avLst/>
          </a:prstGeom>
          <a:solidFill>
            <a:srgbClr val="A6AC47"/>
          </a:solidFill>
          <a:ln w="12700">
            <a:solidFill>
              <a:srgbClr val="A6AC47"/>
            </a:solidFill>
            <a:prstDash val="solid"/>
          </a:ln>
        </p:spPr>
      </p:sp>
      <p:sp>
        <p:nvSpPr>
          <p:cNvPr id="67" name="Shape 59"/>
          <p:cNvSpPr/>
          <p:nvPr/>
        </p:nvSpPr>
        <p:spPr>
          <a:xfrm>
            <a:off x="10744200" y="3886200"/>
            <a:ext cx="384048" cy="429768"/>
          </a:xfrm>
          <a:prstGeom prst="rect">
            <a:avLst/>
          </a:prstGeom>
          <a:solidFill>
            <a:srgbClr val="F4A026"/>
          </a:solidFill>
          <a:ln w="12700">
            <a:solidFill>
              <a:srgbClr val="F4A026"/>
            </a:solidFill>
            <a:prstDash val="solid"/>
          </a:ln>
        </p:spPr>
      </p:sp>
      <p:sp>
        <p:nvSpPr>
          <p:cNvPr id="68" name="Shape 60"/>
          <p:cNvSpPr/>
          <p:nvPr/>
        </p:nvSpPr>
        <p:spPr>
          <a:xfrm>
            <a:off x="11155680" y="3886200"/>
            <a:ext cx="384048" cy="429768"/>
          </a:xfrm>
          <a:prstGeom prst="rect">
            <a:avLst/>
          </a:prstGeom>
          <a:solidFill>
            <a:srgbClr val="ED7738"/>
          </a:solidFill>
          <a:ln w="12700">
            <a:solidFill>
              <a:srgbClr val="ED7738"/>
            </a:solidFill>
            <a:prstDash val="solid"/>
          </a:ln>
        </p:spPr>
      </p:sp>
      <p:sp>
        <p:nvSpPr>
          <p:cNvPr id="69" name="Shape 61"/>
          <p:cNvSpPr/>
          <p:nvPr/>
        </p:nvSpPr>
        <p:spPr>
          <a:xfrm>
            <a:off x="8275320" y="4343400"/>
            <a:ext cx="384048" cy="429768"/>
          </a:xfrm>
          <a:prstGeom prst="rect">
            <a:avLst/>
          </a:prstGeom>
          <a:solidFill>
            <a:srgbClr val="2FB67C"/>
          </a:solidFill>
          <a:ln w="12700">
            <a:solidFill>
              <a:srgbClr val="2FB67C"/>
            </a:solidFill>
            <a:prstDash val="solid"/>
          </a:ln>
        </p:spPr>
      </p:sp>
      <p:sp>
        <p:nvSpPr>
          <p:cNvPr id="70" name="Shape 62"/>
          <p:cNvSpPr/>
          <p:nvPr/>
        </p:nvSpPr>
        <p:spPr>
          <a:xfrm>
            <a:off x="8686800" y="4343400"/>
            <a:ext cx="384048" cy="429768"/>
          </a:xfrm>
          <a:prstGeom prst="rect">
            <a:avLst/>
          </a:prstGeom>
          <a:solidFill>
            <a:srgbClr val="30B67B"/>
          </a:solidFill>
          <a:ln w="12700">
            <a:solidFill>
              <a:srgbClr val="30B67B"/>
            </a:solidFill>
            <a:prstDash val="solid"/>
          </a:ln>
        </p:spPr>
      </p:sp>
      <p:sp>
        <p:nvSpPr>
          <p:cNvPr id="71" name="Shape 63"/>
          <p:cNvSpPr/>
          <p:nvPr/>
        </p:nvSpPr>
        <p:spPr>
          <a:xfrm>
            <a:off x="9098280" y="4343400"/>
            <a:ext cx="384048" cy="429768"/>
          </a:xfrm>
          <a:prstGeom prst="rect">
            <a:avLst/>
          </a:prstGeom>
          <a:solidFill>
            <a:srgbClr val="32B67B"/>
          </a:solidFill>
          <a:ln w="12700">
            <a:solidFill>
              <a:srgbClr val="32B67B"/>
            </a:solidFill>
            <a:prstDash val="solid"/>
          </a:ln>
        </p:spPr>
      </p:sp>
      <p:sp>
        <p:nvSpPr>
          <p:cNvPr id="72" name="Shape 64"/>
          <p:cNvSpPr/>
          <p:nvPr/>
        </p:nvSpPr>
        <p:spPr>
          <a:xfrm>
            <a:off x="9509760" y="4343400"/>
            <a:ext cx="384048" cy="429768"/>
          </a:xfrm>
          <a:prstGeom prst="rect">
            <a:avLst/>
          </a:prstGeom>
          <a:solidFill>
            <a:srgbClr val="37B578"/>
          </a:solidFill>
          <a:ln w="12700">
            <a:solidFill>
              <a:srgbClr val="37B578"/>
            </a:solidFill>
            <a:prstDash val="solid"/>
          </a:ln>
        </p:spPr>
      </p:sp>
      <p:sp>
        <p:nvSpPr>
          <p:cNvPr id="73" name="Shape 65"/>
          <p:cNvSpPr/>
          <p:nvPr/>
        </p:nvSpPr>
        <p:spPr>
          <a:xfrm>
            <a:off x="9921240" y="4343400"/>
            <a:ext cx="384048" cy="429768"/>
          </a:xfrm>
          <a:prstGeom prst="rect">
            <a:avLst/>
          </a:prstGeom>
          <a:solidFill>
            <a:srgbClr val="44B473"/>
          </a:solidFill>
          <a:ln w="12700">
            <a:solidFill>
              <a:srgbClr val="44B473"/>
            </a:solidFill>
            <a:prstDash val="solid"/>
          </a:ln>
        </p:spPr>
      </p:sp>
      <p:sp>
        <p:nvSpPr>
          <p:cNvPr id="74" name="Shape 66"/>
          <p:cNvSpPr/>
          <p:nvPr/>
        </p:nvSpPr>
        <p:spPr>
          <a:xfrm>
            <a:off x="10332720" y="4343400"/>
            <a:ext cx="384048" cy="429768"/>
          </a:xfrm>
          <a:prstGeom prst="rect">
            <a:avLst/>
          </a:prstGeom>
          <a:solidFill>
            <a:srgbClr val="61B266"/>
          </a:solidFill>
          <a:ln w="12700">
            <a:solidFill>
              <a:srgbClr val="61B266"/>
            </a:solidFill>
            <a:prstDash val="solid"/>
          </a:ln>
        </p:spPr>
      </p:sp>
      <p:sp>
        <p:nvSpPr>
          <p:cNvPr id="75" name="Shape 67"/>
          <p:cNvSpPr/>
          <p:nvPr/>
        </p:nvSpPr>
        <p:spPr>
          <a:xfrm>
            <a:off x="10744200" y="4343400"/>
            <a:ext cx="384048" cy="429768"/>
          </a:xfrm>
          <a:prstGeom prst="rect">
            <a:avLst/>
          </a:prstGeom>
          <a:solidFill>
            <a:srgbClr val="9CAD4B"/>
          </a:solidFill>
          <a:ln w="12700">
            <a:solidFill>
              <a:srgbClr val="9CAD4B"/>
            </a:solidFill>
            <a:prstDash val="solid"/>
          </a:ln>
        </p:spPr>
      </p:sp>
      <p:sp>
        <p:nvSpPr>
          <p:cNvPr id="76" name="Shape 68"/>
          <p:cNvSpPr/>
          <p:nvPr/>
        </p:nvSpPr>
        <p:spPr>
          <a:xfrm>
            <a:off x="11155680" y="4343400"/>
            <a:ext cx="384048" cy="429768"/>
          </a:xfrm>
          <a:prstGeom prst="rect">
            <a:avLst/>
          </a:prstGeom>
          <a:solidFill>
            <a:srgbClr val="F5A524"/>
          </a:solidFill>
          <a:ln w="12700">
            <a:solidFill>
              <a:srgbClr val="F5A524"/>
            </a:solidFill>
            <a:prstDash val="solid"/>
          </a:ln>
        </p:spPr>
      </p:sp>
      <p:sp>
        <p:nvSpPr>
          <p:cNvPr id="77" name="Text 69"/>
          <p:cNvSpPr txBox="1"/>
          <p:nvPr/>
        </p:nvSpPr>
        <p:spPr>
          <a:xfrm>
            <a:off x="8275320" y="4846320"/>
            <a:ext cx="3291840" cy="274320"/>
          </a:xfrm>
          <a:prstGeom prst="rect">
            <a:avLst/>
          </a:prstGeom>
          <a:noFill/>
          <a:ln/>
        </p:spPr>
        <p:txBody>
          <a:bodyPr wrap="square" lIns="0" tIns="0" rIns="0" bIns="0" rtlCol="0" anchor="t"/>
          <a:lstStyle/>
          <a:p>
            <a:pPr algn="ctr" indent="0" marL="0">
              <a:buNone/>
            </a:pPr>
            <a:r>
              <a:rPr lang="en-US" sz="1100" dirty="0">
                <a:solidFill>
                  <a:schemeClr val="accent6"/>
                </a:solidFill>
              </a:rPr>
              <a:t>Tumble rate →</a:t>
            </a:r>
            <a:endParaRPr lang="en-US" sz="1100" dirty="0"/>
          </a:p>
        </p:txBody>
      </p:sp>
      <p:sp>
        <p:nvSpPr>
          <p:cNvPr id="78" name="Text 70"/>
          <p:cNvSpPr txBox="1"/>
          <p:nvPr/>
        </p:nvSpPr>
        <p:spPr>
          <a:xfrm rot="16200000">
            <a:off x="7589520" y="3291840"/>
            <a:ext cx="1097280" cy="274320"/>
          </a:xfrm>
          <a:prstGeom prst="rect">
            <a:avLst/>
          </a:prstGeom>
          <a:noFill/>
          <a:ln/>
        </p:spPr>
        <p:txBody>
          <a:bodyPr wrap="square" lIns="0" tIns="0" rIns="0" bIns="0" rtlCol="0" anchor="t"/>
          <a:lstStyle/>
          <a:p>
            <a:pPr algn="ctr" indent="0" marL="0">
              <a:buNone/>
            </a:pPr>
            <a:r>
              <a:rPr lang="en-US" sz="1100" dirty="0">
                <a:solidFill>
                  <a:schemeClr val="accent6"/>
                </a:solidFill>
              </a:rPr>
              <a:t>Nav noise →</a:t>
            </a:r>
            <a:endParaRPr lang="en-US" sz="1100" dirty="0"/>
          </a:p>
        </p:txBody>
      </p:sp>
      <p:sp>
        <p:nvSpPr>
          <p:cNvPr id="79" name="Shape 71"/>
          <p:cNvSpPr/>
          <p:nvPr/>
        </p:nvSpPr>
        <p:spPr>
          <a:xfrm>
            <a:off x="8275320" y="5276088"/>
            <a:ext cx="182880" cy="182880"/>
          </a:xfrm>
          <a:prstGeom prst="rect">
            <a:avLst/>
          </a:prstGeom>
          <a:solidFill>
            <a:srgbClr val="2FB67C"/>
          </a:solidFill>
          <a:ln w="12700">
            <a:solidFill>
              <a:srgbClr val="2FB67C"/>
            </a:solidFill>
            <a:prstDash val="solid"/>
          </a:ln>
        </p:spPr>
      </p:sp>
      <p:sp>
        <p:nvSpPr>
          <p:cNvPr id="80" name="Text 72"/>
          <p:cNvSpPr txBox="1"/>
          <p:nvPr/>
        </p:nvSpPr>
        <p:spPr>
          <a:xfrm>
            <a:off x="8531352" y="5212080"/>
            <a:ext cx="914400" cy="310896"/>
          </a:xfrm>
          <a:prstGeom prst="rect">
            <a:avLst/>
          </a:prstGeom>
          <a:noFill/>
          <a:ln/>
        </p:spPr>
        <p:txBody>
          <a:bodyPr wrap="square" lIns="0" tIns="0" rIns="0" bIns="0" rtlCol="0" anchor="ctr"/>
          <a:lstStyle/>
          <a:p>
            <a:pPr indent="0" marL="0">
              <a:buNone/>
            </a:pPr>
            <a:r>
              <a:rPr lang="en-US" sz="1100" dirty="0">
                <a:solidFill>
                  <a:schemeClr val="bg1"/>
                </a:solidFill>
              </a:rPr>
              <a:t>Feasible</a:t>
            </a:r>
            <a:endParaRPr lang="en-US" sz="1100" dirty="0"/>
          </a:p>
        </p:txBody>
      </p:sp>
      <p:sp>
        <p:nvSpPr>
          <p:cNvPr id="81" name="Shape 73"/>
          <p:cNvSpPr/>
          <p:nvPr/>
        </p:nvSpPr>
        <p:spPr>
          <a:xfrm>
            <a:off x="9555480" y="5276088"/>
            <a:ext cx="182880" cy="182880"/>
          </a:xfrm>
          <a:prstGeom prst="rect">
            <a:avLst/>
          </a:prstGeom>
          <a:solidFill>
            <a:srgbClr val="E5484D"/>
          </a:solidFill>
          <a:ln w="12700">
            <a:solidFill>
              <a:srgbClr val="E5484D"/>
            </a:solidFill>
            <a:prstDash val="solid"/>
          </a:ln>
        </p:spPr>
      </p:sp>
      <p:sp>
        <p:nvSpPr>
          <p:cNvPr id="82" name="Text 74"/>
          <p:cNvSpPr txBox="1"/>
          <p:nvPr/>
        </p:nvSpPr>
        <p:spPr>
          <a:xfrm>
            <a:off x="9811512" y="5212080"/>
            <a:ext cx="1188720" cy="310896"/>
          </a:xfrm>
          <a:prstGeom prst="rect">
            <a:avLst/>
          </a:prstGeom>
          <a:noFill/>
          <a:ln/>
        </p:spPr>
        <p:txBody>
          <a:bodyPr wrap="square" lIns="0" tIns="0" rIns="0" bIns="0" rtlCol="0" anchor="ctr"/>
          <a:lstStyle/>
          <a:p>
            <a:pPr indent="0" marL="0">
              <a:buNone/>
            </a:pPr>
            <a:r>
              <a:rPr lang="en-US" sz="1100" dirty="0">
                <a:solidFill>
                  <a:schemeClr val="bg1"/>
                </a:solidFill>
              </a:rPr>
              <a:t>Not feasible</a:t>
            </a:r>
            <a:endParaRPr lang="en-US" sz="1100" dirty="0"/>
          </a:p>
        </p:txBody>
      </p:sp>
      <p:sp>
        <p:nvSpPr>
          <p:cNvPr id="83" name="Text 75"/>
          <p:cNvSpPr txBox="1"/>
          <p:nvPr/>
        </p:nvSpPr>
        <p:spPr>
          <a:xfrm>
            <a:off x="8275320" y="5559552"/>
            <a:ext cx="3291840" cy="274320"/>
          </a:xfrm>
          <a:prstGeom prst="rect">
            <a:avLst/>
          </a:prstGeom>
          <a:noFill/>
          <a:ln/>
        </p:spPr>
        <p:txBody>
          <a:bodyPr wrap="square" lIns="0" tIns="0" rIns="0" bIns="0" rtlCol="0" anchor="t"/>
          <a:lstStyle/>
          <a:p>
            <a:pPr indent="0" marL="0">
              <a:buNone/>
            </a:pPr>
            <a:r>
              <a:rPr lang="en-US" sz="1000" i="1" dirty="0">
                <a:solidFill>
                  <a:schemeClr val="accent6"/>
                </a:solidFill>
              </a:rPr>
              <a:t>Illustrative only — not simulation results</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8A9BB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body" hasCustomPrompt="1"/>
          </p:nvPr>
        </p:nvSpPr>
        <p:spPr>
          <a:xfrm>
            <a:off x="548640" y="320040"/>
            <a:ext cx="11064240" cy="292608"/>
          </a:xfrm>
          <a:prstGeom prst="rect">
            <a:avLst/>
          </a:prstGeom>
          <a:noFill/>
          <a:ln/>
        </p:spPr>
        <p:txBody>
          <a:bodyPr wrap="square" lIns="0" tIns="0" rIns="0" bIns="0" rtlCol="0"/>
          <a:lstStyle/>
          <a:p>
            <a:pPr indent="0" marL="0">
              <a:buNone/>
            </a:pPr>
            <a:r>
              <a:rPr lang="en-US" sz="1200" b="1" spc="300" kern="0" dirty="0">
                <a:solidFill>
                  <a:schemeClr val="accent3"/>
                </a:solidFill>
              </a:rPr>
              <a:t>KEY ELEMENT · OSAN</a:t>
            </a:r>
            <a:endParaRPr lang="en-US" sz="1200" dirty="0"/>
          </a:p>
        </p:txBody>
      </p:sp>
      <p:sp>
        <p:nvSpPr>
          <p:cNvPr id="3" name="Text 1"/>
          <p:cNvSpPr/>
          <p:nvPr>
            <p:ph idx="102" type="title" hasCustomPrompt="1"/>
          </p:nvPr>
        </p:nvSpPr>
        <p:spPr>
          <a:xfrm>
            <a:off x="548640" y="621792"/>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OSAN Physical Architecture</a:t>
            </a:r>
            <a:endParaRPr lang="en-US" sz="3200" dirty="0"/>
          </a:p>
        </p:txBody>
      </p:sp>
      <p:sp>
        <p:nvSpPr>
          <p:cNvPr id="4" name="Text 2"/>
          <p:cNvSpPr txBox="1"/>
          <p:nvPr/>
        </p:nvSpPr>
        <p:spPr>
          <a:xfrm>
            <a:off x="548640" y="1371600"/>
            <a:ext cx="11064240" cy="365760"/>
          </a:xfrm>
          <a:prstGeom prst="rect">
            <a:avLst/>
          </a:prstGeom>
          <a:noFill/>
          <a:ln/>
        </p:spPr>
        <p:txBody>
          <a:bodyPr wrap="square" lIns="0" tIns="0" rIns="0" bIns="0" rtlCol="0" anchor="t"/>
          <a:lstStyle/>
          <a:p>
            <a:pPr indent="0" marL="0">
              <a:buNone/>
            </a:pPr>
            <a:r>
              <a:rPr lang="en-US" sz="1600" dirty="0">
                <a:solidFill>
                  <a:schemeClr val="tx2"/>
                </a:solidFill>
              </a:rPr>
              <a:t>Orbital Service &amp; Augmentation Node — an integrated service zone for high-value spacecraft</a:t>
            </a:r>
            <a:endParaRPr lang="en-US" sz="1600" dirty="0"/>
          </a:p>
        </p:txBody>
      </p:sp>
      <p:sp>
        <p:nvSpPr>
          <p:cNvPr id="5" name="Shape 3"/>
          <p:cNvSpPr/>
          <p:nvPr/>
        </p:nvSpPr>
        <p:spPr>
          <a:xfrm>
            <a:off x="1645920" y="2468880"/>
            <a:ext cx="1920240" cy="1463040"/>
          </a:xfrm>
          <a:prstGeom prst="line">
            <a:avLst/>
          </a:prstGeom>
          <a:noFill/>
          <a:ln w="19050">
            <a:solidFill>
              <a:schemeClr val="accent6"/>
            </a:solidFill>
            <a:prstDash val="dash"/>
          </a:ln>
        </p:spPr>
      </p:sp>
      <p:sp>
        <p:nvSpPr>
          <p:cNvPr id="6" name="Shape 4"/>
          <p:cNvSpPr/>
          <p:nvPr/>
        </p:nvSpPr>
        <p:spPr>
          <a:xfrm flipH="1">
            <a:off x="3566160" y="2468880"/>
            <a:ext cx="1920240" cy="1463040"/>
          </a:xfrm>
          <a:prstGeom prst="line">
            <a:avLst/>
          </a:prstGeom>
          <a:noFill/>
          <a:ln w="19050">
            <a:solidFill>
              <a:schemeClr val="accent6"/>
            </a:solidFill>
            <a:prstDash val="dash"/>
          </a:ln>
        </p:spPr>
      </p:sp>
      <p:sp>
        <p:nvSpPr>
          <p:cNvPr id="7" name="Shape 5"/>
          <p:cNvSpPr/>
          <p:nvPr/>
        </p:nvSpPr>
        <p:spPr>
          <a:xfrm flipV="1">
            <a:off x="1645920" y="3931920"/>
            <a:ext cx="1920240" cy="1554480"/>
          </a:xfrm>
          <a:prstGeom prst="line">
            <a:avLst/>
          </a:prstGeom>
          <a:noFill/>
          <a:ln w="19050">
            <a:solidFill>
              <a:schemeClr val="accent6"/>
            </a:solidFill>
            <a:prstDash val="dash"/>
          </a:ln>
        </p:spPr>
      </p:sp>
      <p:sp>
        <p:nvSpPr>
          <p:cNvPr id="8" name="Shape 6"/>
          <p:cNvSpPr/>
          <p:nvPr/>
        </p:nvSpPr>
        <p:spPr>
          <a:xfrm flipH="1" flipV="1">
            <a:off x="3566160" y="3931920"/>
            <a:ext cx="1920240" cy="1554480"/>
          </a:xfrm>
          <a:prstGeom prst="line">
            <a:avLst/>
          </a:prstGeom>
          <a:noFill/>
          <a:ln w="19050">
            <a:solidFill>
              <a:schemeClr val="accent6"/>
            </a:solidFill>
            <a:prstDash val="dash"/>
          </a:ln>
        </p:spPr>
      </p:sp>
      <p:sp>
        <p:nvSpPr>
          <p:cNvPr id="9" name="OSAN core"/>
          <p:cNvSpPr/>
          <p:nvPr/>
        </p:nvSpPr>
        <p:spPr>
          <a:xfrm>
            <a:off x="2423160" y="3200400"/>
            <a:ext cx="2286000" cy="1463040"/>
          </a:xfrm>
          <a:prstGeom prst="roundRect">
            <a:avLst>
              <a:gd name="adj" fmla="val 6250"/>
            </a:avLst>
          </a:prstGeom>
          <a:solidFill>
            <a:schemeClr val="tx1"/>
          </a:solidFill>
          <a:ln w="9525">
            <a:solidFill>
              <a:schemeClr val="tx1"/>
            </a:solidFill>
            <a:prstDash val="solid"/>
          </a:ln>
        </p:spPr>
      </p:sp>
      <p:pic>
        <p:nvPicPr>
          <p:cNvPr id="10" name="Image 0" descr="preencoded.png">    </p:cNvPr>
          <p:cNvPicPr>
            <a:picLocks noChangeAspect="1"/>
          </p:cNvPicPr>
          <p:nvPr/>
        </p:nvPicPr>
        <p:blipFill>
          <a:blip r:embed="rId1"/>
          <a:stretch>
            <a:fillRect/>
          </a:stretch>
        </p:blipFill>
        <p:spPr>
          <a:xfrm>
            <a:off x="3337560" y="3364992"/>
            <a:ext cx="457200" cy="457200"/>
          </a:xfrm>
          <a:prstGeom prst="rect">
            <a:avLst/>
          </a:prstGeom>
        </p:spPr>
      </p:pic>
      <p:sp>
        <p:nvSpPr>
          <p:cNvPr id="11" name="Text 8"/>
          <p:cNvSpPr txBox="1"/>
          <p:nvPr/>
        </p:nvSpPr>
        <p:spPr>
          <a:xfrm>
            <a:off x="2423160" y="3886200"/>
            <a:ext cx="2286000" cy="685800"/>
          </a:xfrm>
          <a:prstGeom prst="rect">
            <a:avLst/>
          </a:prstGeom>
          <a:noFill/>
          <a:ln/>
        </p:spPr>
        <p:txBody>
          <a:bodyPr wrap="square" lIns="0" tIns="0" rIns="0" bIns="0" rtlCol="0" anchor="t"/>
          <a:lstStyle/>
          <a:p>
            <a:pPr algn="ctr" indent="0" marL="0">
              <a:buNone/>
            </a:pPr>
            <a:r>
              <a:rPr lang="en-US" sz="1600" b="1" dirty="0">
                <a:solidFill>
                  <a:schemeClr val="bg1"/>
                </a:solidFill>
              </a:rPr>
              <a:t>OSAN</a:t>
            </a:r>
            <a:endParaRPr lang="en-US" sz="1600" dirty="0"/>
          </a:p>
          <a:p>
            <a:pPr algn="ctr" indent="0" marL="0">
              <a:buNone/>
            </a:pPr>
            <a:r>
              <a:rPr lang="en-US" sz="1600" b="1" dirty="0">
                <a:solidFill>
                  <a:schemeClr val="bg1"/>
                </a:solidFill>
              </a:rPr>
              <a:t>service zone</a:t>
            </a:r>
            <a:endParaRPr lang="en-US" sz="1600" dirty="0"/>
          </a:p>
        </p:txBody>
      </p:sp>
      <p:sp>
        <p:nvSpPr>
          <p:cNvPr id="12" name="Capture / load transfer node"/>
          <p:cNvSpPr/>
          <p:nvPr/>
        </p:nvSpPr>
        <p:spPr>
          <a:xfrm>
            <a:off x="548640" y="2057400"/>
            <a:ext cx="2194560" cy="822960"/>
          </a:xfrm>
          <a:prstGeom prst="roundRect">
            <a:avLst>
              <a:gd name="adj" fmla="val 11111"/>
            </a:avLst>
          </a:prstGeom>
          <a:solidFill>
            <a:schemeClr val="bg1"/>
          </a:solidFill>
          <a:ln w="9525">
            <a:solidFill>
              <a:srgbClr val="D5DCE6"/>
            </a:solidFill>
            <a:prstDash val="solid"/>
          </a:ln>
          <a:effectLst>
            <a:outerShdw sx="100000" sy="100000" kx="0" ky="0" algn="bl" rotWithShape="0" blurRad="101600" dist="25400" dir="5400000">
              <a:srgbClr val="0B1730">
                <a:alpha val="12000"/>
              </a:srgbClr>
            </a:outerShdw>
          </a:effectLst>
        </p:spPr>
      </p:sp>
      <p:sp>
        <p:nvSpPr>
          <p:cNvPr id="13" name="Shape 10"/>
          <p:cNvSpPr/>
          <p:nvPr/>
        </p:nvSpPr>
        <p:spPr>
          <a:xfrm>
            <a:off x="685800" y="2212848"/>
            <a:ext cx="512064" cy="512064"/>
          </a:xfrm>
          <a:prstGeom prst="ellipse">
            <a:avLst/>
          </a:prstGeom>
          <a:solidFill>
            <a:schemeClr val="accent2"/>
          </a:solidFill>
          <a:ln w="12700">
            <a:solidFill>
              <a:schemeClr val="accent2"/>
            </a:solidFill>
            <a:prstDash val="solid"/>
          </a:ln>
        </p:spPr>
      </p:sp>
      <p:pic>
        <p:nvPicPr>
          <p:cNvPr id="14" name="Image 1" descr="FaLink">    </p:cNvPr>
          <p:cNvPicPr>
            <a:picLocks noChangeAspect="1"/>
          </p:cNvPicPr>
          <p:nvPr/>
        </p:nvPicPr>
        <p:blipFill>
          <a:blip r:embed="rId2"/>
          <a:stretch>
            <a:fillRect/>
          </a:stretch>
        </p:blipFill>
        <p:spPr>
          <a:xfrm>
            <a:off x="813816" y="2340864"/>
            <a:ext cx="256032" cy="256032"/>
          </a:xfrm>
          <a:prstGeom prst="rect">
            <a:avLst/>
          </a:prstGeom>
        </p:spPr>
      </p:pic>
      <p:sp>
        <p:nvSpPr>
          <p:cNvPr id="15" name="Text 11"/>
          <p:cNvSpPr txBox="1"/>
          <p:nvPr/>
        </p:nvSpPr>
        <p:spPr>
          <a:xfrm>
            <a:off x="1298448" y="2057400"/>
            <a:ext cx="1371600" cy="822960"/>
          </a:xfrm>
          <a:prstGeom prst="rect">
            <a:avLst/>
          </a:prstGeom>
          <a:noFill/>
          <a:ln/>
        </p:spPr>
        <p:txBody>
          <a:bodyPr wrap="square" lIns="0" tIns="0" rIns="0" bIns="0" rtlCol="0" anchor="ctr"/>
          <a:lstStyle/>
          <a:p>
            <a:pPr indent="0" marL="0">
              <a:buNone/>
            </a:pPr>
            <a:r>
              <a:rPr lang="en-US" sz="1400" b="1" dirty="0">
                <a:solidFill>
                  <a:schemeClr val="tx1"/>
                </a:solidFill>
              </a:rPr>
              <a:t>Capture / load transfer</a:t>
            </a:r>
            <a:endParaRPr lang="en-US" sz="1400" dirty="0"/>
          </a:p>
        </p:txBody>
      </p:sp>
      <p:sp>
        <p:nvSpPr>
          <p:cNvPr id="16" name="Power / data node"/>
          <p:cNvSpPr/>
          <p:nvPr/>
        </p:nvSpPr>
        <p:spPr>
          <a:xfrm>
            <a:off x="4389120" y="2057400"/>
            <a:ext cx="2194560" cy="822960"/>
          </a:xfrm>
          <a:prstGeom prst="roundRect">
            <a:avLst>
              <a:gd name="adj" fmla="val 11111"/>
            </a:avLst>
          </a:prstGeom>
          <a:solidFill>
            <a:schemeClr val="bg1"/>
          </a:solidFill>
          <a:ln w="9525">
            <a:solidFill>
              <a:srgbClr val="D5DCE6"/>
            </a:solidFill>
            <a:prstDash val="solid"/>
          </a:ln>
          <a:effectLst>
            <a:outerShdw sx="100000" sy="100000" kx="0" ky="0" algn="bl" rotWithShape="0" blurRad="101600" dist="25400" dir="5400000">
              <a:srgbClr val="0B1730">
                <a:alpha val="12000"/>
              </a:srgbClr>
            </a:outerShdw>
          </a:effectLst>
        </p:spPr>
      </p:sp>
      <p:sp>
        <p:nvSpPr>
          <p:cNvPr id="17" name="Shape 13"/>
          <p:cNvSpPr/>
          <p:nvPr/>
        </p:nvSpPr>
        <p:spPr>
          <a:xfrm>
            <a:off x="4526280" y="2212848"/>
            <a:ext cx="512064" cy="512064"/>
          </a:xfrm>
          <a:prstGeom prst="ellipse">
            <a:avLst/>
          </a:prstGeom>
          <a:solidFill>
            <a:schemeClr val="accent2"/>
          </a:solidFill>
          <a:ln w="12700">
            <a:solidFill>
              <a:schemeClr val="accent2"/>
            </a:solidFill>
            <a:prstDash val="solid"/>
          </a:ln>
        </p:spPr>
      </p:sp>
      <p:pic>
        <p:nvPicPr>
          <p:cNvPr id="18" name="Image 2" descr="FaPlug">    </p:cNvPr>
          <p:cNvPicPr>
            <a:picLocks noChangeAspect="1"/>
          </p:cNvPicPr>
          <p:nvPr/>
        </p:nvPicPr>
        <p:blipFill>
          <a:blip r:embed="rId3"/>
          <a:stretch>
            <a:fillRect/>
          </a:stretch>
        </p:blipFill>
        <p:spPr>
          <a:xfrm>
            <a:off x="4654296" y="2340864"/>
            <a:ext cx="256032" cy="256032"/>
          </a:xfrm>
          <a:prstGeom prst="rect">
            <a:avLst/>
          </a:prstGeom>
        </p:spPr>
      </p:pic>
      <p:sp>
        <p:nvSpPr>
          <p:cNvPr id="19" name="Text 14"/>
          <p:cNvSpPr txBox="1"/>
          <p:nvPr/>
        </p:nvSpPr>
        <p:spPr>
          <a:xfrm>
            <a:off x="5138928" y="2057400"/>
            <a:ext cx="1371600" cy="822960"/>
          </a:xfrm>
          <a:prstGeom prst="rect">
            <a:avLst/>
          </a:prstGeom>
          <a:noFill/>
          <a:ln/>
        </p:spPr>
        <p:txBody>
          <a:bodyPr wrap="square" lIns="0" tIns="0" rIns="0" bIns="0" rtlCol="0" anchor="ctr"/>
          <a:lstStyle/>
          <a:p>
            <a:pPr indent="0" marL="0">
              <a:buNone/>
            </a:pPr>
            <a:r>
              <a:rPr lang="en-US" sz="1400" b="1" dirty="0">
                <a:solidFill>
                  <a:schemeClr val="tx1"/>
                </a:solidFill>
              </a:rPr>
              <a:t>Power / data</a:t>
            </a:r>
            <a:endParaRPr lang="en-US" sz="1400" dirty="0"/>
          </a:p>
        </p:txBody>
      </p:sp>
      <p:sp>
        <p:nvSpPr>
          <p:cNvPr id="20" name="Optional fluid transfer node"/>
          <p:cNvSpPr/>
          <p:nvPr/>
        </p:nvSpPr>
        <p:spPr>
          <a:xfrm>
            <a:off x="548640" y="5074920"/>
            <a:ext cx="2194560" cy="822960"/>
          </a:xfrm>
          <a:prstGeom prst="roundRect">
            <a:avLst>
              <a:gd name="adj" fmla="val 11111"/>
            </a:avLst>
          </a:prstGeom>
          <a:solidFill>
            <a:schemeClr val="bg1"/>
          </a:solidFill>
          <a:ln w="9525">
            <a:solidFill>
              <a:srgbClr val="D5DCE6"/>
            </a:solidFill>
            <a:prstDash val="solid"/>
          </a:ln>
          <a:effectLst>
            <a:outerShdw sx="100000" sy="100000" kx="0" ky="0" algn="bl" rotWithShape="0" blurRad="101600" dist="25400" dir="5400000">
              <a:srgbClr val="0B1730">
                <a:alpha val="12000"/>
              </a:srgbClr>
            </a:outerShdw>
          </a:effectLst>
        </p:spPr>
      </p:sp>
      <p:sp>
        <p:nvSpPr>
          <p:cNvPr id="21" name="Shape 16"/>
          <p:cNvSpPr/>
          <p:nvPr/>
        </p:nvSpPr>
        <p:spPr>
          <a:xfrm>
            <a:off x="685800" y="5230368"/>
            <a:ext cx="512064" cy="512064"/>
          </a:xfrm>
          <a:prstGeom prst="ellipse">
            <a:avLst/>
          </a:prstGeom>
          <a:solidFill>
            <a:schemeClr val="accent2"/>
          </a:solidFill>
          <a:ln w="12700">
            <a:solidFill>
              <a:schemeClr val="accent2"/>
            </a:solidFill>
            <a:prstDash val="solid"/>
          </a:ln>
        </p:spPr>
      </p:sp>
      <p:pic>
        <p:nvPicPr>
          <p:cNvPr id="22" name="Image 3" descr="FaTint">    </p:cNvPr>
          <p:cNvPicPr>
            <a:picLocks noChangeAspect="1"/>
          </p:cNvPicPr>
          <p:nvPr/>
        </p:nvPicPr>
        <p:blipFill>
          <a:blip r:embed="rId4"/>
          <a:stretch>
            <a:fillRect/>
          </a:stretch>
        </p:blipFill>
        <p:spPr>
          <a:xfrm>
            <a:off x="813816" y="5358384"/>
            <a:ext cx="256032" cy="256032"/>
          </a:xfrm>
          <a:prstGeom prst="rect">
            <a:avLst/>
          </a:prstGeom>
        </p:spPr>
      </p:pic>
      <p:sp>
        <p:nvSpPr>
          <p:cNvPr id="23" name="Text 17"/>
          <p:cNvSpPr txBox="1"/>
          <p:nvPr/>
        </p:nvSpPr>
        <p:spPr>
          <a:xfrm>
            <a:off x="1298448" y="5074920"/>
            <a:ext cx="1371600" cy="822960"/>
          </a:xfrm>
          <a:prstGeom prst="rect">
            <a:avLst/>
          </a:prstGeom>
          <a:noFill/>
          <a:ln/>
        </p:spPr>
        <p:txBody>
          <a:bodyPr wrap="square" lIns="0" tIns="0" rIns="0" bIns="0" rtlCol="0" anchor="ctr"/>
          <a:lstStyle/>
          <a:p>
            <a:pPr indent="0" marL="0">
              <a:buNone/>
            </a:pPr>
            <a:r>
              <a:rPr lang="en-US" sz="1400" b="1" dirty="0">
                <a:solidFill>
                  <a:schemeClr val="tx1"/>
                </a:solidFill>
              </a:rPr>
              <a:t>Optional fluid transfer</a:t>
            </a:r>
            <a:endParaRPr lang="en-US" sz="1400" dirty="0"/>
          </a:p>
        </p:txBody>
      </p:sp>
      <p:sp>
        <p:nvSpPr>
          <p:cNvPr id="24" name="POD attachment node"/>
          <p:cNvSpPr/>
          <p:nvPr/>
        </p:nvSpPr>
        <p:spPr>
          <a:xfrm>
            <a:off x="4389120" y="5074920"/>
            <a:ext cx="2194560" cy="822960"/>
          </a:xfrm>
          <a:prstGeom prst="roundRect">
            <a:avLst>
              <a:gd name="adj" fmla="val 11111"/>
            </a:avLst>
          </a:prstGeom>
          <a:solidFill>
            <a:schemeClr val="bg1"/>
          </a:solidFill>
          <a:ln w="9525">
            <a:solidFill>
              <a:srgbClr val="D5DCE6"/>
            </a:solidFill>
            <a:prstDash val="solid"/>
          </a:ln>
          <a:effectLst>
            <a:outerShdw sx="100000" sy="100000" kx="0" ky="0" algn="bl" rotWithShape="0" blurRad="101600" dist="25400" dir="5400000">
              <a:srgbClr val="0B1730">
                <a:alpha val="12000"/>
              </a:srgbClr>
            </a:outerShdw>
          </a:effectLst>
        </p:spPr>
      </p:sp>
      <p:sp>
        <p:nvSpPr>
          <p:cNvPr id="25" name="Shape 19"/>
          <p:cNvSpPr/>
          <p:nvPr/>
        </p:nvSpPr>
        <p:spPr>
          <a:xfrm>
            <a:off x="4526280" y="5230368"/>
            <a:ext cx="512064" cy="512064"/>
          </a:xfrm>
          <a:prstGeom prst="ellipse">
            <a:avLst/>
          </a:prstGeom>
          <a:solidFill>
            <a:schemeClr val="accent2"/>
          </a:solidFill>
          <a:ln w="12700">
            <a:solidFill>
              <a:schemeClr val="accent2"/>
            </a:solidFill>
            <a:prstDash val="solid"/>
          </a:ln>
        </p:spPr>
      </p:sp>
      <p:pic>
        <p:nvPicPr>
          <p:cNvPr id="26" name="Image 4" descr="FaPuzzlePiece">    </p:cNvPr>
          <p:cNvPicPr>
            <a:picLocks noChangeAspect="1"/>
          </p:cNvPicPr>
          <p:nvPr/>
        </p:nvPicPr>
        <p:blipFill>
          <a:blip r:embed="rId5"/>
          <a:stretch>
            <a:fillRect/>
          </a:stretch>
        </p:blipFill>
        <p:spPr>
          <a:xfrm>
            <a:off x="4654296" y="5358384"/>
            <a:ext cx="256032" cy="256032"/>
          </a:xfrm>
          <a:prstGeom prst="rect">
            <a:avLst/>
          </a:prstGeom>
        </p:spPr>
      </p:pic>
      <p:sp>
        <p:nvSpPr>
          <p:cNvPr id="27" name="Text 20"/>
          <p:cNvSpPr txBox="1"/>
          <p:nvPr/>
        </p:nvSpPr>
        <p:spPr>
          <a:xfrm>
            <a:off x="5138928" y="5074920"/>
            <a:ext cx="1371600" cy="822960"/>
          </a:xfrm>
          <a:prstGeom prst="rect">
            <a:avLst/>
          </a:prstGeom>
          <a:noFill/>
          <a:ln/>
        </p:spPr>
        <p:txBody>
          <a:bodyPr wrap="square" lIns="0" tIns="0" rIns="0" bIns="0" rtlCol="0" anchor="ctr"/>
          <a:lstStyle/>
          <a:p>
            <a:pPr indent="0" marL="0">
              <a:buNone/>
            </a:pPr>
            <a:r>
              <a:rPr lang="en-US" sz="1400" b="1" dirty="0">
                <a:solidFill>
                  <a:schemeClr val="tx1"/>
                </a:solidFill>
              </a:rPr>
              <a:t>POD attachment</a:t>
            </a:r>
            <a:endParaRPr lang="en-US" sz="1400" dirty="0"/>
          </a:p>
        </p:txBody>
      </p:sp>
      <p:sp>
        <p:nvSpPr>
          <p:cNvPr id="28" name="Goal panel"/>
          <p:cNvSpPr/>
          <p:nvPr/>
        </p:nvSpPr>
        <p:spPr>
          <a:xfrm>
            <a:off x="7040880" y="2057400"/>
            <a:ext cx="4572000" cy="1828800"/>
          </a:xfrm>
          <a:prstGeom prst="roundRect">
            <a:avLst>
              <a:gd name="adj" fmla="val 5000"/>
            </a:avLst>
          </a:prstGeom>
          <a:solidFill>
            <a:schemeClr val="bg2"/>
          </a:solidFill>
          <a:ln w="9525">
            <a:solidFill>
              <a:schemeClr val="bg2"/>
            </a:solidFill>
            <a:prstDash val="solid"/>
          </a:ln>
        </p:spPr>
      </p:sp>
      <p:sp>
        <p:nvSpPr>
          <p:cNvPr id="29" name="Text 22"/>
          <p:cNvSpPr txBox="1"/>
          <p:nvPr/>
        </p:nvSpPr>
        <p:spPr>
          <a:xfrm>
            <a:off x="7315200" y="2212848"/>
            <a:ext cx="3657600" cy="274320"/>
          </a:xfrm>
          <a:prstGeom prst="rect">
            <a:avLst/>
          </a:prstGeom>
          <a:noFill/>
          <a:ln/>
        </p:spPr>
        <p:txBody>
          <a:bodyPr wrap="square" lIns="0" tIns="0" rIns="0" bIns="0" rtlCol="0" anchor="t"/>
          <a:lstStyle/>
          <a:p>
            <a:pPr indent="0" marL="0">
              <a:buNone/>
            </a:pPr>
            <a:r>
              <a:rPr lang="en-US" sz="1200" b="1" spc="300" kern="0" dirty="0">
                <a:solidFill>
                  <a:schemeClr val="accent3"/>
                </a:solidFill>
              </a:rPr>
              <a:t>GOAL</a:t>
            </a:r>
            <a:endParaRPr lang="en-US" sz="1200" dirty="0"/>
          </a:p>
        </p:txBody>
      </p:sp>
      <p:sp>
        <p:nvSpPr>
          <p:cNvPr id="30" name="Text 23"/>
          <p:cNvSpPr txBox="1"/>
          <p:nvPr/>
        </p:nvSpPr>
        <p:spPr>
          <a:xfrm>
            <a:off x="7315200" y="2514600"/>
            <a:ext cx="4114800" cy="640080"/>
          </a:xfrm>
          <a:prstGeom prst="rect">
            <a:avLst/>
          </a:prstGeom>
          <a:noFill/>
          <a:ln/>
        </p:spPr>
        <p:txBody>
          <a:bodyPr wrap="square" lIns="0" tIns="0" rIns="0" bIns="0" rtlCol="0" anchor="t"/>
          <a:lstStyle/>
          <a:p>
            <a:pPr indent="0" marL="0">
              <a:buNone/>
            </a:pPr>
            <a:r>
              <a:rPr lang="en-US" sz="1600" b="1" dirty="0">
                <a:solidFill>
                  <a:schemeClr val="tx1"/>
                </a:solidFill>
              </a:rPr>
              <a:t>Integrate existing ideas into one scalable platform concept</a:t>
            </a:r>
            <a:endParaRPr lang="en-US" sz="1600" dirty="0"/>
          </a:p>
        </p:txBody>
      </p:sp>
      <p:sp>
        <p:nvSpPr>
          <p:cNvPr id="31" name="MICE chip"/>
          <p:cNvSpPr/>
          <p:nvPr/>
        </p:nvSpPr>
        <p:spPr>
          <a:xfrm>
            <a:off x="7315200" y="3291840"/>
            <a:ext cx="804672" cy="365760"/>
          </a:xfrm>
          <a:prstGeom prst="roundRect">
            <a:avLst>
              <a:gd name="adj" fmla="val 50000"/>
            </a:avLst>
          </a:prstGeom>
          <a:solidFill>
            <a:schemeClr val="bg1"/>
          </a:solidFill>
          <a:ln w="9525">
            <a:solidFill>
              <a:srgbClr val="8A9BB0"/>
            </a:solidFill>
            <a:prstDash val="solid"/>
          </a:ln>
        </p:spPr>
      </p:sp>
      <p:sp>
        <p:nvSpPr>
          <p:cNvPr id="32" name="Text 25"/>
          <p:cNvSpPr txBox="1"/>
          <p:nvPr/>
        </p:nvSpPr>
        <p:spPr>
          <a:xfrm>
            <a:off x="7315200" y="3291840"/>
            <a:ext cx="804672" cy="365760"/>
          </a:xfrm>
          <a:prstGeom prst="rect">
            <a:avLst/>
          </a:prstGeom>
          <a:noFill/>
          <a:ln/>
        </p:spPr>
        <p:txBody>
          <a:bodyPr wrap="square" lIns="0" tIns="0" rIns="0" bIns="0" rtlCol="0" anchor="ctr"/>
          <a:lstStyle/>
          <a:p>
            <a:pPr algn="ctr" indent="0" marL="0">
              <a:buNone/>
            </a:pPr>
            <a:r>
              <a:rPr lang="en-US" sz="1100" b="1" dirty="0">
                <a:solidFill>
                  <a:schemeClr val="tx2"/>
                </a:solidFill>
              </a:rPr>
              <a:t>MICE</a:t>
            </a:r>
            <a:endParaRPr lang="en-US" sz="1100" dirty="0"/>
          </a:p>
        </p:txBody>
      </p:sp>
      <p:sp>
        <p:nvSpPr>
          <p:cNvPr id="33" name="MASI chip"/>
          <p:cNvSpPr/>
          <p:nvPr/>
        </p:nvSpPr>
        <p:spPr>
          <a:xfrm>
            <a:off x="8229600" y="3291840"/>
            <a:ext cx="804672" cy="365760"/>
          </a:xfrm>
          <a:prstGeom prst="roundRect">
            <a:avLst>
              <a:gd name="adj" fmla="val 50000"/>
            </a:avLst>
          </a:prstGeom>
          <a:solidFill>
            <a:schemeClr val="bg1"/>
          </a:solidFill>
          <a:ln w="9525">
            <a:solidFill>
              <a:srgbClr val="8A9BB0"/>
            </a:solidFill>
            <a:prstDash val="solid"/>
          </a:ln>
        </p:spPr>
      </p:sp>
      <p:sp>
        <p:nvSpPr>
          <p:cNvPr id="34" name="Text 27"/>
          <p:cNvSpPr txBox="1"/>
          <p:nvPr/>
        </p:nvSpPr>
        <p:spPr>
          <a:xfrm>
            <a:off x="8229600" y="3291840"/>
            <a:ext cx="804672" cy="365760"/>
          </a:xfrm>
          <a:prstGeom prst="rect">
            <a:avLst/>
          </a:prstGeom>
          <a:noFill/>
          <a:ln/>
        </p:spPr>
        <p:txBody>
          <a:bodyPr wrap="square" lIns="0" tIns="0" rIns="0" bIns="0" rtlCol="0" anchor="ctr"/>
          <a:lstStyle/>
          <a:p>
            <a:pPr algn="ctr" indent="0" marL="0">
              <a:buNone/>
            </a:pPr>
            <a:r>
              <a:rPr lang="en-US" sz="1100" b="1" dirty="0">
                <a:solidFill>
                  <a:schemeClr val="tx2"/>
                </a:solidFill>
              </a:rPr>
              <a:t>MASI</a:t>
            </a:r>
            <a:endParaRPr lang="en-US" sz="1100" dirty="0"/>
          </a:p>
        </p:txBody>
      </p:sp>
      <p:sp>
        <p:nvSpPr>
          <p:cNvPr id="35" name="ASSIST chip"/>
          <p:cNvSpPr/>
          <p:nvPr/>
        </p:nvSpPr>
        <p:spPr>
          <a:xfrm>
            <a:off x="9144000" y="3291840"/>
            <a:ext cx="804672" cy="365760"/>
          </a:xfrm>
          <a:prstGeom prst="roundRect">
            <a:avLst>
              <a:gd name="adj" fmla="val 50000"/>
            </a:avLst>
          </a:prstGeom>
          <a:solidFill>
            <a:schemeClr val="bg1"/>
          </a:solidFill>
          <a:ln w="9525">
            <a:solidFill>
              <a:srgbClr val="8A9BB0"/>
            </a:solidFill>
            <a:prstDash val="solid"/>
          </a:ln>
        </p:spPr>
      </p:sp>
      <p:sp>
        <p:nvSpPr>
          <p:cNvPr id="36" name="Text 29"/>
          <p:cNvSpPr txBox="1"/>
          <p:nvPr/>
        </p:nvSpPr>
        <p:spPr>
          <a:xfrm>
            <a:off x="9144000" y="3291840"/>
            <a:ext cx="804672" cy="365760"/>
          </a:xfrm>
          <a:prstGeom prst="rect">
            <a:avLst/>
          </a:prstGeom>
          <a:noFill/>
          <a:ln/>
        </p:spPr>
        <p:txBody>
          <a:bodyPr wrap="square" lIns="0" tIns="0" rIns="0" bIns="0" rtlCol="0" anchor="ctr"/>
          <a:lstStyle/>
          <a:p>
            <a:pPr algn="ctr" indent="0" marL="0">
              <a:buNone/>
            </a:pPr>
            <a:r>
              <a:rPr lang="en-US" sz="1100" b="1" dirty="0">
                <a:solidFill>
                  <a:schemeClr val="tx2"/>
                </a:solidFill>
              </a:rPr>
              <a:t>ASSIST</a:t>
            </a:r>
            <a:endParaRPr lang="en-US" sz="1100" dirty="0"/>
          </a:p>
        </p:txBody>
      </p:sp>
      <p:sp>
        <p:nvSpPr>
          <p:cNvPr id="37" name="Shape 30"/>
          <p:cNvSpPr/>
          <p:nvPr/>
        </p:nvSpPr>
        <p:spPr>
          <a:xfrm>
            <a:off x="10040112" y="3474720"/>
            <a:ext cx="365760" cy="914"/>
          </a:xfrm>
          <a:prstGeom prst="line">
            <a:avLst/>
          </a:prstGeom>
          <a:noFill/>
          <a:ln w="22225">
            <a:solidFill>
              <a:schemeClr val="tx2"/>
            </a:solidFill>
            <a:prstDash val="solid"/>
            <a:tailEnd type="triangle"/>
          </a:ln>
        </p:spPr>
      </p:sp>
      <p:sp>
        <p:nvSpPr>
          <p:cNvPr id="38" name="OSAN chip"/>
          <p:cNvSpPr/>
          <p:nvPr/>
        </p:nvSpPr>
        <p:spPr>
          <a:xfrm>
            <a:off x="10469880" y="3291840"/>
            <a:ext cx="914400" cy="365760"/>
          </a:xfrm>
          <a:prstGeom prst="roundRect">
            <a:avLst>
              <a:gd name="adj" fmla="val 50000"/>
            </a:avLst>
          </a:prstGeom>
          <a:solidFill>
            <a:schemeClr val="accent1"/>
          </a:solidFill>
          <a:ln w="9525">
            <a:solidFill>
              <a:schemeClr val="accent1"/>
            </a:solidFill>
            <a:prstDash val="solid"/>
          </a:ln>
        </p:spPr>
      </p:sp>
      <p:sp>
        <p:nvSpPr>
          <p:cNvPr id="39" name="Text 32"/>
          <p:cNvSpPr txBox="1"/>
          <p:nvPr/>
        </p:nvSpPr>
        <p:spPr>
          <a:xfrm>
            <a:off x="10469880" y="3291840"/>
            <a:ext cx="914400" cy="365760"/>
          </a:xfrm>
          <a:prstGeom prst="rect">
            <a:avLst/>
          </a:prstGeom>
          <a:noFill/>
          <a:ln/>
        </p:spPr>
        <p:txBody>
          <a:bodyPr wrap="square" lIns="0" tIns="0" rIns="0" bIns="0" rtlCol="0" anchor="ctr"/>
          <a:lstStyle/>
          <a:p>
            <a:pPr algn="ctr" indent="0" marL="0">
              <a:buNone/>
            </a:pPr>
            <a:r>
              <a:rPr lang="en-US" sz="1100" b="1" dirty="0">
                <a:solidFill>
                  <a:schemeClr val="tx1"/>
                </a:solidFill>
              </a:rPr>
              <a:t>OSAN</a:t>
            </a:r>
            <a:endParaRPr lang="en-US" sz="1100" dirty="0"/>
          </a:p>
        </p:txBody>
      </p:sp>
      <p:sp>
        <p:nvSpPr>
          <p:cNvPr id="40" name="Text 33"/>
          <p:cNvSpPr txBox="1"/>
          <p:nvPr/>
        </p:nvSpPr>
        <p:spPr>
          <a:xfrm>
            <a:off x="7040880" y="4160520"/>
            <a:ext cx="4572000" cy="365760"/>
          </a:xfrm>
          <a:prstGeom prst="rect">
            <a:avLst/>
          </a:prstGeom>
          <a:noFill/>
          <a:ln/>
        </p:spPr>
        <p:txBody>
          <a:bodyPr wrap="square" lIns="0" tIns="0" rIns="0" bIns="0" rtlCol="0" anchor="t"/>
          <a:lstStyle/>
          <a:p>
            <a:pPr indent="0" marL="0">
              <a:buNone/>
            </a:pPr>
            <a:r>
              <a:rPr lang="en-US" sz="1800" b="1" dirty="0">
                <a:solidFill>
                  <a:schemeClr val="tx1"/>
                </a:solidFill>
              </a:rPr>
              <a:t>Why it matters</a:t>
            </a:r>
            <a:endParaRPr lang="en-US" sz="1800" dirty="0"/>
          </a:p>
        </p:txBody>
      </p:sp>
      <p:sp>
        <p:nvSpPr>
          <p:cNvPr id="41" name="Text 34"/>
          <p:cNvSpPr txBox="1"/>
          <p:nvPr/>
        </p:nvSpPr>
        <p:spPr>
          <a:xfrm>
            <a:off x="7040880" y="4572000"/>
            <a:ext cx="4572000" cy="146304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2"/>
                </a:solidFill>
              </a:rPr>
              <a:t>One service zone instead of scattered interfaces on the bus</a:t>
            </a:r>
            <a:endParaRPr lang="en-US" sz="1500" dirty="0"/>
          </a:p>
          <a:p>
            <a:pPr marL="203200" indent="-203200">
              <a:spcAft>
                <a:spcPts val="600"/>
              </a:spcAft>
              <a:buSzPct val="100000"/>
              <a:buChar char="•"/>
            </a:pPr>
            <a:r>
              <a:rPr lang="en-US" sz="1500" dirty="0">
                <a:solidFill>
                  <a:schemeClr val="tx2"/>
                </a:solidFill>
              </a:rPr>
              <a:t>Modular: fit only the interfaces each mission needs</a:t>
            </a:r>
            <a:endParaRPr lang="en-US" sz="1500" dirty="0"/>
          </a:p>
          <a:p>
            <a:pPr marL="203200" indent="-203200">
              <a:spcAft>
                <a:spcPts val="600"/>
              </a:spcAft>
              <a:buSzPct val="100000"/>
              <a:buChar char="•"/>
            </a:pPr>
            <a:r>
              <a:rPr lang="en-US" sz="1500" dirty="0">
                <a:solidFill>
                  <a:schemeClr val="tx2"/>
                </a:solidFill>
              </a:rPr>
              <a:t>Builds on existing work rather than a new bespoke standard</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8A9BB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body" hasCustomPrompt="1"/>
          </p:nvPr>
        </p:nvSpPr>
        <p:spPr>
          <a:xfrm>
            <a:off x="548640" y="320040"/>
            <a:ext cx="11064240" cy="292608"/>
          </a:xfrm>
          <a:prstGeom prst="rect">
            <a:avLst/>
          </a:prstGeom>
          <a:noFill/>
          <a:ln/>
        </p:spPr>
        <p:txBody>
          <a:bodyPr wrap="square" lIns="0" tIns="0" rIns="0" bIns="0" rtlCol="0"/>
          <a:lstStyle/>
          <a:p>
            <a:pPr indent="0" marL="0">
              <a:buNone/>
            </a:pPr>
            <a:r>
              <a:rPr lang="en-US" sz="1200" b="1" spc="300" kern="0" dirty="0">
                <a:solidFill>
                  <a:schemeClr val="accent3"/>
                </a:solidFill>
              </a:rPr>
              <a:t>ORGANISATION</a:t>
            </a:r>
            <a:endParaRPr lang="en-US" sz="1200" dirty="0"/>
          </a:p>
        </p:txBody>
      </p:sp>
      <p:sp>
        <p:nvSpPr>
          <p:cNvPr id="3" name="Text 1"/>
          <p:cNvSpPr/>
          <p:nvPr>
            <p:ph idx="102" type="title" hasCustomPrompt="1"/>
          </p:nvPr>
        </p:nvSpPr>
        <p:spPr>
          <a:xfrm>
            <a:off x="548640" y="621792"/>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Team Work Split</a:t>
            </a:r>
            <a:endParaRPr lang="en-US" sz="3200" dirty="0"/>
          </a:p>
        </p:txBody>
      </p:sp>
      <p:sp>
        <p:nvSpPr>
          <p:cNvPr id="4" name="Workstream 1"/>
          <p:cNvSpPr/>
          <p:nvPr/>
        </p:nvSpPr>
        <p:spPr>
          <a:xfrm>
            <a:off x="548640" y="1600200"/>
            <a:ext cx="3520440" cy="2011680"/>
          </a:xfrm>
          <a:prstGeom prst="roundRect">
            <a:avLst>
              <a:gd name="adj" fmla="val 4545"/>
            </a:avLst>
          </a:prstGeom>
          <a:solidFill>
            <a:schemeClr val="bg1"/>
          </a:solidFill>
          <a:ln w="9525">
            <a:solidFill>
              <a:srgbClr val="D5DCE6"/>
            </a:solidFill>
            <a:prstDash val="solid"/>
          </a:ln>
          <a:effectLst>
            <a:outerShdw sx="100000" sy="100000" kx="0" ky="0" algn="bl" rotWithShape="0" blurRad="101600" dist="25400" dir="5400000">
              <a:srgbClr val="0B1730">
                <a:alpha val="12000"/>
              </a:srgbClr>
            </a:outerShdw>
          </a:effectLst>
        </p:spPr>
      </p:sp>
      <p:sp>
        <p:nvSpPr>
          <p:cNvPr id="5" name="Text 3"/>
          <p:cNvSpPr txBox="1"/>
          <p:nvPr/>
        </p:nvSpPr>
        <p:spPr>
          <a:xfrm>
            <a:off x="822960" y="1828800"/>
            <a:ext cx="1097280" cy="548640"/>
          </a:xfrm>
          <a:prstGeom prst="rect">
            <a:avLst/>
          </a:prstGeom>
          <a:noFill/>
          <a:ln/>
        </p:spPr>
        <p:txBody>
          <a:bodyPr wrap="square" lIns="0" tIns="0" rIns="0" bIns="0" rtlCol="0" anchor="t"/>
          <a:lstStyle/>
          <a:p>
            <a:pPr indent="0" marL="0">
              <a:buNone/>
            </a:pPr>
            <a:r>
              <a:rPr lang="en-US" sz="2800" b="1" dirty="0">
                <a:solidFill>
                  <a:schemeClr val="accent1"/>
                </a:solidFill>
                <a:latin typeface="Arial" pitchFamily="34" charset="0"/>
                <a:ea typeface="Arial" pitchFamily="34" charset="-122"/>
                <a:cs typeface="Arial" pitchFamily="34" charset="-120"/>
              </a:rPr>
              <a:t>01</a:t>
            </a:r>
            <a:endParaRPr lang="en-US" sz="2800" dirty="0"/>
          </a:p>
        </p:txBody>
      </p:sp>
      <p:sp>
        <p:nvSpPr>
          <p:cNvPr id="6" name="Shape 4"/>
          <p:cNvSpPr/>
          <p:nvPr/>
        </p:nvSpPr>
        <p:spPr>
          <a:xfrm>
            <a:off x="3246120" y="1828800"/>
            <a:ext cx="566928" cy="566928"/>
          </a:xfrm>
          <a:prstGeom prst="ellipse">
            <a:avLst/>
          </a:prstGeom>
          <a:solidFill>
            <a:schemeClr val="tx1"/>
          </a:solidFill>
          <a:ln w="12700">
            <a:solidFill>
              <a:schemeClr val="tx1"/>
            </a:solidFill>
            <a:prstDash val="solid"/>
          </a:ln>
        </p:spPr>
      </p:sp>
      <p:pic>
        <p:nvPicPr>
          <p:cNvPr id="7" name="Image 0" descr="FaUserTie">    </p:cNvPr>
          <p:cNvPicPr>
            <a:picLocks noChangeAspect="1"/>
          </p:cNvPicPr>
          <p:nvPr/>
        </p:nvPicPr>
        <p:blipFill>
          <a:blip r:embed="rId1"/>
          <a:stretch>
            <a:fillRect/>
          </a:stretch>
        </p:blipFill>
        <p:spPr>
          <a:xfrm>
            <a:off x="3387852" y="1970532"/>
            <a:ext cx="283464" cy="283464"/>
          </a:xfrm>
          <a:prstGeom prst="rect">
            <a:avLst/>
          </a:prstGeom>
        </p:spPr>
      </p:pic>
      <p:sp>
        <p:nvSpPr>
          <p:cNvPr id="8" name="Text 5"/>
          <p:cNvSpPr txBox="1"/>
          <p:nvPr/>
        </p:nvSpPr>
        <p:spPr>
          <a:xfrm>
            <a:off x="822960" y="2468880"/>
            <a:ext cx="3017520" cy="594360"/>
          </a:xfrm>
          <a:prstGeom prst="rect">
            <a:avLst/>
          </a:prstGeom>
          <a:noFill/>
          <a:ln/>
        </p:spPr>
        <p:txBody>
          <a:bodyPr wrap="square" lIns="0" tIns="0" rIns="0" bIns="0" rtlCol="0" anchor="t"/>
          <a:lstStyle/>
          <a:p>
            <a:pPr indent="0" marL="0">
              <a:buNone/>
            </a:pPr>
            <a:r>
              <a:rPr lang="en-US" sz="1600" b="1" dirty="0">
                <a:solidFill>
                  <a:schemeClr val="tx1"/>
                </a:solidFill>
              </a:rPr>
              <a:t>Systems &amp; OSIP proposal lead</a:t>
            </a:r>
            <a:endParaRPr lang="en-US" sz="1600" dirty="0"/>
          </a:p>
        </p:txBody>
      </p:sp>
      <p:sp>
        <p:nvSpPr>
          <p:cNvPr id="9" name="Text 6"/>
          <p:cNvSpPr txBox="1"/>
          <p:nvPr/>
        </p:nvSpPr>
        <p:spPr>
          <a:xfrm>
            <a:off x="822960" y="3063240"/>
            <a:ext cx="3017520" cy="411480"/>
          </a:xfrm>
          <a:prstGeom prst="rect">
            <a:avLst/>
          </a:prstGeom>
          <a:noFill/>
          <a:ln/>
        </p:spPr>
        <p:txBody>
          <a:bodyPr wrap="square" lIns="0" tIns="0" rIns="0" bIns="0" rtlCol="0" anchor="t"/>
          <a:lstStyle/>
          <a:p>
            <a:pPr indent="0" marL="0">
              <a:buNone/>
            </a:pPr>
            <a:r>
              <a:rPr lang="en-US" sz="1200" dirty="0">
                <a:solidFill>
                  <a:schemeClr val="tx2"/>
                </a:solidFill>
              </a:rPr>
              <a:t>Architecture, requirements and proposal integration</a:t>
            </a:r>
            <a:endParaRPr lang="en-US" sz="1200" dirty="0"/>
          </a:p>
        </p:txBody>
      </p:sp>
      <p:sp>
        <p:nvSpPr>
          <p:cNvPr id="10" name="Workstream 2"/>
          <p:cNvSpPr/>
          <p:nvPr/>
        </p:nvSpPr>
        <p:spPr>
          <a:xfrm>
            <a:off x="4320540" y="1600200"/>
            <a:ext cx="3520440" cy="2011680"/>
          </a:xfrm>
          <a:prstGeom prst="roundRect">
            <a:avLst>
              <a:gd name="adj" fmla="val 4545"/>
            </a:avLst>
          </a:prstGeom>
          <a:solidFill>
            <a:schemeClr val="bg1"/>
          </a:solidFill>
          <a:ln w="9525">
            <a:solidFill>
              <a:srgbClr val="D5DCE6"/>
            </a:solidFill>
            <a:prstDash val="solid"/>
          </a:ln>
          <a:effectLst>
            <a:outerShdw sx="100000" sy="100000" kx="0" ky="0" algn="bl" rotWithShape="0" blurRad="101600" dist="25400" dir="5400000">
              <a:srgbClr val="0B1730">
                <a:alpha val="12000"/>
              </a:srgbClr>
            </a:outerShdw>
          </a:effectLst>
        </p:spPr>
      </p:sp>
      <p:sp>
        <p:nvSpPr>
          <p:cNvPr id="11" name="Text 8"/>
          <p:cNvSpPr txBox="1"/>
          <p:nvPr/>
        </p:nvSpPr>
        <p:spPr>
          <a:xfrm>
            <a:off x="4594860" y="1828800"/>
            <a:ext cx="1097280" cy="548640"/>
          </a:xfrm>
          <a:prstGeom prst="rect">
            <a:avLst/>
          </a:prstGeom>
          <a:noFill/>
          <a:ln/>
        </p:spPr>
        <p:txBody>
          <a:bodyPr wrap="square" lIns="0" tIns="0" rIns="0" bIns="0" rtlCol="0" anchor="t"/>
          <a:lstStyle/>
          <a:p>
            <a:pPr indent="0" marL="0">
              <a:buNone/>
            </a:pPr>
            <a:r>
              <a:rPr lang="en-US" sz="2800" b="1" dirty="0">
                <a:solidFill>
                  <a:schemeClr val="accent1"/>
                </a:solidFill>
                <a:latin typeface="Arial" pitchFamily="34" charset="0"/>
                <a:ea typeface="Arial" pitchFamily="34" charset="-122"/>
                <a:cs typeface="Arial" pitchFamily="34" charset="-120"/>
              </a:rPr>
              <a:t>02</a:t>
            </a:r>
            <a:endParaRPr lang="en-US" sz="2800" dirty="0"/>
          </a:p>
        </p:txBody>
      </p:sp>
      <p:sp>
        <p:nvSpPr>
          <p:cNvPr id="12" name="Shape 9"/>
          <p:cNvSpPr/>
          <p:nvPr/>
        </p:nvSpPr>
        <p:spPr>
          <a:xfrm>
            <a:off x="7018020" y="1828800"/>
            <a:ext cx="566928" cy="566928"/>
          </a:xfrm>
          <a:prstGeom prst="ellipse">
            <a:avLst/>
          </a:prstGeom>
          <a:solidFill>
            <a:schemeClr val="tx1"/>
          </a:solidFill>
          <a:ln w="12700">
            <a:solidFill>
              <a:schemeClr val="tx1"/>
            </a:solidFill>
            <a:prstDash val="solid"/>
          </a:ln>
        </p:spPr>
      </p:sp>
      <p:pic>
        <p:nvPicPr>
          <p:cNvPr id="13" name="Image 1" descr="FaCompass">    </p:cNvPr>
          <p:cNvPicPr>
            <a:picLocks noChangeAspect="1"/>
          </p:cNvPicPr>
          <p:nvPr/>
        </p:nvPicPr>
        <p:blipFill>
          <a:blip r:embed="rId2"/>
          <a:stretch>
            <a:fillRect/>
          </a:stretch>
        </p:blipFill>
        <p:spPr>
          <a:xfrm>
            <a:off x="7159752" y="1970532"/>
            <a:ext cx="283464" cy="283464"/>
          </a:xfrm>
          <a:prstGeom prst="rect">
            <a:avLst/>
          </a:prstGeom>
        </p:spPr>
      </p:pic>
      <p:sp>
        <p:nvSpPr>
          <p:cNvPr id="14" name="Text 10"/>
          <p:cNvSpPr txBox="1"/>
          <p:nvPr/>
        </p:nvSpPr>
        <p:spPr>
          <a:xfrm>
            <a:off x="4594860" y="2468880"/>
            <a:ext cx="3017520" cy="594360"/>
          </a:xfrm>
          <a:prstGeom prst="rect">
            <a:avLst/>
          </a:prstGeom>
          <a:noFill/>
          <a:ln/>
        </p:spPr>
        <p:txBody>
          <a:bodyPr wrap="square" lIns="0" tIns="0" rIns="0" bIns="0" rtlCol="0" anchor="t"/>
          <a:lstStyle/>
          <a:p>
            <a:pPr indent="0" marL="0">
              <a:buNone/>
            </a:pPr>
            <a:r>
              <a:rPr lang="en-US" sz="1600" b="1" dirty="0">
                <a:solidFill>
                  <a:schemeClr val="tx1"/>
                </a:solidFill>
              </a:rPr>
              <a:t>RPO / GNC simulation</a:t>
            </a:r>
            <a:endParaRPr lang="en-US" sz="1600" dirty="0"/>
          </a:p>
        </p:txBody>
      </p:sp>
      <p:sp>
        <p:nvSpPr>
          <p:cNvPr id="15" name="Text 11"/>
          <p:cNvSpPr txBox="1"/>
          <p:nvPr/>
        </p:nvSpPr>
        <p:spPr>
          <a:xfrm>
            <a:off x="4594860" y="3063240"/>
            <a:ext cx="3017520" cy="411480"/>
          </a:xfrm>
          <a:prstGeom prst="rect">
            <a:avLst/>
          </a:prstGeom>
          <a:noFill/>
          <a:ln/>
        </p:spPr>
        <p:txBody>
          <a:bodyPr wrap="square" lIns="0" tIns="0" rIns="0" bIns="0" rtlCol="0" anchor="t"/>
          <a:lstStyle/>
          <a:p>
            <a:pPr indent="0" marL="0">
              <a:buNone/>
            </a:pPr>
            <a:r>
              <a:rPr lang="en-US" sz="1200" dirty="0">
                <a:solidFill>
                  <a:schemeClr val="tx2"/>
                </a:solidFill>
              </a:rPr>
              <a:t>Approach and capture models for cases A0–A3</a:t>
            </a:r>
            <a:endParaRPr lang="en-US" sz="1200" dirty="0"/>
          </a:p>
        </p:txBody>
      </p:sp>
      <p:sp>
        <p:nvSpPr>
          <p:cNvPr id="16" name="Workstream 3"/>
          <p:cNvSpPr/>
          <p:nvPr/>
        </p:nvSpPr>
        <p:spPr>
          <a:xfrm>
            <a:off x="8092440" y="1600200"/>
            <a:ext cx="3520440" cy="2011680"/>
          </a:xfrm>
          <a:prstGeom prst="roundRect">
            <a:avLst>
              <a:gd name="adj" fmla="val 4545"/>
            </a:avLst>
          </a:prstGeom>
          <a:solidFill>
            <a:schemeClr val="bg1"/>
          </a:solidFill>
          <a:ln w="9525">
            <a:solidFill>
              <a:srgbClr val="D5DCE6"/>
            </a:solidFill>
            <a:prstDash val="solid"/>
          </a:ln>
          <a:effectLst>
            <a:outerShdw sx="100000" sy="100000" kx="0" ky="0" algn="bl" rotWithShape="0" blurRad="101600" dist="25400" dir="5400000">
              <a:srgbClr val="0B1730">
                <a:alpha val="12000"/>
              </a:srgbClr>
            </a:outerShdw>
          </a:effectLst>
        </p:spPr>
      </p:sp>
      <p:sp>
        <p:nvSpPr>
          <p:cNvPr id="17" name="Text 13"/>
          <p:cNvSpPr txBox="1"/>
          <p:nvPr/>
        </p:nvSpPr>
        <p:spPr>
          <a:xfrm>
            <a:off x="8366760" y="1828800"/>
            <a:ext cx="1097280" cy="548640"/>
          </a:xfrm>
          <a:prstGeom prst="rect">
            <a:avLst/>
          </a:prstGeom>
          <a:noFill/>
          <a:ln/>
        </p:spPr>
        <p:txBody>
          <a:bodyPr wrap="square" lIns="0" tIns="0" rIns="0" bIns="0" rtlCol="0" anchor="t"/>
          <a:lstStyle/>
          <a:p>
            <a:pPr indent="0" marL="0">
              <a:buNone/>
            </a:pPr>
            <a:r>
              <a:rPr lang="en-US" sz="2800" b="1" dirty="0">
                <a:solidFill>
                  <a:schemeClr val="accent1"/>
                </a:solidFill>
                <a:latin typeface="Arial" pitchFamily="34" charset="0"/>
                <a:ea typeface="Arial" pitchFamily="34" charset="-122"/>
                <a:cs typeface="Arial" pitchFamily="34" charset="-120"/>
              </a:rPr>
              <a:t>03</a:t>
            </a:r>
            <a:endParaRPr lang="en-US" sz="2800" dirty="0"/>
          </a:p>
        </p:txBody>
      </p:sp>
      <p:sp>
        <p:nvSpPr>
          <p:cNvPr id="18" name="Shape 14"/>
          <p:cNvSpPr/>
          <p:nvPr/>
        </p:nvSpPr>
        <p:spPr>
          <a:xfrm>
            <a:off x="10789920" y="1828800"/>
            <a:ext cx="566928" cy="566928"/>
          </a:xfrm>
          <a:prstGeom prst="ellipse">
            <a:avLst/>
          </a:prstGeom>
          <a:solidFill>
            <a:schemeClr val="tx1"/>
          </a:solidFill>
          <a:ln w="12700">
            <a:solidFill>
              <a:schemeClr val="tx1"/>
            </a:solidFill>
            <a:prstDash val="solid"/>
          </a:ln>
        </p:spPr>
      </p:sp>
      <p:pic>
        <p:nvPicPr>
          <p:cNvPr id="19" name="Image 2" descr="FaServer">    </p:cNvPr>
          <p:cNvPicPr>
            <a:picLocks noChangeAspect="1"/>
          </p:cNvPicPr>
          <p:nvPr/>
        </p:nvPicPr>
        <p:blipFill>
          <a:blip r:embed="rId3"/>
          <a:stretch>
            <a:fillRect/>
          </a:stretch>
        </p:blipFill>
        <p:spPr>
          <a:xfrm>
            <a:off x="10931652" y="1970532"/>
            <a:ext cx="283464" cy="283464"/>
          </a:xfrm>
          <a:prstGeom prst="rect">
            <a:avLst/>
          </a:prstGeom>
        </p:spPr>
      </p:pic>
      <p:sp>
        <p:nvSpPr>
          <p:cNvPr id="20" name="Text 15"/>
          <p:cNvSpPr txBox="1"/>
          <p:nvPr/>
        </p:nvSpPr>
        <p:spPr>
          <a:xfrm>
            <a:off x="8366760" y="2468880"/>
            <a:ext cx="3017520" cy="594360"/>
          </a:xfrm>
          <a:prstGeom prst="rect">
            <a:avLst/>
          </a:prstGeom>
          <a:noFill/>
          <a:ln/>
        </p:spPr>
        <p:txBody>
          <a:bodyPr wrap="square" lIns="0" tIns="0" rIns="0" bIns="0" rtlCol="0" anchor="t"/>
          <a:lstStyle/>
          <a:p>
            <a:pPr indent="0" marL="0">
              <a:buNone/>
            </a:pPr>
            <a:r>
              <a:rPr lang="en-US" sz="1600" b="1" dirty="0">
                <a:solidFill>
                  <a:schemeClr val="tx1"/>
                </a:solidFill>
              </a:rPr>
              <a:t>HPC Monte-Carlo / data analysis</a:t>
            </a:r>
            <a:endParaRPr lang="en-US" sz="1600" dirty="0"/>
          </a:p>
        </p:txBody>
      </p:sp>
      <p:sp>
        <p:nvSpPr>
          <p:cNvPr id="21" name="Text 16"/>
          <p:cNvSpPr txBox="1"/>
          <p:nvPr/>
        </p:nvSpPr>
        <p:spPr>
          <a:xfrm>
            <a:off x="8366760" y="3063240"/>
            <a:ext cx="3017520" cy="411480"/>
          </a:xfrm>
          <a:prstGeom prst="rect">
            <a:avLst/>
          </a:prstGeom>
          <a:noFill/>
          <a:ln/>
        </p:spPr>
        <p:txBody>
          <a:bodyPr wrap="square" lIns="0" tIns="0" rIns="0" bIns="0" rtlCol="0" anchor="t"/>
          <a:lstStyle/>
          <a:p>
            <a:pPr indent="0" marL="0">
              <a:buNone/>
            </a:pPr>
            <a:r>
              <a:rPr lang="en-US" sz="1200" dirty="0">
                <a:solidFill>
                  <a:schemeClr val="tx2"/>
                </a:solidFill>
              </a:rPr>
              <a:t>MeluXina campaigns and probability maps</a:t>
            </a:r>
            <a:endParaRPr lang="en-US" sz="1200" dirty="0"/>
          </a:p>
        </p:txBody>
      </p:sp>
      <p:sp>
        <p:nvSpPr>
          <p:cNvPr id="22" name="Workstream 4"/>
          <p:cNvSpPr/>
          <p:nvPr/>
        </p:nvSpPr>
        <p:spPr>
          <a:xfrm>
            <a:off x="548640" y="3886200"/>
            <a:ext cx="3520440" cy="2011680"/>
          </a:xfrm>
          <a:prstGeom prst="roundRect">
            <a:avLst>
              <a:gd name="adj" fmla="val 4545"/>
            </a:avLst>
          </a:prstGeom>
          <a:solidFill>
            <a:schemeClr val="bg1"/>
          </a:solidFill>
          <a:ln w="9525">
            <a:solidFill>
              <a:srgbClr val="D5DCE6"/>
            </a:solidFill>
            <a:prstDash val="solid"/>
          </a:ln>
          <a:effectLst>
            <a:outerShdw sx="100000" sy="100000" kx="0" ky="0" algn="bl" rotWithShape="0" blurRad="101600" dist="25400" dir="5400000">
              <a:srgbClr val="0B1730">
                <a:alpha val="12000"/>
              </a:srgbClr>
            </a:outerShdw>
          </a:effectLst>
        </p:spPr>
      </p:sp>
      <p:sp>
        <p:nvSpPr>
          <p:cNvPr id="23" name="Text 18"/>
          <p:cNvSpPr txBox="1"/>
          <p:nvPr/>
        </p:nvSpPr>
        <p:spPr>
          <a:xfrm>
            <a:off x="822960" y="4114800"/>
            <a:ext cx="1097280" cy="548640"/>
          </a:xfrm>
          <a:prstGeom prst="rect">
            <a:avLst/>
          </a:prstGeom>
          <a:noFill/>
          <a:ln/>
        </p:spPr>
        <p:txBody>
          <a:bodyPr wrap="square" lIns="0" tIns="0" rIns="0" bIns="0" rtlCol="0" anchor="t"/>
          <a:lstStyle/>
          <a:p>
            <a:pPr indent="0" marL="0">
              <a:buNone/>
            </a:pPr>
            <a:r>
              <a:rPr lang="en-US" sz="2800" b="1" dirty="0">
                <a:solidFill>
                  <a:schemeClr val="accent1"/>
                </a:solidFill>
                <a:latin typeface="Arial" pitchFamily="34" charset="0"/>
                <a:ea typeface="Arial" pitchFamily="34" charset="-122"/>
                <a:cs typeface="Arial" pitchFamily="34" charset="-120"/>
              </a:rPr>
              <a:t>04</a:t>
            </a:r>
            <a:endParaRPr lang="en-US" sz="2800" dirty="0"/>
          </a:p>
        </p:txBody>
      </p:sp>
      <p:sp>
        <p:nvSpPr>
          <p:cNvPr id="24" name="Shape 19"/>
          <p:cNvSpPr/>
          <p:nvPr/>
        </p:nvSpPr>
        <p:spPr>
          <a:xfrm>
            <a:off x="3246120" y="4114800"/>
            <a:ext cx="566928" cy="566928"/>
          </a:xfrm>
          <a:prstGeom prst="ellipse">
            <a:avLst/>
          </a:prstGeom>
          <a:solidFill>
            <a:schemeClr val="tx1"/>
          </a:solidFill>
          <a:ln w="12700">
            <a:solidFill>
              <a:schemeClr val="tx1"/>
            </a:solidFill>
            <a:prstDash val="solid"/>
          </a:ln>
        </p:spPr>
      </p:sp>
      <p:pic>
        <p:nvPicPr>
          <p:cNvPr id="25" name="Image 3" descr="FaBroadcastTower">    </p:cNvPr>
          <p:cNvPicPr>
            <a:picLocks noChangeAspect="1"/>
          </p:cNvPicPr>
          <p:nvPr/>
        </p:nvPicPr>
        <p:blipFill>
          <a:blip r:embed="rId4"/>
          <a:stretch>
            <a:fillRect/>
          </a:stretch>
        </p:blipFill>
        <p:spPr>
          <a:xfrm>
            <a:off x="3387852" y="4256532"/>
            <a:ext cx="283464" cy="283464"/>
          </a:xfrm>
          <a:prstGeom prst="rect">
            <a:avLst/>
          </a:prstGeom>
        </p:spPr>
      </p:pic>
      <p:sp>
        <p:nvSpPr>
          <p:cNvPr id="26" name="Text 20"/>
          <p:cNvSpPr txBox="1"/>
          <p:nvPr/>
        </p:nvSpPr>
        <p:spPr>
          <a:xfrm>
            <a:off x="822960" y="4754880"/>
            <a:ext cx="3017520" cy="594360"/>
          </a:xfrm>
          <a:prstGeom prst="rect">
            <a:avLst/>
          </a:prstGeom>
          <a:noFill/>
          <a:ln/>
        </p:spPr>
        <p:txBody>
          <a:bodyPr wrap="square" lIns="0" tIns="0" rIns="0" bIns="0" rtlCol="0" anchor="t"/>
          <a:lstStyle/>
          <a:p>
            <a:pPr indent="0" marL="0">
              <a:buNone/>
            </a:pPr>
            <a:r>
              <a:rPr lang="en-US" sz="1600" b="1" dirty="0">
                <a:solidFill>
                  <a:schemeClr val="tx1"/>
                </a:solidFill>
              </a:rPr>
              <a:t>Service Beacon &amp; communication</a:t>
            </a:r>
            <a:endParaRPr lang="en-US" sz="1600" dirty="0"/>
          </a:p>
        </p:txBody>
      </p:sp>
      <p:sp>
        <p:nvSpPr>
          <p:cNvPr id="27" name="Text 21"/>
          <p:cNvSpPr txBox="1"/>
          <p:nvPr/>
        </p:nvSpPr>
        <p:spPr>
          <a:xfrm>
            <a:off x="822960" y="5349240"/>
            <a:ext cx="3017520" cy="411480"/>
          </a:xfrm>
          <a:prstGeom prst="rect">
            <a:avLst/>
          </a:prstGeom>
          <a:noFill/>
          <a:ln/>
        </p:spPr>
        <p:txBody>
          <a:bodyPr wrap="square" lIns="0" tIns="0" rIns="0" bIns="0" rtlCol="0" anchor="t"/>
          <a:lstStyle/>
          <a:p>
            <a:pPr indent="0" marL="0">
              <a:buNone/>
            </a:pPr>
            <a:r>
              <a:rPr lang="en-US" sz="1200" dirty="0">
                <a:solidFill>
                  <a:schemeClr val="tx2"/>
                </a:solidFill>
              </a:rPr>
              <a:t>Beacon data content, link and independence</a:t>
            </a:r>
            <a:endParaRPr lang="en-US" sz="1200" dirty="0"/>
          </a:p>
        </p:txBody>
      </p:sp>
      <p:sp>
        <p:nvSpPr>
          <p:cNvPr id="28" name="Workstream 5"/>
          <p:cNvSpPr/>
          <p:nvPr/>
        </p:nvSpPr>
        <p:spPr>
          <a:xfrm>
            <a:off x="4320540" y="3886200"/>
            <a:ext cx="3520440" cy="2011680"/>
          </a:xfrm>
          <a:prstGeom prst="roundRect">
            <a:avLst>
              <a:gd name="adj" fmla="val 4545"/>
            </a:avLst>
          </a:prstGeom>
          <a:solidFill>
            <a:schemeClr val="bg1"/>
          </a:solidFill>
          <a:ln w="9525">
            <a:solidFill>
              <a:srgbClr val="D5DCE6"/>
            </a:solidFill>
            <a:prstDash val="solid"/>
          </a:ln>
          <a:effectLst>
            <a:outerShdw sx="100000" sy="100000" kx="0" ky="0" algn="bl" rotWithShape="0" blurRad="101600" dist="25400" dir="5400000">
              <a:srgbClr val="0B1730">
                <a:alpha val="12000"/>
              </a:srgbClr>
            </a:outerShdw>
          </a:effectLst>
        </p:spPr>
      </p:sp>
      <p:sp>
        <p:nvSpPr>
          <p:cNvPr id="29" name="Text 23"/>
          <p:cNvSpPr txBox="1"/>
          <p:nvPr/>
        </p:nvSpPr>
        <p:spPr>
          <a:xfrm>
            <a:off x="4594860" y="4114800"/>
            <a:ext cx="1097280" cy="548640"/>
          </a:xfrm>
          <a:prstGeom prst="rect">
            <a:avLst/>
          </a:prstGeom>
          <a:noFill/>
          <a:ln/>
        </p:spPr>
        <p:txBody>
          <a:bodyPr wrap="square" lIns="0" tIns="0" rIns="0" bIns="0" rtlCol="0" anchor="t"/>
          <a:lstStyle/>
          <a:p>
            <a:pPr indent="0" marL="0">
              <a:buNone/>
            </a:pPr>
            <a:r>
              <a:rPr lang="en-US" sz="2800" b="1" dirty="0">
                <a:solidFill>
                  <a:schemeClr val="accent1"/>
                </a:solidFill>
                <a:latin typeface="Arial" pitchFamily="34" charset="0"/>
                <a:ea typeface="Arial" pitchFamily="34" charset="-122"/>
                <a:cs typeface="Arial" pitchFamily="34" charset="-120"/>
              </a:rPr>
              <a:t>05</a:t>
            </a:r>
            <a:endParaRPr lang="en-US" sz="2800" dirty="0"/>
          </a:p>
        </p:txBody>
      </p:sp>
      <p:sp>
        <p:nvSpPr>
          <p:cNvPr id="30" name="Shape 24"/>
          <p:cNvSpPr/>
          <p:nvPr/>
        </p:nvSpPr>
        <p:spPr>
          <a:xfrm>
            <a:off x="7018020" y="4114800"/>
            <a:ext cx="566928" cy="566928"/>
          </a:xfrm>
          <a:prstGeom prst="ellipse">
            <a:avLst/>
          </a:prstGeom>
          <a:solidFill>
            <a:schemeClr val="tx1"/>
          </a:solidFill>
          <a:ln w="12700">
            <a:solidFill>
              <a:schemeClr val="tx1"/>
            </a:solidFill>
            <a:prstDash val="solid"/>
          </a:ln>
        </p:spPr>
      </p:sp>
      <p:pic>
        <p:nvPicPr>
          <p:cNvPr id="31" name="Image 4" descr="FaCogs">    </p:cNvPr>
          <p:cNvPicPr>
            <a:picLocks noChangeAspect="1"/>
          </p:cNvPicPr>
          <p:nvPr/>
        </p:nvPicPr>
        <p:blipFill>
          <a:blip r:embed="rId5"/>
          <a:stretch>
            <a:fillRect/>
          </a:stretch>
        </p:blipFill>
        <p:spPr>
          <a:xfrm>
            <a:off x="7159752" y="4256532"/>
            <a:ext cx="283464" cy="283464"/>
          </a:xfrm>
          <a:prstGeom prst="rect">
            <a:avLst/>
          </a:prstGeom>
        </p:spPr>
      </p:pic>
      <p:sp>
        <p:nvSpPr>
          <p:cNvPr id="32" name="Text 25"/>
          <p:cNvSpPr txBox="1"/>
          <p:nvPr/>
        </p:nvSpPr>
        <p:spPr>
          <a:xfrm>
            <a:off x="4594860" y="4754880"/>
            <a:ext cx="3017520" cy="594360"/>
          </a:xfrm>
          <a:prstGeom prst="rect">
            <a:avLst/>
          </a:prstGeom>
          <a:noFill/>
          <a:ln/>
        </p:spPr>
        <p:txBody>
          <a:bodyPr wrap="square" lIns="0" tIns="0" rIns="0" bIns="0" rtlCol="0" anchor="t"/>
          <a:lstStyle/>
          <a:p>
            <a:pPr indent="0" marL="0">
              <a:buNone/>
            </a:pPr>
            <a:r>
              <a:rPr lang="en-US" sz="1600" b="1" dirty="0">
                <a:solidFill>
                  <a:schemeClr val="tx1"/>
                </a:solidFill>
              </a:rPr>
              <a:t>IOS Mode / docked control / OSAN</a:t>
            </a:r>
            <a:endParaRPr lang="en-US" sz="1600" dirty="0"/>
          </a:p>
        </p:txBody>
      </p:sp>
      <p:sp>
        <p:nvSpPr>
          <p:cNvPr id="33" name="Text 26"/>
          <p:cNvSpPr txBox="1"/>
          <p:nvPr/>
        </p:nvSpPr>
        <p:spPr>
          <a:xfrm>
            <a:off x="4594860" y="5349240"/>
            <a:ext cx="3017520" cy="411480"/>
          </a:xfrm>
          <a:prstGeom prst="rect">
            <a:avLst/>
          </a:prstGeom>
          <a:noFill/>
          <a:ln/>
        </p:spPr>
        <p:txBody>
          <a:bodyPr wrap="square" lIns="0" tIns="0" rIns="0" bIns="0" rtlCol="0" anchor="t"/>
          <a:lstStyle/>
          <a:p>
            <a:pPr indent="0" marL="0">
              <a:buNone/>
            </a:pPr>
            <a:r>
              <a:rPr lang="en-US" sz="1200" dirty="0">
                <a:solidFill>
                  <a:schemeClr val="tx2"/>
                </a:solidFill>
              </a:rPr>
              <a:t>State machine, stack control, OSAN layout</a:t>
            </a:r>
            <a:endParaRPr lang="en-US" sz="1200" dirty="0"/>
          </a:p>
        </p:txBody>
      </p:sp>
      <p:sp>
        <p:nvSpPr>
          <p:cNvPr id="34" name="Workstream 6"/>
          <p:cNvSpPr/>
          <p:nvPr/>
        </p:nvSpPr>
        <p:spPr>
          <a:xfrm>
            <a:off x="8092440" y="3886200"/>
            <a:ext cx="3520440" cy="2011680"/>
          </a:xfrm>
          <a:prstGeom prst="roundRect">
            <a:avLst>
              <a:gd name="adj" fmla="val 4545"/>
            </a:avLst>
          </a:prstGeom>
          <a:solidFill>
            <a:schemeClr val="bg1"/>
          </a:solidFill>
          <a:ln w="9525">
            <a:solidFill>
              <a:srgbClr val="D5DCE6"/>
            </a:solidFill>
            <a:prstDash val="solid"/>
          </a:ln>
          <a:effectLst>
            <a:outerShdw sx="100000" sy="100000" kx="0" ky="0" algn="bl" rotWithShape="0" blurRad="101600" dist="25400" dir="5400000">
              <a:srgbClr val="0B1730">
                <a:alpha val="12000"/>
              </a:srgbClr>
            </a:outerShdw>
          </a:effectLst>
        </p:spPr>
      </p:sp>
      <p:sp>
        <p:nvSpPr>
          <p:cNvPr id="35" name="Text 28"/>
          <p:cNvSpPr txBox="1"/>
          <p:nvPr/>
        </p:nvSpPr>
        <p:spPr>
          <a:xfrm>
            <a:off x="8366760" y="4114800"/>
            <a:ext cx="1097280" cy="548640"/>
          </a:xfrm>
          <a:prstGeom prst="rect">
            <a:avLst/>
          </a:prstGeom>
          <a:noFill/>
          <a:ln/>
        </p:spPr>
        <p:txBody>
          <a:bodyPr wrap="square" lIns="0" tIns="0" rIns="0" bIns="0" rtlCol="0" anchor="t"/>
          <a:lstStyle/>
          <a:p>
            <a:pPr indent="0" marL="0">
              <a:buNone/>
            </a:pPr>
            <a:r>
              <a:rPr lang="en-US" sz="2800" b="1" dirty="0">
                <a:solidFill>
                  <a:schemeClr val="accent1"/>
                </a:solidFill>
                <a:latin typeface="Arial" pitchFamily="34" charset="0"/>
                <a:ea typeface="Arial" pitchFamily="34" charset="-122"/>
                <a:cs typeface="Arial" pitchFamily="34" charset="-120"/>
              </a:rPr>
              <a:t>06</a:t>
            </a:r>
            <a:endParaRPr lang="en-US" sz="2800" dirty="0"/>
          </a:p>
        </p:txBody>
      </p:sp>
      <p:sp>
        <p:nvSpPr>
          <p:cNvPr id="36" name="Shape 29"/>
          <p:cNvSpPr/>
          <p:nvPr/>
        </p:nvSpPr>
        <p:spPr>
          <a:xfrm>
            <a:off x="10789920" y="4114800"/>
            <a:ext cx="566928" cy="566928"/>
          </a:xfrm>
          <a:prstGeom prst="ellipse">
            <a:avLst/>
          </a:prstGeom>
          <a:solidFill>
            <a:schemeClr val="tx1"/>
          </a:solidFill>
          <a:ln w="12700">
            <a:solidFill>
              <a:schemeClr val="tx1"/>
            </a:solidFill>
            <a:prstDash val="solid"/>
          </a:ln>
        </p:spPr>
      </p:sp>
      <p:pic>
        <p:nvPicPr>
          <p:cNvPr id="37" name="Image 5" descr="FaChartLine">    </p:cNvPr>
          <p:cNvPicPr>
            <a:picLocks noChangeAspect="1"/>
          </p:cNvPicPr>
          <p:nvPr/>
        </p:nvPicPr>
        <p:blipFill>
          <a:blip r:embed="rId6"/>
          <a:stretch>
            <a:fillRect/>
          </a:stretch>
        </p:blipFill>
        <p:spPr>
          <a:xfrm>
            <a:off x="10931652" y="4256532"/>
            <a:ext cx="283464" cy="283464"/>
          </a:xfrm>
          <a:prstGeom prst="rect">
            <a:avLst/>
          </a:prstGeom>
        </p:spPr>
      </p:pic>
      <p:sp>
        <p:nvSpPr>
          <p:cNvPr id="38" name="Text 30"/>
          <p:cNvSpPr txBox="1"/>
          <p:nvPr/>
        </p:nvSpPr>
        <p:spPr>
          <a:xfrm>
            <a:off x="8366760" y="4754880"/>
            <a:ext cx="3017520" cy="594360"/>
          </a:xfrm>
          <a:prstGeom prst="rect">
            <a:avLst/>
          </a:prstGeom>
          <a:noFill/>
          <a:ln/>
        </p:spPr>
        <p:txBody>
          <a:bodyPr wrap="square" lIns="0" tIns="0" rIns="0" bIns="0" rtlCol="0" anchor="t"/>
          <a:lstStyle/>
          <a:p>
            <a:pPr indent="0" marL="0">
              <a:buNone/>
            </a:pPr>
            <a:r>
              <a:rPr lang="en-US" sz="1600" b="1" dirty="0">
                <a:solidFill>
                  <a:schemeClr val="tx1"/>
                </a:solidFill>
              </a:rPr>
              <a:t>Business, regulatory &amp; roadmap</a:t>
            </a:r>
            <a:endParaRPr lang="en-US" sz="1600" dirty="0"/>
          </a:p>
        </p:txBody>
      </p:sp>
      <p:sp>
        <p:nvSpPr>
          <p:cNvPr id="39" name="Text 31"/>
          <p:cNvSpPr txBox="1"/>
          <p:nvPr/>
        </p:nvSpPr>
        <p:spPr>
          <a:xfrm>
            <a:off x="8366760" y="5349240"/>
            <a:ext cx="3017520" cy="411480"/>
          </a:xfrm>
          <a:prstGeom prst="rect">
            <a:avLst/>
          </a:prstGeom>
          <a:noFill/>
          <a:ln/>
        </p:spPr>
        <p:txBody>
          <a:bodyPr wrap="square" lIns="0" tIns="0" rIns="0" bIns="0" rtlCol="0" anchor="t"/>
          <a:lstStyle/>
          <a:p>
            <a:pPr indent="0" marL="0">
              <a:buNone/>
            </a:pPr>
            <a:r>
              <a:rPr lang="en-US" sz="1200" dirty="0">
                <a:solidFill>
                  <a:schemeClr val="tx2"/>
                </a:solidFill>
              </a:rPr>
              <a:t>Cost–benefit, regulation, path to market</a:t>
            </a:r>
            <a:endParaRPr lang="en-US" sz="12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8A9BB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body" hasCustomPrompt="1"/>
          </p:nvPr>
        </p:nvSpPr>
        <p:spPr>
          <a:xfrm>
            <a:off x="548640" y="320040"/>
            <a:ext cx="11064240" cy="292608"/>
          </a:xfrm>
          <a:prstGeom prst="rect">
            <a:avLst/>
          </a:prstGeom>
          <a:noFill/>
          <a:ln/>
        </p:spPr>
        <p:txBody>
          <a:bodyPr wrap="square" lIns="0" tIns="0" rIns="0" bIns="0" rtlCol="0"/>
          <a:lstStyle/>
          <a:p>
            <a:pPr indent="0" marL="0">
              <a:buNone/>
            </a:pPr>
            <a:r>
              <a:rPr lang="en-US" sz="1200" b="1" spc="300" kern="0" dirty="0">
                <a:solidFill>
                  <a:schemeClr val="accent3"/>
                </a:solidFill>
              </a:rPr>
              <a:t>DELIVERABLE</a:t>
            </a:r>
            <a:endParaRPr lang="en-US" sz="1200" dirty="0"/>
          </a:p>
        </p:txBody>
      </p:sp>
      <p:sp>
        <p:nvSpPr>
          <p:cNvPr id="3" name="Text 1"/>
          <p:cNvSpPr/>
          <p:nvPr>
            <p:ph idx="102" type="title" hasCustomPrompt="1"/>
          </p:nvPr>
        </p:nvSpPr>
        <p:spPr>
          <a:xfrm>
            <a:off x="548640" y="621792"/>
            <a:ext cx="11064240" cy="685800"/>
          </a:xfrm>
          <a:prstGeom prst="rect">
            <a:avLst/>
          </a:prstGeom>
          <a:noFill/>
          <a:ln/>
        </p:spPr>
        <p:txBody>
          <a:bodyPr wrap="square" lIns="0" tIns="0" rIns="0" bIns="0" rtlCol="0" anchor="t"/>
          <a:lstStyle/>
          <a:p>
            <a:pPr algn="l" indent="0" marL="0">
              <a:buNone/>
            </a:pPr>
            <a:r>
              <a:rPr lang="en-US" sz="3200" b="1" dirty="0">
                <a:solidFill>
                  <a:schemeClr val="tx1"/>
                </a:solidFill>
              </a:rPr>
              <a:t>OSIP Proposal Structure</a:t>
            </a:r>
            <a:endParaRPr lang="en-US" sz="3200" dirty="0"/>
          </a:p>
        </p:txBody>
      </p:sp>
      <p:sp>
        <p:nvSpPr>
          <p:cNvPr id="4" name="Section 1"/>
          <p:cNvSpPr/>
          <p:nvPr/>
        </p:nvSpPr>
        <p:spPr>
          <a:xfrm>
            <a:off x="548640" y="1600200"/>
            <a:ext cx="2560320" cy="1965960"/>
          </a:xfrm>
          <a:prstGeom prst="roundRect">
            <a:avLst>
              <a:gd name="adj" fmla="val 4651"/>
            </a:avLst>
          </a:prstGeom>
          <a:solidFill>
            <a:schemeClr val="bg2"/>
          </a:solidFill>
          <a:ln w="9525">
            <a:solidFill>
              <a:schemeClr val="bg2"/>
            </a:solidFill>
            <a:prstDash val="solid"/>
          </a:ln>
        </p:spPr>
      </p:sp>
      <p:sp>
        <p:nvSpPr>
          <p:cNvPr id="5" name="Shape 3"/>
          <p:cNvSpPr/>
          <p:nvPr/>
        </p:nvSpPr>
        <p:spPr>
          <a:xfrm>
            <a:off x="777240" y="1828800"/>
            <a:ext cx="548640" cy="548640"/>
          </a:xfrm>
          <a:prstGeom prst="ellipse">
            <a:avLst/>
          </a:prstGeom>
          <a:solidFill>
            <a:schemeClr val="accent1"/>
          </a:solidFill>
          <a:ln w="12700">
            <a:solidFill>
              <a:schemeClr val="accent1"/>
            </a:solidFill>
            <a:prstDash val="solid"/>
          </a:ln>
        </p:spPr>
      </p:sp>
      <p:sp>
        <p:nvSpPr>
          <p:cNvPr id="6" name="Text 4"/>
          <p:cNvSpPr txBox="1"/>
          <p:nvPr/>
        </p:nvSpPr>
        <p:spPr>
          <a:xfrm>
            <a:off x="777240" y="1828800"/>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rPr>
              <a:t>1</a:t>
            </a:r>
            <a:endParaRPr lang="en-US" sz="1800" dirty="0"/>
          </a:p>
        </p:txBody>
      </p:sp>
      <p:sp>
        <p:nvSpPr>
          <p:cNvPr id="7" name="Text 5"/>
          <p:cNvSpPr txBox="1"/>
          <p:nvPr/>
        </p:nvSpPr>
        <p:spPr>
          <a:xfrm>
            <a:off x="777240" y="2496312"/>
            <a:ext cx="2148840" cy="548640"/>
          </a:xfrm>
          <a:prstGeom prst="rect">
            <a:avLst/>
          </a:prstGeom>
          <a:noFill/>
          <a:ln/>
        </p:spPr>
        <p:txBody>
          <a:bodyPr wrap="square" lIns="0" tIns="0" rIns="0" bIns="0" rtlCol="0" anchor="t"/>
          <a:lstStyle/>
          <a:p>
            <a:pPr indent="0" marL="0">
              <a:buNone/>
            </a:pPr>
            <a:r>
              <a:rPr lang="en-US" sz="1600" b="1" dirty="0">
                <a:solidFill>
                  <a:schemeClr val="tx1"/>
                </a:solidFill>
              </a:rPr>
              <a:t>Executive summary</a:t>
            </a:r>
            <a:endParaRPr lang="en-US" sz="1600" dirty="0"/>
          </a:p>
        </p:txBody>
      </p:sp>
      <p:sp>
        <p:nvSpPr>
          <p:cNvPr id="8" name="Text 6"/>
          <p:cNvSpPr txBox="1"/>
          <p:nvPr/>
        </p:nvSpPr>
        <p:spPr>
          <a:xfrm>
            <a:off x="777240" y="3081528"/>
            <a:ext cx="2148840" cy="457200"/>
          </a:xfrm>
          <a:prstGeom prst="rect">
            <a:avLst/>
          </a:prstGeom>
          <a:noFill/>
          <a:ln/>
        </p:spPr>
        <p:txBody>
          <a:bodyPr wrap="square" lIns="0" tIns="0" rIns="0" bIns="0" rtlCol="0" anchor="t"/>
          <a:lstStyle/>
          <a:p>
            <a:pPr indent="0" marL="0">
              <a:buNone/>
            </a:pPr>
            <a:r>
              <a:rPr lang="en-US" sz="1200" dirty="0">
                <a:solidFill>
                  <a:schemeClr val="tx2"/>
                </a:solidFill>
              </a:rPr>
              <a:t>Problem, answer and ask on one page</a:t>
            </a:r>
            <a:endParaRPr lang="en-US" sz="1200" dirty="0"/>
          </a:p>
        </p:txBody>
      </p:sp>
      <p:sp>
        <p:nvSpPr>
          <p:cNvPr id="9" name="Shape 7"/>
          <p:cNvSpPr/>
          <p:nvPr/>
        </p:nvSpPr>
        <p:spPr>
          <a:xfrm>
            <a:off x="3145536" y="2583180"/>
            <a:ext cx="201168" cy="914"/>
          </a:xfrm>
          <a:prstGeom prst="line">
            <a:avLst/>
          </a:prstGeom>
          <a:noFill/>
          <a:ln w="19050">
            <a:solidFill>
              <a:schemeClr val="accent6"/>
            </a:solidFill>
            <a:prstDash val="solid"/>
            <a:tailEnd type="triangle"/>
          </a:ln>
        </p:spPr>
      </p:sp>
      <p:sp>
        <p:nvSpPr>
          <p:cNvPr id="10" name="Section 2"/>
          <p:cNvSpPr/>
          <p:nvPr/>
        </p:nvSpPr>
        <p:spPr>
          <a:xfrm>
            <a:off x="3383280" y="1600200"/>
            <a:ext cx="2560320" cy="1965960"/>
          </a:xfrm>
          <a:prstGeom prst="roundRect">
            <a:avLst>
              <a:gd name="adj" fmla="val 4651"/>
            </a:avLst>
          </a:prstGeom>
          <a:solidFill>
            <a:schemeClr val="bg2"/>
          </a:solidFill>
          <a:ln w="9525">
            <a:solidFill>
              <a:schemeClr val="bg2"/>
            </a:solidFill>
            <a:prstDash val="solid"/>
          </a:ln>
        </p:spPr>
      </p:sp>
      <p:sp>
        <p:nvSpPr>
          <p:cNvPr id="11" name="Shape 9"/>
          <p:cNvSpPr/>
          <p:nvPr/>
        </p:nvSpPr>
        <p:spPr>
          <a:xfrm>
            <a:off x="3611880" y="1828800"/>
            <a:ext cx="548640" cy="548640"/>
          </a:xfrm>
          <a:prstGeom prst="ellipse">
            <a:avLst/>
          </a:prstGeom>
          <a:solidFill>
            <a:schemeClr val="accent1"/>
          </a:solidFill>
          <a:ln w="12700">
            <a:solidFill>
              <a:schemeClr val="accent1"/>
            </a:solidFill>
            <a:prstDash val="solid"/>
          </a:ln>
        </p:spPr>
      </p:sp>
      <p:sp>
        <p:nvSpPr>
          <p:cNvPr id="12" name="Text 10"/>
          <p:cNvSpPr txBox="1"/>
          <p:nvPr/>
        </p:nvSpPr>
        <p:spPr>
          <a:xfrm>
            <a:off x="3611880" y="1828800"/>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rPr>
              <a:t>2</a:t>
            </a:r>
            <a:endParaRPr lang="en-US" sz="1800" dirty="0"/>
          </a:p>
        </p:txBody>
      </p:sp>
      <p:sp>
        <p:nvSpPr>
          <p:cNvPr id="13" name="Text 11"/>
          <p:cNvSpPr txBox="1"/>
          <p:nvPr/>
        </p:nvSpPr>
        <p:spPr>
          <a:xfrm>
            <a:off x="3611880" y="2496312"/>
            <a:ext cx="2148840" cy="548640"/>
          </a:xfrm>
          <a:prstGeom prst="rect">
            <a:avLst/>
          </a:prstGeom>
          <a:noFill/>
          <a:ln/>
        </p:spPr>
        <p:txBody>
          <a:bodyPr wrap="square" lIns="0" tIns="0" rIns="0" bIns="0" rtlCol="0" anchor="t"/>
          <a:lstStyle/>
          <a:p>
            <a:pPr indent="0" marL="0">
              <a:buNone/>
            </a:pPr>
            <a:r>
              <a:rPr lang="en-US" sz="1600" b="1" dirty="0">
                <a:solidFill>
                  <a:schemeClr val="tx1"/>
                </a:solidFill>
              </a:rPr>
              <a:t>Need &amp; state of the art</a:t>
            </a:r>
            <a:endParaRPr lang="en-US" sz="1600" dirty="0"/>
          </a:p>
        </p:txBody>
      </p:sp>
      <p:sp>
        <p:nvSpPr>
          <p:cNvPr id="14" name="Text 12"/>
          <p:cNvSpPr txBox="1"/>
          <p:nvPr/>
        </p:nvSpPr>
        <p:spPr>
          <a:xfrm>
            <a:off x="3611880" y="3081528"/>
            <a:ext cx="2148840" cy="457200"/>
          </a:xfrm>
          <a:prstGeom prst="rect">
            <a:avLst/>
          </a:prstGeom>
          <a:noFill/>
          <a:ln/>
        </p:spPr>
        <p:txBody>
          <a:bodyPr wrap="square" lIns="0" tIns="0" rIns="0" bIns="0" rtlCol="0" anchor="t"/>
          <a:lstStyle/>
          <a:p>
            <a:pPr indent="0" marL="0">
              <a:buNone/>
            </a:pPr>
            <a:r>
              <a:rPr lang="en-US" sz="1200" dirty="0">
                <a:solidFill>
                  <a:schemeClr val="tx2"/>
                </a:solidFill>
              </a:rPr>
              <a:t>Servicing market and existing interfaces</a:t>
            </a:r>
            <a:endParaRPr lang="en-US" sz="1200" dirty="0"/>
          </a:p>
        </p:txBody>
      </p:sp>
      <p:sp>
        <p:nvSpPr>
          <p:cNvPr id="15" name="Shape 13"/>
          <p:cNvSpPr/>
          <p:nvPr/>
        </p:nvSpPr>
        <p:spPr>
          <a:xfrm>
            <a:off x="5980176" y="2583180"/>
            <a:ext cx="201168" cy="914"/>
          </a:xfrm>
          <a:prstGeom prst="line">
            <a:avLst/>
          </a:prstGeom>
          <a:noFill/>
          <a:ln w="19050">
            <a:solidFill>
              <a:schemeClr val="accent6"/>
            </a:solidFill>
            <a:prstDash val="solid"/>
            <a:tailEnd type="triangle"/>
          </a:ln>
        </p:spPr>
      </p:sp>
      <p:sp>
        <p:nvSpPr>
          <p:cNvPr id="16" name="Section 3"/>
          <p:cNvSpPr/>
          <p:nvPr/>
        </p:nvSpPr>
        <p:spPr>
          <a:xfrm>
            <a:off x="6217920" y="1600200"/>
            <a:ext cx="2560320" cy="1965960"/>
          </a:xfrm>
          <a:prstGeom prst="roundRect">
            <a:avLst>
              <a:gd name="adj" fmla="val 4651"/>
            </a:avLst>
          </a:prstGeom>
          <a:solidFill>
            <a:schemeClr val="bg2"/>
          </a:solidFill>
          <a:ln w="9525">
            <a:solidFill>
              <a:schemeClr val="bg2"/>
            </a:solidFill>
            <a:prstDash val="solid"/>
          </a:ln>
        </p:spPr>
      </p:sp>
      <p:sp>
        <p:nvSpPr>
          <p:cNvPr id="17" name="Shape 15"/>
          <p:cNvSpPr/>
          <p:nvPr/>
        </p:nvSpPr>
        <p:spPr>
          <a:xfrm>
            <a:off x="6446520" y="1828800"/>
            <a:ext cx="548640" cy="548640"/>
          </a:xfrm>
          <a:prstGeom prst="ellipse">
            <a:avLst/>
          </a:prstGeom>
          <a:solidFill>
            <a:schemeClr val="accent1"/>
          </a:solidFill>
          <a:ln w="12700">
            <a:solidFill>
              <a:schemeClr val="accent1"/>
            </a:solidFill>
            <a:prstDash val="solid"/>
          </a:ln>
        </p:spPr>
      </p:sp>
      <p:sp>
        <p:nvSpPr>
          <p:cNvPr id="18" name="Text 16"/>
          <p:cNvSpPr txBox="1"/>
          <p:nvPr/>
        </p:nvSpPr>
        <p:spPr>
          <a:xfrm>
            <a:off x="6446520" y="1828800"/>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rPr>
              <a:t>3</a:t>
            </a:r>
            <a:endParaRPr lang="en-US" sz="1800" dirty="0"/>
          </a:p>
        </p:txBody>
      </p:sp>
      <p:sp>
        <p:nvSpPr>
          <p:cNvPr id="19" name="Text 17"/>
          <p:cNvSpPr txBox="1"/>
          <p:nvPr/>
        </p:nvSpPr>
        <p:spPr>
          <a:xfrm>
            <a:off x="6446520" y="2496312"/>
            <a:ext cx="2148840" cy="548640"/>
          </a:xfrm>
          <a:prstGeom prst="rect">
            <a:avLst/>
          </a:prstGeom>
          <a:noFill/>
          <a:ln/>
        </p:spPr>
        <p:txBody>
          <a:bodyPr wrap="square" lIns="0" tIns="0" rIns="0" bIns="0" rtlCol="0" anchor="t"/>
          <a:lstStyle/>
          <a:p>
            <a:pPr indent="0" marL="0">
              <a:buNone/>
            </a:pPr>
            <a:r>
              <a:rPr lang="en-US" sz="1600" b="1" dirty="0">
                <a:solidFill>
                  <a:schemeClr val="tx1"/>
                </a:solidFill>
              </a:rPr>
              <a:t>Innovation vs existing work</a:t>
            </a:r>
            <a:endParaRPr lang="en-US" sz="1600" dirty="0"/>
          </a:p>
        </p:txBody>
      </p:sp>
      <p:sp>
        <p:nvSpPr>
          <p:cNvPr id="20" name="Text 18"/>
          <p:cNvSpPr txBox="1"/>
          <p:nvPr/>
        </p:nvSpPr>
        <p:spPr>
          <a:xfrm>
            <a:off x="6446520" y="3081528"/>
            <a:ext cx="2148840" cy="457200"/>
          </a:xfrm>
          <a:prstGeom prst="rect">
            <a:avLst/>
          </a:prstGeom>
          <a:noFill/>
          <a:ln/>
        </p:spPr>
        <p:txBody>
          <a:bodyPr wrap="square" lIns="0" tIns="0" rIns="0" bIns="0" rtlCol="0" anchor="t"/>
          <a:lstStyle/>
          <a:p>
            <a:pPr indent="0" marL="0">
              <a:buNone/>
            </a:pPr>
            <a:r>
              <a:rPr lang="en-US" sz="1200" dirty="0">
                <a:solidFill>
                  <a:schemeClr val="tx2"/>
                </a:solidFill>
              </a:rPr>
              <a:t>Degraded-state serviceability, not another port</a:t>
            </a:r>
            <a:endParaRPr lang="en-US" sz="1200" dirty="0"/>
          </a:p>
        </p:txBody>
      </p:sp>
      <p:sp>
        <p:nvSpPr>
          <p:cNvPr id="21" name="Shape 19"/>
          <p:cNvSpPr/>
          <p:nvPr/>
        </p:nvSpPr>
        <p:spPr>
          <a:xfrm>
            <a:off x="8814816" y="2583180"/>
            <a:ext cx="201168" cy="914"/>
          </a:xfrm>
          <a:prstGeom prst="line">
            <a:avLst/>
          </a:prstGeom>
          <a:noFill/>
          <a:ln w="19050">
            <a:solidFill>
              <a:schemeClr val="accent6"/>
            </a:solidFill>
            <a:prstDash val="solid"/>
            <a:tailEnd type="triangle"/>
          </a:ln>
        </p:spPr>
      </p:sp>
      <p:sp>
        <p:nvSpPr>
          <p:cNvPr id="22" name="Section 4"/>
          <p:cNvSpPr/>
          <p:nvPr/>
        </p:nvSpPr>
        <p:spPr>
          <a:xfrm>
            <a:off x="9052560" y="1600200"/>
            <a:ext cx="2560320" cy="1965960"/>
          </a:xfrm>
          <a:prstGeom prst="roundRect">
            <a:avLst>
              <a:gd name="adj" fmla="val 4651"/>
            </a:avLst>
          </a:prstGeom>
          <a:solidFill>
            <a:schemeClr val="bg2"/>
          </a:solidFill>
          <a:ln w="9525">
            <a:solidFill>
              <a:schemeClr val="bg2"/>
            </a:solidFill>
            <a:prstDash val="solid"/>
          </a:ln>
        </p:spPr>
      </p:sp>
      <p:sp>
        <p:nvSpPr>
          <p:cNvPr id="23" name="Shape 21"/>
          <p:cNvSpPr/>
          <p:nvPr/>
        </p:nvSpPr>
        <p:spPr>
          <a:xfrm>
            <a:off x="9281160" y="1828800"/>
            <a:ext cx="548640" cy="548640"/>
          </a:xfrm>
          <a:prstGeom prst="ellipse">
            <a:avLst/>
          </a:prstGeom>
          <a:solidFill>
            <a:schemeClr val="accent1"/>
          </a:solidFill>
          <a:ln w="12700">
            <a:solidFill>
              <a:schemeClr val="accent1"/>
            </a:solidFill>
            <a:prstDash val="solid"/>
          </a:ln>
        </p:spPr>
      </p:sp>
      <p:sp>
        <p:nvSpPr>
          <p:cNvPr id="24" name="Text 22"/>
          <p:cNvSpPr txBox="1"/>
          <p:nvPr/>
        </p:nvSpPr>
        <p:spPr>
          <a:xfrm>
            <a:off x="9281160" y="1828800"/>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rPr>
              <a:t>4</a:t>
            </a:r>
            <a:endParaRPr lang="en-US" sz="1800" dirty="0"/>
          </a:p>
        </p:txBody>
      </p:sp>
      <p:sp>
        <p:nvSpPr>
          <p:cNvPr id="25" name="Text 23"/>
          <p:cNvSpPr txBox="1"/>
          <p:nvPr/>
        </p:nvSpPr>
        <p:spPr>
          <a:xfrm>
            <a:off x="9281160" y="2496312"/>
            <a:ext cx="2148840" cy="548640"/>
          </a:xfrm>
          <a:prstGeom prst="rect">
            <a:avLst/>
          </a:prstGeom>
          <a:noFill/>
          <a:ln/>
        </p:spPr>
        <p:txBody>
          <a:bodyPr wrap="square" lIns="0" tIns="0" rIns="0" bIns="0" rtlCol="0" anchor="t"/>
          <a:lstStyle/>
          <a:p>
            <a:pPr indent="0" marL="0">
              <a:buNone/>
            </a:pPr>
            <a:r>
              <a:rPr lang="en-US" sz="1600" b="1" dirty="0">
                <a:solidFill>
                  <a:schemeClr val="tx1"/>
                </a:solidFill>
              </a:rPr>
              <a:t>Objectives</a:t>
            </a:r>
            <a:endParaRPr lang="en-US" sz="1600" dirty="0"/>
          </a:p>
        </p:txBody>
      </p:sp>
      <p:sp>
        <p:nvSpPr>
          <p:cNvPr id="26" name="Text 24"/>
          <p:cNvSpPr txBox="1"/>
          <p:nvPr/>
        </p:nvSpPr>
        <p:spPr>
          <a:xfrm>
            <a:off x="9281160" y="3081528"/>
            <a:ext cx="2148840" cy="457200"/>
          </a:xfrm>
          <a:prstGeom prst="rect">
            <a:avLst/>
          </a:prstGeom>
          <a:noFill/>
          <a:ln/>
        </p:spPr>
        <p:txBody>
          <a:bodyPr wrap="square" lIns="0" tIns="0" rIns="0" bIns="0" rtlCol="0" anchor="t"/>
          <a:lstStyle/>
          <a:p>
            <a:pPr indent="0" marL="0">
              <a:buNone/>
            </a:pPr>
            <a:r>
              <a:rPr lang="en-US" sz="1200" dirty="0">
                <a:solidFill>
                  <a:schemeClr val="tx2"/>
                </a:solidFill>
              </a:rPr>
              <a:t>Measurable goals for Phase 2 and beyond</a:t>
            </a:r>
            <a:endParaRPr lang="en-US" sz="1200" dirty="0"/>
          </a:p>
        </p:txBody>
      </p:sp>
      <p:sp>
        <p:nvSpPr>
          <p:cNvPr id="27" name="Section 5"/>
          <p:cNvSpPr/>
          <p:nvPr/>
        </p:nvSpPr>
        <p:spPr>
          <a:xfrm>
            <a:off x="548640" y="3886200"/>
            <a:ext cx="2560320" cy="1965960"/>
          </a:xfrm>
          <a:prstGeom prst="roundRect">
            <a:avLst>
              <a:gd name="adj" fmla="val 4651"/>
            </a:avLst>
          </a:prstGeom>
          <a:solidFill>
            <a:schemeClr val="bg2"/>
          </a:solidFill>
          <a:ln w="9525">
            <a:solidFill>
              <a:schemeClr val="bg2"/>
            </a:solidFill>
            <a:prstDash val="solid"/>
          </a:ln>
        </p:spPr>
      </p:sp>
      <p:sp>
        <p:nvSpPr>
          <p:cNvPr id="28" name="Shape 26"/>
          <p:cNvSpPr/>
          <p:nvPr/>
        </p:nvSpPr>
        <p:spPr>
          <a:xfrm>
            <a:off x="777240" y="4114800"/>
            <a:ext cx="548640" cy="548640"/>
          </a:xfrm>
          <a:prstGeom prst="ellipse">
            <a:avLst/>
          </a:prstGeom>
          <a:solidFill>
            <a:schemeClr val="accent1"/>
          </a:solidFill>
          <a:ln w="12700">
            <a:solidFill>
              <a:schemeClr val="accent1"/>
            </a:solidFill>
            <a:prstDash val="solid"/>
          </a:ln>
        </p:spPr>
      </p:sp>
      <p:sp>
        <p:nvSpPr>
          <p:cNvPr id="29" name="Text 27"/>
          <p:cNvSpPr txBox="1"/>
          <p:nvPr/>
        </p:nvSpPr>
        <p:spPr>
          <a:xfrm>
            <a:off x="777240" y="4114800"/>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rPr>
              <a:t>5</a:t>
            </a:r>
            <a:endParaRPr lang="en-US" sz="1800" dirty="0"/>
          </a:p>
        </p:txBody>
      </p:sp>
      <p:sp>
        <p:nvSpPr>
          <p:cNvPr id="30" name="Text 28"/>
          <p:cNvSpPr txBox="1"/>
          <p:nvPr/>
        </p:nvSpPr>
        <p:spPr>
          <a:xfrm>
            <a:off x="777240" y="4782312"/>
            <a:ext cx="2148840" cy="548640"/>
          </a:xfrm>
          <a:prstGeom prst="rect">
            <a:avLst/>
          </a:prstGeom>
          <a:noFill/>
          <a:ln/>
        </p:spPr>
        <p:txBody>
          <a:bodyPr wrap="square" lIns="0" tIns="0" rIns="0" bIns="0" rtlCol="0" anchor="t"/>
          <a:lstStyle/>
          <a:p>
            <a:pPr indent="0" marL="0">
              <a:buNone/>
            </a:pPr>
            <a:r>
              <a:rPr lang="en-US" sz="1600" b="1" dirty="0">
                <a:solidFill>
                  <a:schemeClr val="tx1"/>
                </a:solidFill>
              </a:rPr>
              <a:t>Technical approach / WPs</a:t>
            </a:r>
            <a:endParaRPr lang="en-US" sz="1600" dirty="0"/>
          </a:p>
        </p:txBody>
      </p:sp>
      <p:sp>
        <p:nvSpPr>
          <p:cNvPr id="31" name="Text 29"/>
          <p:cNvSpPr txBox="1"/>
          <p:nvPr/>
        </p:nvSpPr>
        <p:spPr>
          <a:xfrm>
            <a:off x="777240" y="5367528"/>
            <a:ext cx="2148840" cy="457200"/>
          </a:xfrm>
          <a:prstGeom prst="rect">
            <a:avLst/>
          </a:prstGeom>
          <a:noFill/>
          <a:ln/>
        </p:spPr>
        <p:txBody>
          <a:bodyPr wrap="square" lIns="0" tIns="0" rIns="0" bIns="0" rtlCol="0" anchor="t"/>
          <a:lstStyle/>
          <a:p>
            <a:pPr indent="0" marL="0">
              <a:buNone/>
            </a:pPr>
            <a:r>
              <a:rPr lang="en-US" sz="1200" dirty="0">
                <a:solidFill>
                  <a:schemeClr val="tx2"/>
                </a:solidFill>
              </a:rPr>
              <a:t>Work packages mapped to the six workstreams</a:t>
            </a:r>
            <a:endParaRPr lang="en-US" sz="1200" dirty="0"/>
          </a:p>
        </p:txBody>
      </p:sp>
      <p:sp>
        <p:nvSpPr>
          <p:cNvPr id="32" name="Shape 30"/>
          <p:cNvSpPr/>
          <p:nvPr/>
        </p:nvSpPr>
        <p:spPr>
          <a:xfrm>
            <a:off x="3145536" y="4869180"/>
            <a:ext cx="201168" cy="914"/>
          </a:xfrm>
          <a:prstGeom prst="line">
            <a:avLst/>
          </a:prstGeom>
          <a:noFill/>
          <a:ln w="19050">
            <a:solidFill>
              <a:schemeClr val="accent6"/>
            </a:solidFill>
            <a:prstDash val="solid"/>
            <a:tailEnd type="triangle"/>
          </a:ln>
        </p:spPr>
      </p:sp>
      <p:sp>
        <p:nvSpPr>
          <p:cNvPr id="33" name="Section 6"/>
          <p:cNvSpPr/>
          <p:nvPr/>
        </p:nvSpPr>
        <p:spPr>
          <a:xfrm>
            <a:off x="3383280" y="3886200"/>
            <a:ext cx="2560320" cy="1965960"/>
          </a:xfrm>
          <a:prstGeom prst="roundRect">
            <a:avLst>
              <a:gd name="adj" fmla="val 4651"/>
            </a:avLst>
          </a:prstGeom>
          <a:solidFill>
            <a:schemeClr val="bg2"/>
          </a:solidFill>
          <a:ln w="9525">
            <a:solidFill>
              <a:schemeClr val="bg2"/>
            </a:solidFill>
            <a:prstDash val="solid"/>
          </a:ln>
        </p:spPr>
      </p:sp>
      <p:sp>
        <p:nvSpPr>
          <p:cNvPr id="34" name="Shape 32"/>
          <p:cNvSpPr/>
          <p:nvPr/>
        </p:nvSpPr>
        <p:spPr>
          <a:xfrm>
            <a:off x="3611880" y="4114800"/>
            <a:ext cx="548640" cy="548640"/>
          </a:xfrm>
          <a:prstGeom prst="ellipse">
            <a:avLst/>
          </a:prstGeom>
          <a:solidFill>
            <a:schemeClr val="accent1"/>
          </a:solidFill>
          <a:ln w="12700">
            <a:solidFill>
              <a:schemeClr val="accent1"/>
            </a:solidFill>
            <a:prstDash val="solid"/>
          </a:ln>
        </p:spPr>
      </p:sp>
      <p:sp>
        <p:nvSpPr>
          <p:cNvPr id="35" name="Text 33"/>
          <p:cNvSpPr txBox="1"/>
          <p:nvPr/>
        </p:nvSpPr>
        <p:spPr>
          <a:xfrm>
            <a:off x="3611880" y="4114800"/>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rPr>
              <a:t>6</a:t>
            </a:r>
            <a:endParaRPr lang="en-US" sz="1800" dirty="0"/>
          </a:p>
        </p:txBody>
      </p:sp>
      <p:sp>
        <p:nvSpPr>
          <p:cNvPr id="36" name="Text 34"/>
          <p:cNvSpPr txBox="1"/>
          <p:nvPr/>
        </p:nvSpPr>
        <p:spPr>
          <a:xfrm>
            <a:off x="3611880" y="4782312"/>
            <a:ext cx="2148840" cy="548640"/>
          </a:xfrm>
          <a:prstGeom prst="rect">
            <a:avLst/>
          </a:prstGeom>
          <a:noFill/>
          <a:ln/>
        </p:spPr>
        <p:txBody>
          <a:bodyPr wrap="square" lIns="0" tIns="0" rIns="0" bIns="0" rtlCol="0" anchor="t"/>
          <a:lstStyle/>
          <a:p>
            <a:pPr indent="0" marL="0">
              <a:buNone/>
            </a:pPr>
            <a:r>
              <a:rPr lang="en-US" sz="1600" b="1" dirty="0">
                <a:solidFill>
                  <a:schemeClr val="tx1"/>
                </a:solidFill>
              </a:rPr>
              <a:t>Expected results</a:t>
            </a:r>
            <a:endParaRPr lang="en-US" sz="1600" dirty="0"/>
          </a:p>
        </p:txBody>
      </p:sp>
      <p:sp>
        <p:nvSpPr>
          <p:cNvPr id="37" name="Text 35"/>
          <p:cNvSpPr txBox="1"/>
          <p:nvPr/>
        </p:nvSpPr>
        <p:spPr>
          <a:xfrm>
            <a:off x="3611880" y="5367528"/>
            <a:ext cx="2148840" cy="457200"/>
          </a:xfrm>
          <a:prstGeom prst="rect">
            <a:avLst/>
          </a:prstGeom>
          <a:noFill/>
          <a:ln/>
        </p:spPr>
        <p:txBody>
          <a:bodyPr wrap="square" lIns="0" tIns="0" rIns="0" bIns="0" rtlCol="0" anchor="t"/>
          <a:lstStyle/>
          <a:p>
            <a:pPr indent="0" marL="0">
              <a:buNone/>
            </a:pPr>
            <a:r>
              <a:rPr lang="en-US" sz="1200" dirty="0">
                <a:solidFill>
                  <a:schemeClr val="tx2"/>
                </a:solidFill>
              </a:rPr>
              <a:t>Serviceability envelopes and feature trade-offs</a:t>
            </a:r>
            <a:endParaRPr lang="en-US" sz="1200" dirty="0"/>
          </a:p>
        </p:txBody>
      </p:sp>
      <p:sp>
        <p:nvSpPr>
          <p:cNvPr id="38" name="Shape 36"/>
          <p:cNvSpPr/>
          <p:nvPr/>
        </p:nvSpPr>
        <p:spPr>
          <a:xfrm>
            <a:off x="5980176" y="4869180"/>
            <a:ext cx="201168" cy="914"/>
          </a:xfrm>
          <a:prstGeom prst="line">
            <a:avLst/>
          </a:prstGeom>
          <a:noFill/>
          <a:ln w="19050">
            <a:solidFill>
              <a:schemeClr val="accent6"/>
            </a:solidFill>
            <a:prstDash val="solid"/>
            <a:tailEnd type="triangle"/>
          </a:ln>
        </p:spPr>
      </p:sp>
      <p:sp>
        <p:nvSpPr>
          <p:cNvPr id="39" name="Section 7"/>
          <p:cNvSpPr/>
          <p:nvPr/>
        </p:nvSpPr>
        <p:spPr>
          <a:xfrm>
            <a:off x="6217920" y="3886200"/>
            <a:ext cx="2560320" cy="1965960"/>
          </a:xfrm>
          <a:prstGeom prst="roundRect">
            <a:avLst>
              <a:gd name="adj" fmla="val 4651"/>
            </a:avLst>
          </a:prstGeom>
          <a:solidFill>
            <a:schemeClr val="bg2"/>
          </a:solidFill>
          <a:ln w="9525">
            <a:solidFill>
              <a:schemeClr val="bg2"/>
            </a:solidFill>
            <a:prstDash val="solid"/>
          </a:ln>
        </p:spPr>
      </p:sp>
      <p:sp>
        <p:nvSpPr>
          <p:cNvPr id="40" name="Shape 38"/>
          <p:cNvSpPr/>
          <p:nvPr/>
        </p:nvSpPr>
        <p:spPr>
          <a:xfrm>
            <a:off x="6446520" y="4114800"/>
            <a:ext cx="548640" cy="548640"/>
          </a:xfrm>
          <a:prstGeom prst="ellipse">
            <a:avLst/>
          </a:prstGeom>
          <a:solidFill>
            <a:schemeClr val="accent1"/>
          </a:solidFill>
          <a:ln w="12700">
            <a:solidFill>
              <a:schemeClr val="accent1"/>
            </a:solidFill>
            <a:prstDash val="solid"/>
          </a:ln>
        </p:spPr>
      </p:sp>
      <p:sp>
        <p:nvSpPr>
          <p:cNvPr id="41" name="Text 39"/>
          <p:cNvSpPr txBox="1"/>
          <p:nvPr/>
        </p:nvSpPr>
        <p:spPr>
          <a:xfrm>
            <a:off x="6446520" y="4114800"/>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rPr>
              <a:t>7</a:t>
            </a:r>
            <a:endParaRPr lang="en-US" sz="1800" dirty="0"/>
          </a:p>
        </p:txBody>
      </p:sp>
      <p:sp>
        <p:nvSpPr>
          <p:cNvPr id="42" name="Text 40"/>
          <p:cNvSpPr txBox="1"/>
          <p:nvPr/>
        </p:nvSpPr>
        <p:spPr>
          <a:xfrm>
            <a:off x="6446520" y="4782312"/>
            <a:ext cx="2148840" cy="548640"/>
          </a:xfrm>
          <a:prstGeom prst="rect">
            <a:avLst/>
          </a:prstGeom>
          <a:noFill/>
          <a:ln/>
        </p:spPr>
        <p:txBody>
          <a:bodyPr wrap="square" lIns="0" tIns="0" rIns="0" bIns="0" rtlCol="0" anchor="t"/>
          <a:lstStyle/>
          <a:p>
            <a:pPr indent="0" marL="0">
              <a:buNone/>
            </a:pPr>
            <a:r>
              <a:rPr lang="en-US" sz="1600" b="1" dirty="0">
                <a:solidFill>
                  <a:schemeClr val="tx1"/>
                </a:solidFill>
              </a:rPr>
              <a:t>Risks &amp; mitigation</a:t>
            </a:r>
            <a:endParaRPr lang="en-US" sz="1600" dirty="0"/>
          </a:p>
        </p:txBody>
      </p:sp>
      <p:sp>
        <p:nvSpPr>
          <p:cNvPr id="43" name="Text 41"/>
          <p:cNvSpPr txBox="1"/>
          <p:nvPr/>
        </p:nvSpPr>
        <p:spPr>
          <a:xfrm>
            <a:off x="6446520" y="5367528"/>
            <a:ext cx="2148840" cy="457200"/>
          </a:xfrm>
          <a:prstGeom prst="rect">
            <a:avLst/>
          </a:prstGeom>
          <a:noFill/>
          <a:ln/>
        </p:spPr>
        <p:txBody>
          <a:bodyPr wrap="square" lIns="0" tIns="0" rIns="0" bIns="0" rtlCol="0" anchor="t"/>
          <a:lstStyle/>
          <a:p>
            <a:pPr indent="0" marL="0">
              <a:buNone/>
            </a:pPr>
            <a:r>
              <a:rPr lang="en-US" sz="1200" dirty="0">
                <a:solidFill>
                  <a:schemeClr val="tx2"/>
                </a:solidFill>
              </a:rPr>
              <a:t>Technical, programmatic and regulatory</a:t>
            </a:r>
            <a:endParaRPr lang="en-US" sz="1200" dirty="0"/>
          </a:p>
        </p:txBody>
      </p:sp>
      <p:sp>
        <p:nvSpPr>
          <p:cNvPr id="44" name="Shape 42"/>
          <p:cNvSpPr/>
          <p:nvPr/>
        </p:nvSpPr>
        <p:spPr>
          <a:xfrm>
            <a:off x="8814816" y="4869180"/>
            <a:ext cx="201168" cy="914"/>
          </a:xfrm>
          <a:prstGeom prst="line">
            <a:avLst/>
          </a:prstGeom>
          <a:noFill/>
          <a:ln w="19050">
            <a:solidFill>
              <a:schemeClr val="accent6"/>
            </a:solidFill>
            <a:prstDash val="solid"/>
            <a:tailEnd type="triangle"/>
          </a:ln>
        </p:spPr>
      </p:sp>
      <p:sp>
        <p:nvSpPr>
          <p:cNvPr id="45" name="Section 8"/>
          <p:cNvSpPr/>
          <p:nvPr/>
        </p:nvSpPr>
        <p:spPr>
          <a:xfrm>
            <a:off x="9052560" y="3886200"/>
            <a:ext cx="2560320" cy="1965960"/>
          </a:xfrm>
          <a:prstGeom prst="roundRect">
            <a:avLst>
              <a:gd name="adj" fmla="val 4651"/>
            </a:avLst>
          </a:prstGeom>
          <a:solidFill>
            <a:schemeClr val="tx1"/>
          </a:solidFill>
          <a:ln w="9525">
            <a:solidFill>
              <a:schemeClr val="tx1"/>
            </a:solidFill>
            <a:prstDash val="solid"/>
          </a:ln>
        </p:spPr>
      </p:sp>
      <p:sp>
        <p:nvSpPr>
          <p:cNvPr id="46" name="Shape 44"/>
          <p:cNvSpPr/>
          <p:nvPr/>
        </p:nvSpPr>
        <p:spPr>
          <a:xfrm>
            <a:off x="9281160" y="4114800"/>
            <a:ext cx="548640" cy="548640"/>
          </a:xfrm>
          <a:prstGeom prst="ellipse">
            <a:avLst/>
          </a:prstGeom>
          <a:solidFill>
            <a:schemeClr val="accent1"/>
          </a:solidFill>
          <a:ln w="12700">
            <a:solidFill>
              <a:schemeClr val="accent1"/>
            </a:solidFill>
            <a:prstDash val="solid"/>
          </a:ln>
        </p:spPr>
      </p:sp>
      <p:sp>
        <p:nvSpPr>
          <p:cNvPr id="47" name="Text 45"/>
          <p:cNvSpPr txBox="1"/>
          <p:nvPr/>
        </p:nvSpPr>
        <p:spPr>
          <a:xfrm>
            <a:off x="9281160" y="4114800"/>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rPr>
              <a:t>8</a:t>
            </a:r>
            <a:endParaRPr lang="en-US" sz="1800" dirty="0"/>
          </a:p>
        </p:txBody>
      </p:sp>
      <p:sp>
        <p:nvSpPr>
          <p:cNvPr id="48" name="Text 46"/>
          <p:cNvSpPr txBox="1"/>
          <p:nvPr/>
        </p:nvSpPr>
        <p:spPr>
          <a:xfrm>
            <a:off x="9281160" y="4782312"/>
            <a:ext cx="2148840" cy="548640"/>
          </a:xfrm>
          <a:prstGeom prst="rect">
            <a:avLst/>
          </a:prstGeom>
          <a:noFill/>
          <a:ln/>
        </p:spPr>
        <p:txBody>
          <a:bodyPr wrap="square" lIns="0" tIns="0" rIns="0" bIns="0" rtlCol="0" anchor="t"/>
          <a:lstStyle/>
          <a:p>
            <a:pPr indent="0" marL="0">
              <a:buNone/>
            </a:pPr>
            <a:r>
              <a:rPr lang="en-US" sz="1600" b="1" dirty="0">
                <a:solidFill>
                  <a:schemeClr val="bg1"/>
                </a:solidFill>
              </a:rPr>
              <a:t>Roadmap</a:t>
            </a:r>
            <a:endParaRPr lang="en-US" sz="1600" dirty="0"/>
          </a:p>
        </p:txBody>
      </p:sp>
      <p:sp>
        <p:nvSpPr>
          <p:cNvPr id="49" name="Text 47"/>
          <p:cNvSpPr txBox="1"/>
          <p:nvPr/>
        </p:nvSpPr>
        <p:spPr>
          <a:xfrm>
            <a:off x="9281160" y="5367528"/>
            <a:ext cx="2148840" cy="457200"/>
          </a:xfrm>
          <a:prstGeom prst="rect">
            <a:avLst/>
          </a:prstGeom>
          <a:noFill/>
          <a:ln/>
        </p:spPr>
        <p:txBody>
          <a:bodyPr wrap="square" lIns="0" tIns="0" rIns="0" bIns="0" rtlCol="0" anchor="t"/>
          <a:lstStyle/>
          <a:p>
            <a:pPr indent="0" marL="0">
              <a:buNone/>
            </a:pPr>
            <a:r>
              <a:rPr lang="en-US" sz="1200" dirty="0">
                <a:solidFill>
                  <a:schemeClr val="accent2"/>
                </a:solidFill>
              </a:rPr>
              <a:t>Ground demo → IOD → market</a:t>
            </a:r>
            <a:endParaRPr lang="en-US" sz="12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rgbClr val="8A9BB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640080" y="1234440"/>
            <a:ext cx="6766560" cy="365760"/>
          </a:xfrm>
          <a:prstGeom prst="rect">
            <a:avLst/>
          </a:prstGeom>
          <a:noFill/>
          <a:ln/>
        </p:spPr>
        <p:txBody>
          <a:bodyPr wrap="square" lIns="0" tIns="0" rIns="0" bIns="0" rtlCol="0"/>
          <a:lstStyle/>
          <a:p>
            <a:pPr indent="0" marL="0">
              <a:buNone/>
            </a:pPr>
            <a:r>
              <a:rPr lang="en-US" sz="1400" b="1" spc="300" kern="0" dirty="0">
                <a:solidFill>
                  <a:schemeClr val="accent1"/>
                </a:solidFill>
              </a:rPr>
              <a:t>FINAL MESSAGE</a:t>
            </a:r>
            <a:endParaRPr lang="en-US" sz="1400" dirty="0"/>
          </a:p>
        </p:txBody>
      </p:sp>
      <p:sp>
        <p:nvSpPr>
          <p:cNvPr id="3" name="Text 0"/>
          <p:cNvSpPr/>
          <p:nvPr>
            <p:ph idx="101" type="title" hasCustomPrompt="1"/>
          </p:nvPr>
        </p:nvSpPr>
        <p:spPr>
          <a:xfrm>
            <a:off x="640080" y="1645920"/>
            <a:ext cx="6949440" cy="1600200"/>
          </a:xfrm>
          <a:prstGeom prst="rect">
            <a:avLst/>
          </a:prstGeom>
          <a:noFill/>
          <a:ln/>
        </p:spPr>
        <p:txBody>
          <a:bodyPr wrap="square" lIns="0" tIns="0" rIns="0" bIns="0" rtlCol="0" anchor="t"/>
          <a:lstStyle/>
          <a:p>
            <a:pPr algn="l" indent="0" marL="0">
              <a:buNone/>
            </a:pPr>
            <a:r>
              <a:rPr lang="en-US" sz="4400" b="1" dirty="0">
                <a:solidFill>
                  <a:schemeClr val="bg1"/>
                </a:solidFill>
              </a:rPr>
              <a:t>We are not proposing another docking port.</a:t>
            </a:r>
            <a:endParaRPr lang="en-US" sz="4400" dirty="0"/>
          </a:p>
        </p:txBody>
      </p:sp>
      <p:sp>
        <p:nvSpPr>
          <p:cNvPr id="4" name="Text 2"/>
          <p:cNvSpPr txBox="1"/>
          <p:nvPr/>
        </p:nvSpPr>
        <p:spPr>
          <a:xfrm>
            <a:off x="640080" y="3337560"/>
            <a:ext cx="6766560" cy="1371600"/>
          </a:xfrm>
          <a:prstGeom prst="rect">
            <a:avLst/>
          </a:prstGeom>
          <a:noFill/>
          <a:ln/>
        </p:spPr>
        <p:txBody>
          <a:bodyPr wrap="square" lIns="0" tIns="0" rIns="0" bIns="0" rtlCol="0" anchor="t"/>
          <a:lstStyle/>
          <a:p>
            <a:pPr indent="0" marL="0">
              <a:buNone/>
            </a:pPr>
            <a:r>
              <a:rPr lang="en-US" sz="2000" dirty="0">
                <a:solidFill>
                  <a:schemeClr val="bg1"/>
                </a:solidFill>
              </a:rPr>
              <a:t>We are investigating the minimum spacecraft-side preparation needed to make future satellites safely serviceable — even when degraded — and turning that into a scalable platform roadmap.</a:t>
            </a:r>
            <a:endParaRPr lang="en-US" sz="2000" dirty="0"/>
          </a:p>
        </p:txBody>
      </p:sp>
      <p:sp>
        <p:nvSpPr>
          <p:cNvPr id="5" name="Takeaway 1"/>
          <p:cNvSpPr/>
          <p:nvPr/>
        </p:nvSpPr>
        <p:spPr>
          <a:xfrm>
            <a:off x="640080" y="5074920"/>
            <a:ext cx="2468880" cy="548640"/>
          </a:xfrm>
          <a:prstGeom prst="roundRect">
            <a:avLst>
              <a:gd name="adj" fmla="val 50000"/>
            </a:avLst>
          </a:prstGeom>
          <a:solidFill>
            <a:schemeClr val="tx2"/>
          </a:solidFill>
          <a:ln w="9525">
            <a:solidFill>
              <a:schemeClr val="tx2"/>
            </a:solidFill>
            <a:prstDash val="solid"/>
          </a:ln>
        </p:spPr>
      </p:sp>
      <p:pic>
        <p:nvPicPr>
          <p:cNvPr id="6" name="Image 0" descr="preencoded.png">    </p:cNvPr>
          <p:cNvPicPr>
            <a:picLocks noChangeAspect="1"/>
          </p:cNvPicPr>
          <p:nvPr/>
        </p:nvPicPr>
        <p:blipFill>
          <a:blip r:embed="rId1"/>
          <a:stretch>
            <a:fillRect/>
          </a:stretch>
        </p:blipFill>
        <p:spPr>
          <a:xfrm>
            <a:off x="804672" y="5212080"/>
            <a:ext cx="274320" cy="274320"/>
          </a:xfrm>
          <a:prstGeom prst="rect">
            <a:avLst/>
          </a:prstGeom>
        </p:spPr>
      </p:pic>
      <p:sp>
        <p:nvSpPr>
          <p:cNvPr id="7" name="Text 4"/>
          <p:cNvSpPr txBox="1"/>
          <p:nvPr/>
        </p:nvSpPr>
        <p:spPr>
          <a:xfrm>
            <a:off x="1170432" y="5074920"/>
            <a:ext cx="1874520" cy="548640"/>
          </a:xfrm>
          <a:prstGeom prst="rect">
            <a:avLst/>
          </a:prstGeom>
          <a:noFill/>
          <a:ln/>
        </p:spPr>
        <p:txBody>
          <a:bodyPr wrap="square" lIns="0" tIns="0" rIns="0" bIns="0" rtlCol="0" anchor="ctr"/>
          <a:lstStyle/>
          <a:p>
            <a:pPr indent="0" marL="0">
              <a:buNone/>
            </a:pPr>
            <a:r>
              <a:rPr lang="en-US" sz="1400" b="1" dirty="0">
                <a:solidFill>
                  <a:schemeClr val="bg1"/>
                </a:solidFill>
              </a:rPr>
              <a:t>Minimum preparation</a:t>
            </a:r>
            <a:endParaRPr lang="en-US" sz="1400" dirty="0"/>
          </a:p>
        </p:txBody>
      </p:sp>
      <p:sp>
        <p:nvSpPr>
          <p:cNvPr id="8" name="Takeaway 2"/>
          <p:cNvSpPr/>
          <p:nvPr/>
        </p:nvSpPr>
        <p:spPr>
          <a:xfrm>
            <a:off x="3246120" y="5074920"/>
            <a:ext cx="2240280" cy="548640"/>
          </a:xfrm>
          <a:prstGeom prst="roundRect">
            <a:avLst>
              <a:gd name="adj" fmla="val 50000"/>
            </a:avLst>
          </a:prstGeom>
          <a:solidFill>
            <a:schemeClr val="tx2"/>
          </a:solidFill>
          <a:ln w="9525">
            <a:solidFill>
              <a:schemeClr val="tx2"/>
            </a:solidFill>
            <a:prstDash val="solid"/>
          </a:ln>
        </p:spPr>
      </p:sp>
      <p:pic>
        <p:nvPicPr>
          <p:cNvPr id="9" name="Image 1" descr="preencoded.png">    </p:cNvPr>
          <p:cNvPicPr>
            <a:picLocks noChangeAspect="1"/>
          </p:cNvPicPr>
          <p:nvPr/>
        </p:nvPicPr>
        <p:blipFill>
          <a:blip r:embed="rId2"/>
          <a:stretch>
            <a:fillRect/>
          </a:stretch>
        </p:blipFill>
        <p:spPr>
          <a:xfrm>
            <a:off x="3410712" y="5212080"/>
            <a:ext cx="274320" cy="274320"/>
          </a:xfrm>
          <a:prstGeom prst="rect">
            <a:avLst/>
          </a:prstGeom>
        </p:spPr>
      </p:pic>
      <p:sp>
        <p:nvSpPr>
          <p:cNvPr id="10" name="Text 6"/>
          <p:cNvSpPr txBox="1"/>
          <p:nvPr/>
        </p:nvSpPr>
        <p:spPr>
          <a:xfrm>
            <a:off x="3776472" y="5074920"/>
            <a:ext cx="1645920" cy="548640"/>
          </a:xfrm>
          <a:prstGeom prst="rect">
            <a:avLst/>
          </a:prstGeom>
          <a:noFill/>
          <a:ln/>
        </p:spPr>
        <p:txBody>
          <a:bodyPr wrap="square" lIns="0" tIns="0" rIns="0" bIns="0" rtlCol="0" anchor="ctr"/>
          <a:lstStyle/>
          <a:p>
            <a:pPr indent="0" marL="0">
              <a:buNone/>
            </a:pPr>
            <a:r>
              <a:rPr lang="en-US" sz="1400" b="1" dirty="0">
                <a:solidFill>
                  <a:schemeClr val="bg1"/>
                </a:solidFill>
              </a:rPr>
              <a:t>Safe when degraded</a:t>
            </a:r>
            <a:endParaRPr lang="en-US" sz="1400" dirty="0"/>
          </a:p>
        </p:txBody>
      </p:sp>
      <p:sp>
        <p:nvSpPr>
          <p:cNvPr id="11" name="Takeaway 3"/>
          <p:cNvSpPr/>
          <p:nvPr/>
        </p:nvSpPr>
        <p:spPr>
          <a:xfrm>
            <a:off x="5623560" y="5074920"/>
            <a:ext cx="2103120" cy="548640"/>
          </a:xfrm>
          <a:prstGeom prst="roundRect">
            <a:avLst>
              <a:gd name="adj" fmla="val 50000"/>
            </a:avLst>
          </a:prstGeom>
          <a:solidFill>
            <a:schemeClr val="tx2"/>
          </a:solidFill>
          <a:ln w="9525">
            <a:solidFill>
              <a:schemeClr val="tx2"/>
            </a:solidFill>
            <a:prstDash val="solid"/>
          </a:ln>
        </p:spPr>
      </p:sp>
      <p:pic>
        <p:nvPicPr>
          <p:cNvPr id="12" name="Image 2" descr="preencoded.png">    </p:cNvPr>
          <p:cNvPicPr>
            <a:picLocks noChangeAspect="1"/>
          </p:cNvPicPr>
          <p:nvPr/>
        </p:nvPicPr>
        <p:blipFill>
          <a:blip r:embed="rId3"/>
          <a:stretch>
            <a:fillRect/>
          </a:stretch>
        </p:blipFill>
        <p:spPr>
          <a:xfrm>
            <a:off x="5788152" y="5212080"/>
            <a:ext cx="274320" cy="274320"/>
          </a:xfrm>
          <a:prstGeom prst="rect">
            <a:avLst/>
          </a:prstGeom>
        </p:spPr>
      </p:pic>
      <p:sp>
        <p:nvSpPr>
          <p:cNvPr id="13" name="Text 8"/>
          <p:cNvSpPr txBox="1"/>
          <p:nvPr/>
        </p:nvSpPr>
        <p:spPr>
          <a:xfrm>
            <a:off x="6153912" y="5074920"/>
            <a:ext cx="1508760" cy="548640"/>
          </a:xfrm>
          <a:prstGeom prst="rect">
            <a:avLst/>
          </a:prstGeom>
          <a:noFill/>
          <a:ln/>
        </p:spPr>
        <p:txBody>
          <a:bodyPr wrap="square" lIns="0" tIns="0" rIns="0" bIns="0" rtlCol="0" anchor="ctr"/>
          <a:lstStyle/>
          <a:p>
            <a:pPr indent="0" marL="0">
              <a:buNone/>
            </a:pPr>
            <a:r>
              <a:rPr lang="en-US" sz="1400" b="1" dirty="0">
                <a:solidFill>
                  <a:schemeClr val="bg1"/>
                </a:solidFill>
              </a:rPr>
              <a:t>Scalable roadmap</a:t>
            </a:r>
            <a:endParaRPr lang="en-US" sz="1400" dirty="0"/>
          </a:p>
        </p:txBody>
      </p:sp>
      <p:sp>
        <p:nvSpPr>
          <p:cNvPr id="14" name="Orbit ring 1"/>
          <p:cNvSpPr/>
          <p:nvPr/>
        </p:nvSpPr>
        <p:spPr>
          <a:xfrm>
            <a:off x="7635240" y="1234440"/>
            <a:ext cx="4389120" cy="4389120"/>
          </a:xfrm>
          <a:prstGeom prst="ellipse">
            <a:avLst/>
          </a:prstGeom>
          <a:solidFill>
            <a:schemeClr val="tx1">
              <a:alpha val="0"/>
            </a:schemeClr>
          </a:solidFill>
          <a:ln w="12700">
            <a:solidFill>
              <a:schemeClr val="accent6">
                <a:alpha val="60000"/>
              </a:schemeClr>
            </a:solidFill>
            <a:prstDash val="dash"/>
          </a:ln>
        </p:spPr>
      </p:sp>
      <p:sp>
        <p:nvSpPr>
          <p:cNvPr id="15" name="Orbit ring 2"/>
          <p:cNvSpPr/>
          <p:nvPr/>
        </p:nvSpPr>
        <p:spPr>
          <a:xfrm>
            <a:off x="8229600" y="1828800"/>
            <a:ext cx="3200400" cy="3200400"/>
          </a:xfrm>
          <a:prstGeom prst="ellipse">
            <a:avLst/>
          </a:prstGeom>
          <a:solidFill>
            <a:schemeClr val="tx1">
              <a:alpha val="0"/>
            </a:schemeClr>
          </a:solidFill>
          <a:ln w="12700">
            <a:solidFill>
              <a:schemeClr val="accent6">
                <a:alpha val="45000"/>
              </a:schemeClr>
            </a:solidFill>
            <a:prstDash val="solid"/>
          </a:ln>
        </p:spPr>
      </p:sp>
      <p:sp>
        <p:nvSpPr>
          <p:cNvPr id="16" name="Orbit ring 3"/>
          <p:cNvSpPr/>
          <p:nvPr/>
        </p:nvSpPr>
        <p:spPr>
          <a:xfrm>
            <a:off x="8823960" y="2423160"/>
            <a:ext cx="2011680" cy="2011680"/>
          </a:xfrm>
          <a:prstGeom prst="ellipse">
            <a:avLst/>
          </a:prstGeom>
          <a:solidFill>
            <a:schemeClr val="tx1">
              <a:alpha val="0"/>
            </a:schemeClr>
          </a:solidFill>
          <a:ln w="12700">
            <a:solidFill>
              <a:schemeClr val="accent6">
                <a:alpha val="30000"/>
              </a:schemeClr>
            </a:solidFill>
            <a:prstDash val="solid"/>
          </a:ln>
        </p:spPr>
      </p:sp>
      <p:sp>
        <p:nvSpPr>
          <p:cNvPr id="17" name="Client satellite"/>
          <p:cNvSpPr/>
          <p:nvPr/>
        </p:nvSpPr>
        <p:spPr>
          <a:xfrm>
            <a:off x="9281160" y="2880360"/>
            <a:ext cx="1097280" cy="1097280"/>
          </a:xfrm>
          <a:prstGeom prst="ellipse">
            <a:avLst/>
          </a:prstGeom>
          <a:solidFill>
            <a:schemeClr val="accent1"/>
          </a:solidFill>
          <a:ln w="12700">
            <a:solidFill>
              <a:schemeClr val="accent1"/>
            </a:solidFill>
            <a:prstDash val="solid"/>
          </a:ln>
        </p:spPr>
      </p:sp>
      <p:pic>
        <p:nvPicPr>
          <p:cNvPr id="18" name="Image 3" descr="FaSatellite">    </p:cNvPr>
          <p:cNvPicPr>
            <a:picLocks noChangeAspect="1"/>
          </p:cNvPicPr>
          <p:nvPr/>
        </p:nvPicPr>
        <p:blipFill>
          <a:blip r:embed="rId4"/>
          <a:stretch>
            <a:fillRect/>
          </a:stretch>
        </p:blipFill>
        <p:spPr>
          <a:xfrm>
            <a:off x="9555480" y="3154680"/>
            <a:ext cx="548640" cy="548640"/>
          </a:xfrm>
          <a:prstGeom prst="rect">
            <a:avLst/>
          </a:prstGeom>
        </p:spPr>
      </p:pic>
      <p:sp>
        <p:nvSpPr>
          <p:cNvPr id="19" name="Servicer (docked)"/>
          <p:cNvSpPr/>
          <p:nvPr/>
        </p:nvSpPr>
        <p:spPr>
          <a:xfrm>
            <a:off x="8915400" y="2468880"/>
            <a:ext cx="594360" cy="594360"/>
          </a:xfrm>
          <a:prstGeom prst="ellipse">
            <a:avLst/>
          </a:prstGeom>
          <a:solidFill>
            <a:schemeClr val="accent2"/>
          </a:solidFill>
          <a:ln w="12700">
            <a:solidFill>
              <a:schemeClr val="accent2"/>
            </a:solidFill>
            <a:prstDash val="solid"/>
          </a:ln>
        </p:spPr>
      </p:sp>
      <p:pic>
        <p:nvPicPr>
          <p:cNvPr id="20" name="Image 4" descr="FaRocket">    </p:cNvPr>
          <p:cNvPicPr>
            <a:picLocks noChangeAspect="1"/>
          </p:cNvPicPr>
          <p:nvPr/>
        </p:nvPicPr>
        <p:blipFill>
          <a:blip r:embed="rId5"/>
          <a:stretch>
            <a:fillRect/>
          </a:stretch>
        </p:blipFill>
        <p:spPr>
          <a:xfrm>
            <a:off x="9063990" y="2617470"/>
            <a:ext cx="297180" cy="297180"/>
          </a:xfrm>
          <a:prstGeom prst="rect">
            <a:avLst/>
          </a:prstGeom>
        </p:spPr>
      </p:pic>
      <p:sp>
        <p:nvSpPr>
          <p:cNvPr id="22" name="Text 0"/>
          <p:cNvSpPr/>
          <p:nvPr>
            <p:ph idx="102" type="body" hasCustomPrompt="1"/>
          </p:nvPr>
        </p:nvSpPr>
        <p:spPr>
          <a:xfrm>
            <a:off x="640080" y="3291840"/>
            <a:ext cx="6766560" cy="640080"/>
          </a:xfrm>
          <a:prstGeom prst="rect">
            <a:avLst/>
          </a:prstGeom>
          <a:noFill/>
          <a:ln/>
        </p:spPr>
        <p:txBody>
          <a:bodyPr wrap="square" lIns="0" tIns="0" rIns="0" bIns="0" rtlCol="0" anchor="t"/>
          <a:lstStyle/>
          <a:p>
            <a:pPr indent="0" marL="0">
              <a:buNone/>
            </a:pPr>
            <a:endParaRPr lang="en-US" sz="1800" dirty="0"/>
          </a:p>
        </p:txBody>
      </p:sp>
    </p:spTree>
  </p:cSld>
  <p:clrMapOvr>
    <a:masterClrMapping/>
  </p:clrMapOvr>
</p:sld>
</file>

<file path=ppt/theme/theme1.xml><?xml version="1.0" encoding="utf-8"?>
<a:theme xmlns:a="http://schemas.openxmlformats.org/drawingml/2006/main" name="Orbital Service">
  <a:themeElements>
    <a:clrScheme name="Orbital Service">
      <a:dk1>
        <a:srgbClr val="0B1730"/>
      </a:dk1>
      <a:lt1>
        <a:srgbClr val="FFFFFF"/>
      </a:lt1>
      <a:dk2>
        <a:srgbClr val="2B3A55"/>
      </a:dk2>
      <a:lt2>
        <a:srgbClr val="EEF2F7"/>
      </a:lt2>
      <a:accent1>
        <a:srgbClr val="F5A524"/>
      </a:accent1>
      <a:accent2>
        <a:srgbClr val="1FA7BB"/>
      </a:accent2>
      <a:accent3>
        <a:srgbClr val="4F63E8"/>
      </a:accent3>
      <a:accent4>
        <a:srgbClr val="E5484D"/>
      </a:accent4>
      <a:accent5>
        <a:srgbClr val="2FB67C"/>
      </a:accent5>
      <a:accent6>
        <a:srgbClr val="8A9BB0"/>
      </a:accent6>
      <a:hlink>
        <a:srgbClr val="1FA7BB"/>
      </a:hlink>
      <a:folHlink>
        <a:srgbClr val="4F63E8"/>
      </a:folHlink>
    </a:clrScheme>
    <a:fontScheme name="Orbital Serv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Phase 2 – Client-Side Serviceability</dc:title>
  <dc:subject>PptxGenJS Presentation</dc:subject>
  <dc:creator>PptxGenJS</dc:creator>
  <cp:lastModifiedBy>PptxGenJS</cp:lastModifiedBy>
  <cp:revision>1</cp:revision>
  <dcterms:created xsi:type="dcterms:W3CDTF">2026-10-11T17:35:30Z</dcterms:created>
  <dcterms:modified xsi:type="dcterms:W3CDTF">2026-10-11T17:35:30Z</dcterms:modified>
</cp:coreProperties>
</file>