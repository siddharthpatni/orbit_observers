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a0672d52-d259-7971-adac-6392b789c218}">
          <p14:sldIdLst>
            <p14:sldId id="256"/>
            <p14:sldId id="257"/>
            <p14:sldId id="258"/>
          </p14:sldIdLst>
        </p14:section>
        <p14:section name="Phase 2 Direction" id="{e340d1f1-d411-6c99-84a7-02dc58f0057d}">
          <p14:sldIdLst>
            <p14:sldId id="259"/>
            <p14:sldId id="260"/>
            <p14:sldId id="261"/>
          </p14:sldIdLst>
        </p14:section>
        <p14:section name="Architecture" id="{197df84d-6f7c-8e2d-1aef-93ddd9e54141}">
          <p14:sldIdLst>
            <p14:sldId id="262"/>
            <p14:sldId id="263"/>
            <p14:sldId id="264"/>
          </p14:sldIdLst>
        </p14:section>
        <p14:section name="Feedback &amp; Next Steps" id="{911c2ad0-25be-526a-d33e-8769a6a0d11d}">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The purpose of this call is to use your feedback to focus Phase 2 on the most valuable direction. We want to validate four things: which part of our concept is most relevant to ClearSpace, which assumptions we should avoid, what level of detail is realistic for Phase 2, and how to shape the OSIP-style proposal around industry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Phase 1 we proposed a roadmap for a serviceable satellite platform. The core idea is not one universal interface for every satellite, but a configurable product family based on mission value and orbit: EOL capture and removal for LEO and low-value assets; docking, refuelling and health monitoring for high-value GEO; upgrade or propulsion PODs for long-life assets; and an interoperable serviceability architecture for future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view of the core problem: current in-orbit servicing is limited not only by servicer capability, but by the client spacecraft. Legacy satellites are often non-cooperative, there is no standard capture or service interface, safe-mode behaviour may conflict with servicing, propulsion health is uncertain, GEO architecture is shifting from chemical to hybrid and electric, and one solution will not fit all satellite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Phase 2 our main technical focus is degraded and cooperative serviceability: does client-side preparation measurably improve servicing feasibility? The elements are fiducials and navigation aids, an IOS mode, an independent service beacon, known capture geometry, and clear control handover during docking. Is this a meaningful operational gap from ClearSpace's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considering a Monte-Carlo RPO simulation comparing four targets: A0 non-cooperative, A1 passively prepared with fiducials and capture geometry, A2 degraded cooperative with a service beacon, and A3 cooperative with IOS mode. We would vary tumble rate, navigation error, communication loss, latency, initial attitude and control uncertainty, and measure capture success, abort probability, collision risk, delta-V and capture time, giving a safe servicing envelope. Which scenario and assumptions would be most useful for ClearSpace?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beacon is a low-power independent module that keeps minimum servicing information available if the main OBC or comms are degraded: spacecraft ID, interface location and type, a basic health flag, an angular-rate estimate, IOS status and an authentication signal. IOS mode is a defined spacecraft state for servicing: Normal, Service Standby, Approach Allowed, IOS Mode, Mated, then Release or Abort. Would this help in real operations, or should we prioritise other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understanding: MEV could use legacy chemical GEO geometry, especially the nozzle and launch-adapter ring. Future GEO platforms are moving toward hybrid and all-electric architectures, which reduces reliance on these accidental legacy interfaces, so future satellites may need deliberate, propulsion-independent service interfaces. How does ClearSpace see this transition affecting future interface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OSAN, the Orbital Service and Augmentation Node, is a generic service zone for high-value future platforms, potentially combining capture and load transfer, navigation references, power and data, an optional fluid interface and POD attachment. We do not plan a detailed universal interface design in Phase 2; instead we may produce a generic layout, functional requirements, serviceability tiers and a compatibility check with future GEO platforms. Would ClearSpace prefer this generic approach over a detailed interface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propose four serviceability tiers: EOL-ready with MICE-like capture and fiducials; service-ready with IOS mode and communication; life-extension-ready with refuelling or propulsion augmentation; and augmentation-ready with power/data and upgrade POD capability. Which level is most relevant for ClearSpace's future market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we would value feedback on: the best Phase 2 technical focus; the most realistic servicing scenario; useful assumptions for non-cooperative or degraded targets; the GEO chemical-to-electric transition; whether the service beacon and IOS mode are valuable; how detailed OSAN should be; and what ClearSpace would like to see in the OSIP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Depending on your input, we plan to deliver an OSIP-style proposal, RPO and serviceability simulation results, the service beacon and IOS mode concept, a generic OSAN architecture and a serviceability-tier trade study, with a roadmap from study to ground demonstration, in-orbit demonstration and finally a product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what would make our Phase 2 result most useful from ClearSpace's perspective? Should we prioritise the RPO Monte-Carlo and non-cooperative servicing analysis, the service beacon and IOS mode concept, the OSAN future service-zone architecture, or the product-family and market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8229600" cy="320040"/>
          </a:xfrm>
          <a:prstGeom prst="rect">
            <a:avLst/>
          </a:prstGeom>
          <a:noFill/>
          <a:ln/>
        </p:spPr>
        <p:txBody>
          <a:bodyPr wrap="square" rtlCol="0"/>
          <a:lstStyle>
            <a:lvl1pPr indent="0" marL="0">
              <a:buNone/>
              <a:defRPr lang="en-US" sz="140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097280"/>
            <a:ext cx="10607040" cy="1234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697480"/>
            <a:ext cx="9601200" cy="5486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accent3"/>
                </a:solidFill>
              </a:rPr>
              <a:t>Phase 2 – Discussion with ClearSpace</a:t>
            </a:r>
            <a:endParaRPr lang="en-US" sz="1000" dirty="0"/>
          </a:p>
        </p:txBody>
      </p:sp>
      <p:sp>
        <p:nvSpPr>
          <p:cNvPr id="3" name="Text 1"/>
          <p:cNvSpPr/>
          <p:nvPr>
            <p:ph idx="101" type="title" hasCustomPrompt="1"/>
          </p:nvPr>
        </p:nvSpPr>
        <p:spPr>
          <a:xfrm>
            <a:off x="548640" y="411480"/>
            <a:ext cx="1106424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8229600" cy="320040"/>
          </a:xfrm>
          <a:prstGeom prst="rect">
            <a:avLst/>
          </a:prstGeom>
          <a:noFill/>
          <a:ln/>
        </p:spPr>
        <p:txBody>
          <a:bodyPr wrap="square" lIns="0" tIns="0" rIns="0" bIns="0" rtlCol="0"/>
          <a:lstStyle/>
          <a:p>
            <a:pPr indent="0" marL="0">
              <a:buNone/>
            </a:pPr>
            <a:r>
              <a:rPr lang="en-US" sz="1400" dirty="0">
                <a:solidFill>
                  <a:schemeClr val="accent6"/>
                </a:solidFill>
              </a:rPr>
              <a:t>Phase 2 – Discussion with ClearSpace</a:t>
            </a:r>
            <a:endParaRPr lang="en-US" sz="1400" dirty="0"/>
          </a:p>
        </p:txBody>
      </p:sp>
      <p:sp>
        <p:nvSpPr>
          <p:cNvPr id="3" name="Text 0"/>
          <p:cNvSpPr/>
          <p:nvPr>
            <p:ph idx="101" type="title" hasCustomPrompt="1"/>
          </p:nvPr>
        </p:nvSpPr>
        <p:spPr>
          <a:xfrm>
            <a:off x="548640" y="1097280"/>
            <a:ext cx="10607040" cy="1234440"/>
          </a:xfrm>
          <a:prstGeom prst="rect">
            <a:avLst/>
          </a:prstGeom>
          <a:noFill/>
          <a:ln/>
        </p:spPr>
        <p:txBody>
          <a:bodyPr wrap="square" lIns="0" tIns="0" rIns="0" bIns="0" rtlCol="0" anchor="t"/>
          <a:lstStyle/>
          <a:p>
            <a:pPr algn="l" indent="0" marL="0">
              <a:buNone/>
            </a:pPr>
            <a:r>
              <a:rPr lang="en-US" sz="4000" b="1" dirty="0">
                <a:solidFill>
                  <a:schemeClr val="bg1"/>
                </a:solidFill>
              </a:rPr>
              <a:t>Purpose of the Call</a:t>
            </a:r>
            <a:endParaRPr lang="en-US" sz="4000" dirty="0"/>
          </a:p>
        </p:txBody>
      </p:sp>
      <p:sp>
        <p:nvSpPr>
          <p:cNvPr id="4" name="Text 0"/>
          <p:cNvSpPr/>
          <p:nvPr>
            <p:ph idx="102" type="body" hasCustomPrompt="1"/>
          </p:nvPr>
        </p:nvSpPr>
        <p:spPr>
          <a:xfrm>
            <a:off x="548640" y="2697480"/>
            <a:ext cx="9601200" cy="548640"/>
          </a:xfrm>
          <a:prstGeom prst="rect">
            <a:avLst/>
          </a:prstGeom>
          <a:noFill/>
          <a:ln/>
        </p:spPr>
        <p:txBody>
          <a:bodyPr wrap="square" lIns="0" tIns="0" rIns="0" bIns="0" rtlCol="0" anchor="t"/>
          <a:lstStyle/>
          <a:p>
            <a:pPr algn="l" indent="0" marL="0">
              <a:buNone/>
            </a:pPr>
            <a:r>
              <a:rPr lang="en-US" sz="2000" dirty="0">
                <a:solidFill>
                  <a:schemeClr val="bg2"/>
                </a:solidFill>
              </a:rPr>
              <a:t>Use ClearSpace's feedback to focus Phase 2 on the most valuable direction.</a:t>
            </a:r>
            <a:endParaRPr lang="en-US" sz="2000" dirty="0"/>
          </a:p>
        </p:txBody>
      </p:sp>
      <p:sp>
        <p:nvSpPr>
          <p:cNvPr id="5" name="Text 3"/>
          <p:cNvSpPr txBox="1"/>
          <p:nvPr/>
        </p:nvSpPr>
        <p:spPr>
          <a:xfrm>
            <a:off x="548640" y="361188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We want to validate:</a:t>
            </a:r>
            <a:endParaRPr lang="en-US" sz="1800" dirty="0"/>
          </a:p>
        </p:txBody>
      </p:sp>
      <p:sp>
        <p:nvSpPr>
          <p:cNvPr id="6" name="Text 4"/>
          <p:cNvSpPr txBox="1"/>
          <p:nvPr/>
        </p:nvSpPr>
        <p:spPr>
          <a:xfrm>
            <a:off x="548640" y="4069080"/>
            <a:ext cx="9601200" cy="2103120"/>
          </a:xfrm>
          <a:prstGeom prst="rect">
            <a:avLst/>
          </a:prstGeom>
          <a:noFill/>
          <a:ln/>
        </p:spPr>
        <p:txBody>
          <a:bodyPr wrap="square" lIns="0" tIns="0" rIns="0" bIns="0" rtlCol="0" anchor="t"/>
          <a:lstStyle/>
          <a:p>
            <a:pPr marL="279400" indent="-279400">
              <a:spcAft>
                <a:spcPts val="1000"/>
              </a:spcAft>
              <a:buSzPct val="100000"/>
              <a:buFont typeface="+mj-lt"/>
              <a:buAutoNum type="arabicPeriod" startAt="1"/>
            </a:pPr>
            <a:r>
              <a:rPr lang="en-US" sz="1900" dirty="0">
                <a:solidFill>
                  <a:schemeClr val="bg1"/>
                </a:solidFill>
              </a:rPr>
              <a:t>Which part of our concept is most relevant to ClearSpace</a:t>
            </a:r>
            <a:endParaRPr lang="en-US" sz="1900" dirty="0"/>
          </a:p>
          <a:p>
            <a:pPr marL="279400" indent="-279400">
              <a:spcAft>
                <a:spcPts val="1000"/>
              </a:spcAft>
              <a:buSzPct val="100000"/>
              <a:buFont typeface="+mj-lt"/>
              <a:buAutoNum type="arabicPeriod" startAt="1"/>
            </a:pPr>
            <a:r>
              <a:rPr lang="en-US" sz="1900" dirty="0">
                <a:solidFill>
                  <a:schemeClr val="bg1"/>
                </a:solidFill>
              </a:rPr>
              <a:t>What assumptions we should avoid</a:t>
            </a:r>
            <a:endParaRPr lang="en-US" sz="1900" dirty="0"/>
          </a:p>
          <a:p>
            <a:pPr marL="279400" indent="-279400">
              <a:spcAft>
                <a:spcPts val="1000"/>
              </a:spcAft>
              <a:buSzPct val="100000"/>
              <a:buFont typeface="+mj-lt"/>
              <a:buAutoNum type="arabicPeriod" startAt="1"/>
            </a:pPr>
            <a:r>
              <a:rPr lang="en-US" sz="1900" dirty="0">
                <a:solidFill>
                  <a:schemeClr val="bg1"/>
                </a:solidFill>
              </a:rPr>
              <a:t>What level of detail is realistic for Phase 2</a:t>
            </a:r>
            <a:endParaRPr lang="en-US" sz="1900" dirty="0"/>
          </a:p>
          <a:p>
            <a:pPr marL="279400" indent="-279400">
              <a:spcAft>
                <a:spcPts val="1000"/>
              </a:spcAft>
              <a:buSzPct val="100000"/>
              <a:buFont typeface="+mj-lt"/>
              <a:buAutoNum type="arabicPeriod" startAt="1"/>
            </a:pPr>
            <a:r>
              <a:rPr lang="en-US" sz="1900" dirty="0">
                <a:solidFill>
                  <a:schemeClr val="bg1"/>
                </a:solidFill>
              </a:rPr>
              <a:t>How to shape the OSIP-style proposal around industry needs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Our Phase 1 Concept</a:t>
            </a:r>
            <a:endParaRPr lang="en-US" sz="30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800" dirty="0">
                <a:solidFill>
                  <a:schemeClr val="accent3"/>
                </a:solidFill>
              </a:rPr>
              <a:t>Roadmap for a serviceable satellite platform</a:t>
            </a:r>
            <a:endParaRPr lang="en-US" sz="1800" dirty="0"/>
          </a:p>
        </p:txBody>
      </p:sp>
      <p:sp>
        <p:nvSpPr>
          <p:cNvPr id="4" name="Text 2"/>
          <p:cNvSpPr txBox="1"/>
          <p:nvPr/>
        </p:nvSpPr>
        <p:spPr>
          <a:xfrm>
            <a:off x="548640" y="1783080"/>
            <a:ext cx="4206240" cy="365760"/>
          </a:xfrm>
          <a:prstGeom prst="rect">
            <a:avLst/>
          </a:prstGeom>
          <a:noFill/>
          <a:ln/>
        </p:spPr>
        <p:txBody>
          <a:bodyPr wrap="square" lIns="0" tIns="0" rIns="0" bIns="0" rtlCol="0" anchor="t"/>
          <a:lstStyle/>
          <a:p>
            <a:pPr indent="0" marL="0">
              <a:buNone/>
            </a:pPr>
            <a:r>
              <a:rPr lang="en-US" sz="1800" b="1" dirty="0">
                <a:solidFill>
                  <a:schemeClr val="tx1"/>
                </a:solidFill>
              </a:rPr>
              <a:t>Core idea</a:t>
            </a:r>
            <a:endParaRPr lang="en-US" sz="1800" dirty="0"/>
          </a:p>
        </p:txBody>
      </p:sp>
      <p:sp>
        <p:nvSpPr>
          <p:cNvPr id="5" name="Text 3"/>
          <p:cNvSpPr txBox="1"/>
          <p:nvPr/>
        </p:nvSpPr>
        <p:spPr>
          <a:xfrm>
            <a:off x="548640" y="2286000"/>
            <a:ext cx="4114800" cy="685800"/>
          </a:xfrm>
          <a:prstGeom prst="rect">
            <a:avLst/>
          </a:prstGeom>
          <a:noFill/>
          <a:ln/>
        </p:spPr>
        <p:txBody>
          <a:bodyPr wrap="square" lIns="0" tIns="0" rIns="0" bIns="0" rtlCol="0" anchor="t"/>
          <a:lstStyle/>
          <a:p>
            <a:pPr indent="0" marL="0">
              <a:buNone/>
            </a:pPr>
            <a:r>
              <a:rPr lang="en-US" sz="1800" dirty="0">
                <a:solidFill>
                  <a:schemeClr val="tx2"/>
                </a:solidFill>
              </a:rPr>
              <a:t>Not one universal interface for all satellites.</a:t>
            </a:r>
            <a:endParaRPr lang="en-US" sz="1800" dirty="0"/>
          </a:p>
        </p:txBody>
      </p:sp>
      <p:sp>
        <p:nvSpPr>
          <p:cNvPr id="6" name="Text 4"/>
          <p:cNvSpPr txBox="1"/>
          <p:nvPr/>
        </p:nvSpPr>
        <p:spPr>
          <a:xfrm>
            <a:off x="548640" y="3063240"/>
            <a:ext cx="4114800" cy="1188720"/>
          </a:xfrm>
          <a:prstGeom prst="rect">
            <a:avLst/>
          </a:prstGeom>
          <a:noFill/>
          <a:ln/>
        </p:spPr>
        <p:txBody>
          <a:bodyPr wrap="square" lIns="0" tIns="0" rIns="0" bIns="0" rtlCol="0" anchor="t"/>
          <a:lstStyle/>
          <a:p>
            <a:pPr indent="0" marL="0">
              <a:buNone/>
            </a:pPr>
            <a:r>
              <a:rPr lang="en-US" sz="2200" b="1" dirty="0">
                <a:solidFill>
                  <a:schemeClr val="tx1"/>
                </a:solidFill>
              </a:rPr>
              <a:t>Instead: a configurable product family based on mission value and orbit.</a:t>
            </a:r>
            <a:endParaRPr lang="en-US" sz="2200" dirty="0"/>
          </a:p>
        </p:txBody>
      </p:sp>
      <p:sp>
        <p:nvSpPr>
          <p:cNvPr id="7" name="Shape 5"/>
          <p:cNvSpPr/>
          <p:nvPr/>
        </p:nvSpPr>
        <p:spPr>
          <a:xfrm>
            <a:off x="5029200" y="1783080"/>
            <a:ext cx="0" cy="3977640"/>
          </a:xfrm>
          <a:prstGeom prst="line">
            <a:avLst/>
          </a:prstGeom>
          <a:noFill/>
          <a:ln w="9525">
            <a:solidFill>
              <a:srgbClr val="D5DAE1"/>
            </a:solidFill>
            <a:prstDash val="solid"/>
          </a:ln>
        </p:spPr>
      </p:sp>
      <p:sp>
        <p:nvSpPr>
          <p:cNvPr id="8" name="Text 6"/>
          <p:cNvSpPr txBox="1"/>
          <p:nvPr/>
        </p:nvSpPr>
        <p:spPr>
          <a:xfrm>
            <a:off x="5394960" y="1783080"/>
            <a:ext cx="6217920" cy="365760"/>
          </a:xfrm>
          <a:prstGeom prst="rect">
            <a:avLst/>
          </a:prstGeom>
          <a:noFill/>
          <a:ln/>
        </p:spPr>
        <p:txBody>
          <a:bodyPr wrap="square" lIns="0" tIns="0" rIns="0" bIns="0" rtlCol="0" anchor="t"/>
          <a:lstStyle/>
          <a:p>
            <a:pPr indent="0" marL="0">
              <a:buNone/>
            </a:pPr>
            <a:r>
              <a:rPr lang="en-US" sz="1800" b="1" dirty="0">
                <a:solidFill>
                  <a:schemeClr val="tx1"/>
                </a:solidFill>
              </a:rPr>
              <a:t>Serviceability levels</a:t>
            </a:r>
            <a:endParaRPr lang="en-US" sz="1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394960" y="2286000"/>
          <a:ext cx="6217920" cy="914400"/>
        </p:xfrm>
        <a:graphic>
          <a:graphicData uri="http://schemas.openxmlformats.org/drawingml/2006/table">
            <a:tbl>
              <a:tblPr/>
              <a:tblGrid>
                <a:gridCol w="2377440"/>
                <a:gridCol w="3840480"/>
              </a:tblGrid>
              <a:tr h="566928">
                <a:tc>
                  <a:txBody>
                    <a:bodyPr/>
                    <a:lstStyle/>
                    <a:p>
                      <a:pPr indent="0" marL="0">
                        <a:buNone/>
                      </a:pPr>
                      <a:r>
                        <a:rPr lang="en-US" sz="1400" b="1" dirty="0">
                          <a:solidFill>
                            <a:srgbClr val="FFFFFF"/>
                          </a:solidFill>
                        </a:rPr>
                        <a:t>Asset class</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Serviceability provision</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r>
              <a:tr h="566928">
                <a:tc>
                  <a:txBody>
                    <a:bodyPr/>
                    <a:lstStyle/>
                    <a:p>
                      <a:pPr indent="0" marL="0">
                        <a:buNone/>
                      </a:pPr>
                      <a:r>
                        <a:rPr lang="en-US" sz="1500" b="1" dirty="0">
                          <a:solidFill>
                            <a:srgbClr val="0B1F3A"/>
                          </a:solidFill>
                        </a:rPr>
                        <a:t>LEO / low-value assets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EOL capture and removal</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GEO high-value assets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Docking, refuelling, health monitoring</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Long-life assets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Upgrade or propulsion PODs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Future platforms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Interoperable serviceability architecture</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What We Think Is the Core Problem</a:t>
            </a:r>
            <a:endParaRPr lang="en-US" sz="3000" dirty="0"/>
          </a:p>
        </p:txBody>
      </p:sp>
      <p:sp>
        <p:nvSpPr>
          <p:cNvPr id="3" name="Text 1"/>
          <p:cNvSpPr txBox="1"/>
          <p:nvPr/>
        </p:nvSpPr>
        <p:spPr>
          <a:xfrm>
            <a:off x="548640" y="1371600"/>
            <a:ext cx="10058400" cy="1005840"/>
          </a:xfrm>
          <a:prstGeom prst="rect">
            <a:avLst/>
          </a:prstGeom>
          <a:noFill/>
          <a:ln/>
        </p:spPr>
        <p:txBody>
          <a:bodyPr wrap="square" lIns="0" tIns="0" rIns="0" bIns="0" rtlCol="0" anchor="t"/>
          <a:lstStyle/>
          <a:p>
            <a:pPr indent="0" marL="0">
              <a:buNone/>
            </a:pPr>
            <a:r>
              <a:rPr lang="en-US" sz="2800" b="1" dirty="0">
                <a:solidFill>
                  <a:schemeClr val="tx1"/>
                </a:solidFill>
              </a:rPr>
              <a:t>Current IOS is limited not only by the servicer, but by the client spacecraft.</a:t>
            </a:r>
            <a:endParaRPr lang="en-US" sz="2800" dirty="0"/>
          </a:p>
        </p:txBody>
      </p:sp>
      <p:sp>
        <p:nvSpPr>
          <p:cNvPr id="4" name="Text 2"/>
          <p:cNvSpPr txBox="1"/>
          <p:nvPr/>
        </p:nvSpPr>
        <p:spPr>
          <a:xfrm>
            <a:off x="548640" y="2743200"/>
            <a:ext cx="5486400" cy="365760"/>
          </a:xfrm>
          <a:prstGeom prst="rect">
            <a:avLst/>
          </a:prstGeom>
          <a:noFill/>
          <a:ln/>
        </p:spPr>
        <p:txBody>
          <a:bodyPr wrap="square" lIns="0" tIns="0" rIns="0" bIns="0" rtlCol="0" anchor="t"/>
          <a:lstStyle/>
          <a:p>
            <a:pPr indent="0" marL="0">
              <a:buNone/>
            </a:pPr>
            <a:r>
              <a:rPr lang="en-US" sz="1800" b="1" dirty="0">
                <a:solidFill>
                  <a:schemeClr val="tx1"/>
                </a:solidFill>
              </a:rPr>
              <a:t>Key issues</a:t>
            </a:r>
            <a:endParaRPr lang="en-US" sz="1800" dirty="0"/>
          </a:p>
        </p:txBody>
      </p:sp>
      <p:sp>
        <p:nvSpPr>
          <p:cNvPr id="5" name="Text 3"/>
          <p:cNvSpPr txBox="1"/>
          <p:nvPr/>
        </p:nvSpPr>
        <p:spPr>
          <a:xfrm>
            <a:off x="548640" y="3246120"/>
            <a:ext cx="5303520" cy="21945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chemeClr val="tx2"/>
                </a:solidFill>
              </a:rPr>
              <a:t>Legacy satellites are often non-cooperative</a:t>
            </a:r>
            <a:endParaRPr lang="en-US" sz="1800" dirty="0"/>
          </a:p>
          <a:p>
            <a:pPr marL="228600" indent="-228600">
              <a:spcAft>
                <a:spcPts val="1400"/>
              </a:spcAft>
              <a:buSzPct val="100000"/>
              <a:buChar char="•"/>
            </a:pPr>
            <a:r>
              <a:rPr lang="en-US" sz="1800" dirty="0">
                <a:solidFill>
                  <a:schemeClr val="tx2"/>
                </a:solidFill>
              </a:rPr>
              <a:t>No standard capture / service interface</a:t>
            </a:r>
            <a:endParaRPr lang="en-US" sz="1800" dirty="0"/>
          </a:p>
          <a:p>
            <a:pPr marL="228600" indent="-228600">
              <a:spcAft>
                <a:spcPts val="1400"/>
              </a:spcAft>
              <a:buSzPct val="100000"/>
              <a:buChar char="•"/>
            </a:pPr>
            <a:r>
              <a:rPr lang="en-US" sz="1800" dirty="0">
                <a:solidFill>
                  <a:schemeClr val="tx2"/>
                </a:solidFill>
              </a:rPr>
              <a:t>Safe-mode behaviour may conflict with servicing</a:t>
            </a:r>
            <a:endParaRPr lang="en-US" sz="1800" dirty="0"/>
          </a:p>
        </p:txBody>
      </p:sp>
      <p:sp>
        <p:nvSpPr>
          <p:cNvPr id="6" name="Text 4"/>
          <p:cNvSpPr txBox="1"/>
          <p:nvPr/>
        </p:nvSpPr>
        <p:spPr>
          <a:xfrm>
            <a:off x="6309360" y="3246120"/>
            <a:ext cx="5303520" cy="21945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chemeClr val="tx2"/>
                </a:solidFill>
              </a:rPr>
              <a:t>Propulsion system health is uncertain</a:t>
            </a:r>
            <a:endParaRPr lang="en-US" sz="1800" dirty="0"/>
          </a:p>
          <a:p>
            <a:pPr marL="228600" indent="-228600">
              <a:spcAft>
                <a:spcPts val="1400"/>
              </a:spcAft>
              <a:buSzPct val="100000"/>
              <a:buChar char="•"/>
            </a:pPr>
            <a:r>
              <a:rPr lang="en-US" sz="1800" dirty="0">
                <a:solidFill>
                  <a:schemeClr val="tx2"/>
                </a:solidFill>
              </a:rPr>
              <a:t>GEO architecture is changing from chemical to hybrid / electric</a:t>
            </a:r>
            <a:endParaRPr lang="en-US" sz="1800" dirty="0"/>
          </a:p>
          <a:p>
            <a:pPr marL="228600" indent="-228600">
              <a:spcAft>
                <a:spcPts val="1400"/>
              </a:spcAft>
              <a:buSzPct val="100000"/>
              <a:buChar char="•"/>
            </a:pPr>
            <a:r>
              <a:rPr lang="en-US" sz="1800" dirty="0">
                <a:solidFill>
                  <a:schemeClr val="tx2"/>
                </a:solidFill>
              </a:rPr>
              <a:t>One solution will not fit all satellite classes</a:t>
            </a:r>
            <a:endParaRPr lang="en-US" sz="18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Phase 2 Direction We Are Considering</a:t>
            </a:r>
            <a:endParaRPr lang="en-US" sz="3000" dirty="0"/>
          </a:p>
        </p:txBody>
      </p:sp>
      <p:sp>
        <p:nvSpPr>
          <p:cNvPr id="3" name="Text 1"/>
          <p:cNvSpPr txBox="1"/>
          <p:nvPr/>
        </p:nvSpPr>
        <p:spPr>
          <a:xfrm>
            <a:off x="548640" y="1371600"/>
            <a:ext cx="5120640" cy="320040"/>
          </a:xfrm>
          <a:prstGeom prst="rect">
            <a:avLst/>
          </a:prstGeom>
          <a:noFill/>
          <a:ln/>
        </p:spPr>
        <p:txBody>
          <a:bodyPr wrap="square" lIns="0" tIns="0" rIns="0" bIns="0" rtlCol="0" anchor="t"/>
          <a:lstStyle/>
          <a:p>
            <a:pPr indent="0" marL="0">
              <a:buNone/>
            </a:pPr>
            <a:r>
              <a:rPr lang="en-US" sz="1600" dirty="0">
                <a:solidFill>
                  <a:schemeClr val="accent3"/>
                </a:solidFill>
              </a:rPr>
              <a:t>Main technical focus</a:t>
            </a:r>
            <a:endParaRPr lang="en-US" sz="1600" dirty="0"/>
          </a:p>
        </p:txBody>
      </p:sp>
      <p:sp>
        <p:nvSpPr>
          <p:cNvPr id="4" name="Text 2"/>
          <p:cNvSpPr txBox="1"/>
          <p:nvPr/>
        </p:nvSpPr>
        <p:spPr>
          <a:xfrm>
            <a:off x="548640" y="1737360"/>
            <a:ext cx="5120640" cy="914400"/>
          </a:xfrm>
          <a:prstGeom prst="rect">
            <a:avLst/>
          </a:prstGeom>
          <a:noFill/>
          <a:ln/>
        </p:spPr>
        <p:txBody>
          <a:bodyPr wrap="square" lIns="0" tIns="0" rIns="0" bIns="0" rtlCol="0" anchor="t"/>
          <a:lstStyle/>
          <a:p>
            <a:pPr indent="0" marL="0">
              <a:buNone/>
            </a:pPr>
            <a:r>
              <a:rPr lang="en-US" sz="2600" b="1" dirty="0">
                <a:solidFill>
                  <a:schemeClr val="tx1"/>
                </a:solidFill>
              </a:rPr>
              <a:t>Degraded / cooperative serviceability</a:t>
            </a:r>
            <a:endParaRPr lang="en-US" sz="2600" dirty="0"/>
          </a:p>
        </p:txBody>
      </p:sp>
      <p:sp>
        <p:nvSpPr>
          <p:cNvPr id="5" name="Text 3"/>
          <p:cNvSpPr txBox="1"/>
          <p:nvPr/>
        </p:nvSpPr>
        <p:spPr>
          <a:xfrm>
            <a:off x="548640" y="2788920"/>
            <a:ext cx="4937760" cy="914400"/>
          </a:xfrm>
          <a:prstGeom prst="rect">
            <a:avLst/>
          </a:prstGeom>
          <a:noFill/>
          <a:ln/>
        </p:spPr>
        <p:txBody>
          <a:bodyPr wrap="square" lIns="0" tIns="0" rIns="0" bIns="0" rtlCol="0" anchor="t"/>
          <a:lstStyle/>
          <a:p>
            <a:pPr indent="0" marL="0">
              <a:buNone/>
            </a:pPr>
            <a:r>
              <a:rPr lang="en-US" sz="1800" dirty="0">
                <a:solidFill>
                  <a:schemeClr val="tx2"/>
                </a:solidFill>
              </a:rPr>
              <a:t>We want to study whether client-side preparation improves servicing feasibility.</a:t>
            </a:r>
            <a:endParaRPr lang="en-US" sz="1800" dirty="0"/>
          </a:p>
        </p:txBody>
      </p:sp>
      <p:sp>
        <p:nvSpPr>
          <p:cNvPr id="6" name="Shape 4"/>
          <p:cNvSpPr/>
          <p:nvPr/>
        </p:nvSpPr>
        <p:spPr>
          <a:xfrm>
            <a:off x="5989320" y="1371600"/>
            <a:ext cx="0" cy="3566160"/>
          </a:xfrm>
          <a:prstGeom prst="line">
            <a:avLst/>
          </a:prstGeom>
          <a:noFill/>
          <a:ln w="9525">
            <a:solidFill>
              <a:srgbClr val="D5DAE1"/>
            </a:solidFill>
            <a:prstDash val="solid"/>
          </a:ln>
        </p:spPr>
      </p:sp>
      <p:sp>
        <p:nvSpPr>
          <p:cNvPr id="7" name="Text 5"/>
          <p:cNvSpPr txBox="1"/>
          <p:nvPr/>
        </p:nvSpPr>
        <p:spPr>
          <a:xfrm>
            <a:off x="6355080" y="1371600"/>
            <a:ext cx="5212080" cy="365760"/>
          </a:xfrm>
          <a:prstGeom prst="rect">
            <a:avLst/>
          </a:prstGeom>
          <a:noFill/>
          <a:ln/>
        </p:spPr>
        <p:txBody>
          <a:bodyPr wrap="square" lIns="0" tIns="0" rIns="0" bIns="0" rtlCol="0" anchor="t"/>
          <a:lstStyle/>
          <a:p>
            <a:pPr indent="0" marL="0">
              <a:buNone/>
            </a:pPr>
            <a:r>
              <a:rPr lang="en-US" sz="1800" b="1" dirty="0">
                <a:solidFill>
                  <a:schemeClr val="tx1"/>
                </a:solidFill>
              </a:rPr>
              <a:t>Concept</a:t>
            </a:r>
            <a:endParaRPr lang="en-US" sz="1800" dirty="0"/>
          </a:p>
        </p:txBody>
      </p:sp>
      <p:sp>
        <p:nvSpPr>
          <p:cNvPr id="8" name="Text 6"/>
          <p:cNvSpPr txBox="1"/>
          <p:nvPr/>
        </p:nvSpPr>
        <p:spPr>
          <a:xfrm>
            <a:off x="6355080" y="1874520"/>
            <a:ext cx="5212080" cy="301752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2"/>
                </a:solidFill>
              </a:rPr>
              <a:t>Fiducials / navigation aids</a:t>
            </a:r>
            <a:endParaRPr lang="en-US" sz="1800" dirty="0"/>
          </a:p>
          <a:p>
            <a:pPr marL="228600" indent="-228600">
              <a:spcAft>
                <a:spcPts val="1000"/>
              </a:spcAft>
              <a:buSzPct val="100000"/>
              <a:buChar char="•"/>
            </a:pPr>
            <a:r>
              <a:rPr lang="en-US" sz="1800" dirty="0">
                <a:solidFill>
                  <a:schemeClr val="tx2"/>
                </a:solidFill>
              </a:rPr>
              <a:t>IOS mode</a:t>
            </a:r>
            <a:endParaRPr lang="en-US" sz="1800" dirty="0"/>
          </a:p>
          <a:p>
            <a:pPr marL="228600" indent="-228600">
              <a:spcAft>
                <a:spcPts val="1000"/>
              </a:spcAft>
              <a:buSzPct val="100000"/>
              <a:buChar char="•"/>
            </a:pPr>
            <a:r>
              <a:rPr lang="en-US" sz="1800" dirty="0">
                <a:solidFill>
                  <a:schemeClr val="tx2"/>
                </a:solidFill>
              </a:rPr>
              <a:t>Independent Service Beacon</a:t>
            </a:r>
            <a:endParaRPr lang="en-US" sz="1800" dirty="0"/>
          </a:p>
          <a:p>
            <a:pPr marL="228600" indent="-228600">
              <a:spcAft>
                <a:spcPts val="1000"/>
              </a:spcAft>
              <a:buSzPct val="100000"/>
              <a:buChar char="•"/>
            </a:pPr>
            <a:r>
              <a:rPr lang="en-US" sz="1800" dirty="0">
                <a:solidFill>
                  <a:schemeClr val="tx2"/>
                </a:solidFill>
              </a:rPr>
              <a:t>Known capture geometry</a:t>
            </a:r>
            <a:endParaRPr lang="en-US" sz="1800" dirty="0"/>
          </a:p>
          <a:p>
            <a:pPr marL="228600" indent="-228600">
              <a:spcAft>
                <a:spcPts val="1000"/>
              </a:spcAft>
              <a:buSzPct val="100000"/>
              <a:buChar char="•"/>
            </a:pPr>
            <a:r>
              <a:rPr lang="en-US" sz="1800" dirty="0">
                <a:solidFill>
                  <a:schemeClr val="tx2"/>
                </a:solidFill>
              </a:rPr>
              <a:t>Clear control handover during docking</a:t>
            </a:r>
            <a:endParaRPr lang="en-US" sz="1800" dirty="0"/>
          </a:p>
        </p:txBody>
      </p:sp>
      <p:sp>
        <p:nvSpPr>
          <p:cNvPr id="9"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10" name="Text 8"/>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Is this a meaningful operational gap from your perspective?</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RPO Monte-Carlo Study</a:t>
            </a:r>
            <a:endParaRPr lang="en-US" sz="30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indent="0" marL="0">
              <a:buNone/>
            </a:pPr>
            <a:r>
              <a:rPr lang="en-US" sz="1800" dirty="0">
                <a:solidFill>
                  <a:schemeClr val="tx2"/>
                </a:solidFill>
              </a:rPr>
              <a:t>We are considering a simulation comparing four target cases:</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005840"/>
                <a:gridCol w="4206240"/>
                <a:gridCol w="5852160"/>
              </a:tblGrid>
              <a:tr h="402336">
                <a:tc>
                  <a:txBody>
                    <a:bodyPr/>
                    <a:lstStyle/>
                    <a:p>
                      <a:pPr indent="0" marL="0">
                        <a:buNone/>
                      </a:pPr>
                      <a:r>
                        <a:rPr lang="en-US" sz="1400" b="1" dirty="0">
                          <a:solidFill>
                            <a:srgbClr val="FFFFFF"/>
                          </a:solidFill>
                        </a:rPr>
                        <a:t>Case</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Target</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Client-side preparation</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r>
              <a:tr h="402336">
                <a:tc>
                  <a:txBody>
                    <a:bodyPr/>
                    <a:lstStyle/>
                    <a:p>
                      <a:pPr indent="0" marL="0">
                        <a:buNone/>
                      </a:pPr>
                      <a:r>
                        <a:rPr lang="en-US" sz="1500" b="1" dirty="0">
                          <a:solidFill>
                            <a:srgbClr val="0B1F3A"/>
                          </a:solidFill>
                        </a:rPr>
                        <a:t>A0</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Non-cooperative target</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None</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500" b="1" dirty="0">
                          <a:solidFill>
                            <a:srgbClr val="0B1F3A"/>
                          </a:solidFill>
                        </a:rPr>
                        <a:t>A1</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Passive prepared target</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Fiducials / capture geometry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500" b="1" dirty="0">
                          <a:solidFill>
                            <a:srgbClr val="0B1F3A"/>
                          </a:solidFill>
                        </a:rPr>
                        <a:t>A2</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Degraded cooperative target</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Service Beacon</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402336">
                <a:tc>
                  <a:txBody>
                    <a:bodyPr/>
                    <a:lstStyle/>
                    <a:p>
                      <a:pPr indent="0" marL="0">
                        <a:buNone/>
                      </a:pPr>
                      <a:r>
                        <a:rPr lang="en-US" sz="1500" b="1" dirty="0">
                          <a:solidFill>
                            <a:srgbClr val="0B1F3A"/>
                          </a:solidFill>
                        </a:rPr>
                        <a:t>A3</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Cooperative target</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IOS mode</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5" name="Text 2"/>
          <p:cNvSpPr txBox="1"/>
          <p:nvPr/>
        </p:nvSpPr>
        <p:spPr>
          <a:xfrm>
            <a:off x="548640" y="4023360"/>
            <a:ext cx="5303520" cy="365760"/>
          </a:xfrm>
          <a:prstGeom prst="rect">
            <a:avLst/>
          </a:prstGeom>
          <a:noFill/>
          <a:ln/>
        </p:spPr>
        <p:txBody>
          <a:bodyPr wrap="square" lIns="0" tIns="0" rIns="0" bIns="0" rtlCol="0" anchor="t"/>
          <a:lstStyle/>
          <a:p>
            <a:pPr indent="0" marL="0">
              <a:buNone/>
            </a:pPr>
            <a:r>
              <a:rPr lang="en-US" sz="1800" b="1" dirty="0">
                <a:solidFill>
                  <a:schemeClr val="tx1"/>
                </a:solidFill>
              </a:rPr>
              <a:t>We would vary</a:t>
            </a:r>
            <a:endParaRPr lang="en-US" sz="1800" dirty="0"/>
          </a:p>
        </p:txBody>
      </p:sp>
      <p:sp>
        <p:nvSpPr>
          <p:cNvPr id="6" name="Text 3"/>
          <p:cNvSpPr txBox="1"/>
          <p:nvPr/>
        </p:nvSpPr>
        <p:spPr>
          <a:xfrm>
            <a:off x="548640" y="4434840"/>
            <a:ext cx="5120640" cy="822960"/>
          </a:xfrm>
          <a:prstGeom prst="rect">
            <a:avLst/>
          </a:prstGeom>
          <a:noFill/>
          <a:ln/>
        </p:spPr>
        <p:txBody>
          <a:bodyPr wrap="square" lIns="0" tIns="0" rIns="0" bIns="0" rtlCol="0" anchor="t"/>
          <a:lstStyle/>
          <a:p>
            <a:pPr indent="0" marL="0">
              <a:buNone/>
            </a:pPr>
            <a:r>
              <a:rPr lang="en-US" sz="1600" dirty="0">
                <a:solidFill>
                  <a:schemeClr val="tx2"/>
                </a:solidFill>
              </a:rPr>
              <a:t>Tumble rate, navigation error, communication loss, latency, initial attitude and control uncertainty.</a:t>
            </a:r>
            <a:endParaRPr lang="en-US" sz="1600" dirty="0"/>
          </a:p>
        </p:txBody>
      </p:sp>
      <p:sp>
        <p:nvSpPr>
          <p:cNvPr id="7" name="Text 4"/>
          <p:cNvSpPr txBox="1"/>
          <p:nvPr/>
        </p:nvSpPr>
        <p:spPr>
          <a:xfrm>
            <a:off x="6309360" y="4023360"/>
            <a:ext cx="5303520" cy="365760"/>
          </a:xfrm>
          <a:prstGeom prst="rect">
            <a:avLst/>
          </a:prstGeom>
          <a:noFill/>
          <a:ln/>
        </p:spPr>
        <p:txBody>
          <a:bodyPr wrap="square" lIns="0" tIns="0" rIns="0" bIns="0" rtlCol="0" anchor="t"/>
          <a:lstStyle/>
          <a:p>
            <a:pPr indent="0" marL="0">
              <a:buNone/>
            </a:pPr>
            <a:r>
              <a:rPr lang="en-US" sz="1800" b="1" dirty="0">
                <a:solidFill>
                  <a:schemeClr val="tx1"/>
                </a:solidFill>
              </a:rPr>
              <a:t>Output</a:t>
            </a:r>
            <a:endParaRPr lang="en-US" sz="1800" dirty="0"/>
          </a:p>
        </p:txBody>
      </p:sp>
      <p:sp>
        <p:nvSpPr>
          <p:cNvPr id="8" name="Text 5"/>
          <p:cNvSpPr txBox="1"/>
          <p:nvPr/>
        </p:nvSpPr>
        <p:spPr>
          <a:xfrm>
            <a:off x="6309360" y="4434840"/>
            <a:ext cx="5303520" cy="822960"/>
          </a:xfrm>
          <a:prstGeom prst="rect">
            <a:avLst/>
          </a:prstGeom>
          <a:noFill/>
          <a:ln/>
        </p:spPr>
        <p:txBody>
          <a:bodyPr wrap="square" lIns="0" tIns="0" rIns="0" bIns="0" rtlCol="0" anchor="t"/>
          <a:lstStyle/>
          <a:p>
            <a:pPr indent="0" marL="0">
              <a:buNone/>
            </a:pPr>
            <a:r>
              <a:rPr lang="en-US" sz="1600" dirty="0">
                <a:solidFill>
                  <a:schemeClr val="tx2"/>
                </a:solidFill>
              </a:rPr>
              <a:t>Capture success, abort probability, collision risk, ΔV and capture time — combined into a </a:t>
            </a:r>
            <a:pPr indent="0" marL="0">
              <a:buNone/>
            </a:pPr>
            <a:r>
              <a:rPr lang="en-US" sz="1600" b="1" dirty="0">
                <a:solidFill>
                  <a:schemeClr val="tx1"/>
                </a:solidFill>
              </a:rPr>
              <a:t>safe servicing envelope.</a:t>
            </a:r>
            <a:endParaRPr lang="en-US" sz="1600" dirty="0"/>
          </a:p>
        </p:txBody>
      </p:sp>
      <p:sp>
        <p:nvSpPr>
          <p:cNvPr id="9"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10" name="Text 7"/>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Which scenario and assumptions would be most useful for ClearSpace?</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Service Beacon + IOS Mode</a:t>
            </a:r>
            <a:endParaRPr lang="en-US" sz="3000" dirty="0"/>
          </a:p>
        </p:txBody>
      </p:sp>
      <p:sp>
        <p:nvSpPr>
          <p:cNvPr id="3" name="Text 1"/>
          <p:cNvSpPr txBox="1"/>
          <p:nvPr/>
        </p:nvSpPr>
        <p:spPr>
          <a:xfrm>
            <a:off x="548640" y="1280160"/>
            <a:ext cx="5120640" cy="365760"/>
          </a:xfrm>
          <a:prstGeom prst="rect">
            <a:avLst/>
          </a:prstGeom>
          <a:noFill/>
          <a:ln/>
        </p:spPr>
        <p:txBody>
          <a:bodyPr wrap="square" lIns="0" tIns="0" rIns="0" bIns="0" rtlCol="0" anchor="t"/>
          <a:lstStyle/>
          <a:p>
            <a:pPr indent="0" marL="0">
              <a:buNone/>
            </a:pPr>
            <a:r>
              <a:rPr lang="en-US" sz="1800" b="1" dirty="0">
                <a:solidFill>
                  <a:schemeClr val="tx1"/>
                </a:solidFill>
              </a:rPr>
              <a:t>Service Beacon</a:t>
            </a:r>
            <a:endParaRPr lang="en-US" sz="1800" dirty="0"/>
          </a:p>
        </p:txBody>
      </p:sp>
      <p:sp>
        <p:nvSpPr>
          <p:cNvPr id="4" name="Text 2"/>
          <p:cNvSpPr txBox="1"/>
          <p:nvPr/>
        </p:nvSpPr>
        <p:spPr>
          <a:xfrm>
            <a:off x="548640" y="1737360"/>
            <a:ext cx="5120640" cy="1188720"/>
          </a:xfrm>
          <a:prstGeom prst="rect">
            <a:avLst/>
          </a:prstGeom>
          <a:noFill/>
          <a:ln/>
        </p:spPr>
        <p:txBody>
          <a:bodyPr wrap="square" lIns="0" tIns="0" rIns="0" bIns="0" rtlCol="0" anchor="t"/>
          <a:lstStyle/>
          <a:p>
            <a:pPr indent="0" marL="0">
              <a:buNone/>
            </a:pPr>
            <a:r>
              <a:rPr lang="en-US" sz="1700" dirty="0">
                <a:solidFill>
                  <a:schemeClr val="tx2"/>
                </a:solidFill>
              </a:rPr>
              <a:t>A low-power independent module that retains minimum servicing information if the main OBC / comms are degraded.</a:t>
            </a:r>
            <a:endParaRPr lang="en-US" sz="1700" dirty="0"/>
          </a:p>
        </p:txBody>
      </p:sp>
      <p:sp>
        <p:nvSpPr>
          <p:cNvPr id="5" name="Text 3"/>
          <p:cNvSpPr txBox="1"/>
          <p:nvPr/>
        </p:nvSpPr>
        <p:spPr>
          <a:xfrm>
            <a:off x="6309360" y="1280160"/>
            <a:ext cx="5303520" cy="365760"/>
          </a:xfrm>
          <a:prstGeom prst="rect">
            <a:avLst/>
          </a:prstGeom>
          <a:noFill/>
          <a:ln/>
        </p:spPr>
        <p:txBody>
          <a:bodyPr wrap="square" lIns="0" tIns="0" rIns="0" bIns="0" rtlCol="0" anchor="t"/>
          <a:lstStyle/>
          <a:p>
            <a:pPr indent="0" marL="0">
              <a:buNone/>
            </a:pPr>
            <a:r>
              <a:rPr lang="en-US" sz="1800" b="1" dirty="0">
                <a:solidFill>
                  <a:schemeClr val="tx1"/>
                </a:solidFill>
              </a:rPr>
              <a:t>Possible data</a:t>
            </a:r>
            <a:endParaRPr lang="en-US" sz="1800" dirty="0"/>
          </a:p>
        </p:txBody>
      </p:sp>
      <p:sp>
        <p:nvSpPr>
          <p:cNvPr id="6" name="Text 4"/>
          <p:cNvSpPr txBox="1"/>
          <p:nvPr/>
        </p:nvSpPr>
        <p:spPr>
          <a:xfrm>
            <a:off x="6309360" y="1737360"/>
            <a:ext cx="2560320" cy="11887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2"/>
                </a:solidFill>
              </a:rPr>
              <a:t>Spacecraft ID</a:t>
            </a:r>
            <a:endParaRPr lang="en-US" sz="1600" dirty="0"/>
          </a:p>
          <a:p>
            <a:pPr marL="228600" indent="-228600">
              <a:spcAft>
                <a:spcPts val="600"/>
              </a:spcAft>
              <a:buSzPct val="100000"/>
              <a:buChar char="•"/>
            </a:pPr>
            <a:r>
              <a:rPr lang="en-US" sz="1600" dirty="0">
                <a:solidFill>
                  <a:schemeClr val="tx2"/>
                </a:solidFill>
              </a:rPr>
              <a:t>Interface location / type</a:t>
            </a:r>
            <a:endParaRPr lang="en-US" sz="1600" dirty="0"/>
          </a:p>
          <a:p>
            <a:pPr marL="228600" indent="-228600">
              <a:spcAft>
                <a:spcPts val="600"/>
              </a:spcAft>
              <a:buSzPct val="100000"/>
              <a:buChar char="•"/>
            </a:pPr>
            <a:r>
              <a:rPr lang="en-US" sz="1600" dirty="0">
                <a:solidFill>
                  <a:schemeClr val="tx2"/>
                </a:solidFill>
              </a:rPr>
              <a:t>Basic health flag</a:t>
            </a:r>
            <a:endParaRPr lang="en-US" sz="1600" dirty="0"/>
          </a:p>
        </p:txBody>
      </p:sp>
      <p:sp>
        <p:nvSpPr>
          <p:cNvPr id="7" name="Text 5"/>
          <p:cNvSpPr txBox="1"/>
          <p:nvPr/>
        </p:nvSpPr>
        <p:spPr>
          <a:xfrm>
            <a:off x="8961120" y="1737360"/>
            <a:ext cx="2651760" cy="118872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2"/>
                </a:solidFill>
              </a:rPr>
              <a:t>Angular-rate estimate</a:t>
            </a:r>
            <a:endParaRPr lang="en-US" sz="1600" dirty="0"/>
          </a:p>
          <a:p>
            <a:pPr marL="228600" indent="-228600">
              <a:spcAft>
                <a:spcPts val="600"/>
              </a:spcAft>
              <a:buSzPct val="100000"/>
              <a:buChar char="•"/>
            </a:pPr>
            <a:r>
              <a:rPr lang="en-US" sz="1600" dirty="0">
                <a:solidFill>
                  <a:schemeClr val="tx2"/>
                </a:solidFill>
              </a:rPr>
              <a:t>IOS status</a:t>
            </a:r>
            <a:endParaRPr lang="en-US" sz="1600" dirty="0"/>
          </a:p>
          <a:p>
            <a:pPr marL="228600" indent="-228600">
              <a:spcAft>
                <a:spcPts val="600"/>
              </a:spcAft>
              <a:buSzPct val="100000"/>
              <a:buChar char="•"/>
            </a:pPr>
            <a:r>
              <a:rPr lang="en-US" sz="1600" dirty="0">
                <a:solidFill>
                  <a:schemeClr val="tx2"/>
                </a:solidFill>
              </a:rPr>
              <a:t>Authentication signal</a:t>
            </a:r>
            <a:endParaRPr lang="en-US" sz="1600" dirty="0"/>
          </a:p>
        </p:txBody>
      </p:sp>
      <p:sp>
        <p:nvSpPr>
          <p:cNvPr id="8" name="Text 6"/>
          <p:cNvSpPr txBox="1"/>
          <p:nvPr/>
        </p:nvSpPr>
        <p:spPr>
          <a:xfrm>
            <a:off x="548640" y="3291840"/>
            <a:ext cx="11064240" cy="365760"/>
          </a:xfrm>
          <a:prstGeom prst="rect">
            <a:avLst/>
          </a:prstGeom>
          <a:noFill/>
          <a:ln/>
        </p:spPr>
        <p:txBody>
          <a:bodyPr wrap="square" lIns="0" tIns="0" rIns="0" bIns="0" rtlCol="0" anchor="t"/>
          <a:lstStyle/>
          <a:p>
            <a:pPr indent="0" marL="0">
              <a:buNone/>
            </a:pPr>
            <a:r>
              <a:rPr lang="en-US" sz="1800" b="1" dirty="0">
                <a:solidFill>
                  <a:schemeClr val="tx1"/>
                </a:solidFill>
              </a:rPr>
              <a:t>IOS mode</a:t>
            </a:r>
            <a:pPr indent="0" marL="0">
              <a:buNone/>
            </a:pPr>
            <a:r>
              <a:rPr lang="en-US" sz="1700" dirty="0">
                <a:solidFill>
                  <a:schemeClr val="tx2"/>
                </a:solidFill>
              </a:rPr>
              <a:t>  –  a defined spacecraft state for servicing</a:t>
            </a:r>
            <a:endParaRPr lang="en-US" sz="1600" dirty="0"/>
          </a:p>
        </p:txBody>
      </p:sp>
      <p:sp>
        <p:nvSpPr>
          <p:cNvPr id="9" name="Normal"/>
          <p:cNvSpPr/>
          <p:nvPr/>
        </p:nvSpPr>
        <p:spPr>
          <a:xfrm>
            <a:off x="548640" y="3840480"/>
            <a:ext cx="1615745" cy="685800"/>
          </a:xfrm>
          <a:prstGeom prst="rect">
            <a:avLst/>
          </a:prstGeom>
          <a:solidFill>
            <a:schemeClr val="bg1"/>
          </a:solidFill>
          <a:ln w="12700">
            <a:solidFill>
              <a:schemeClr val="tx1"/>
            </a:solidFill>
            <a:prstDash val="solid"/>
          </a:ln>
        </p:spPr>
      </p:sp>
      <p:sp>
        <p:nvSpPr>
          <p:cNvPr id="10" name="Text 8"/>
          <p:cNvSpPr txBox="1"/>
          <p:nvPr/>
        </p:nvSpPr>
        <p:spPr>
          <a:xfrm>
            <a:off x="594360" y="3840480"/>
            <a:ext cx="1524305" cy="685800"/>
          </a:xfrm>
          <a:prstGeom prst="rect">
            <a:avLst/>
          </a:prstGeom>
          <a:noFill/>
          <a:ln/>
        </p:spPr>
        <p:txBody>
          <a:bodyPr wrap="square" lIns="0" tIns="0" rIns="0" bIns="0" rtlCol="0" anchor="ctr"/>
          <a:lstStyle/>
          <a:p>
            <a:pPr algn="ctr" indent="0" marL="0">
              <a:buNone/>
            </a:pPr>
            <a:r>
              <a:rPr lang="en-US" sz="1500" dirty="0">
                <a:solidFill>
                  <a:schemeClr val="tx1"/>
                </a:solidFill>
              </a:rPr>
              <a:t>Normal</a:t>
            </a:r>
            <a:endParaRPr lang="en-US" sz="1500" dirty="0"/>
          </a:p>
        </p:txBody>
      </p:sp>
      <p:sp>
        <p:nvSpPr>
          <p:cNvPr id="11" name="Shape 9"/>
          <p:cNvSpPr/>
          <p:nvPr/>
        </p:nvSpPr>
        <p:spPr>
          <a:xfrm>
            <a:off x="2200961" y="4183380"/>
            <a:ext cx="201168" cy="0"/>
          </a:xfrm>
          <a:prstGeom prst="line">
            <a:avLst/>
          </a:prstGeom>
          <a:noFill/>
          <a:ln w="12700">
            <a:solidFill>
              <a:schemeClr val="tx1"/>
            </a:solidFill>
            <a:prstDash val="solid"/>
            <a:tailEnd type="triangle"/>
          </a:ln>
        </p:spPr>
      </p:sp>
      <p:sp>
        <p:nvSpPr>
          <p:cNvPr id="12" name="Service Standby"/>
          <p:cNvSpPr/>
          <p:nvPr/>
        </p:nvSpPr>
        <p:spPr>
          <a:xfrm>
            <a:off x="2438705" y="3840480"/>
            <a:ext cx="1615745" cy="685800"/>
          </a:xfrm>
          <a:prstGeom prst="rect">
            <a:avLst/>
          </a:prstGeom>
          <a:solidFill>
            <a:schemeClr val="bg1"/>
          </a:solidFill>
          <a:ln w="12700">
            <a:solidFill>
              <a:schemeClr val="tx1"/>
            </a:solidFill>
            <a:prstDash val="solid"/>
          </a:ln>
        </p:spPr>
      </p:sp>
      <p:sp>
        <p:nvSpPr>
          <p:cNvPr id="13" name="Text 11"/>
          <p:cNvSpPr txBox="1"/>
          <p:nvPr/>
        </p:nvSpPr>
        <p:spPr>
          <a:xfrm>
            <a:off x="2484425" y="3840480"/>
            <a:ext cx="1524305" cy="685800"/>
          </a:xfrm>
          <a:prstGeom prst="rect">
            <a:avLst/>
          </a:prstGeom>
          <a:noFill/>
          <a:ln/>
        </p:spPr>
        <p:txBody>
          <a:bodyPr wrap="square" lIns="0" tIns="0" rIns="0" bIns="0" rtlCol="0" anchor="ctr"/>
          <a:lstStyle/>
          <a:p>
            <a:pPr algn="ctr" indent="0" marL="0">
              <a:buNone/>
            </a:pPr>
            <a:r>
              <a:rPr lang="en-US" sz="1500" dirty="0">
                <a:solidFill>
                  <a:schemeClr val="tx1"/>
                </a:solidFill>
              </a:rPr>
              <a:t>Service Standby</a:t>
            </a:r>
            <a:endParaRPr lang="en-US" sz="1500" dirty="0"/>
          </a:p>
        </p:txBody>
      </p:sp>
      <p:sp>
        <p:nvSpPr>
          <p:cNvPr id="14" name="Shape 12"/>
          <p:cNvSpPr/>
          <p:nvPr/>
        </p:nvSpPr>
        <p:spPr>
          <a:xfrm>
            <a:off x="4091026" y="4183380"/>
            <a:ext cx="201168" cy="0"/>
          </a:xfrm>
          <a:prstGeom prst="line">
            <a:avLst/>
          </a:prstGeom>
          <a:noFill/>
          <a:ln w="12700">
            <a:solidFill>
              <a:schemeClr val="tx1"/>
            </a:solidFill>
            <a:prstDash val="solid"/>
            <a:tailEnd type="triangle"/>
          </a:ln>
        </p:spPr>
      </p:sp>
      <p:sp>
        <p:nvSpPr>
          <p:cNvPr id="15" name="Approach Allowed"/>
          <p:cNvSpPr/>
          <p:nvPr/>
        </p:nvSpPr>
        <p:spPr>
          <a:xfrm>
            <a:off x="4328770" y="3840480"/>
            <a:ext cx="1615745" cy="685800"/>
          </a:xfrm>
          <a:prstGeom prst="rect">
            <a:avLst/>
          </a:prstGeom>
          <a:solidFill>
            <a:schemeClr val="bg1"/>
          </a:solidFill>
          <a:ln w="12700">
            <a:solidFill>
              <a:schemeClr val="tx1"/>
            </a:solidFill>
            <a:prstDash val="solid"/>
          </a:ln>
        </p:spPr>
      </p:sp>
      <p:sp>
        <p:nvSpPr>
          <p:cNvPr id="16" name="Text 14"/>
          <p:cNvSpPr txBox="1"/>
          <p:nvPr/>
        </p:nvSpPr>
        <p:spPr>
          <a:xfrm>
            <a:off x="4374490" y="3840480"/>
            <a:ext cx="1524305" cy="685800"/>
          </a:xfrm>
          <a:prstGeom prst="rect">
            <a:avLst/>
          </a:prstGeom>
          <a:noFill/>
          <a:ln/>
        </p:spPr>
        <p:txBody>
          <a:bodyPr wrap="square" lIns="0" tIns="0" rIns="0" bIns="0" rtlCol="0" anchor="ctr"/>
          <a:lstStyle/>
          <a:p>
            <a:pPr algn="ctr" indent="0" marL="0">
              <a:buNone/>
            </a:pPr>
            <a:r>
              <a:rPr lang="en-US" sz="1500" dirty="0">
                <a:solidFill>
                  <a:schemeClr val="tx1"/>
                </a:solidFill>
              </a:rPr>
              <a:t>Approach Allowed</a:t>
            </a:r>
            <a:endParaRPr lang="en-US" sz="1500" dirty="0"/>
          </a:p>
        </p:txBody>
      </p:sp>
      <p:sp>
        <p:nvSpPr>
          <p:cNvPr id="17" name="Shape 15"/>
          <p:cNvSpPr/>
          <p:nvPr/>
        </p:nvSpPr>
        <p:spPr>
          <a:xfrm>
            <a:off x="5981090" y="4183380"/>
            <a:ext cx="201168" cy="0"/>
          </a:xfrm>
          <a:prstGeom prst="line">
            <a:avLst/>
          </a:prstGeom>
          <a:noFill/>
          <a:ln w="12700">
            <a:solidFill>
              <a:schemeClr val="tx1"/>
            </a:solidFill>
            <a:prstDash val="solid"/>
            <a:tailEnd type="triangle"/>
          </a:ln>
        </p:spPr>
      </p:sp>
      <p:sp>
        <p:nvSpPr>
          <p:cNvPr id="18" name="IOS Mode"/>
          <p:cNvSpPr/>
          <p:nvPr/>
        </p:nvSpPr>
        <p:spPr>
          <a:xfrm>
            <a:off x="6218834" y="3840480"/>
            <a:ext cx="1615745" cy="685800"/>
          </a:xfrm>
          <a:prstGeom prst="rect">
            <a:avLst/>
          </a:prstGeom>
          <a:solidFill>
            <a:schemeClr val="accent1"/>
          </a:solidFill>
          <a:ln w="12700">
            <a:solidFill>
              <a:schemeClr val="tx1"/>
            </a:solidFill>
            <a:prstDash val="solid"/>
          </a:ln>
        </p:spPr>
      </p:sp>
      <p:sp>
        <p:nvSpPr>
          <p:cNvPr id="19" name="Text 17"/>
          <p:cNvSpPr txBox="1"/>
          <p:nvPr/>
        </p:nvSpPr>
        <p:spPr>
          <a:xfrm>
            <a:off x="6264554" y="3840480"/>
            <a:ext cx="1524305" cy="685800"/>
          </a:xfrm>
          <a:prstGeom prst="rect">
            <a:avLst/>
          </a:prstGeom>
          <a:noFill/>
          <a:ln/>
        </p:spPr>
        <p:txBody>
          <a:bodyPr wrap="square" lIns="0" tIns="0" rIns="0" bIns="0" rtlCol="0" anchor="ctr"/>
          <a:lstStyle/>
          <a:p>
            <a:pPr algn="ctr" indent="0" marL="0">
              <a:buNone/>
            </a:pPr>
            <a:r>
              <a:rPr lang="en-US" sz="1500" b="1" dirty="0">
                <a:solidFill>
                  <a:schemeClr val="tx1"/>
                </a:solidFill>
              </a:rPr>
              <a:t>IOS Mode</a:t>
            </a:r>
            <a:endParaRPr lang="en-US" sz="1500" dirty="0"/>
          </a:p>
        </p:txBody>
      </p:sp>
      <p:sp>
        <p:nvSpPr>
          <p:cNvPr id="20" name="Shape 18"/>
          <p:cNvSpPr/>
          <p:nvPr/>
        </p:nvSpPr>
        <p:spPr>
          <a:xfrm>
            <a:off x="7871155" y="4183380"/>
            <a:ext cx="201168" cy="0"/>
          </a:xfrm>
          <a:prstGeom prst="line">
            <a:avLst/>
          </a:prstGeom>
          <a:noFill/>
          <a:ln w="12700">
            <a:solidFill>
              <a:schemeClr val="tx1"/>
            </a:solidFill>
            <a:prstDash val="solid"/>
            <a:tailEnd type="triangle"/>
          </a:ln>
        </p:spPr>
      </p:sp>
      <p:sp>
        <p:nvSpPr>
          <p:cNvPr id="21" name="Mated"/>
          <p:cNvSpPr/>
          <p:nvPr/>
        </p:nvSpPr>
        <p:spPr>
          <a:xfrm>
            <a:off x="8108899" y="3840480"/>
            <a:ext cx="1615745" cy="685800"/>
          </a:xfrm>
          <a:prstGeom prst="rect">
            <a:avLst/>
          </a:prstGeom>
          <a:solidFill>
            <a:schemeClr val="bg1"/>
          </a:solidFill>
          <a:ln w="12700">
            <a:solidFill>
              <a:schemeClr val="tx1"/>
            </a:solidFill>
            <a:prstDash val="solid"/>
          </a:ln>
        </p:spPr>
      </p:sp>
      <p:sp>
        <p:nvSpPr>
          <p:cNvPr id="22" name="Text 20"/>
          <p:cNvSpPr txBox="1"/>
          <p:nvPr/>
        </p:nvSpPr>
        <p:spPr>
          <a:xfrm>
            <a:off x="8154619" y="3840480"/>
            <a:ext cx="1524305" cy="685800"/>
          </a:xfrm>
          <a:prstGeom prst="rect">
            <a:avLst/>
          </a:prstGeom>
          <a:noFill/>
          <a:ln/>
        </p:spPr>
        <p:txBody>
          <a:bodyPr wrap="square" lIns="0" tIns="0" rIns="0" bIns="0" rtlCol="0" anchor="ctr"/>
          <a:lstStyle/>
          <a:p>
            <a:pPr algn="ctr" indent="0" marL="0">
              <a:buNone/>
            </a:pPr>
            <a:r>
              <a:rPr lang="en-US" sz="1500" dirty="0">
                <a:solidFill>
                  <a:schemeClr val="tx1"/>
                </a:solidFill>
              </a:rPr>
              <a:t>Mated</a:t>
            </a:r>
            <a:endParaRPr lang="en-US" sz="1500" dirty="0"/>
          </a:p>
        </p:txBody>
      </p:sp>
      <p:sp>
        <p:nvSpPr>
          <p:cNvPr id="23" name="Shape 21"/>
          <p:cNvSpPr/>
          <p:nvPr/>
        </p:nvSpPr>
        <p:spPr>
          <a:xfrm>
            <a:off x="9761220" y="4183380"/>
            <a:ext cx="201168" cy="0"/>
          </a:xfrm>
          <a:prstGeom prst="line">
            <a:avLst/>
          </a:prstGeom>
          <a:noFill/>
          <a:ln w="12700">
            <a:solidFill>
              <a:schemeClr val="tx1"/>
            </a:solidFill>
            <a:prstDash val="solid"/>
            <a:tailEnd type="triangle"/>
          </a:ln>
        </p:spPr>
      </p:sp>
      <p:sp>
        <p:nvSpPr>
          <p:cNvPr id="24" name="Release / Abort"/>
          <p:cNvSpPr/>
          <p:nvPr/>
        </p:nvSpPr>
        <p:spPr>
          <a:xfrm>
            <a:off x="9998964" y="3840480"/>
            <a:ext cx="1615745" cy="685800"/>
          </a:xfrm>
          <a:prstGeom prst="rect">
            <a:avLst/>
          </a:prstGeom>
          <a:solidFill>
            <a:schemeClr val="bg1"/>
          </a:solidFill>
          <a:ln w="12700">
            <a:solidFill>
              <a:schemeClr val="tx1"/>
            </a:solidFill>
            <a:prstDash val="solid"/>
          </a:ln>
        </p:spPr>
      </p:sp>
      <p:sp>
        <p:nvSpPr>
          <p:cNvPr id="25" name="Text 23"/>
          <p:cNvSpPr txBox="1"/>
          <p:nvPr/>
        </p:nvSpPr>
        <p:spPr>
          <a:xfrm>
            <a:off x="10044684" y="3840480"/>
            <a:ext cx="1524305" cy="685800"/>
          </a:xfrm>
          <a:prstGeom prst="rect">
            <a:avLst/>
          </a:prstGeom>
          <a:noFill/>
          <a:ln/>
        </p:spPr>
        <p:txBody>
          <a:bodyPr wrap="square" lIns="0" tIns="0" rIns="0" bIns="0" rtlCol="0" anchor="ctr"/>
          <a:lstStyle/>
          <a:p>
            <a:pPr algn="ctr" indent="0" marL="0">
              <a:buNone/>
            </a:pPr>
            <a:r>
              <a:rPr lang="en-US" sz="1500" dirty="0">
                <a:solidFill>
                  <a:schemeClr val="tx1"/>
                </a:solidFill>
              </a:rPr>
              <a:t>Release / Abort</a:t>
            </a:r>
            <a:endParaRPr lang="en-US" sz="1500" dirty="0"/>
          </a:p>
        </p:txBody>
      </p:sp>
      <p:sp>
        <p:nvSpPr>
          <p:cNvPr id="26"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27" name="Text 25"/>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Would this help in real servicing operations, or should we prioritise other problems?</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GEO Architecture Question</a:t>
            </a:r>
            <a:endParaRPr lang="en-US" sz="3000" dirty="0"/>
          </a:p>
        </p:txBody>
      </p:sp>
      <p:sp>
        <p:nvSpPr>
          <p:cNvPr id="3" name="Text 1"/>
          <p:cNvSpPr txBox="1"/>
          <p:nvPr/>
        </p:nvSpPr>
        <p:spPr>
          <a:xfrm>
            <a:off x="548640" y="1280160"/>
            <a:ext cx="5760720" cy="365760"/>
          </a:xfrm>
          <a:prstGeom prst="rect">
            <a:avLst/>
          </a:prstGeom>
          <a:noFill/>
          <a:ln/>
        </p:spPr>
        <p:txBody>
          <a:bodyPr wrap="square" lIns="0" tIns="0" rIns="0" bIns="0" rtlCol="0" anchor="t"/>
          <a:lstStyle/>
          <a:p>
            <a:pPr indent="0" marL="0">
              <a:buNone/>
            </a:pPr>
            <a:r>
              <a:rPr lang="en-US" sz="1800" b="1" dirty="0">
                <a:solidFill>
                  <a:schemeClr val="tx1"/>
                </a:solidFill>
              </a:rPr>
              <a:t>Our understanding</a:t>
            </a:r>
            <a:endParaRPr lang="en-US" sz="1800" dirty="0"/>
          </a:p>
        </p:txBody>
      </p:sp>
      <p:sp>
        <p:nvSpPr>
          <p:cNvPr id="4" name="Text 2"/>
          <p:cNvSpPr txBox="1"/>
          <p:nvPr/>
        </p:nvSpPr>
        <p:spPr>
          <a:xfrm>
            <a:off x="548640" y="1783080"/>
            <a:ext cx="5760720" cy="3291840"/>
          </a:xfrm>
          <a:prstGeom prst="rect">
            <a:avLst/>
          </a:prstGeom>
          <a:noFill/>
          <a:ln/>
        </p:spPr>
        <p:txBody>
          <a:bodyPr wrap="square" lIns="0" tIns="0" rIns="0" bIns="0" rtlCol="0" anchor="t"/>
          <a:lstStyle/>
          <a:p>
            <a:pPr marL="279400" indent="-279400">
              <a:spcAft>
                <a:spcPts val="1200"/>
              </a:spcAft>
              <a:buSzPct val="100000"/>
              <a:buFont typeface="+mj-lt"/>
              <a:buAutoNum type="arabicPeriod" startAt="1"/>
            </a:pPr>
            <a:r>
              <a:rPr lang="en-US" sz="1700" dirty="0">
                <a:solidFill>
                  <a:schemeClr val="tx2"/>
                </a:solidFill>
              </a:rPr>
              <a:t>MEV could use legacy chemical GEO geometry, especially nozzle / ring features</a:t>
            </a:r>
            <a:endParaRPr lang="en-US" sz="1700" dirty="0"/>
          </a:p>
          <a:p>
            <a:pPr marL="279400" indent="-279400">
              <a:spcAft>
                <a:spcPts val="1200"/>
              </a:spcAft>
              <a:buSzPct val="100000"/>
              <a:buFont typeface="+mj-lt"/>
              <a:buAutoNum type="arabicPeriod" startAt="1"/>
            </a:pPr>
            <a:r>
              <a:rPr lang="en-US" sz="1700" dirty="0">
                <a:solidFill>
                  <a:schemeClr val="tx2"/>
                </a:solidFill>
              </a:rPr>
              <a:t>Future GEO platforms are moving toward hybrid / all-electric architectures</a:t>
            </a:r>
            <a:endParaRPr lang="en-US" sz="1700" dirty="0"/>
          </a:p>
          <a:p>
            <a:pPr marL="279400" indent="-279400">
              <a:spcAft>
                <a:spcPts val="1200"/>
              </a:spcAft>
              <a:buSzPct val="100000"/>
              <a:buFont typeface="+mj-lt"/>
              <a:buAutoNum type="arabicPeriod" startAt="1"/>
            </a:pPr>
            <a:r>
              <a:rPr lang="en-US" sz="1700" dirty="0">
                <a:solidFill>
                  <a:schemeClr val="tx2"/>
                </a:solidFill>
              </a:rPr>
              <a:t>This reduces reliance on accidental legacy interfaces</a:t>
            </a:r>
            <a:endParaRPr lang="en-US" sz="1700" dirty="0"/>
          </a:p>
          <a:p>
            <a:pPr marL="279400" indent="-279400">
              <a:spcAft>
                <a:spcPts val="1200"/>
              </a:spcAft>
              <a:buSzPct val="100000"/>
              <a:buFont typeface="+mj-lt"/>
              <a:buAutoNum type="arabicPeriod" startAt="1"/>
            </a:pPr>
            <a:r>
              <a:rPr lang="en-US" sz="1700" dirty="0">
                <a:solidFill>
                  <a:schemeClr val="tx2"/>
                </a:solidFill>
              </a:rPr>
              <a:t>Future satellites may need deliberate, propulsion-independent service interfaces</a:t>
            </a:r>
            <a:endParaRPr lang="en-US" sz="1700" dirty="0"/>
          </a:p>
        </p:txBody>
      </p:sp>
      <p:sp>
        <p:nvSpPr>
          <p:cNvPr id="5" name="Text 3"/>
          <p:cNvSpPr txBox="1"/>
          <p:nvPr/>
        </p:nvSpPr>
        <p:spPr>
          <a:xfrm>
            <a:off x="6766560" y="1325880"/>
            <a:ext cx="4846320" cy="320040"/>
          </a:xfrm>
          <a:prstGeom prst="rect">
            <a:avLst/>
          </a:prstGeom>
          <a:noFill/>
          <a:ln/>
        </p:spPr>
        <p:txBody>
          <a:bodyPr wrap="square" lIns="0" tIns="0" rIns="0" bIns="0" rtlCol="0" anchor="t"/>
          <a:lstStyle/>
          <a:p>
            <a:pPr indent="0" marL="0">
              <a:buNone/>
            </a:pPr>
            <a:r>
              <a:rPr lang="en-US" sz="1400" dirty="0">
                <a:solidFill>
                  <a:schemeClr val="accent3"/>
                </a:solidFill>
              </a:rPr>
              <a:t>GEO platform evolution</a:t>
            </a:r>
            <a:endParaRPr lang="en-US" sz="1400" dirty="0"/>
          </a:p>
        </p:txBody>
      </p:sp>
      <p:sp>
        <p:nvSpPr>
          <p:cNvPr id="6" name="Shape 4"/>
          <p:cNvSpPr/>
          <p:nvPr/>
        </p:nvSpPr>
        <p:spPr>
          <a:xfrm>
            <a:off x="6858000" y="2743200"/>
            <a:ext cx="4709160" cy="0"/>
          </a:xfrm>
          <a:prstGeom prst="line">
            <a:avLst/>
          </a:prstGeom>
          <a:noFill/>
          <a:ln w="15875">
            <a:solidFill>
              <a:schemeClr val="tx1"/>
            </a:solidFill>
            <a:prstDash val="solid"/>
            <a:tailEnd type="triangle"/>
          </a:ln>
        </p:spPr>
      </p:sp>
      <p:sp>
        <p:nvSpPr>
          <p:cNvPr id="7" name="Shape 5"/>
          <p:cNvSpPr/>
          <p:nvPr/>
        </p:nvSpPr>
        <p:spPr>
          <a:xfrm>
            <a:off x="7461504" y="2660904"/>
            <a:ext cx="164592" cy="164592"/>
          </a:xfrm>
          <a:prstGeom prst="ellipse">
            <a:avLst/>
          </a:prstGeom>
          <a:solidFill>
            <a:schemeClr val="tx1"/>
          </a:solidFill>
          <a:ln w="12700">
            <a:solidFill>
              <a:schemeClr val="tx1"/>
            </a:solidFill>
            <a:prstDash val="solid"/>
          </a:ln>
        </p:spPr>
      </p:sp>
      <p:sp>
        <p:nvSpPr>
          <p:cNvPr id="8" name="Text 6"/>
          <p:cNvSpPr txBox="1"/>
          <p:nvPr/>
        </p:nvSpPr>
        <p:spPr>
          <a:xfrm>
            <a:off x="6766560" y="2194560"/>
            <a:ext cx="1554480" cy="320040"/>
          </a:xfrm>
          <a:prstGeom prst="rect">
            <a:avLst/>
          </a:prstGeom>
          <a:noFill/>
          <a:ln/>
        </p:spPr>
        <p:txBody>
          <a:bodyPr wrap="square" lIns="0" tIns="0" rIns="0" bIns="0" rtlCol="0" anchor="t"/>
          <a:lstStyle/>
          <a:p>
            <a:pPr algn="ctr" indent="0" marL="0">
              <a:buNone/>
            </a:pPr>
            <a:r>
              <a:rPr lang="en-US" sz="1500" b="1" dirty="0">
                <a:solidFill>
                  <a:schemeClr val="tx1"/>
                </a:solidFill>
              </a:rPr>
              <a:t>Legacy chemical</a:t>
            </a:r>
            <a:endParaRPr lang="en-US" sz="1500" dirty="0"/>
          </a:p>
        </p:txBody>
      </p:sp>
      <p:sp>
        <p:nvSpPr>
          <p:cNvPr id="9" name="Text 7"/>
          <p:cNvSpPr txBox="1"/>
          <p:nvPr/>
        </p:nvSpPr>
        <p:spPr>
          <a:xfrm>
            <a:off x="6766560" y="2971800"/>
            <a:ext cx="1554480" cy="1097280"/>
          </a:xfrm>
          <a:prstGeom prst="rect">
            <a:avLst/>
          </a:prstGeom>
          <a:noFill/>
          <a:ln/>
        </p:spPr>
        <p:txBody>
          <a:bodyPr wrap="square" lIns="0" tIns="0" rIns="0" bIns="0" rtlCol="0" anchor="t"/>
          <a:lstStyle/>
          <a:p>
            <a:pPr algn="ctr" indent="0" marL="0">
              <a:buNone/>
            </a:pPr>
            <a:r>
              <a:rPr lang="en-US" sz="1300" dirty="0">
                <a:solidFill>
                  <a:schemeClr val="tx2"/>
                </a:solidFill>
              </a:rPr>
              <a:t>Nozzle / ring usable as capture features (e.g. MEV)</a:t>
            </a:r>
            <a:endParaRPr lang="en-US" sz="1300" dirty="0"/>
          </a:p>
        </p:txBody>
      </p:sp>
      <p:sp>
        <p:nvSpPr>
          <p:cNvPr id="10" name="Shape 8"/>
          <p:cNvSpPr/>
          <p:nvPr/>
        </p:nvSpPr>
        <p:spPr>
          <a:xfrm>
            <a:off x="9107424" y="2660904"/>
            <a:ext cx="164592" cy="164592"/>
          </a:xfrm>
          <a:prstGeom prst="ellipse">
            <a:avLst/>
          </a:prstGeom>
          <a:solidFill>
            <a:schemeClr val="tx1"/>
          </a:solidFill>
          <a:ln w="12700">
            <a:solidFill>
              <a:schemeClr val="tx1"/>
            </a:solidFill>
            <a:prstDash val="solid"/>
          </a:ln>
        </p:spPr>
      </p:sp>
      <p:sp>
        <p:nvSpPr>
          <p:cNvPr id="11" name="Text 9"/>
          <p:cNvSpPr txBox="1"/>
          <p:nvPr/>
        </p:nvSpPr>
        <p:spPr>
          <a:xfrm>
            <a:off x="8412480" y="2194560"/>
            <a:ext cx="1554480" cy="320040"/>
          </a:xfrm>
          <a:prstGeom prst="rect">
            <a:avLst/>
          </a:prstGeom>
          <a:noFill/>
          <a:ln/>
        </p:spPr>
        <p:txBody>
          <a:bodyPr wrap="square" lIns="0" tIns="0" rIns="0" bIns="0" rtlCol="0" anchor="t"/>
          <a:lstStyle/>
          <a:p>
            <a:pPr algn="ctr" indent="0" marL="0">
              <a:buNone/>
            </a:pPr>
            <a:r>
              <a:rPr lang="en-US" sz="1500" b="1" dirty="0">
                <a:solidFill>
                  <a:schemeClr val="tx1"/>
                </a:solidFill>
              </a:rPr>
              <a:t>Hybrid</a:t>
            </a:r>
            <a:endParaRPr lang="en-US" sz="1500" dirty="0"/>
          </a:p>
        </p:txBody>
      </p:sp>
      <p:sp>
        <p:nvSpPr>
          <p:cNvPr id="12" name="Text 10"/>
          <p:cNvSpPr txBox="1"/>
          <p:nvPr/>
        </p:nvSpPr>
        <p:spPr>
          <a:xfrm>
            <a:off x="8412480" y="2971800"/>
            <a:ext cx="1554480" cy="1097280"/>
          </a:xfrm>
          <a:prstGeom prst="rect">
            <a:avLst/>
          </a:prstGeom>
          <a:noFill/>
          <a:ln/>
        </p:spPr>
        <p:txBody>
          <a:bodyPr wrap="square" lIns="0" tIns="0" rIns="0" bIns="0" rtlCol="0" anchor="t"/>
          <a:lstStyle/>
          <a:p>
            <a:pPr algn="ctr" indent="0" marL="0">
              <a:buNone/>
            </a:pPr>
            <a:r>
              <a:rPr lang="en-US" sz="1300" dirty="0">
                <a:solidFill>
                  <a:schemeClr val="tx2"/>
                </a:solidFill>
              </a:rPr>
              <a:t>Fewer legacy features to rely on</a:t>
            </a:r>
            <a:endParaRPr lang="en-US" sz="1300" dirty="0"/>
          </a:p>
        </p:txBody>
      </p:sp>
      <p:sp>
        <p:nvSpPr>
          <p:cNvPr id="13" name="Shape 11"/>
          <p:cNvSpPr/>
          <p:nvPr/>
        </p:nvSpPr>
        <p:spPr>
          <a:xfrm>
            <a:off x="10753344" y="2660904"/>
            <a:ext cx="164592" cy="164592"/>
          </a:xfrm>
          <a:prstGeom prst="ellipse">
            <a:avLst/>
          </a:prstGeom>
          <a:solidFill>
            <a:schemeClr val="accent1"/>
          </a:solidFill>
          <a:ln w="12700">
            <a:solidFill>
              <a:schemeClr val="tx1"/>
            </a:solidFill>
            <a:prstDash val="solid"/>
          </a:ln>
        </p:spPr>
      </p:sp>
      <p:sp>
        <p:nvSpPr>
          <p:cNvPr id="14" name="Text 12"/>
          <p:cNvSpPr txBox="1"/>
          <p:nvPr/>
        </p:nvSpPr>
        <p:spPr>
          <a:xfrm>
            <a:off x="10058400" y="2194560"/>
            <a:ext cx="1554480" cy="320040"/>
          </a:xfrm>
          <a:prstGeom prst="rect">
            <a:avLst/>
          </a:prstGeom>
          <a:noFill/>
          <a:ln/>
        </p:spPr>
        <p:txBody>
          <a:bodyPr wrap="square" lIns="0" tIns="0" rIns="0" bIns="0" rtlCol="0" anchor="t"/>
          <a:lstStyle/>
          <a:p>
            <a:pPr algn="ctr" indent="0" marL="0">
              <a:buNone/>
            </a:pPr>
            <a:r>
              <a:rPr lang="en-US" sz="1500" b="1" dirty="0">
                <a:solidFill>
                  <a:schemeClr val="tx1"/>
                </a:solidFill>
              </a:rPr>
              <a:t>All-electric</a:t>
            </a:r>
            <a:endParaRPr lang="en-US" sz="1500" dirty="0"/>
          </a:p>
        </p:txBody>
      </p:sp>
      <p:sp>
        <p:nvSpPr>
          <p:cNvPr id="15" name="Text 13"/>
          <p:cNvSpPr txBox="1"/>
          <p:nvPr/>
        </p:nvSpPr>
        <p:spPr>
          <a:xfrm>
            <a:off x="10058400" y="2971800"/>
            <a:ext cx="1554480" cy="1097280"/>
          </a:xfrm>
          <a:prstGeom prst="rect">
            <a:avLst/>
          </a:prstGeom>
          <a:noFill/>
          <a:ln/>
        </p:spPr>
        <p:txBody>
          <a:bodyPr wrap="square" lIns="0" tIns="0" rIns="0" bIns="0" rtlCol="0" anchor="t"/>
          <a:lstStyle/>
          <a:p>
            <a:pPr algn="ctr" indent="0" marL="0">
              <a:buNone/>
            </a:pPr>
            <a:r>
              <a:rPr lang="en-US" sz="1300" dirty="0">
                <a:solidFill>
                  <a:schemeClr val="tx2"/>
                </a:solidFill>
              </a:rPr>
              <a:t>Deliberate service interface needed</a:t>
            </a:r>
            <a:endParaRPr lang="en-US" sz="1300" dirty="0"/>
          </a:p>
        </p:txBody>
      </p:sp>
      <p:sp>
        <p:nvSpPr>
          <p:cNvPr id="16"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17" name="Text 15"/>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How does ClearSpace see this transition affecting future servicing interface strategy?</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OSAN Concept</a:t>
            </a:r>
            <a:endParaRPr lang="en-US" sz="3000" dirty="0"/>
          </a:p>
        </p:txBody>
      </p:sp>
      <p:sp>
        <p:nvSpPr>
          <p:cNvPr id="3" name="Text 1"/>
          <p:cNvSpPr txBox="1"/>
          <p:nvPr/>
        </p:nvSpPr>
        <p:spPr>
          <a:xfrm>
            <a:off x="548640" y="1051560"/>
            <a:ext cx="11064240" cy="365760"/>
          </a:xfrm>
          <a:prstGeom prst="rect">
            <a:avLst/>
          </a:prstGeom>
          <a:noFill/>
          <a:ln/>
        </p:spPr>
        <p:txBody>
          <a:bodyPr wrap="square" lIns="0" tIns="0" rIns="0" bIns="0" rtlCol="0" anchor="t"/>
          <a:lstStyle/>
          <a:p>
            <a:pPr indent="0" marL="0">
              <a:buNone/>
            </a:pPr>
            <a:r>
              <a:rPr lang="en-US" sz="1800" dirty="0">
                <a:solidFill>
                  <a:schemeClr val="accent3"/>
                </a:solidFill>
              </a:rPr>
              <a:t>Orbital Service &amp; Augmentation Node – a generic service zone for high-value future platforms</a:t>
            </a:r>
            <a:endParaRPr lang="en-US" sz="1800" dirty="0"/>
          </a:p>
        </p:txBody>
      </p:sp>
      <p:sp>
        <p:nvSpPr>
          <p:cNvPr id="4" name="Text 2"/>
          <p:cNvSpPr txBox="1"/>
          <p:nvPr/>
        </p:nvSpPr>
        <p:spPr>
          <a:xfrm>
            <a:off x="548640" y="1783080"/>
            <a:ext cx="3383280" cy="365760"/>
          </a:xfrm>
          <a:prstGeom prst="rect">
            <a:avLst/>
          </a:prstGeom>
          <a:noFill/>
          <a:ln/>
        </p:spPr>
        <p:txBody>
          <a:bodyPr wrap="square" lIns="0" tIns="0" rIns="0" bIns="0" rtlCol="0" anchor="t"/>
          <a:lstStyle/>
          <a:p>
            <a:pPr indent="0" marL="0">
              <a:buNone/>
            </a:pPr>
            <a:r>
              <a:rPr lang="en-US" sz="1800" b="1" dirty="0">
                <a:solidFill>
                  <a:schemeClr val="tx1"/>
                </a:solidFill>
              </a:rPr>
              <a:t>Possible functions</a:t>
            </a:r>
            <a:endParaRPr lang="en-US" sz="1800" dirty="0"/>
          </a:p>
        </p:txBody>
      </p:sp>
      <p:sp>
        <p:nvSpPr>
          <p:cNvPr id="5" name="Text 3"/>
          <p:cNvSpPr txBox="1"/>
          <p:nvPr/>
        </p:nvSpPr>
        <p:spPr>
          <a:xfrm>
            <a:off x="548640" y="2240280"/>
            <a:ext cx="3383280" cy="27432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2"/>
                </a:solidFill>
              </a:rPr>
              <a:t>Capture / load transfer</a:t>
            </a:r>
            <a:endParaRPr lang="en-US" sz="1700" dirty="0"/>
          </a:p>
          <a:p>
            <a:pPr marL="228600" indent="-228600">
              <a:spcAft>
                <a:spcPts val="800"/>
              </a:spcAft>
              <a:buSzPct val="100000"/>
              <a:buChar char="•"/>
            </a:pPr>
            <a:r>
              <a:rPr lang="en-US" sz="1700" dirty="0">
                <a:solidFill>
                  <a:schemeClr val="tx2"/>
                </a:solidFill>
              </a:rPr>
              <a:t>Navigation references</a:t>
            </a:r>
            <a:endParaRPr lang="en-US" sz="1700" dirty="0"/>
          </a:p>
          <a:p>
            <a:pPr marL="228600" indent="-228600">
              <a:spcAft>
                <a:spcPts val="800"/>
              </a:spcAft>
              <a:buSzPct val="100000"/>
              <a:buChar char="•"/>
            </a:pPr>
            <a:r>
              <a:rPr lang="en-US" sz="1700" dirty="0">
                <a:solidFill>
                  <a:schemeClr val="tx2"/>
                </a:solidFill>
              </a:rPr>
              <a:t>Power / data</a:t>
            </a:r>
            <a:endParaRPr lang="en-US" sz="1700" dirty="0"/>
          </a:p>
          <a:p>
            <a:pPr marL="228600" indent="-228600">
              <a:spcAft>
                <a:spcPts val="800"/>
              </a:spcAft>
              <a:buSzPct val="100000"/>
              <a:buChar char="•"/>
            </a:pPr>
            <a:r>
              <a:rPr lang="en-US" sz="1700" dirty="0">
                <a:solidFill>
                  <a:schemeClr val="tx2"/>
                </a:solidFill>
              </a:rPr>
              <a:t>Optional fluid interface</a:t>
            </a:r>
            <a:endParaRPr lang="en-US" sz="1700" dirty="0"/>
          </a:p>
          <a:p>
            <a:pPr marL="228600" indent="-228600">
              <a:spcAft>
                <a:spcPts val="800"/>
              </a:spcAft>
              <a:buSzPct val="100000"/>
              <a:buChar char="•"/>
            </a:pPr>
            <a:r>
              <a:rPr lang="en-US" sz="1700" dirty="0">
                <a:solidFill>
                  <a:schemeClr val="tx2"/>
                </a:solidFill>
              </a:rPr>
              <a:t>POD attachment</a:t>
            </a:r>
            <a:endParaRPr lang="en-US" sz="1700" dirty="0"/>
          </a:p>
        </p:txBody>
      </p:sp>
      <p:sp>
        <p:nvSpPr>
          <p:cNvPr id="6" name="Shape 4"/>
          <p:cNvSpPr/>
          <p:nvPr/>
        </p:nvSpPr>
        <p:spPr>
          <a:xfrm>
            <a:off x="4160520" y="1783080"/>
            <a:ext cx="0" cy="3154680"/>
          </a:xfrm>
          <a:prstGeom prst="line">
            <a:avLst/>
          </a:prstGeom>
          <a:noFill/>
          <a:ln w="9525">
            <a:solidFill>
              <a:srgbClr val="D5DAE1"/>
            </a:solidFill>
            <a:prstDash val="solid"/>
          </a:ln>
        </p:spPr>
      </p:sp>
      <p:sp>
        <p:nvSpPr>
          <p:cNvPr id="7" name="Text 5"/>
          <p:cNvSpPr txBox="1"/>
          <p:nvPr/>
        </p:nvSpPr>
        <p:spPr>
          <a:xfrm>
            <a:off x="4434840" y="1783080"/>
            <a:ext cx="3383280" cy="365760"/>
          </a:xfrm>
          <a:prstGeom prst="rect">
            <a:avLst/>
          </a:prstGeom>
          <a:noFill/>
          <a:ln/>
        </p:spPr>
        <p:txBody>
          <a:bodyPr wrap="square" lIns="0" tIns="0" rIns="0" bIns="0" rtlCol="0" anchor="t"/>
          <a:lstStyle/>
          <a:p>
            <a:pPr indent="0" marL="0">
              <a:buNone/>
            </a:pPr>
            <a:r>
              <a:rPr lang="en-US" sz="1800" b="1" dirty="0">
                <a:solidFill>
                  <a:schemeClr val="tx1"/>
                </a:solidFill>
              </a:rPr>
              <a:t>Not planned in Phase 2</a:t>
            </a:r>
            <a:endParaRPr lang="en-US" sz="1800" dirty="0"/>
          </a:p>
        </p:txBody>
      </p:sp>
      <p:sp>
        <p:nvSpPr>
          <p:cNvPr id="8" name="Text 6"/>
          <p:cNvSpPr txBox="1"/>
          <p:nvPr/>
        </p:nvSpPr>
        <p:spPr>
          <a:xfrm>
            <a:off x="4434840" y="2240280"/>
            <a:ext cx="3200400" cy="914400"/>
          </a:xfrm>
          <a:prstGeom prst="rect">
            <a:avLst/>
          </a:prstGeom>
          <a:noFill/>
          <a:ln/>
        </p:spPr>
        <p:txBody>
          <a:bodyPr wrap="square" lIns="0" tIns="0" rIns="0" bIns="0" rtlCol="0" anchor="t"/>
          <a:lstStyle/>
          <a:p>
            <a:pPr indent="0" marL="0">
              <a:buNone/>
            </a:pPr>
            <a:r>
              <a:rPr lang="en-US" sz="1700" dirty="0">
                <a:solidFill>
                  <a:schemeClr val="tx2"/>
                </a:solidFill>
              </a:rPr>
              <a:t>A detailed universal interface design.</a:t>
            </a:r>
            <a:endParaRPr lang="en-US" sz="1700" dirty="0"/>
          </a:p>
        </p:txBody>
      </p:sp>
      <p:sp>
        <p:nvSpPr>
          <p:cNvPr id="9" name="Shape 7"/>
          <p:cNvSpPr/>
          <p:nvPr/>
        </p:nvSpPr>
        <p:spPr>
          <a:xfrm>
            <a:off x="8001000" y="1783080"/>
            <a:ext cx="0" cy="3154680"/>
          </a:xfrm>
          <a:prstGeom prst="line">
            <a:avLst/>
          </a:prstGeom>
          <a:noFill/>
          <a:ln w="9525">
            <a:solidFill>
              <a:srgbClr val="D5DAE1"/>
            </a:solidFill>
            <a:prstDash val="solid"/>
          </a:ln>
        </p:spPr>
      </p:sp>
      <p:sp>
        <p:nvSpPr>
          <p:cNvPr id="10" name="Text 8"/>
          <p:cNvSpPr txBox="1"/>
          <p:nvPr/>
        </p:nvSpPr>
        <p:spPr>
          <a:xfrm>
            <a:off x="8275320" y="1783080"/>
            <a:ext cx="3337560" cy="365760"/>
          </a:xfrm>
          <a:prstGeom prst="rect">
            <a:avLst/>
          </a:prstGeom>
          <a:noFill/>
          <a:ln/>
        </p:spPr>
        <p:txBody>
          <a:bodyPr wrap="square" lIns="0" tIns="0" rIns="0" bIns="0" rtlCol="0" anchor="t"/>
          <a:lstStyle/>
          <a:p>
            <a:pPr indent="0" marL="0">
              <a:buNone/>
            </a:pPr>
            <a:r>
              <a:rPr lang="en-US" sz="1800" b="1" dirty="0">
                <a:solidFill>
                  <a:schemeClr val="tx1"/>
                </a:solidFill>
              </a:rPr>
              <a:t>Instead, we may create</a:t>
            </a:r>
            <a:endParaRPr lang="en-US" sz="1800" dirty="0"/>
          </a:p>
        </p:txBody>
      </p:sp>
      <p:sp>
        <p:nvSpPr>
          <p:cNvPr id="11" name="Text 9"/>
          <p:cNvSpPr txBox="1"/>
          <p:nvPr/>
        </p:nvSpPr>
        <p:spPr>
          <a:xfrm>
            <a:off x="8275320" y="2240280"/>
            <a:ext cx="3337560" cy="274320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2"/>
                </a:solidFill>
              </a:rPr>
              <a:t>Generic layout</a:t>
            </a:r>
            <a:endParaRPr lang="en-US" sz="1700" dirty="0"/>
          </a:p>
          <a:p>
            <a:pPr marL="228600" indent="-228600">
              <a:spcAft>
                <a:spcPts val="800"/>
              </a:spcAft>
              <a:buSzPct val="100000"/>
              <a:buChar char="•"/>
            </a:pPr>
            <a:r>
              <a:rPr lang="en-US" sz="1700" dirty="0">
                <a:solidFill>
                  <a:schemeClr val="tx2"/>
                </a:solidFill>
              </a:rPr>
              <a:t>Functional requirements</a:t>
            </a:r>
            <a:endParaRPr lang="en-US" sz="1700" dirty="0"/>
          </a:p>
          <a:p>
            <a:pPr marL="228600" indent="-228600">
              <a:spcAft>
                <a:spcPts val="800"/>
              </a:spcAft>
              <a:buSzPct val="100000"/>
              <a:buChar char="•"/>
            </a:pPr>
            <a:r>
              <a:rPr lang="en-US" sz="1700" dirty="0">
                <a:solidFill>
                  <a:schemeClr val="tx2"/>
                </a:solidFill>
              </a:rPr>
              <a:t>Serviceability tiers</a:t>
            </a:r>
            <a:endParaRPr lang="en-US" sz="1700" dirty="0"/>
          </a:p>
          <a:p>
            <a:pPr marL="228600" indent="-228600">
              <a:spcAft>
                <a:spcPts val="800"/>
              </a:spcAft>
              <a:buSzPct val="100000"/>
              <a:buChar char="•"/>
            </a:pPr>
            <a:r>
              <a:rPr lang="en-US" sz="1700" dirty="0">
                <a:solidFill>
                  <a:schemeClr val="tx2"/>
                </a:solidFill>
              </a:rPr>
              <a:t>Compatibility with future GEO platforms</a:t>
            </a:r>
            <a:endParaRPr lang="en-US" sz="1700" dirty="0"/>
          </a:p>
        </p:txBody>
      </p:sp>
      <p:sp>
        <p:nvSpPr>
          <p:cNvPr id="12"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13" name="Text 11"/>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Would ClearSpace prefer this generic service-zone approach over a detailed interface design?</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Product Family Logic</a:t>
            </a:r>
            <a:endParaRPr lang="en-US" sz="30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indent="0" marL="0">
              <a:buNone/>
            </a:pPr>
            <a:r>
              <a:rPr lang="en-US" sz="1800" dirty="0">
                <a:solidFill>
                  <a:schemeClr val="tx2"/>
                </a:solidFill>
              </a:rPr>
              <a:t>Our proposed serviceability tiers: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005840"/>
                <a:gridCol w="3291840"/>
                <a:gridCol w="6766560"/>
              </a:tblGrid>
              <a:tr h="566928">
                <a:tc>
                  <a:txBody>
                    <a:bodyPr/>
                    <a:lstStyle/>
                    <a:p>
                      <a:pPr indent="0" marL="0">
                        <a:buNone/>
                      </a:pPr>
                      <a:r>
                        <a:rPr lang="en-US" sz="1400" b="1" dirty="0">
                          <a:solidFill>
                            <a:srgbClr val="FFFFFF"/>
                          </a:solidFill>
                        </a:rPr>
                        <a:t>Tier</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Level</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c>
                  <a:txBody>
                    <a:bodyPr/>
                    <a:lstStyle/>
                    <a:p>
                      <a:pPr indent="0" marL="0">
                        <a:buNone/>
                      </a:pPr>
                      <a:r>
                        <a:rPr lang="en-US" sz="1400" b="1" dirty="0">
                          <a:solidFill>
                            <a:srgbClr val="FFFFFF"/>
                          </a:solidFill>
                        </a:rPr>
                        <a:t>Provisions</a:t>
                      </a:r>
                      <a:endParaRPr lang="en-US" sz="14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0B1F3A"/>
                    </a:solidFill>
                  </a:tcPr>
                </a:tc>
              </a:tr>
              <a:tr h="566928">
                <a:tc>
                  <a:txBody>
                    <a:bodyPr/>
                    <a:lstStyle/>
                    <a:p>
                      <a:pPr indent="0" marL="0">
                        <a:buNone/>
                      </a:pPr>
                      <a:r>
                        <a:rPr lang="en-US" sz="1500" b="1" dirty="0">
                          <a:solidFill>
                            <a:srgbClr val="0B1F3A"/>
                          </a:solidFill>
                        </a:rPr>
                        <a:t>1</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EOL-ready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MICE-like capture + fiducials</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2</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Service-ready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IOS mode + communication</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3</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Life-extension-ready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Refuelling / propulsion augmentation</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r h="566928">
                <a:tc>
                  <a:txBody>
                    <a:bodyPr/>
                    <a:lstStyle/>
                    <a:p>
                      <a:pPr indent="0" marL="0">
                        <a:buNone/>
                      </a:pPr>
                      <a:r>
                        <a:rPr lang="en-US" sz="1500" b="1" dirty="0">
                          <a:solidFill>
                            <a:srgbClr val="0B1F3A"/>
                          </a:solidFill>
                        </a:rPr>
                        <a:t>4</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Augmentation-ready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3B4656"/>
                          </a:solidFill>
                        </a:rPr>
                        <a:t>Power / data + upgrade POD capability</a:t>
                      </a:r>
                      <a:endParaRPr lang="en-US" sz="1500" dirty="0"/>
                    </a:p>
                  </a:txBody>
                  <a:tcPr marL="109728" marR="109728"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r>
            </a:tbl>
          </a:graphicData>
        </a:graphic>
      </p:graphicFrame>
      <p:sp>
        <p:nvSpPr>
          <p:cNvPr id="5" name="Question for ClearSpace"/>
          <p:cNvSpPr/>
          <p:nvPr/>
        </p:nvSpPr>
        <p:spPr>
          <a:xfrm>
            <a:off x="548640" y="5349240"/>
            <a:ext cx="11064240" cy="731520"/>
          </a:xfrm>
          <a:prstGeom prst="rect">
            <a:avLst/>
          </a:prstGeom>
          <a:solidFill>
            <a:schemeClr val="bg2"/>
          </a:solidFill>
          <a:ln w="12700">
            <a:solidFill>
              <a:schemeClr val="bg2"/>
            </a:solidFill>
            <a:prstDash val="solid"/>
          </a:ln>
        </p:spPr>
      </p:sp>
      <p:sp>
        <p:nvSpPr>
          <p:cNvPr id="6" name="Text 3"/>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700" b="1" dirty="0">
                <a:solidFill>
                  <a:schemeClr val="tx1"/>
                </a:solidFill>
              </a:rPr>
              <a:t>Question for ClearSpace:  </a:t>
            </a:r>
            <a:pPr indent="0" marL="0">
              <a:buNone/>
            </a:pPr>
            <a:r>
              <a:rPr lang="en-US" sz="1700" dirty="0">
                <a:solidFill>
                  <a:schemeClr val="tx1"/>
                </a:solidFill>
              </a:rPr>
              <a:t>Which serviceability level is most relevant for ClearSpace's future market vision?</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What We Need From ClearSpace</a:t>
            </a:r>
            <a:endParaRPr lang="en-US" sz="30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indent="0" marL="0">
              <a:buNone/>
            </a:pPr>
            <a:r>
              <a:rPr lang="en-US" sz="1800" dirty="0">
                <a:solidFill>
                  <a:schemeClr val="tx2"/>
                </a:solidFill>
              </a:rPr>
              <a:t>We would like feedback on:</a:t>
            </a:r>
            <a:endParaRPr lang="en-US" sz="1800" dirty="0"/>
          </a:p>
        </p:txBody>
      </p:sp>
      <p:sp>
        <p:nvSpPr>
          <p:cNvPr id="4" name="Text 2"/>
          <p:cNvSpPr txBox="1"/>
          <p:nvPr/>
        </p:nvSpPr>
        <p:spPr>
          <a:xfrm>
            <a:off x="548640" y="1737360"/>
            <a:ext cx="5303520" cy="3474720"/>
          </a:xfrm>
          <a:prstGeom prst="rect">
            <a:avLst/>
          </a:prstGeom>
          <a:noFill/>
          <a:ln/>
        </p:spPr>
        <p:txBody>
          <a:bodyPr wrap="square" lIns="0" tIns="0" rIns="0" bIns="0" rtlCol="0" anchor="t"/>
          <a:lstStyle/>
          <a:p>
            <a:pPr marL="279400" indent="-279400">
              <a:spcAft>
                <a:spcPts val="1600"/>
              </a:spcAft>
              <a:buSzPct val="100000"/>
              <a:buFont typeface="+mj-lt"/>
              <a:buAutoNum type="arabicPeriod" startAt="1"/>
            </a:pPr>
            <a:r>
              <a:rPr lang="en-US" sz="1900" dirty="0">
                <a:solidFill>
                  <a:schemeClr val="tx1"/>
                </a:solidFill>
              </a:rPr>
              <a:t>Best Phase 2 technical focus</a:t>
            </a:r>
            <a:endParaRPr lang="en-US" sz="1900" dirty="0"/>
          </a:p>
          <a:p>
            <a:pPr marL="279400" indent="-279400">
              <a:spcAft>
                <a:spcPts val="1600"/>
              </a:spcAft>
              <a:buSzPct val="100000"/>
              <a:buFont typeface="+mj-lt"/>
              <a:buAutoNum type="arabicPeriod" startAt="1"/>
            </a:pPr>
            <a:r>
              <a:rPr lang="en-US" sz="1900" dirty="0">
                <a:solidFill>
                  <a:schemeClr val="tx1"/>
                </a:solidFill>
              </a:rPr>
              <a:t>Most realistic servicing scenario</a:t>
            </a:r>
            <a:endParaRPr lang="en-US" sz="1900" dirty="0"/>
          </a:p>
          <a:p>
            <a:pPr marL="279400" indent="-279400">
              <a:spcAft>
                <a:spcPts val="1600"/>
              </a:spcAft>
              <a:buSzPct val="100000"/>
              <a:buFont typeface="+mj-lt"/>
              <a:buAutoNum type="arabicPeriod" startAt="1"/>
            </a:pPr>
            <a:r>
              <a:rPr lang="en-US" sz="1900" dirty="0">
                <a:solidFill>
                  <a:schemeClr val="tx1"/>
                </a:solidFill>
              </a:rPr>
              <a:t>Useful assumptions for non-cooperative / degraded targets</a:t>
            </a:r>
            <a:endParaRPr lang="en-US" sz="1900" dirty="0"/>
          </a:p>
          <a:p>
            <a:pPr marL="279400" indent="-279400">
              <a:spcAft>
                <a:spcPts val="1600"/>
              </a:spcAft>
              <a:buSzPct val="100000"/>
              <a:buFont typeface="+mj-lt"/>
              <a:buAutoNum type="arabicPeriod" startAt="1"/>
            </a:pPr>
            <a:r>
              <a:rPr lang="en-US" sz="1900" dirty="0">
                <a:solidFill>
                  <a:schemeClr val="tx1"/>
                </a:solidFill>
              </a:rPr>
              <a:t>GEO chemical vs electric transition</a:t>
            </a:r>
            <a:endParaRPr lang="en-US" sz="1900" dirty="0"/>
          </a:p>
        </p:txBody>
      </p:sp>
      <p:sp>
        <p:nvSpPr>
          <p:cNvPr id="5" name="Text 3"/>
          <p:cNvSpPr txBox="1"/>
          <p:nvPr/>
        </p:nvSpPr>
        <p:spPr>
          <a:xfrm>
            <a:off x="6309360" y="1737360"/>
            <a:ext cx="5303520" cy="3474720"/>
          </a:xfrm>
          <a:prstGeom prst="rect">
            <a:avLst/>
          </a:prstGeom>
          <a:noFill/>
          <a:ln/>
        </p:spPr>
        <p:txBody>
          <a:bodyPr wrap="square" lIns="0" tIns="0" rIns="0" bIns="0" rtlCol="0" anchor="t"/>
          <a:lstStyle/>
          <a:p>
            <a:pPr marL="279400" indent="-279400">
              <a:spcAft>
                <a:spcPts val="1600"/>
              </a:spcAft>
              <a:buSzPct val="100000"/>
              <a:buFont typeface="+mj-lt"/>
              <a:buAutoNum type="arabicPeriod" startAt="5"/>
            </a:pPr>
            <a:r>
              <a:rPr lang="en-US" sz="1900" dirty="0">
                <a:solidFill>
                  <a:schemeClr val="tx1"/>
                </a:solidFill>
              </a:rPr>
              <a:t>Whether Service Beacon / IOS mode is valuable</a:t>
            </a:r>
            <a:endParaRPr lang="en-US" sz="1900" dirty="0"/>
          </a:p>
          <a:p>
            <a:pPr marL="279400" indent="-279400">
              <a:spcAft>
                <a:spcPts val="1600"/>
              </a:spcAft>
              <a:buSzPct val="100000"/>
              <a:buFont typeface="+mj-lt"/>
              <a:buAutoNum type="arabicPeriod" startAt="5"/>
            </a:pPr>
            <a:r>
              <a:rPr lang="en-US" sz="1900" dirty="0">
                <a:solidFill>
                  <a:schemeClr val="tx1"/>
                </a:solidFill>
              </a:rPr>
              <a:t>How detailed OSAN should be</a:t>
            </a:r>
            <a:endParaRPr lang="en-US" sz="1900" dirty="0"/>
          </a:p>
          <a:p>
            <a:pPr marL="279400" indent="-279400">
              <a:spcAft>
                <a:spcPts val="1600"/>
              </a:spcAft>
              <a:buSzPct val="100000"/>
              <a:buFont typeface="+mj-lt"/>
              <a:buAutoNum type="arabicPeriod" startAt="5"/>
            </a:pPr>
            <a:r>
              <a:rPr lang="en-US" sz="1900" dirty="0">
                <a:solidFill>
                  <a:schemeClr val="tx1"/>
                </a:solidFill>
              </a:rPr>
              <a:t>What ClearSpace would like to see in the OSIP proposal</a:t>
            </a:r>
            <a:endParaRPr lang="en-US" sz="19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411480"/>
            <a:ext cx="11064240" cy="640080"/>
          </a:xfrm>
          <a:prstGeom prst="rect">
            <a:avLst/>
          </a:prstGeom>
          <a:noFill/>
          <a:ln/>
        </p:spPr>
        <p:txBody>
          <a:bodyPr wrap="square" lIns="0" tIns="0" rIns="0" bIns="0" rtlCol="0" anchor="t"/>
          <a:lstStyle/>
          <a:p>
            <a:pPr algn="l" indent="0" marL="0">
              <a:buNone/>
            </a:pPr>
            <a:r>
              <a:rPr lang="en-US" sz="3000" b="1" dirty="0">
                <a:solidFill>
                  <a:schemeClr val="tx1"/>
                </a:solidFill>
              </a:rPr>
              <a:t>Proposed Output After Feedback</a:t>
            </a:r>
            <a:endParaRPr lang="en-US" sz="3000" dirty="0"/>
          </a:p>
        </p:txBody>
      </p:sp>
      <p:sp>
        <p:nvSpPr>
          <p:cNvPr id="3" name="Text 1"/>
          <p:cNvSpPr txBox="1"/>
          <p:nvPr/>
        </p:nvSpPr>
        <p:spPr>
          <a:xfrm>
            <a:off x="548640" y="1143000"/>
            <a:ext cx="5852160" cy="365760"/>
          </a:xfrm>
          <a:prstGeom prst="rect">
            <a:avLst/>
          </a:prstGeom>
          <a:noFill/>
          <a:ln/>
        </p:spPr>
        <p:txBody>
          <a:bodyPr wrap="square" lIns="0" tIns="0" rIns="0" bIns="0" rtlCol="0" anchor="t"/>
          <a:lstStyle/>
          <a:p>
            <a:pPr indent="0" marL="0">
              <a:buNone/>
            </a:pPr>
            <a:r>
              <a:rPr lang="en-US" sz="1800" dirty="0">
                <a:solidFill>
                  <a:schemeClr val="tx2"/>
                </a:solidFill>
              </a:rPr>
              <a:t>Depending on ClearSpace's input, we plan to deliver:</a:t>
            </a:r>
            <a:endParaRPr lang="en-US" sz="1800" dirty="0"/>
          </a:p>
        </p:txBody>
      </p:sp>
      <p:sp>
        <p:nvSpPr>
          <p:cNvPr id="4" name="Text 2"/>
          <p:cNvSpPr txBox="1"/>
          <p:nvPr/>
        </p:nvSpPr>
        <p:spPr>
          <a:xfrm>
            <a:off x="548640" y="1737360"/>
            <a:ext cx="5669280" cy="3291840"/>
          </a:xfrm>
          <a:prstGeom prst="rect">
            <a:avLst/>
          </a:prstGeom>
          <a:noFill/>
          <a:ln/>
        </p:spPr>
        <p:txBody>
          <a:bodyPr wrap="square" lIns="0" tIns="0" rIns="0" bIns="0" rtlCol="0" anchor="t"/>
          <a:lstStyle/>
          <a:p>
            <a:pPr marL="228600" indent="-228600">
              <a:spcAft>
                <a:spcPts val="1200"/>
              </a:spcAft>
              <a:buSzPct val="100000"/>
              <a:buChar char="•"/>
            </a:pPr>
            <a:r>
              <a:rPr lang="en-US" sz="1900" dirty="0">
                <a:solidFill>
                  <a:schemeClr val="tx1"/>
                </a:solidFill>
              </a:rPr>
              <a:t>OSIP-style proposal</a:t>
            </a:r>
            <a:endParaRPr lang="en-US" sz="1900" dirty="0"/>
          </a:p>
          <a:p>
            <a:pPr marL="228600" indent="-228600">
              <a:spcAft>
                <a:spcPts val="1200"/>
              </a:spcAft>
              <a:buSzPct val="100000"/>
              <a:buChar char="•"/>
            </a:pPr>
            <a:r>
              <a:rPr lang="en-US" sz="1900" dirty="0">
                <a:solidFill>
                  <a:schemeClr val="tx1"/>
                </a:solidFill>
              </a:rPr>
              <a:t>RPO / serviceability simulation results</a:t>
            </a:r>
            <a:endParaRPr lang="en-US" sz="1900" dirty="0"/>
          </a:p>
          <a:p>
            <a:pPr marL="228600" indent="-228600">
              <a:spcAft>
                <a:spcPts val="1200"/>
              </a:spcAft>
              <a:buSzPct val="100000"/>
              <a:buChar char="•"/>
            </a:pPr>
            <a:r>
              <a:rPr lang="en-US" sz="1900" dirty="0">
                <a:solidFill>
                  <a:schemeClr val="tx1"/>
                </a:solidFill>
              </a:rPr>
              <a:t>Service Beacon + IOS mode concept</a:t>
            </a:r>
            <a:endParaRPr lang="en-US" sz="1900" dirty="0"/>
          </a:p>
          <a:p>
            <a:pPr marL="228600" indent="-228600">
              <a:spcAft>
                <a:spcPts val="1200"/>
              </a:spcAft>
              <a:buSzPct val="100000"/>
              <a:buChar char="•"/>
            </a:pPr>
            <a:r>
              <a:rPr lang="en-US" sz="1900" dirty="0">
                <a:solidFill>
                  <a:schemeClr val="tx1"/>
                </a:solidFill>
              </a:rPr>
              <a:t>OSAN generic architecture</a:t>
            </a:r>
            <a:endParaRPr lang="en-US" sz="1900" dirty="0"/>
          </a:p>
          <a:p>
            <a:pPr marL="228600" indent="-228600">
              <a:spcAft>
                <a:spcPts val="1200"/>
              </a:spcAft>
              <a:buSzPct val="100000"/>
              <a:buChar char="•"/>
            </a:pPr>
            <a:r>
              <a:rPr lang="en-US" sz="1900" dirty="0">
                <a:solidFill>
                  <a:schemeClr val="tx1"/>
                </a:solidFill>
              </a:rPr>
              <a:t>Serviceability-tier trade study</a:t>
            </a:r>
            <a:endParaRPr lang="en-US" sz="1900" dirty="0"/>
          </a:p>
        </p:txBody>
      </p:sp>
      <p:sp>
        <p:nvSpPr>
          <p:cNvPr id="5" name="Shape 3"/>
          <p:cNvSpPr/>
          <p:nvPr/>
        </p:nvSpPr>
        <p:spPr>
          <a:xfrm>
            <a:off x="6720840" y="1188720"/>
            <a:ext cx="0" cy="4480560"/>
          </a:xfrm>
          <a:prstGeom prst="line">
            <a:avLst/>
          </a:prstGeom>
          <a:noFill/>
          <a:ln w="9525">
            <a:solidFill>
              <a:srgbClr val="D5DAE1"/>
            </a:solidFill>
            <a:prstDash val="solid"/>
          </a:ln>
        </p:spPr>
      </p:sp>
      <p:sp>
        <p:nvSpPr>
          <p:cNvPr id="6" name="Text 4"/>
          <p:cNvSpPr txBox="1"/>
          <p:nvPr/>
        </p:nvSpPr>
        <p:spPr>
          <a:xfrm>
            <a:off x="7086600" y="1143000"/>
            <a:ext cx="4480560" cy="365760"/>
          </a:xfrm>
          <a:prstGeom prst="rect">
            <a:avLst/>
          </a:prstGeom>
          <a:noFill/>
          <a:ln/>
        </p:spPr>
        <p:txBody>
          <a:bodyPr wrap="square" lIns="0" tIns="0" rIns="0" bIns="0" rtlCol="0" anchor="t"/>
          <a:lstStyle/>
          <a:p>
            <a:pPr indent="0" marL="0">
              <a:buNone/>
            </a:pPr>
            <a:r>
              <a:rPr lang="en-US" sz="1800" b="1" dirty="0">
                <a:solidFill>
                  <a:schemeClr val="tx1"/>
                </a:solidFill>
              </a:rPr>
              <a:t>Roadmap</a:t>
            </a:r>
            <a:endParaRPr lang="en-US" sz="1800" dirty="0"/>
          </a:p>
        </p:txBody>
      </p:sp>
      <p:sp>
        <p:nvSpPr>
          <p:cNvPr id="7" name="Study (Phase 2)"/>
          <p:cNvSpPr/>
          <p:nvPr/>
        </p:nvSpPr>
        <p:spPr>
          <a:xfrm>
            <a:off x="7086600" y="1737360"/>
            <a:ext cx="3108960" cy="621792"/>
          </a:xfrm>
          <a:prstGeom prst="rect">
            <a:avLst/>
          </a:prstGeom>
          <a:solidFill>
            <a:schemeClr val="accent1"/>
          </a:solidFill>
          <a:ln w="12700">
            <a:solidFill>
              <a:schemeClr val="tx1"/>
            </a:solidFill>
            <a:prstDash val="solid"/>
          </a:ln>
        </p:spPr>
      </p:sp>
      <p:sp>
        <p:nvSpPr>
          <p:cNvPr id="8" name="Text 6"/>
          <p:cNvSpPr txBox="1"/>
          <p:nvPr/>
        </p:nvSpPr>
        <p:spPr>
          <a:xfrm>
            <a:off x="7269480" y="1737360"/>
            <a:ext cx="2743200" cy="621792"/>
          </a:xfrm>
          <a:prstGeom prst="rect">
            <a:avLst/>
          </a:prstGeom>
          <a:noFill/>
          <a:ln/>
        </p:spPr>
        <p:txBody>
          <a:bodyPr wrap="square" lIns="0" tIns="0" rIns="0" bIns="0" rtlCol="0" anchor="ctr"/>
          <a:lstStyle/>
          <a:p>
            <a:pPr indent="0" marL="0">
              <a:buNone/>
            </a:pPr>
            <a:r>
              <a:rPr lang="en-US" sz="1700" b="1" dirty="0">
                <a:solidFill>
                  <a:schemeClr val="tx1"/>
                </a:solidFill>
              </a:rPr>
              <a:t>Study (Phase 2)</a:t>
            </a:r>
            <a:endParaRPr lang="en-US" sz="1700" dirty="0"/>
          </a:p>
        </p:txBody>
      </p:sp>
      <p:sp>
        <p:nvSpPr>
          <p:cNvPr id="9" name="Shape 7"/>
          <p:cNvSpPr/>
          <p:nvPr/>
        </p:nvSpPr>
        <p:spPr>
          <a:xfrm>
            <a:off x="8641080" y="2395728"/>
            <a:ext cx="0" cy="292608"/>
          </a:xfrm>
          <a:prstGeom prst="line">
            <a:avLst/>
          </a:prstGeom>
          <a:noFill/>
          <a:ln w="12700">
            <a:solidFill>
              <a:schemeClr val="tx1"/>
            </a:solidFill>
            <a:prstDash val="solid"/>
            <a:tailEnd type="triangle"/>
          </a:ln>
        </p:spPr>
      </p:sp>
      <p:sp>
        <p:nvSpPr>
          <p:cNvPr id="10" name="Ground demo"/>
          <p:cNvSpPr/>
          <p:nvPr/>
        </p:nvSpPr>
        <p:spPr>
          <a:xfrm>
            <a:off x="7086600" y="2724912"/>
            <a:ext cx="3108960" cy="621792"/>
          </a:xfrm>
          <a:prstGeom prst="rect">
            <a:avLst/>
          </a:prstGeom>
          <a:solidFill>
            <a:schemeClr val="bg1"/>
          </a:solidFill>
          <a:ln w="12700">
            <a:solidFill>
              <a:schemeClr val="tx1"/>
            </a:solidFill>
            <a:prstDash val="solid"/>
          </a:ln>
        </p:spPr>
      </p:sp>
      <p:sp>
        <p:nvSpPr>
          <p:cNvPr id="11" name="Text 9"/>
          <p:cNvSpPr txBox="1"/>
          <p:nvPr/>
        </p:nvSpPr>
        <p:spPr>
          <a:xfrm>
            <a:off x="7269480" y="2724912"/>
            <a:ext cx="2743200" cy="621792"/>
          </a:xfrm>
          <a:prstGeom prst="rect">
            <a:avLst/>
          </a:prstGeom>
          <a:noFill/>
          <a:ln/>
        </p:spPr>
        <p:txBody>
          <a:bodyPr wrap="square" lIns="0" tIns="0" rIns="0" bIns="0" rtlCol="0" anchor="ctr"/>
          <a:lstStyle/>
          <a:p>
            <a:pPr indent="0" marL="0">
              <a:buNone/>
            </a:pPr>
            <a:r>
              <a:rPr lang="en-US" sz="1700" dirty="0">
                <a:solidFill>
                  <a:schemeClr val="tx1"/>
                </a:solidFill>
              </a:rPr>
              <a:t>Ground demo</a:t>
            </a:r>
            <a:endParaRPr lang="en-US" sz="1700" dirty="0"/>
          </a:p>
        </p:txBody>
      </p:sp>
      <p:sp>
        <p:nvSpPr>
          <p:cNvPr id="12" name="Shape 10"/>
          <p:cNvSpPr/>
          <p:nvPr/>
        </p:nvSpPr>
        <p:spPr>
          <a:xfrm>
            <a:off x="8641080" y="3383280"/>
            <a:ext cx="0" cy="292608"/>
          </a:xfrm>
          <a:prstGeom prst="line">
            <a:avLst/>
          </a:prstGeom>
          <a:noFill/>
          <a:ln w="12700">
            <a:solidFill>
              <a:schemeClr val="tx1"/>
            </a:solidFill>
            <a:prstDash val="solid"/>
            <a:tailEnd type="triangle"/>
          </a:ln>
        </p:spPr>
      </p:sp>
      <p:sp>
        <p:nvSpPr>
          <p:cNvPr id="13" name="IOD"/>
          <p:cNvSpPr/>
          <p:nvPr/>
        </p:nvSpPr>
        <p:spPr>
          <a:xfrm>
            <a:off x="7086600" y="3712464"/>
            <a:ext cx="3108960" cy="621792"/>
          </a:xfrm>
          <a:prstGeom prst="rect">
            <a:avLst/>
          </a:prstGeom>
          <a:solidFill>
            <a:schemeClr val="bg1"/>
          </a:solidFill>
          <a:ln w="12700">
            <a:solidFill>
              <a:schemeClr val="tx1"/>
            </a:solidFill>
            <a:prstDash val="solid"/>
          </a:ln>
        </p:spPr>
      </p:sp>
      <p:sp>
        <p:nvSpPr>
          <p:cNvPr id="14" name="Text 12"/>
          <p:cNvSpPr txBox="1"/>
          <p:nvPr/>
        </p:nvSpPr>
        <p:spPr>
          <a:xfrm>
            <a:off x="7269480" y="3712464"/>
            <a:ext cx="2743200" cy="621792"/>
          </a:xfrm>
          <a:prstGeom prst="rect">
            <a:avLst/>
          </a:prstGeom>
          <a:noFill/>
          <a:ln/>
        </p:spPr>
        <p:txBody>
          <a:bodyPr wrap="square" lIns="0" tIns="0" rIns="0" bIns="0" rtlCol="0" anchor="ctr"/>
          <a:lstStyle/>
          <a:p>
            <a:pPr indent="0" marL="0">
              <a:buNone/>
            </a:pPr>
            <a:r>
              <a:rPr lang="en-US" sz="1700" dirty="0">
                <a:solidFill>
                  <a:schemeClr val="tx1"/>
                </a:solidFill>
              </a:rPr>
              <a:t>IOD</a:t>
            </a:r>
            <a:endParaRPr lang="en-US" sz="1700" dirty="0"/>
          </a:p>
        </p:txBody>
      </p:sp>
      <p:sp>
        <p:nvSpPr>
          <p:cNvPr id="15" name="Shape 13"/>
          <p:cNvSpPr/>
          <p:nvPr/>
        </p:nvSpPr>
        <p:spPr>
          <a:xfrm>
            <a:off x="8641080" y="4370832"/>
            <a:ext cx="0" cy="292608"/>
          </a:xfrm>
          <a:prstGeom prst="line">
            <a:avLst/>
          </a:prstGeom>
          <a:noFill/>
          <a:ln w="12700">
            <a:solidFill>
              <a:schemeClr val="tx1"/>
            </a:solidFill>
            <a:prstDash val="solid"/>
            <a:tailEnd type="triangle"/>
          </a:ln>
        </p:spPr>
      </p:sp>
      <p:sp>
        <p:nvSpPr>
          <p:cNvPr id="16" name="Product family"/>
          <p:cNvSpPr/>
          <p:nvPr/>
        </p:nvSpPr>
        <p:spPr>
          <a:xfrm>
            <a:off x="7086600" y="4700016"/>
            <a:ext cx="3108960" cy="621792"/>
          </a:xfrm>
          <a:prstGeom prst="rect">
            <a:avLst/>
          </a:prstGeom>
          <a:solidFill>
            <a:schemeClr val="bg1"/>
          </a:solidFill>
          <a:ln w="12700">
            <a:solidFill>
              <a:schemeClr val="tx1"/>
            </a:solidFill>
            <a:prstDash val="solid"/>
          </a:ln>
        </p:spPr>
      </p:sp>
      <p:sp>
        <p:nvSpPr>
          <p:cNvPr id="17" name="Text 15"/>
          <p:cNvSpPr txBox="1"/>
          <p:nvPr/>
        </p:nvSpPr>
        <p:spPr>
          <a:xfrm>
            <a:off x="7269480" y="4700016"/>
            <a:ext cx="2743200" cy="621792"/>
          </a:xfrm>
          <a:prstGeom prst="rect">
            <a:avLst/>
          </a:prstGeom>
          <a:noFill/>
          <a:ln/>
        </p:spPr>
        <p:txBody>
          <a:bodyPr wrap="square" lIns="0" tIns="0" rIns="0" bIns="0" rtlCol="0" anchor="ctr"/>
          <a:lstStyle/>
          <a:p>
            <a:pPr indent="0" marL="0">
              <a:buNone/>
            </a:pPr>
            <a:r>
              <a:rPr lang="en-US" sz="1700" dirty="0">
                <a:solidFill>
                  <a:schemeClr val="tx1"/>
                </a:solidFill>
              </a:rPr>
              <a:t>Product family</a:t>
            </a:r>
            <a:endParaRPr lang="en-US" sz="1700" dirty="0"/>
          </a:p>
        </p:txBody>
      </p:sp>
      <p:sp>
        <p:nvSpPr>
          <p:cNvPr id="25" name="Slide Number Placeholder 0"/>
          <p:cNvSpPr>
            <a:spLocks noGrp="1"/>
          </p:cNvSpPr>
          <p:nvPr>
            <p:ph type="sldNum" sz="quarter" idx="4294967295"/>
          </p:nvPr>
        </p:nvSpPr>
        <p:spPr>
          <a:xfrm>
            <a:off x="11064240"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B76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731520"/>
            <a:ext cx="8229600" cy="320040"/>
          </a:xfrm>
          <a:prstGeom prst="rect">
            <a:avLst/>
          </a:prstGeom>
          <a:noFill/>
          <a:ln/>
        </p:spPr>
        <p:txBody>
          <a:bodyPr wrap="square" lIns="0" tIns="0" rIns="0" bIns="0" rtlCol="0"/>
          <a:lstStyle/>
          <a:p>
            <a:pPr indent="0" marL="0">
              <a:buNone/>
            </a:pPr>
            <a:r>
              <a:rPr lang="en-US" sz="1400" dirty="0">
                <a:solidFill>
                  <a:schemeClr val="accent6"/>
                </a:solidFill>
              </a:rPr>
              <a:t>Closing question</a:t>
            </a:r>
            <a:endParaRPr lang="en-US" sz="1400" dirty="0"/>
          </a:p>
        </p:txBody>
      </p:sp>
      <p:sp>
        <p:nvSpPr>
          <p:cNvPr id="3" name="Text 0"/>
          <p:cNvSpPr/>
          <p:nvPr>
            <p:ph idx="101" type="title" hasCustomPrompt="1"/>
          </p:nvPr>
        </p:nvSpPr>
        <p:spPr>
          <a:xfrm>
            <a:off x="548640" y="1097280"/>
            <a:ext cx="10607040" cy="1234440"/>
          </a:xfrm>
          <a:prstGeom prst="rect">
            <a:avLst/>
          </a:prstGeom>
          <a:noFill/>
          <a:ln/>
        </p:spPr>
        <p:txBody>
          <a:bodyPr wrap="square" lIns="0" tIns="0" rIns="0" bIns="0" rtlCol="0" anchor="t"/>
          <a:lstStyle/>
          <a:p>
            <a:pPr algn="l" indent="0" marL="0">
              <a:buNone/>
            </a:pPr>
            <a:r>
              <a:rPr lang="en-US" sz="4000" b="1" dirty="0">
                <a:solidFill>
                  <a:schemeClr val="bg1"/>
                </a:solidFill>
              </a:rPr>
              <a:t>What would make our Phase 2 result most useful from ClearSpace's perspective?</a:t>
            </a:r>
            <a:endParaRPr lang="en-US" sz="4000" dirty="0"/>
          </a:p>
        </p:txBody>
      </p:sp>
      <p:sp>
        <p:nvSpPr>
          <p:cNvPr id="4" name="Text 0"/>
          <p:cNvSpPr/>
          <p:nvPr>
            <p:ph idx="102" type="body" hasCustomPrompt="1"/>
          </p:nvPr>
        </p:nvSpPr>
        <p:spPr>
          <a:xfrm>
            <a:off x="548640" y="2697480"/>
            <a:ext cx="9601200" cy="548640"/>
          </a:xfrm>
          <a:prstGeom prst="rect">
            <a:avLst/>
          </a:prstGeom>
          <a:noFill/>
          <a:ln/>
        </p:spPr>
        <p:txBody>
          <a:bodyPr wrap="square" lIns="0" tIns="0" rIns="0" bIns="0" rtlCol="0" anchor="t"/>
          <a:lstStyle/>
          <a:p>
            <a:pPr algn="l" indent="0" marL="0">
              <a:buNone/>
            </a:pPr>
            <a:r>
              <a:rPr lang="en-US" sz="2000" dirty="0">
                <a:solidFill>
                  <a:schemeClr val="bg2"/>
                </a:solidFill>
              </a:rPr>
              <a:t>Should we prioritise:</a:t>
            </a:r>
            <a:endParaRPr lang="en-US" sz="2000" dirty="0"/>
          </a:p>
        </p:txBody>
      </p:sp>
      <p:sp>
        <p:nvSpPr>
          <p:cNvPr id="5" name="Text 3"/>
          <p:cNvSpPr txBox="1"/>
          <p:nvPr/>
        </p:nvSpPr>
        <p:spPr>
          <a:xfrm>
            <a:off x="548640" y="3337560"/>
            <a:ext cx="9601200" cy="2286000"/>
          </a:xfrm>
          <a:prstGeom prst="rect">
            <a:avLst/>
          </a:prstGeom>
          <a:noFill/>
          <a:ln/>
        </p:spPr>
        <p:txBody>
          <a:bodyPr wrap="square" lIns="0" tIns="0" rIns="0" bIns="0" rtlCol="0" anchor="t"/>
          <a:lstStyle/>
          <a:p>
            <a:pPr marL="279400" indent="-279400">
              <a:spcAft>
                <a:spcPts val="1200"/>
              </a:spcAft>
              <a:buSzPct val="100000"/>
              <a:buFont typeface="+mj-lt"/>
              <a:buAutoNum type="arabicPeriod" startAt="1"/>
            </a:pPr>
            <a:r>
              <a:rPr lang="en-US" sz="2100" dirty="0">
                <a:solidFill>
                  <a:schemeClr val="bg1"/>
                </a:solidFill>
              </a:rPr>
              <a:t>RPO Monte-Carlo / non-cooperative servicing analysis</a:t>
            </a:r>
            <a:endParaRPr lang="en-US" sz="2100" dirty="0"/>
          </a:p>
          <a:p>
            <a:pPr marL="279400" indent="-279400">
              <a:spcAft>
                <a:spcPts val="1200"/>
              </a:spcAft>
              <a:buSzPct val="100000"/>
              <a:buFont typeface="+mj-lt"/>
              <a:buAutoNum type="arabicPeriod" startAt="1"/>
            </a:pPr>
            <a:r>
              <a:rPr lang="en-US" sz="2100" dirty="0">
                <a:solidFill>
                  <a:schemeClr val="bg1"/>
                </a:solidFill>
              </a:rPr>
              <a:t>Service Beacon + IOS mode concept</a:t>
            </a:r>
            <a:endParaRPr lang="en-US" sz="2100" dirty="0"/>
          </a:p>
          <a:p>
            <a:pPr marL="279400" indent="-279400">
              <a:spcAft>
                <a:spcPts val="1200"/>
              </a:spcAft>
              <a:buSzPct val="100000"/>
              <a:buFont typeface="+mj-lt"/>
              <a:buAutoNum type="arabicPeriod" startAt="1"/>
            </a:pPr>
            <a:r>
              <a:rPr lang="en-US" sz="2100" dirty="0">
                <a:solidFill>
                  <a:schemeClr val="bg1"/>
                </a:solidFill>
              </a:rPr>
              <a:t>OSAN / future service-zone architecture</a:t>
            </a:r>
            <a:endParaRPr lang="en-US" sz="2100" dirty="0"/>
          </a:p>
          <a:p>
            <a:pPr marL="279400" indent="-279400">
              <a:spcAft>
                <a:spcPts val="1200"/>
              </a:spcAft>
              <a:buSzPct val="100000"/>
              <a:buFont typeface="+mj-lt"/>
              <a:buAutoNum type="arabicPeriod" startAt="1"/>
            </a:pPr>
            <a:r>
              <a:rPr lang="en-US" sz="2100" dirty="0">
                <a:solidFill>
                  <a:schemeClr val="bg1"/>
                </a:solidFill>
              </a:rPr>
              <a:t>Product-family and market roadmap</a:t>
            </a:r>
            <a:endParaRPr lang="en-US" sz="2100" dirty="0"/>
          </a:p>
        </p:txBody>
      </p:sp>
      <p:sp>
        <p:nvSpPr>
          <p:cNvPr id="6" name="Text 4"/>
          <p:cNvSpPr txBox="1"/>
          <p:nvPr/>
        </p:nvSpPr>
        <p:spPr>
          <a:xfrm>
            <a:off x="548640" y="5806440"/>
            <a:ext cx="7315200" cy="365760"/>
          </a:xfrm>
          <a:prstGeom prst="rect">
            <a:avLst/>
          </a:prstGeom>
          <a:noFill/>
          <a:ln/>
        </p:spPr>
        <p:txBody>
          <a:bodyPr wrap="square" lIns="0" tIns="0" rIns="0" bIns="0" rtlCol="0" anchor="t"/>
          <a:lstStyle/>
          <a:p>
            <a:pPr indent="0" marL="0">
              <a:buNone/>
            </a:pPr>
            <a:r>
              <a:rPr lang="en-US" sz="1600" i="1" dirty="0">
                <a:solidFill>
                  <a:schemeClr val="accent6"/>
                </a:solidFill>
              </a:rPr>
              <a:t>Thank you – we look forward to your feedback.</a:t>
            </a:r>
            <a:endParaRPr lang="en-US" sz="1600" dirty="0"/>
          </a:p>
        </p:txBody>
      </p:sp>
    </p:spTree>
  </p:cSld>
  <p:clrMapOvr>
    <a:masterClrMapping/>
  </p:clrMapOvr>
</p:sld>
</file>

<file path=ppt/theme/theme1.xml><?xml version="1.0" encoding="utf-8"?>
<a:theme xmlns:a="http://schemas.openxmlformats.org/drawingml/2006/main" name="ClearSpace Discussion">
  <a:themeElements>
    <a:clrScheme name="ClearSpace Discussion">
      <a:dk1>
        <a:srgbClr val="0B1F3A"/>
      </a:dk1>
      <a:lt1>
        <a:srgbClr val="FFFFFF"/>
      </a:lt1>
      <a:dk2>
        <a:srgbClr val="3B4656"/>
      </a:dk2>
      <a:lt2>
        <a:srgbClr val="F2F4F7"/>
      </a:lt2>
      <a:accent1>
        <a:srgbClr val="E3A13B"/>
      </a:accent1>
      <a:accent2>
        <a:srgbClr val="1F7A8C"/>
      </a:accent2>
      <a:accent3>
        <a:srgbClr val="6B7686"/>
      </a:accent3>
      <a:accent4>
        <a:srgbClr val="B42318"/>
      </a:accent4>
      <a:accent5>
        <a:srgbClr val="2E7D5B"/>
      </a:accent5>
      <a:accent6>
        <a:srgbClr val="A7B0BE"/>
      </a:accent6>
      <a:hlink>
        <a:srgbClr val="1F7A8C"/>
      </a:hlink>
      <a:folHlink>
        <a:srgbClr val="6B7686"/>
      </a:folHlink>
    </a:clrScheme>
    <a:fontScheme name="ClearSpace Discuss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 Discussion with ClearSpace</dc:title>
  <dc:subject>PptxGenJS Presentation</dc:subject>
  <dc:creator>PptxGenJS</dc:creator>
  <cp:lastModifiedBy>PptxGenJS</cp:lastModifiedBy>
  <cp:revision>1</cp:revision>
  <dcterms:created xsi:type="dcterms:W3CDTF">2026-10-13T06:56:21Z</dcterms:created>
  <dcterms:modified xsi:type="dcterms:W3CDTF">2026-10-13T06:56:21Z</dcterms:modified>
</cp:coreProperties>
</file>