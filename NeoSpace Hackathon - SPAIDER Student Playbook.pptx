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9"/>
  </p:notesMasterIdLst>
  <p:sldIdLst>
    <p:sldId id="256" r:id="rId2"/>
    <p:sldId id="257" r:id="rId3"/>
    <p:sldId id="258" r:id="rId4"/>
    <p:sldId id="259" r:id="rId5"/>
    <p:sldId id="260" r:id="rId6"/>
    <p:sldId id="261" r:id="rId7"/>
    <p:sldId id="262" r:id="rId8"/>
    <p:sldId id="308" r:id="rId9"/>
    <p:sldId id="310" r:id="rId10"/>
    <p:sldId id="311" r:id="rId11"/>
    <p:sldId id="263" r:id="rId12"/>
    <p:sldId id="306" r:id="rId13"/>
    <p:sldId id="264" r:id="rId14"/>
    <p:sldId id="307" r:id="rId15"/>
    <p:sldId id="265" r:id="rId16"/>
    <p:sldId id="266" r:id="rId17"/>
    <p:sldId id="267" r:id="rId18"/>
    <p:sldId id="309" r:id="rId19"/>
    <p:sldId id="268" r:id="rId20"/>
    <p:sldId id="269" r:id="rId21"/>
    <p:sldId id="270" r:id="rId22"/>
    <p:sldId id="271" r:id="rId23"/>
    <p:sldId id="272" r:id="rId24"/>
    <p:sldId id="273" r:id="rId25"/>
    <p:sldId id="274" r:id="rId26"/>
    <p:sldId id="277" r:id="rId27"/>
    <p:sldId id="275" r:id="rId28"/>
    <p:sldId id="276" r:id="rId29"/>
    <p:sldId id="278" r:id="rId30"/>
    <p:sldId id="279" r:id="rId31"/>
    <p:sldId id="280" r:id="rId32"/>
    <p:sldId id="281" r:id="rId33"/>
    <p:sldId id="282" r:id="rId34"/>
    <p:sldId id="312" r:id="rId35"/>
    <p:sldId id="313"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300" r:id="rId53"/>
    <p:sldId id="301" r:id="rId54"/>
    <p:sldId id="302" r:id="rId55"/>
    <p:sldId id="303" r:id="rId56"/>
    <p:sldId id="304" r:id="rId57"/>
    <p:sldId id="305" r:id="rId58"/>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04"/>
    <p:restoredTop sz="94085"/>
  </p:normalViewPr>
  <p:slideViewPr>
    <p:cSldViewPr snapToGrid="0">
      <p:cViewPr varScale="1">
        <p:scale>
          <a:sx n="144" d="100"/>
          <a:sy n="144" d="100"/>
        </p:scale>
        <p:origin x="24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playbook supports three working sessions of three hours each. Start with the challenge brief and your initial concept. Develop a solution that explains how the system operates, why customers would use it and how the team could implement it. Technology, regulation and business remain connected throughout the work. Each session ends with an expert review. The final outputs are a 10–15-page Technology Business Proposal and a pitch based on the same agreed solution. The appendix contains detailed steps and example prompts for use during the challenge.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guide covers the working approach, the SPAIDER tools and the three successive sessions. Each session has a process overview and a set of deliverables for expert feedback. The proposal and delivery section brings the work into one document and a pitch. Detailed process steps and prompt examples remain in the appendix. Use the prompts as starting points and adapt them to your concept, constraints and open questions. Regular team discussion is part of every stage.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challenge develops one solution through three sessions. Understand the expected outputs and how team discussion, agents and expert feedback support the work. Technology, regulation and business stay connected throughout.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Team members can investigate technology, regulation and business together or divide those areas among themselves. In either arrangement, use the Knowledge Agent with at least one teammate and discuss the findings before accepting a conclusion. Keep agreed results in one shared Project so that the whole team can review them. Separate conversations may explore different questions, so bring important decisions back into the common working record. People remain responsible for choosing between alternatives, checking assumptions and deciding what the solution should do.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Session 1 develops the initial concept into an operating scenario and system sketch, supported by early patent and market research. Session 2 uses expert feedback to refine the architecture, establish a working business model and clarify the regulatory approach by the sixth working hour. Session 3 continues to resolve open issues while Sagan helps develop the proposal, R&amp;D plan and budget. Expert feedback follows each session. Update the same solution and working document throughout, rather than treating the reviews as separate exercises.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platform supports research, shared work and proposal development. Libraries provide research material, the Knowledge Agent helps investigate questions and Projects </a:t>
            </a:r>
            <a:r>
              <a:rPr dirty="0" err="1"/>
              <a:t>organise</a:t>
            </a:r>
            <a:r>
              <a:rPr dirty="0"/>
              <a:t> team work. Sagan supports proposal development in Session 3. The team reviews and agrees the outputs throughout.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After logging in, identify the main areas of the workspace and confirm the team can access the platform. Understand where to find Libraries, Projects and the agent tools used in the challenge. Establish a shared place for the team to keep its work and confirm who will coordinate the common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Libraries bring together the source material for a challenge. Existing collections can support technical, regulatory and business research, while additional papers or documents can fill gaps. Read enough of the material to understand its relevance and limits. Compare the evidence with the assumptions in your concept. SPAIDER provides citations automatically, so example prompts can focus on the research question. Discuss uncertain or conflicting findings with teammates and record their implications for the solution.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B5527-84C1-DE94-B9E6-91037A31AF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2C116D-1F31-C4B6-AF16-72CDA8CF38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FB37F3-DFCC-9A0A-CDCE-50F36AC5BC44}"/>
              </a:ext>
            </a:extLst>
          </p:cNvPr>
          <p:cNvSpPr>
            <a:spLocks noGrp="1"/>
          </p:cNvSpPr>
          <p:nvPr>
            <p:ph type="body" idx="1"/>
          </p:nvPr>
        </p:nvSpPr>
        <p:spPr/>
        <p:txBody>
          <a:bodyPr/>
          <a:lstStyle/>
          <a:p>
            <a:r>
              <a:rPr dirty="0"/>
              <a:t>Existing challenge Libraries provide a starting point for research. Review what material is available and how it relates to the questions your team needs to answer. Additional documents can help fill specific gaps. The interface handles library selection, allowing prompts to focus on the research question.</a:t>
            </a:r>
          </a:p>
        </p:txBody>
      </p:sp>
      <p:sp>
        <p:nvSpPr>
          <p:cNvPr id="4" name="Slide Number Placeholder 3">
            <a:extLst>
              <a:ext uri="{FF2B5EF4-FFF2-40B4-BE49-F238E27FC236}">
                <a16:creationId xmlns:a16="http://schemas.microsoft.com/office/drawing/2014/main" id="{196EBB2D-F207-372F-5D6C-44B8E82FB7A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296262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Existing challenge Libraries provide a starting point for research. Review what material is available and how it relates to the questions your team needs to answer. Additional documents can help fill specific gaps. The interface handles library selection, allowing prompts to focus on the research question.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Use the Knowledge Agent to investigate focused questions about the concept, architecture, requirements or market. Give it the scenario, the decision you need to make and the constraints that matter. Ask follow-up questions when the answer is too broad or leaves an assumption unexplained. Existing Libraries and additional research through </a:t>
            </a:r>
            <a:r>
              <a:rPr dirty="0" err="1"/>
              <a:t>arXiv</a:t>
            </a:r>
            <a:r>
              <a:rPr dirty="0"/>
              <a:t> or Web search can help fill information gaps. Work through answers with a teammate and agree what they mean for your design. The agent supports the team's reasoning and does not make the final decision.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Use one shared Project to </a:t>
            </a:r>
            <a:r>
              <a:rPr dirty="0" err="1"/>
              <a:t>organise</a:t>
            </a:r>
            <a:r>
              <a:rPr dirty="0"/>
              <a:t> the team's challenge work. Add teammates so they can access and review the work, and confirm that everyone can find the relevant conversations, files and agreed outputs. Keep working notes and checkpoint summaries </a:t>
            </a:r>
            <a:r>
              <a:rPr dirty="0" err="1"/>
              <a:t>organised</a:t>
            </a:r>
            <a:r>
              <a:rPr dirty="0"/>
              <a:t> around the same solution. Teams can split research responsibilities, but should bring important findings and decisions back together. A shared workspace helps expose contradictions between technical choices, regulatory constraints and the business model before they enter the proposal.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Create a shared Project for the challenge and add teammates. Confirm that everyone can access the relevant work and find the shared files and conversations. Agree how to </a:t>
            </a:r>
            <a:r>
              <a:rPr dirty="0" err="1"/>
              <a:t>organise</a:t>
            </a:r>
            <a:r>
              <a:rPr dirty="0"/>
              <a:t> research and record decisions. Bring findings from separate investigations back into the common working record before each checkpoint.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Develop the initial idea into a concept that the team can explain through operating scenarios and a system sketch. Use early patent and market research to inform the design. Identify initial regulatory constraints and customer value, then prepare questions for the first expert review.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Begin with a common understanding of the problem and the intended user. Develop normal and disrupted operating scenarios, then identify the main components and connections. Start patent and market research as soon as the concept is specific enough to compare with existing work. IPIL support and </a:t>
            </a:r>
            <a:r>
              <a:rPr dirty="0" err="1"/>
              <a:t>Espacenet</a:t>
            </a:r>
            <a:r>
              <a:rPr dirty="0"/>
              <a:t> can inform that comparison. Keep technology as the main focus while also identifying possible customers and regulatory constraints. By the end, agree Concept V1, a system sketch and the main questions for expert feedback.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Prepare a short checkpoint summary that answers the five questions on this slide. Show the problem, main components and operating scenarios using a sketch where useful. Explain what the initial research changed in your thinking, including relevant existing offers or prior art. Identify likely regulatory questions and the customer or buyer you currently have in mind. Distinguish agreed choices from assumptions. Ask experts about the decisions that would most affect the next version of the concept, then record the feedback and next actions.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Use the first review to refine the technical solution and investigate the requirements that affect it. Develop a working business model by the sixth working hour. Bring the three workstreams together in Solution V2 and prepare the second expert checkpoint.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Start by deciding how to respond to the first expert review. Refine the product features, interfaces, deployment and failure handling. Investigate the requirements that could change design or operations and relate patent findings to the proposed solution. Develop the business model alongside these choices, including the buyer, value, revenue logic, main costs and delivery needs. By the sixth working hour, the team should have an integrated Solution V2, a working business model and a clearer regulatory approach. Record unresolved issues for the next review.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second checkpoint should explain how the solution improved after feedback and why the current design is credible. Connect requirements to specific design or operating choices. Explain the business model in enough detail to identify who pays, what they receive and what it takes to deliver the offer. Highlight important cost assumptions, partner needs and feasibility tests. Experts should be able to see where technology, regulation and business support one another and where uncertainty remains. Record the changes and investigations needed in Session 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Use Sagan to develop the proposal from the agreed work. Continue to refine technology, regulation and business as gaps emerge during writing. Define the R&amp;D activities, milestones and use of funds. Review the proposal and pitch together and incorporate final expert feedback.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Use the second expert review to update the solution before drafting. Ground the proposal in the agreed work, refine remaining choices and identify capability gaps. Build the R&amp;D plan and budget, then draft and assemble the three proposal sections. Writing can reveal contradictions or missing evidence, so continue to refine technology, regulation and business throughout the session. Finish with a consistency review and prepare pitch material from the same agreed solution. The final expert review can still lead to revisions before submission.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Sagan supports proposal development using the work the team has already agreed. Ground the document in the concept, expert feedback and the proposal structure. Refine unresolved technical, business or regulatory points before and during drafting. Develop the work plan, schedule and funding needs, then assemble the sections into a consistent document. Review every generated section as a team. Check that the proposed activities and budget match the solution you intend to build and that assumptions remain visible.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Bring the agreed solution, proposal template and expert feedback into the proposal-development work. Use Sagan to </a:t>
            </a:r>
            <a:r>
              <a:rPr dirty="0" err="1"/>
              <a:t>organise</a:t>
            </a:r>
            <a:r>
              <a:rPr dirty="0"/>
              <a:t> the structure, refine the solution, plan implementation and draft sections. The team reviews the content at every stage and resolves gaps as they emerge. Keep the document consistent with the architecture, business model and funding plan.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third checkpoint tests whether the proposal describes one coherent solution and a credible route to implementation. Explain the refinements across all three workstreams, the customer offer and revenue logic, and the work needed to develop the solution. Show how milestones, partner roles and requested funds connect to that work. Identify remaining risks and immediate next steps. Bring a proposal draft and pitch material so experts can give actionable feedback. Record the changes required before the final submission.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final document has three main sections within a 10–15-page limit. It describes the solution, its business model and the plan to develop it. Use expert feedback to improve both the proposal and pitch before submission.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Use three main sections for the complete Technology Business Proposal. A suggested allocation is five pages for Technology, three for Business Model and four for Implementation Plan. Keep the full document within 10–15 pages, including figures, references and project details. Technology explains the problem, operating scenarios, architecture, feasibility, maturity, prior art and regulatory approach. Business Model explains the market, customer value, offer, revenue, costs and assumptions. Implementation Plan explains the R&amp;D work, milestones, validation, resources, budget, use of funds, team, partners, risks and next steps. Adjust the allocation to the solution while keeping all these topics covered.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After every working session, share the checkpoint summary and the most important open decisions with experts. Record each material comment, the team's response and an owner for the next action. A comment may require a design change, further research or a clearer explanation. Consider its effects on technology, regulation and business together. Update the common working document before the next checkpoint or proposal draft. Keep enough of the reasoning to explain why the solution changed and which questions remain open.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proposal and pitch describe the same agreed solution. Keep the proposal within 10–15 pages, including figures, references and project details. Use its strongest material to explain the problem, proposed solution, business case and implementation needs in the pitch. The discussed pitch format is five minutes of presentation followed by five minutes of questions. Follow the confirmed event timetable for final submission and other presentations. The OSIP-compatible structure provides a useful reference format. The hackathon does not require submission to ESA or imply an ESA follow-up.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10D46-87DD-48BB-634A-5519DE85A2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D43652-480F-2B49-DC83-77A86C34D4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69800C-E8AF-B72E-EAE9-9DFD06E10263}"/>
              </a:ext>
            </a:extLst>
          </p:cNvPr>
          <p:cNvSpPr>
            <a:spLocks noGrp="1"/>
          </p:cNvSpPr>
          <p:nvPr>
            <p:ph type="body" idx="1"/>
          </p:nvPr>
        </p:nvSpPr>
        <p:spPr/>
        <p:txBody>
          <a:bodyPr/>
          <a:lstStyle/>
          <a:p>
            <a:r>
              <a:rPr dirty="0"/>
              <a:t>The challenge develops one solution through three sessions. Understand the expected outputs and how team discussion, agents and expert feedback support the work. Technology, regulation and business stay connected throughout.</a:t>
            </a:r>
          </a:p>
        </p:txBody>
      </p:sp>
      <p:sp>
        <p:nvSpPr>
          <p:cNvPr id="4" name="Slide Number Placeholder 3">
            <a:extLst>
              <a:ext uri="{FF2B5EF4-FFF2-40B4-BE49-F238E27FC236}">
                <a16:creationId xmlns:a16="http://schemas.microsoft.com/office/drawing/2014/main" id="{01AF6A23-88F1-9AF9-175A-F15B8C1101CB}"/>
              </a:ext>
            </a:extLst>
          </p:cNvPr>
          <p:cNvSpPr>
            <a:spLocks noGrp="1"/>
          </p:cNvSpPr>
          <p:nvPr>
            <p:ph type="sldNum" idx="5"/>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ndParaRPr>
          </a:p>
        </p:txBody>
      </p:sp>
    </p:spTree>
    <p:extLst>
      <p:ext uri="{BB962C8B-B14F-4D97-AF65-F5344CB8AC3E}">
        <p14:creationId xmlns:p14="http://schemas.microsoft.com/office/powerpoint/2010/main" val="29536897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reference section expands the steps in the three working sessions. It includes the Mission Memory example, the progression of the three workstreams and prompts that can help start or refine a conversation. Use the relevant step when the team needs more structure. The examples are adaptable guides. Discuss answers together, agree the decisions that matter and keep the shared Project up to date.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Agree the user, the problem and the scope before developing detailed architecture. Use the challenge brief and initial concept to identify what the solution needs to achieve. Separate facts from assumptions and record the questions that could change the concept. Set up the shared Project so the whole team can review the working record. The output of this step is a concise problem statement and an initial assumptions list. The example prompt can help structure the discussion, but the team should agree the wording and priorities.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Concept of Operations, or ConOps, explains how people and the system interact in use. Describe a normal scenario and a disrupted scenario. Identify the actors, their actions, the system's responses and the states it moves through. Make clear what sits inside the solution and what depends on external services or organisations. Use these scenarios to test whether the concept is understandable and complete enough to sketch. Keep the description concrete enough to identify components, interfaces and human decisions.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Begin patent and market research early enough to influence the concept. Use IPIL support and Espacenet to investigate related patents, and examine products, companies and other approaches that address the same need. Compare their functions and limitations with your intended solution. Identify possible partners and capabilities you may need. Prior art can change the design or narrow the claim of novelty. Treat the search as an initial landscape review and record questions that need further specialist investigation.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Turn the operating scenarios into an initial architecture. Identify each main component, the information it receives and produces, and how it connects to other parts. Explain where software or agents would run and what requires human approval. For an AI-based concept, distinguish the agent's role from the model and memory services it uses. Relate these design choices to user value, operational limits and initial regulatory constraints. Discuss together or assign research roles, then agree one system sketch.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Consolidate the team's agreed concept before the first expert review. Combine the problem statement, operating scenarios, architecture sketch and initial research into a short common summary. Highlight the decisions already made and the assumptions that still need testing. Check that the team describes the same solution across all workstreams. Prepare specific questions where expert advice could change the design or direction. Keep the summary in the shared Project so the next session begins with a clear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Review expert feedback together and decide what action each comment requires. Some comments will change the solution directly, while others will lead to research or a test. Assign an owner and describe the result needed to close each action. Consider whether a change in one area affects another, such as a deployment choice that changes regulatory obligations or cost. Update the concept and the common record before developing further detail.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Refine the initial sketch into an architecture with defined functions and interfaces. Explain the core product features and the requirements they satisfy. Specify deployment, information flows, dependencies and authority over important actions. Describe what happens when a component fails or a service is unavailable. Use concrete operating scenarios to check the design. The result should let another reader understand how the parts work together and what still needs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Relate regulatory and standards questions to the actual activity, operating location and organisations involved. Map relevant requirements to design or operational choices, then identify gaps and questions for experts. Revisit patent findings as the solution becomes more specific and explain how they affect differentiation or implementation. Separate established requirements from interpretations that still need confirmation. The output is a requirements map and an initial position on prior art and IP, with clear implications for the design.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Define who buys the solution, who uses it and what value each receives. Explain the offer, delivery model and revenue logic. Identify the main costs, resources and external capabilities required. State the assumptions behind estimates and select a practical test for the assumption most likely to change the business case. Check that technical performance and the regulatory approach support what you intend to sell. Record a working business model and the next validation needs.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Bring the technical architecture, regulatory approach and business model into one version of the solution. Look for inconsistencies in scope, performance, customer expectations, costs and responsibilities. Resolve what you can and make remaining gaps explicit. Update the shared document and prepare the second checkpoint summary. Explain what changed after the first review and which decisions now need expert input. This integrated Solution V2 becomes the starting material for proposal development.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second expert review and the proposal template to organise the agreed work. Map existing material into Technology, Business Model and Implementation Plan. Identify missing evidence, unresolved decisions and follow-up actions. Keep the proposal grounded in what the team actually intends to deliver. Sagan can help organise the document, but the team should confirm the structure and the facts before developing full sections.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Continue to refine the solution while the proposal takes shape. Resolve open technical, commercial and regulatory questions and make the chosen approach consistent across sections. Check whether the team has the capabilities to carry out the plan. Identify what must come from partners, suppliers or external facilities. Explain the effect of these dependencies on delivery, cost and risk. Keep unresolved points visible and assign the next action needed to address them.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Define the R&amp;D activities needed to move from the current maturity to the intended next stage. Use work packages with clear outputs, milestones and validation criteria. Explain the current and target TRL where relevant and connect progress to evidence from planned tests. Estimate the people, facilities and other resources required. Build a budget that follows the work and explains how the requested funds will be used. State the basis of estimates and any important dependencies.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Draft the three main proposal sections using the agreed solution and template. Keep technical descriptions, the business model and the implementation plan consistent with one another. Explain the evidence behind important claims and leave uncertain points explicit. Use diagrams or tables where they communicate more clearly than text. Review generated content together and revise it where the team's reasoning is missing. Keep the complete document within the overall 10–15-page limit.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assembled proposal as one document. Check that the same scope, terminology and assumptions appear throughout, that milestones match the work and that the budget totals and funding needs agree. Resolve contradictions or identify them as open issues with next actions. Select the strongest material for the pitch and prepare for likely questions. After the final expert review, update both outputs so the document and presentation continue to describe the same solution.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three workstreams begin in Session 1. Technology receives the strongest initial emphasis as the team clarifies the concept and architecture, while regulatory and business questions already constrain the design. Session 2 deepens the regulatory approach and establishes a working business model alongside technical refinement. Session 3 brings all three to the level needed for a proposal and execution plan. The emphasis labels describe relative focus, not a rule to postpone work on any dimension.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useful prompt gives enough context to understand the challenge, states the question and defines relevant constraints and the requested output. Replace bracketed fields with details from your team's work. Ask for assumptions to be visible so you can discuss them. SPAIDER provides citations automatically and library selection takes place in the interface, so prompts can concentrate on the question and reasoning. Read the answer together, decide what is useful and ask a more specific follow-up where needed.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prompts correspond to steps 1A–1E. Adapt them to the challenge and concept rather than copying them unchanged. Begin with the problem and operating scenarios, compare existing approaches early, then describe the initial architecture and prepare the checkpoint. Use the Knowledge Agent with a teammate and discuss the results. Record the team's agreed decisions in the shared Project. Prompts support this work, while the team decides what to retain.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prompts support steps 2A–2E. Bring in expert feedback and the current solution, then ask focused questions about architecture, applicable requirements, prior art and the business model. Check the implications across workstreams before consolidating Solution V2. Follow-up questions should address the assumptions or contradictions most likely to change the design. Keep an agreed record of the changes and prepare specific questions for the second expert review.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prompts support Sagan's proposal stages in steps 3A–3E. Start with the agreed solution, feedback and template. Refine open points, develop work packages and funding needs, then draft sections and review the assembled proposal. Continue to investigate issues that emerge while writing. Review the generated material together and keep the final proposal and pitch aligned. The prompts are references that can be adapted to the task at hand.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Follow-up prompts help turn a broad answer into a useful decision. Explore weakly supported claims, compare alternatives under the same constraints and identify a practical validation test. Use summary prompts to consolidate what the team has agreed and what remains open. After expert feedback, investigate the effects across all three workstreams. Keep follow-ups specific to the question being resolved and discuss the answer before updating the shared working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B176B21-0E59-45FB-89FE-58664A367222}"/>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Subtitle">
            <a:extLst>
              <a:ext uri="{FF2B5EF4-FFF2-40B4-BE49-F238E27FC236}">
                <a16:creationId xmlns:a16="http://schemas.microsoft.com/office/drawing/2014/main" id="{5892F3AE-3FC2-4334-B2D1-19B3219AF079}"/>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CE91B690-0ED6-4D40-B8E4-242599E76A0E}"/>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E9CBAE0-814C-43CE-9559-8CB611A7E56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Body">
            <a:extLst>
              <a:ext uri="{FF2B5EF4-FFF2-40B4-BE49-F238E27FC236}">
                <a16:creationId xmlns:a16="http://schemas.microsoft.com/office/drawing/2014/main" id="{C6CF4246-7C50-4BFC-8D23-87BF3D285278}"/>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68E00011-8FF1-44E9-AB44-2A9F54D5490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BC25C56A-F399-4916-8A60-81C7CA33DBEA}"/>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
        <p:nvSpPr>
          <p:cNvPr id="3" name="Right column">
            <a:extLst>
              <a:ext uri="{FF2B5EF4-FFF2-40B4-BE49-F238E27FC236}">
                <a16:creationId xmlns:a16="http://schemas.microsoft.com/office/drawing/2014/main" id="{6BEBE50D-4A3A-4197-92F0-1A516F729595}"/>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76C8B08-B75F-4FDC-8E9C-DEA26750114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938DABA7-EAC6-47E7-95EA-6E3306BAF5B8}"/>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6.xml"/><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41.pn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6.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3.xml"/><Relationship Id="rId1" Type="http://schemas.openxmlformats.org/officeDocument/2006/relationships/slideLayout" Target="../slideLayouts/slideLayout6.xml"/><Relationship Id="rId5" Type="http://schemas.openxmlformats.org/officeDocument/2006/relationships/image" Target="../media/image49.png"/><Relationship Id="rId4" Type="http://schemas.openxmlformats.org/officeDocument/2006/relationships/image" Target="../media/image48.png"/></Relationships>
</file>

<file path=ppt/slides/_rels/slide1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8" Type="http://schemas.openxmlformats.org/officeDocument/2006/relationships/image" Target="../media/image57.jpe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 Id="rId9" Type="http://schemas.openxmlformats.org/officeDocument/2006/relationships/image" Target="../media/image58.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63.png"/><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notesSlide" Target="../notesSlides/notesSlide21.xml"/><Relationship Id="rId1" Type="http://schemas.openxmlformats.org/officeDocument/2006/relationships/slideLayout" Target="../slideLayouts/slideLayout6.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27.xml.rels><?xml version="1.0" encoding="UTF-8" standalone="yes"?>
<Relationships xmlns="http://schemas.openxmlformats.org/package/2006/relationships"><Relationship Id="rId3" Type="http://schemas.openxmlformats.org/officeDocument/2006/relationships/image" Target="../media/image70.png"/><Relationship Id="rId7" Type="http://schemas.openxmlformats.org/officeDocument/2006/relationships/image" Target="../media/image72.png"/><Relationship Id="rId2" Type="http://schemas.openxmlformats.org/officeDocument/2006/relationships/notesSlide" Target="../notesSlides/notesSlide22.xml"/><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67.png"/><Relationship Id="rId4" Type="http://schemas.openxmlformats.org/officeDocument/2006/relationships/image" Target="../media/image71.png"/></Relationships>
</file>

<file path=ppt/slides/_rels/slide2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74.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77.png"/><Relationship Id="rId2" Type="http://schemas.openxmlformats.org/officeDocument/2006/relationships/notesSlide" Target="../notesSlides/notesSlide27.xml"/><Relationship Id="rId1" Type="http://schemas.openxmlformats.org/officeDocument/2006/relationships/slideLayout" Target="../slideLayouts/slideLayout6.xml"/><Relationship Id="rId6" Type="http://schemas.openxmlformats.org/officeDocument/2006/relationships/image" Target="../media/image76.png"/><Relationship Id="rId5" Type="http://schemas.openxmlformats.org/officeDocument/2006/relationships/image" Target="../media/image56.png"/><Relationship Id="rId4" Type="http://schemas.openxmlformats.org/officeDocument/2006/relationships/image" Target="../media/image55.png"/></Relationships>
</file>

<file path=ppt/slides/_rels/slide3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8.xml"/><Relationship Id="rId1" Type="http://schemas.openxmlformats.org/officeDocument/2006/relationships/slideLayout" Target="../slideLayouts/slideLayout6.xml"/><Relationship Id="rId4" Type="http://schemas.openxmlformats.org/officeDocument/2006/relationships/image" Target="../media/image7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hyperlink" Target="mailto:loveneesh.rana@spaiderspace.com" TargetMode="External"/><Relationship Id="rId2" Type="http://schemas.openxmlformats.org/officeDocument/2006/relationships/notesSlide" Target="../notesSlides/notesSlide29.xml"/><Relationship Id="rId1" Type="http://schemas.openxmlformats.org/officeDocument/2006/relationships/slideLayout" Target="../slideLayouts/slideLayout6.xml"/><Relationship Id="rId6" Type="http://schemas.openxmlformats.org/officeDocument/2006/relationships/hyperlink" Target="https://www.spaiderspace.com/" TargetMode="External"/><Relationship Id="rId5" Type="http://schemas.openxmlformats.org/officeDocument/2006/relationships/image" Target="../media/image1.png"/><Relationship Id="rId4" Type="http://schemas.openxmlformats.org/officeDocument/2006/relationships/hyperlink" Target="mailto:info@spaiderspace.com"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1.xml"/><Relationship Id="rId1" Type="http://schemas.openxmlformats.org/officeDocument/2006/relationships/slideLayout" Target="../slideLayouts/slideLayout6.xml"/><Relationship Id="rId5" Type="http://schemas.openxmlformats.org/officeDocument/2006/relationships/image" Target="../media/image81.png"/><Relationship Id="rId4" Type="http://schemas.openxmlformats.org/officeDocument/2006/relationships/image" Target="../media/image11.png"/></Relationships>
</file>

<file path=ppt/slides/_rels/slide3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2.xml"/><Relationship Id="rId1" Type="http://schemas.openxmlformats.org/officeDocument/2006/relationships/slideLayout" Target="../slideLayouts/slideLayout6.xml"/><Relationship Id="rId5" Type="http://schemas.openxmlformats.org/officeDocument/2006/relationships/image" Target="../media/image83.png"/><Relationship Id="rId4" Type="http://schemas.openxmlformats.org/officeDocument/2006/relationships/image" Target="../media/image82.png"/></Relationships>
</file>

<file path=ppt/slides/_rels/slide3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3.xml"/><Relationship Id="rId1" Type="http://schemas.openxmlformats.org/officeDocument/2006/relationships/slideLayout" Target="../slideLayouts/slideLayout6.xml"/><Relationship Id="rId5" Type="http://schemas.openxmlformats.org/officeDocument/2006/relationships/image" Target="../media/image85.png"/><Relationship Id="rId4" Type="http://schemas.openxmlformats.org/officeDocument/2006/relationships/image" Target="../media/image84.png"/></Relationships>
</file>

<file path=ppt/slides/_rels/slide4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4.xml"/><Relationship Id="rId1" Type="http://schemas.openxmlformats.org/officeDocument/2006/relationships/slideLayout" Target="../slideLayouts/slideLayout6.xml"/><Relationship Id="rId5" Type="http://schemas.openxmlformats.org/officeDocument/2006/relationships/image" Target="../media/image87.png"/><Relationship Id="rId4" Type="http://schemas.openxmlformats.org/officeDocument/2006/relationships/image" Target="../media/image86.png"/></Relationships>
</file>

<file path=ppt/slides/_rels/slide4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5.xml"/><Relationship Id="rId1" Type="http://schemas.openxmlformats.org/officeDocument/2006/relationships/slideLayout" Target="../slideLayouts/slideLayout6.xml"/><Relationship Id="rId5" Type="http://schemas.openxmlformats.org/officeDocument/2006/relationships/image" Target="../media/image76.png"/><Relationship Id="rId4" Type="http://schemas.openxmlformats.org/officeDocument/2006/relationships/image" Target="../media/image89.png"/></Relationships>
</file>

<file path=ppt/slides/_rels/slide42.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36.xml"/><Relationship Id="rId1" Type="http://schemas.openxmlformats.org/officeDocument/2006/relationships/slideLayout" Target="../slideLayouts/slideLayout6.xml"/><Relationship Id="rId5" Type="http://schemas.openxmlformats.org/officeDocument/2006/relationships/image" Target="../media/image13.png"/><Relationship Id="rId4" Type="http://schemas.openxmlformats.org/officeDocument/2006/relationships/image" Target="../media/image60.png"/></Relationships>
</file>

<file path=ppt/slides/_rels/slide43.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37.xml"/><Relationship Id="rId1" Type="http://schemas.openxmlformats.org/officeDocument/2006/relationships/slideLayout" Target="../slideLayouts/slideLayout6.xml"/><Relationship Id="rId5" Type="http://schemas.openxmlformats.org/officeDocument/2006/relationships/image" Target="../media/image92.png"/><Relationship Id="rId4" Type="http://schemas.openxmlformats.org/officeDocument/2006/relationships/image" Target="../media/image7.png"/></Relationships>
</file>

<file path=ppt/slides/_rels/slide4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8.xml"/><Relationship Id="rId1" Type="http://schemas.openxmlformats.org/officeDocument/2006/relationships/slideLayout" Target="../slideLayouts/slideLayout6.xml"/><Relationship Id="rId5" Type="http://schemas.openxmlformats.org/officeDocument/2006/relationships/image" Target="../media/image94.png"/><Relationship Id="rId4" Type="http://schemas.openxmlformats.org/officeDocument/2006/relationships/image" Target="../media/image93.png"/></Relationships>
</file>

<file path=ppt/slides/_rels/slide4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9.xml"/><Relationship Id="rId1" Type="http://schemas.openxmlformats.org/officeDocument/2006/relationships/slideLayout" Target="../slideLayouts/slideLayout6.xml"/><Relationship Id="rId5" Type="http://schemas.openxmlformats.org/officeDocument/2006/relationships/image" Target="../media/image96.png"/><Relationship Id="rId4" Type="http://schemas.openxmlformats.org/officeDocument/2006/relationships/image" Target="../media/image95.png"/></Relationships>
</file>

<file path=ppt/slides/_rels/slide46.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40.xml"/><Relationship Id="rId1" Type="http://schemas.openxmlformats.org/officeDocument/2006/relationships/slideLayout" Target="../slideLayouts/slideLayout6.xml"/><Relationship Id="rId5" Type="http://schemas.openxmlformats.org/officeDocument/2006/relationships/image" Target="../media/image79.png"/><Relationship Id="rId4" Type="http://schemas.openxmlformats.org/officeDocument/2006/relationships/image" Target="../media/image98.png"/></Relationships>
</file>

<file path=ppt/slides/_rels/slide47.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41.xml"/><Relationship Id="rId1" Type="http://schemas.openxmlformats.org/officeDocument/2006/relationships/slideLayout" Target="../slideLayouts/slideLayout6.xml"/><Relationship Id="rId5" Type="http://schemas.openxmlformats.org/officeDocument/2006/relationships/image" Target="../media/image100.png"/><Relationship Id="rId4" Type="http://schemas.openxmlformats.org/officeDocument/2006/relationships/image" Target="../media/image65.png"/></Relationships>
</file>

<file path=ppt/slides/_rels/slide4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2.xml"/><Relationship Id="rId1" Type="http://schemas.openxmlformats.org/officeDocument/2006/relationships/slideLayout" Target="../slideLayouts/slideLayout6.xml"/><Relationship Id="rId5" Type="http://schemas.openxmlformats.org/officeDocument/2006/relationships/image" Target="../media/image102.png"/><Relationship Id="rId4" Type="http://schemas.openxmlformats.org/officeDocument/2006/relationships/image" Target="../media/image101.png"/></Relationships>
</file>

<file path=ppt/slides/_rels/slide4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43.xml"/><Relationship Id="rId1" Type="http://schemas.openxmlformats.org/officeDocument/2006/relationships/slideLayout" Target="../slideLayouts/slideLayout6.xml"/><Relationship Id="rId5" Type="http://schemas.openxmlformats.org/officeDocument/2006/relationships/image" Target="../media/image103.png"/><Relationship Id="rId4" Type="http://schemas.openxmlformats.org/officeDocument/2006/relationships/image" Target="../media/image71.png"/></Relationships>
</file>

<file path=ppt/slides/_rels/slide5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4.xml"/><Relationship Id="rId1" Type="http://schemas.openxmlformats.org/officeDocument/2006/relationships/slideLayout" Target="../slideLayouts/slideLayout6.xml"/><Relationship Id="rId5" Type="http://schemas.openxmlformats.org/officeDocument/2006/relationships/image" Target="../media/image105.png"/><Relationship Id="rId4" Type="http://schemas.openxmlformats.org/officeDocument/2006/relationships/image" Target="../media/image104.png"/></Relationships>
</file>

<file path=ppt/slides/_rels/slide5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45.xml"/><Relationship Id="rId1" Type="http://schemas.openxmlformats.org/officeDocument/2006/relationships/slideLayout" Target="../slideLayouts/slideLayout6.xml"/><Relationship Id="rId5" Type="http://schemas.openxmlformats.org/officeDocument/2006/relationships/image" Target="../media/image107.png"/><Relationship Id="rId4" Type="http://schemas.openxmlformats.org/officeDocument/2006/relationships/image" Target="../media/image106.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47.xml"/><Relationship Id="rId1" Type="http://schemas.openxmlformats.org/officeDocument/2006/relationships/slideLayout" Target="../slideLayouts/slideLayout6.xml"/><Relationship Id="rId5" Type="http://schemas.openxmlformats.org/officeDocument/2006/relationships/image" Target="../media/image110.png"/><Relationship Id="rId4" Type="http://schemas.openxmlformats.org/officeDocument/2006/relationships/image" Target="../media/image109.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B46"/>
        </a:solidFill>
        <a:effectLst/>
      </p:bgPr>
    </p:bg>
    <p:spTree>
      <p:nvGrpSpPr>
        <p:cNvPr id="1" name=""/>
        <p:cNvGrpSpPr/>
        <p:nvPr/>
      </p:nvGrpSpPr>
      <p:grpSpPr>
        <a:xfrm>
          <a:off x="0" y="0"/>
          <a:ext cx="0" cy="0"/>
          <a:chOff x="0" y="0"/>
          <a:chExt cx="0" cy="0"/>
        </a:xfrm>
      </p:grpSpPr>
      <p:sp>
        <p:nvSpPr>
          <p:cNvPr id="15" name="section-label">
            <a:extLst>
              <a:ext uri="{FF2B5EF4-FFF2-40B4-BE49-F238E27FC236}">
                <a16:creationId xmlns:a16="http://schemas.microsoft.com/office/drawing/2014/main" id="{F0BC1294-1B98-4324-B2A2-47C8D39A360B}"/>
              </a:ext>
            </a:extLst>
          </p:cNvPr>
          <p:cNvSpPr>
            <a:spLocks noGrp="1"/>
          </p:cNvSpPr>
          <p:nvPr/>
        </p:nvSpPr>
        <p:spPr>
          <a:xfrm>
            <a:off x="609600" y="285750"/>
            <a:ext cx="10668000" cy="285750"/>
          </a:xfrm>
          <a:prstGeom prst="rect">
            <a:avLst/>
          </a:prstGeom>
          <a:noFill/>
          <a:ln w="0">
            <a:noFill/>
          </a:ln>
        </p:spPr>
        <p:txBody>
          <a:bodyPr lIns="0" tIns="0" rIns="0" bIns="0">
            <a:noAutofit/>
          </a:bodyPr>
          <a:lstStyle>
            <a:defPPr algn="l">
              <a:defRPr sz="1200" b="1">
                <a:solidFill>
                  <a:srgbClr val="9DD4ED"/>
                </a:solidFill>
                <a:latin typeface="Helvetica Neue"/>
                <a:ea typeface="Helvetica Neue"/>
                <a:cs typeface="Helvetica Neue"/>
              </a:defRPr>
            </a:defPPr>
          </a:lstStyle>
          <a:p>
            <a:pPr algn="l">
              <a:buNone/>
              <a:defRPr sz="1200" b="1">
                <a:solidFill>
                  <a:srgbClr val="9DD4ED"/>
                </a:solidFill>
                <a:latin typeface="Helvetica Neue"/>
                <a:ea typeface="Helvetica Neue"/>
                <a:cs typeface="Helvetica Neue"/>
              </a:defRPr>
            </a:pPr>
            <a:r>
              <a:rPr sz="1200" b="1">
                <a:solidFill>
                  <a:srgbClr val="9DD4ED"/>
                </a:solidFill>
                <a:latin typeface="Helvetica Neue"/>
                <a:ea typeface="Helvetica Neue"/>
                <a:cs typeface="Helvetica Neue"/>
              </a:rPr>
              <a:t>NEOSPACE HACKATHON</a:t>
            </a:r>
          </a:p>
        </p:txBody>
      </p:sp>
      <p:sp>
        <p:nvSpPr>
          <p:cNvPr id="2" name="slide-title">
            <a:extLst>
              <a:ext uri="{FF2B5EF4-FFF2-40B4-BE49-F238E27FC236}">
                <a16:creationId xmlns:a16="http://schemas.microsoft.com/office/drawing/2014/main" id="{D75FDC62-01A6-4795-8739-BBEA9406A70E}"/>
              </a:ext>
            </a:extLst>
          </p:cNvPr>
          <p:cNvSpPr>
            <a:spLocks noGrp="1"/>
          </p:cNvSpPr>
          <p:nvPr/>
        </p:nvSpPr>
        <p:spPr>
          <a:xfrm>
            <a:off x="666750" y="1780907"/>
            <a:ext cx="10858500" cy="1428750"/>
          </a:xfrm>
          <a:prstGeom prst="rect">
            <a:avLst/>
          </a:prstGeom>
          <a:noFill/>
          <a:ln w="0">
            <a:noFill/>
          </a:ln>
        </p:spPr>
        <p:txBody>
          <a:bodyPr lIns="0" tIns="0" rIns="0" bIns="0">
            <a:noAutofit/>
          </a:bodyPr>
          <a:lstStyle>
            <a:defPPr algn="l">
              <a:defRPr sz="4350" b="1">
                <a:solidFill>
                  <a:srgbClr val="FFFFFF"/>
                </a:solidFill>
                <a:latin typeface="Helvetica Neue"/>
                <a:ea typeface="Helvetica Neue"/>
                <a:cs typeface="Helvetica Neue"/>
              </a:defRPr>
            </a:defPPr>
          </a:lstStyle>
          <a:p>
            <a:pPr algn="l">
              <a:buNone/>
              <a:defRPr sz="4350" b="1">
                <a:solidFill>
                  <a:srgbClr val="FFFFFF"/>
                </a:solidFill>
                <a:latin typeface="Helvetica Neue"/>
                <a:ea typeface="Helvetica Neue"/>
                <a:cs typeface="Helvetica Neue"/>
              </a:defRPr>
            </a:pPr>
            <a:r>
              <a:rPr lang="en-US" sz="4350" b="1" dirty="0">
                <a:solidFill>
                  <a:srgbClr val="FFFFFF"/>
                </a:solidFill>
                <a:latin typeface="Helvetica Neue"/>
                <a:ea typeface="Helvetica Neue"/>
                <a:cs typeface="Helvetica Neue"/>
              </a:rPr>
              <a:t>New Ways of Working</a:t>
            </a:r>
            <a:endParaRPr sz="4350" b="1" dirty="0">
              <a:solidFill>
                <a:srgbClr val="FFFFFF"/>
              </a:solidFill>
              <a:latin typeface="Helvetica Neue"/>
              <a:ea typeface="Helvetica Neue"/>
              <a:cs typeface="Helvetica Neue"/>
            </a:endParaRPr>
          </a:p>
          <a:p>
            <a:pPr algn="l">
              <a:buNone/>
              <a:defRPr sz="4350" b="1">
                <a:solidFill>
                  <a:srgbClr val="FFFFFF"/>
                </a:solidFill>
                <a:latin typeface="Helvetica Neue"/>
                <a:ea typeface="Helvetica Neue"/>
                <a:cs typeface="Helvetica Neue"/>
              </a:defRPr>
            </a:pPr>
            <a:r>
              <a:rPr sz="4350" b="1" dirty="0">
                <a:solidFill>
                  <a:srgbClr val="FFFFFF"/>
                </a:solidFill>
                <a:latin typeface="Helvetica Neue"/>
                <a:ea typeface="Helvetica Neue"/>
                <a:cs typeface="Helvetica Neue"/>
              </a:rPr>
              <a:t>Student Playbook</a:t>
            </a:r>
          </a:p>
        </p:txBody>
      </p:sp>
      <p:sp>
        <p:nvSpPr>
          <p:cNvPr id="3" name="page-number">
            <a:extLst>
              <a:ext uri="{FF2B5EF4-FFF2-40B4-BE49-F238E27FC236}">
                <a16:creationId xmlns:a16="http://schemas.microsoft.com/office/drawing/2014/main" id="{7D340F8E-AB60-47B0-BD6A-D00386590870}"/>
              </a:ext>
            </a:extLst>
          </p:cNvPr>
          <p:cNvSpPr>
            <a:spLocks noGrp="1"/>
          </p:cNvSpPr>
          <p:nvPr/>
        </p:nvSpPr>
        <p:spPr>
          <a:xfrm>
            <a:off x="10953750" y="6438900"/>
            <a:ext cx="666750" cy="228600"/>
          </a:xfrm>
          <a:prstGeom prst="rect">
            <a:avLst/>
          </a:prstGeom>
          <a:noFill/>
          <a:ln w="0">
            <a:noFill/>
          </a:ln>
        </p:spPr>
        <p:txBody>
          <a:bodyPr lIns="0" tIns="0" rIns="0" bIns="0">
            <a:noAutofit/>
          </a:bodyPr>
          <a:lstStyle>
            <a:defPPr algn="r">
              <a:defRPr sz="1125" b="0">
                <a:solidFill>
                  <a:srgbClr val="BCD2E2"/>
                </a:solidFill>
                <a:latin typeface="Helvetica Neue"/>
                <a:ea typeface="Helvetica Neue"/>
                <a:cs typeface="Helvetica Neue"/>
              </a:defRPr>
            </a:defPPr>
          </a:lstStyle>
          <a:p>
            <a:pPr algn="r">
              <a:buNone/>
              <a:defRPr sz="1125" b="0">
                <a:solidFill>
                  <a:srgbClr val="BCD2E2"/>
                </a:solidFill>
                <a:latin typeface="Helvetica Neue"/>
                <a:ea typeface="Helvetica Neue"/>
                <a:cs typeface="Helvetica Neue"/>
              </a:defRPr>
            </a:pPr>
            <a:r>
              <a:rPr sz="1125" b="0">
                <a:solidFill>
                  <a:srgbClr val="BCD2E2"/>
                </a:solidFill>
                <a:latin typeface="Helvetica Neue"/>
                <a:ea typeface="Helvetica Neue"/>
                <a:cs typeface="Helvetica Neue"/>
              </a:rPr>
              <a:t>1</a:t>
            </a:r>
          </a:p>
        </p:txBody>
      </p:sp>
      <p:sp>
        <p:nvSpPr>
          <p:cNvPr id="4" name="cover-subtitle">
            <a:extLst>
              <a:ext uri="{FF2B5EF4-FFF2-40B4-BE49-F238E27FC236}">
                <a16:creationId xmlns:a16="http://schemas.microsoft.com/office/drawing/2014/main" id="{BDEB67CE-2DCC-4E7E-99B2-0DDC00453E2C}"/>
              </a:ext>
            </a:extLst>
          </p:cNvPr>
          <p:cNvSpPr>
            <a:spLocks noGrp="1"/>
          </p:cNvSpPr>
          <p:nvPr/>
        </p:nvSpPr>
        <p:spPr>
          <a:xfrm>
            <a:off x="666750" y="3371582"/>
            <a:ext cx="10477500" cy="523875"/>
          </a:xfrm>
          <a:prstGeom prst="rect">
            <a:avLst/>
          </a:prstGeom>
          <a:noFill/>
          <a:ln w="0">
            <a:noFill/>
          </a:ln>
        </p:spPr>
        <p:txBody>
          <a:bodyPr lIns="0" tIns="0" rIns="0" bIns="0">
            <a:noAutofit/>
          </a:bodyPr>
          <a:lstStyle>
            <a:defPPr algn="l">
              <a:defRPr sz="2550" b="0">
                <a:solidFill>
                  <a:srgbClr val="D3E6F0"/>
                </a:solidFill>
                <a:latin typeface="Helvetica Neue"/>
                <a:ea typeface="Helvetica Neue"/>
                <a:cs typeface="Helvetica Neue"/>
              </a:defRPr>
            </a:defPPr>
          </a:lstStyle>
          <a:p>
            <a:pPr algn="l">
              <a:buNone/>
              <a:defRPr sz="2550" b="0">
                <a:solidFill>
                  <a:srgbClr val="D3E6F0"/>
                </a:solidFill>
                <a:latin typeface="Helvetica Neue"/>
                <a:ea typeface="Helvetica Neue"/>
                <a:cs typeface="Helvetica Neue"/>
              </a:defRPr>
            </a:pPr>
            <a:r>
              <a:rPr sz="2550" b="0" dirty="0">
                <a:solidFill>
                  <a:srgbClr val="D3E6F0"/>
                </a:solidFill>
                <a:latin typeface="Helvetica Neue"/>
                <a:ea typeface="Helvetica Neue"/>
                <a:cs typeface="Helvetica Neue"/>
              </a:rPr>
              <a:t>Hackathon </a:t>
            </a:r>
            <a:r>
              <a:rPr lang="en-US" sz="2550" b="0" dirty="0">
                <a:solidFill>
                  <a:srgbClr val="D3E6F0"/>
                </a:solidFill>
                <a:latin typeface="Helvetica Neue"/>
                <a:ea typeface="Helvetica Neue"/>
                <a:cs typeface="Helvetica Neue"/>
              </a:rPr>
              <a:t>guidebook</a:t>
            </a:r>
            <a:r>
              <a:rPr sz="2550" b="0" dirty="0">
                <a:solidFill>
                  <a:srgbClr val="D3E6F0"/>
                </a:solidFill>
                <a:latin typeface="Helvetica Neue"/>
                <a:ea typeface="Helvetica Neue"/>
                <a:cs typeface="Helvetica Neue"/>
              </a:rPr>
              <a:t> and student reference</a:t>
            </a:r>
          </a:p>
        </p:txBody>
      </p:sp>
      <p:sp>
        <p:nvSpPr>
          <p:cNvPr id="14" name="cover-scope">
            <a:extLst>
              <a:ext uri="{FF2B5EF4-FFF2-40B4-BE49-F238E27FC236}">
                <a16:creationId xmlns:a16="http://schemas.microsoft.com/office/drawing/2014/main" id="{4964D7B2-5BB7-4D67-A411-B5AB103DF450}"/>
              </a:ext>
            </a:extLst>
          </p:cNvPr>
          <p:cNvSpPr>
            <a:spLocks noGrp="1"/>
          </p:cNvSpPr>
          <p:nvPr/>
        </p:nvSpPr>
        <p:spPr>
          <a:xfrm>
            <a:off x="1804672" y="4944168"/>
            <a:ext cx="5217566" cy="1742382"/>
          </a:xfrm>
          <a:prstGeom prst="rect">
            <a:avLst/>
          </a:prstGeom>
          <a:noFill/>
          <a:ln w="0">
            <a:noFill/>
          </a:ln>
        </p:spPr>
        <p:txBody>
          <a:bodyPr lIns="0" tIns="0" rIns="0" bIns="0">
            <a:noAutofit/>
          </a:bodyPr>
          <a:lstStyle>
            <a:defPPr algn="l">
              <a:defRPr sz="2100" b="0">
                <a:solidFill>
                  <a:srgbClr val="FFFFFF"/>
                </a:solidFill>
                <a:latin typeface="Helvetica Neue"/>
                <a:ea typeface="Helvetica Neue"/>
                <a:cs typeface="Helvetica Neue"/>
              </a:defRPr>
            </a:defPPr>
          </a:lstStyle>
          <a:p>
            <a:pPr algn="l">
              <a:lnSpc>
                <a:spcPct val="150000"/>
              </a:lnSpc>
              <a:buNone/>
              <a:defRPr sz="2100" b="0">
                <a:solidFill>
                  <a:srgbClr val="FFFFFF"/>
                </a:solidFill>
                <a:latin typeface="Helvetica Neue"/>
                <a:ea typeface="Helvetica Neue"/>
                <a:cs typeface="Helvetica Neue"/>
              </a:defRPr>
            </a:pPr>
            <a:r>
              <a:rPr lang="en-US" sz="1600" b="1" dirty="0">
                <a:solidFill>
                  <a:srgbClr val="FFFFFF"/>
                </a:solidFill>
                <a:ea typeface="Helvetica Neue"/>
                <a:cs typeface="Helvetica Neue"/>
              </a:rPr>
              <a:t>Dr. Loveneesh Rana</a:t>
            </a:r>
          </a:p>
          <a:p>
            <a:pPr algn="l">
              <a:lnSpc>
                <a:spcPct val="150000"/>
              </a:lnSpc>
              <a:buNone/>
              <a:defRPr sz="2100" b="0">
                <a:solidFill>
                  <a:srgbClr val="FFFFFF"/>
                </a:solidFill>
                <a:latin typeface="Helvetica Neue"/>
                <a:ea typeface="Helvetica Neue"/>
                <a:cs typeface="Helvetica Neue"/>
              </a:defRPr>
            </a:pPr>
            <a:r>
              <a:rPr lang="en-US" sz="1600" dirty="0">
                <a:solidFill>
                  <a:srgbClr val="FFFFFF"/>
                </a:solidFill>
                <a:ea typeface="Helvetica Neue"/>
                <a:cs typeface="Helvetica Neue"/>
              </a:rPr>
              <a:t>CEO, SPAIDER Space</a:t>
            </a:r>
          </a:p>
          <a:p>
            <a:pPr algn="l">
              <a:lnSpc>
                <a:spcPct val="150000"/>
              </a:lnSpc>
              <a:buNone/>
              <a:defRPr sz="2100" b="0">
                <a:solidFill>
                  <a:srgbClr val="FFFFFF"/>
                </a:solidFill>
                <a:latin typeface="Helvetica Neue"/>
                <a:ea typeface="Helvetica Neue"/>
                <a:cs typeface="Helvetica Neue"/>
              </a:defRPr>
            </a:pPr>
            <a:r>
              <a:rPr lang="en-US" sz="1600" b="0" dirty="0" err="1">
                <a:solidFill>
                  <a:srgbClr val="FFFFFF"/>
                </a:solidFill>
                <a:ea typeface="Helvetica Neue"/>
                <a:cs typeface="Helvetica Neue"/>
              </a:rPr>
              <a:t>loveneesh</a:t>
            </a:r>
            <a:r>
              <a:rPr lang="en-US" sz="1600" dirty="0" err="1">
                <a:solidFill>
                  <a:srgbClr val="FFFFFF"/>
                </a:solidFill>
                <a:ea typeface="Helvetica Neue"/>
                <a:cs typeface="Helvetica Neue"/>
              </a:rPr>
              <a:t>.rana@spaiderspace.com</a:t>
            </a:r>
            <a:endParaRPr sz="1600" b="0" dirty="0">
              <a:solidFill>
                <a:srgbClr val="FFFFFF"/>
              </a:solidFill>
              <a:ea typeface="Helvetica Neue"/>
              <a:cs typeface="Helvetica Neue"/>
            </a:endParaRPr>
          </a:p>
        </p:txBody>
      </p:sp>
      <p:pic>
        <p:nvPicPr>
          <p:cNvPr id="16" name="Picture 15">
            <a:extLst>
              <a:ext uri="{FF2B5EF4-FFF2-40B4-BE49-F238E27FC236}">
                <a16:creationId xmlns:a16="http://schemas.microsoft.com/office/drawing/2014/main" id="{30209D78-DF2F-C2F3-F3AF-2673BB31A1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7907" y="4944168"/>
            <a:ext cx="1143000" cy="1143000"/>
          </a:xfrm>
          <a:prstGeom prst="rect">
            <a:avLst/>
          </a:prstGeom>
        </p:spPr>
      </p:pic>
      <p:pic>
        <p:nvPicPr>
          <p:cNvPr id="17" name="Picture 16" descr="European Space Resources Innovation Centre - ESRIC">
            <a:extLst>
              <a:ext uri="{FF2B5EF4-FFF2-40B4-BE49-F238E27FC236}">
                <a16:creationId xmlns:a16="http://schemas.microsoft.com/office/drawing/2014/main" id="{42A0DE0C-DC0F-379D-E339-2DEB4CD9F93B}"/>
              </a:ext>
            </a:extLst>
          </p:cNvPr>
          <p:cNvPicPr>
            <a:picLocks noChangeAspect="1"/>
          </p:cNvPicPr>
          <p:nvPr/>
        </p:nvPicPr>
        <p:blipFill>
          <a:blip r:embed="rId4"/>
          <a:stretch>
            <a:fillRect/>
          </a:stretch>
        </p:blipFill>
        <p:spPr>
          <a:xfrm>
            <a:off x="666750" y="846496"/>
            <a:ext cx="1905000" cy="571500"/>
          </a:xfrm>
          <a:prstGeom prst="rect">
            <a:avLst/>
          </a:prstGeom>
        </p:spPr>
      </p:pic>
      <p:pic>
        <p:nvPicPr>
          <p:cNvPr id="18" name="Picture 17">
            <a:extLst>
              <a:ext uri="{FF2B5EF4-FFF2-40B4-BE49-F238E27FC236}">
                <a16:creationId xmlns:a16="http://schemas.microsoft.com/office/drawing/2014/main" id="{7F035AFE-005F-E53E-1352-FDBB594046C3}"/>
              </a:ext>
            </a:extLst>
          </p:cNvPr>
          <p:cNvPicPr>
            <a:picLocks noChangeAspect="1"/>
          </p:cNvPicPr>
          <p:nvPr/>
        </p:nvPicPr>
        <p:blipFill>
          <a:blip r:embed="rId5"/>
          <a:stretch>
            <a:fillRect/>
          </a:stretch>
        </p:blipFill>
        <p:spPr>
          <a:xfrm>
            <a:off x="3179141" y="901161"/>
            <a:ext cx="1664528" cy="482550"/>
          </a:xfrm>
          <a:prstGeom prst="rect">
            <a:avLst/>
          </a:prstGeom>
        </p:spPr>
      </p:pic>
    </p:spTree>
    <p:extLst>
      <p:ext uri="{BB962C8B-B14F-4D97-AF65-F5344CB8AC3E}">
        <p14:creationId xmlns:p14="http://schemas.microsoft.com/office/powerpoint/2010/main" val="16114298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slide-title">
            <a:extLst>
              <a:ext uri="{FF2B5EF4-FFF2-40B4-BE49-F238E27FC236}">
                <a16:creationId xmlns:a16="http://schemas.microsoft.com/office/drawing/2014/main" id="{2664941D-71B2-42AA-9E28-3EB1B3381DA2}"/>
              </a:ext>
            </a:extLst>
          </p:cNvPr>
          <p:cNvSpPr>
            <a:spLocks noGrp="1"/>
          </p:cNvSpPr>
          <p:nvPr/>
        </p:nvSpPr>
        <p:spPr>
          <a:xfrm>
            <a:off x="609600" y="762000"/>
            <a:ext cx="10858500" cy="809625"/>
          </a:xfrm>
          <a:prstGeom prst="rect">
            <a:avLst/>
          </a:prstGeom>
          <a:noFill/>
          <a:ln w="0">
            <a:noFill/>
          </a:ln>
        </p:spPr>
        <p:txBody>
          <a:bodyPr lIns="0" tIns="0" rIns="0" bIns="0">
            <a:noAutofit/>
          </a:bodyPr>
          <a:lstStyle>
            <a:defPPr>
              <a:defRPr sz="3750" b="1">
                <a:solidFill>
                  <a:srgbClr val="102B46"/>
                </a:solidFill>
                <a:latin typeface="Helvetica Neue"/>
                <a:ea typeface="Helvetica Neue"/>
                <a:cs typeface="Helvetica Neue"/>
              </a:defRPr>
            </a:defPPr>
          </a:lstStyle>
          <a:p>
            <a:pPr>
              <a:buNone/>
              <a:defRPr sz="3750" b="1">
                <a:solidFill>
                  <a:srgbClr val="102B46"/>
                </a:solidFill>
                <a:latin typeface="Helvetica Neue"/>
                <a:ea typeface="Helvetica Neue"/>
                <a:cs typeface="Helvetica Neue"/>
              </a:defRPr>
            </a:pPr>
            <a:r>
              <a:rPr sz="3750" b="1">
                <a:solidFill>
                  <a:srgbClr val="102B46"/>
                </a:solidFill>
                <a:latin typeface="Helvetica Neue"/>
                <a:ea typeface="Helvetica Neue"/>
                <a:cs typeface="Helvetica Neue"/>
              </a:rPr>
              <a:t>Agenda</a:t>
            </a:r>
          </a:p>
        </p:txBody>
      </p:sp>
      <p:sp>
        <p:nvSpPr>
          <p:cNvPr id="17" name="page-number">
            <a:extLst>
              <a:ext uri="{FF2B5EF4-FFF2-40B4-BE49-F238E27FC236}">
                <a16:creationId xmlns:a16="http://schemas.microsoft.com/office/drawing/2014/main" id="{393B835D-0330-49EE-AAE7-0957DC0728F6}"/>
              </a:ext>
            </a:extLst>
          </p:cNvPr>
          <p:cNvSpPr>
            <a:spLocks noGrp="1"/>
          </p:cNvSpPr>
          <p:nvPr/>
        </p:nvSpPr>
        <p:spPr>
          <a:xfrm>
            <a:off x="10953750" y="6438900"/>
            <a:ext cx="619125" cy="238125"/>
          </a:xfrm>
          <a:prstGeom prst="rect">
            <a:avLst/>
          </a:prstGeom>
          <a:noFill/>
          <a:ln w="0">
            <a:noFill/>
          </a:ln>
        </p:spPr>
        <p:txBody>
          <a:bodyPr lIns="0" tIns="0" rIns="0" bIns="0">
            <a:noAutofit/>
          </a:bodyPr>
          <a:lstStyle>
            <a:defPPr>
              <a:defRPr sz="1125" b="0">
                <a:solidFill>
                  <a:srgbClr val="607482"/>
                </a:solidFill>
                <a:latin typeface="Helvetica Neue"/>
                <a:ea typeface="Helvetica Neue"/>
                <a:cs typeface="Helvetica Neue"/>
              </a:defRPr>
            </a:defPPr>
          </a:lstStyle>
          <a:p>
            <a:pPr>
              <a:buNone/>
              <a:defRPr sz="1125" b="0">
                <a:solidFill>
                  <a:srgbClr val="607482"/>
                </a:solidFill>
                <a:latin typeface="Helvetica Neue"/>
                <a:ea typeface="Helvetica Neue"/>
                <a:cs typeface="Helvetica Neue"/>
              </a:defRPr>
            </a:pPr>
            <a:r>
              <a:rPr sz="1125" b="0">
                <a:solidFill>
                  <a:srgbClr val="607482"/>
                </a:solidFill>
                <a:latin typeface="Helvetica Neue"/>
                <a:ea typeface="Helvetica Neue"/>
                <a:cs typeface="Helvetica Neue"/>
              </a:rPr>
              <a:t>2</a:t>
            </a:r>
          </a:p>
        </p:txBody>
      </p:sp>
      <p:pic>
        <p:nvPicPr>
          <p:cNvPr id="19" name="Picture 18">
            <a:extLst>
              <a:ext uri="{FF2B5EF4-FFF2-40B4-BE49-F238E27FC236}">
                <a16:creationId xmlns:a16="http://schemas.microsoft.com/office/drawing/2014/main" id="{DFEAF070-9EE6-48A1-85A8-1D54F1C8A57F}"/>
              </a:ext>
            </a:extLst>
          </p:cNvPr>
          <p:cNvPicPr>
            <a:picLocks noChangeAspect="1"/>
          </p:cNvPicPr>
          <p:nvPr/>
        </p:nvPicPr>
        <p:blipFill>
          <a:blip r:embed="rId3"/>
          <a:stretch/>
        </p:blipFill>
        <p:spPr>
          <a:xfrm>
            <a:off x="704850" y="1895475"/>
            <a:ext cx="361950" cy="361950"/>
          </a:xfrm>
          <a:prstGeom prst="rect">
            <a:avLst/>
          </a:prstGeom>
        </p:spPr>
      </p:pic>
      <p:sp>
        <p:nvSpPr>
          <p:cNvPr id="20" name="agenda-number">
            <a:extLst>
              <a:ext uri="{FF2B5EF4-FFF2-40B4-BE49-F238E27FC236}">
                <a16:creationId xmlns:a16="http://schemas.microsoft.com/office/drawing/2014/main" id="{95909D3B-FC49-47A5-88BE-A2A04DB1A5CD}"/>
              </a:ext>
            </a:extLst>
          </p:cNvPr>
          <p:cNvSpPr>
            <a:spLocks noGrp="1"/>
          </p:cNvSpPr>
          <p:nvPr/>
        </p:nvSpPr>
        <p:spPr>
          <a:xfrm>
            <a:off x="1390650" y="1933575"/>
            <a:ext cx="647700" cy="381000"/>
          </a:xfrm>
          <a:prstGeom prst="rect">
            <a:avLst/>
          </a:prstGeom>
          <a:noFill/>
          <a:ln w="0">
            <a:noFill/>
          </a:ln>
        </p:spPr>
        <p:txBody>
          <a:bodyPr lIns="0" tIns="0" rIns="0" bIns="0">
            <a:noAutofit/>
          </a:bodyPr>
          <a:lstStyle>
            <a:defPPr>
              <a:defRPr sz="1875" b="1">
                <a:solidFill>
                  <a:srgbClr val="244653"/>
                </a:solidFill>
                <a:latin typeface="Helvetica Neue"/>
                <a:ea typeface="Helvetica Neue"/>
                <a:cs typeface="Helvetica Neue"/>
              </a:defRPr>
            </a:defPPr>
          </a:lstStyle>
          <a:p>
            <a:pPr>
              <a:defRPr sz="1875" b="1">
                <a:solidFill>
                  <a:srgbClr val="244653"/>
                </a:solidFill>
                <a:latin typeface="Helvetica Neue"/>
                <a:ea typeface="Helvetica Neue"/>
                <a:cs typeface="Helvetica Neue"/>
              </a:defRPr>
            </a:pPr>
            <a:r>
              <a:rPr sz="1875" b="1">
                <a:solidFill>
                  <a:srgbClr val="244653"/>
                </a:solidFill>
                <a:latin typeface="Helvetica Neue"/>
                <a:ea typeface="Helvetica Neue"/>
                <a:cs typeface="Helvetica Neue"/>
              </a:rPr>
              <a:t>01</a:t>
            </a:r>
          </a:p>
        </p:txBody>
      </p:sp>
      <p:sp>
        <p:nvSpPr>
          <p:cNvPr id="21" name="agenda-section">
            <a:extLst>
              <a:ext uri="{FF2B5EF4-FFF2-40B4-BE49-F238E27FC236}">
                <a16:creationId xmlns:a16="http://schemas.microsoft.com/office/drawing/2014/main" id="{CF8608B9-0D28-4A4C-96F4-DA17064F5A84}"/>
              </a:ext>
            </a:extLst>
          </p:cNvPr>
          <p:cNvSpPr>
            <a:spLocks noGrp="1"/>
          </p:cNvSpPr>
          <p:nvPr/>
        </p:nvSpPr>
        <p:spPr>
          <a:xfrm>
            <a:off x="2238375" y="1924050"/>
            <a:ext cx="9239250" cy="428625"/>
          </a:xfrm>
          <a:prstGeom prst="rect">
            <a:avLst/>
          </a:prstGeom>
          <a:noFill/>
          <a:ln w="0">
            <a:noFill/>
          </a:ln>
        </p:spPr>
        <p:txBody>
          <a:bodyPr lIns="0" tIns="0" rIns="0" bIns="0">
            <a:noAutofit/>
          </a:bodyPr>
          <a:lstStyle>
            <a:defPPr>
              <a:defRPr sz="2175" b="1">
                <a:solidFill>
                  <a:srgbClr val="102B46"/>
                </a:solidFill>
                <a:latin typeface="Helvetica Neue"/>
                <a:ea typeface="Helvetica Neue"/>
                <a:cs typeface="Helvetica Neue"/>
              </a:defRPr>
            </a:defPPr>
          </a:lstStyle>
          <a:p>
            <a:pPr>
              <a:defRPr sz="2175" b="1">
                <a:solidFill>
                  <a:srgbClr val="102B46"/>
                </a:solidFill>
                <a:latin typeface="Helvetica Neue"/>
                <a:ea typeface="Helvetica Neue"/>
                <a:cs typeface="Helvetica Neue"/>
              </a:defRPr>
            </a:pPr>
            <a:r>
              <a:rPr sz="2175" b="1">
                <a:solidFill>
                  <a:srgbClr val="102B46"/>
                </a:solidFill>
                <a:latin typeface="Helvetica Neue"/>
                <a:ea typeface="Helvetica Neue"/>
                <a:cs typeface="Helvetica Neue"/>
              </a:rPr>
              <a:t>Introduction</a:t>
            </a:r>
          </a:p>
        </p:txBody>
      </p:sp>
      <p:pic>
        <p:nvPicPr>
          <p:cNvPr id="22" name="Picture 21">
            <a:extLst>
              <a:ext uri="{FF2B5EF4-FFF2-40B4-BE49-F238E27FC236}">
                <a16:creationId xmlns:a16="http://schemas.microsoft.com/office/drawing/2014/main" id="{73F4EEAA-CB38-4012-A8E5-942B79EB23C5}"/>
              </a:ext>
            </a:extLst>
          </p:cNvPr>
          <p:cNvPicPr>
            <a:picLocks noChangeAspect="1"/>
          </p:cNvPicPr>
          <p:nvPr/>
        </p:nvPicPr>
        <p:blipFill>
          <a:blip r:embed="rId4"/>
          <a:stretch/>
        </p:blipFill>
        <p:spPr>
          <a:xfrm>
            <a:off x="704850" y="2524125"/>
            <a:ext cx="361950" cy="361950"/>
          </a:xfrm>
          <a:prstGeom prst="rect">
            <a:avLst/>
          </a:prstGeom>
        </p:spPr>
      </p:pic>
      <p:sp>
        <p:nvSpPr>
          <p:cNvPr id="23" name="agenda-number">
            <a:extLst>
              <a:ext uri="{FF2B5EF4-FFF2-40B4-BE49-F238E27FC236}">
                <a16:creationId xmlns:a16="http://schemas.microsoft.com/office/drawing/2014/main" id="{7EB2AA17-065E-4756-9F4E-6C071F798389}"/>
              </a:ext>
            </a:extLst>
          </p:cNvPr>
          <p:cNvSpPr>
            <a:spLocks noGrp="1"/>
          </p:cNvSpPr>
          <p:nvPr/>
        </p:nvSpPr>
        <p:spPr>
          <a:xfrm>
            <a:off x="1390650" y="2562225"/>
            <a:ext cx="647700" cy="381000"/>
          </a:xfrm>
          <a:prstGeom prst="rect">
            <a:avLst/>
          </a:prstGeom>
          <a:noFill/>
          <a:ln w="0">
            <a:noFill/>
          </a:ln>
        </p:spPr>
        <p:txBody>
          <a:bodyPr lIns="0" tIns="0" rIns="0" bIns="0">
            <a:noAutofit/>
          </a:bodyPr>
          <a:lstStyle>
            <a:defPPr>
              <a:defRPr sz="1875" b="1">
                <a:solidFill>
                  <a:srgbClr val="102B46"/>
                </a:solidFill>
                <a:latin typeface="Helvetica Neue"/>
                <a:ea typeface="Helvetica Neue"/>
                <a:cs typeface="Helvetica Neue"/>
              </a:defRPr>
            </a:defPPr>
          </a:lstStyle>
          <a:p>
            <a:pPr>
              <a:defRPr sz="1875" b="1">
                <a:solidFill>
                  <a:srgbClr val="102B46"/>
                </a:solidFill>
                <a:latin typeface="Helvetica Neue"/>
                <a:ea typeface="Helvetica Neue"/>
                <a:cs typeface="Helvetica Neue"/>
              </a:defRPr>
            </a:pPr>
            <a:r>
              <a:rPr sz="1875" b="1">
                <a:solidFill>
                  <a:srgbClr val="102B46"/>
                </a:solidFill>
                <a:latin typeface="Helvetica Neue"/>
                <a:ea typeface="Helvetica Neue"/>
                <a:cs typeface="Helvetica Neue"/>
              </a:rPr>
              <a:t>02</a:t>
            </a:r>
          </a:p>
        </p:txBody>
      </p:sp>
      <p:sp>
        <p:nvSpPr>
          <p:cNvPr id="24" name="agenda-section">
            <a:extLst>
              <a:ext uri="{FF2B5EF4-FFF2-40B4-BE49-F238E27FC236}">
                <a16:creationId xmlns:a16="http://schemas.microsoft.com/office/drawing/2014/main" id="{F3CE9C3D-2A25-42B9-9EAE-AE9BA9B79E1E}"/>
              </a:ext>
            </a:extLst>
          </p:cNvPr>
          <p:cNvSpPr>
            <a:spLocks noGrp="1"/>
          </p:cNvSpPr>
          <p:nvPr/>
        </p:nvSpPr>
        <p:spPr>
          <a:xfrm>
            <a:off x="2238375" y="2552700"/>
            <a:ext cx="9239250" cy="428625"/>
          </a:xfrm>
          <a:prstGeom prst="rect">
            <a:avLst/>
          </a:prstGeom>
          <a:noFill/>
          <a:ln w="0">
            <a:noFill/>
          </a:ln>
        </p:spPr>
        <p:txBody>
          <a:bodyPr lIns="0" tIns="0" rIns="0" bIns="0">
            <a:noAutofit/>
          </a:bodyPr>
          <a:lstStyle>
            <a:defPPr>
              <a:defRPr sz="2175" b="1">
                <a:solidFill>
                  <a:srgbClr val="102B46"/>
                </a:solidFill>
                <a:latin typeface="Helvetica Neue"/>
                <a:ea typeface="Helvetica Neue"/>
                <a:cs typeface="Helvetica Neue"/>
              </a:defRPr>
            </a:defPPr>
          </a:lstStyle>
          <a:p>
            <a:pPr>
              <a:defRPr sz="2175" b="1">
                <a:solidFill>
                  <a:srgbClr val="102B46"/>
                </a:solidFill>
                <a:latin typeface="Helvetica Neue"/>
                <a:ea typeface="Helvetica Neue"/>
                <a:cs typeface="Helvetica Neue"/>
              </a:defRPr>
            </a:pPr>
            <a:r>
              <a:rPr sz="2175" b="1">
                <a:solidFill>
                  <a:srgbClr val="102B46"/>
                </a:solidFill>
                <a:latin typeface="Helvetica Neue"/>
                <a:ea typeface="Helvetica Neue"/>
                <a:cs typeface="Helvetica Neue"/>
              </a:rPr>
              <a:t>SPAIDER platform</a:t>
            </a:r>
          </a:p>
        </p:txBody>
      </p:sp>
      <p:pic>
        <p:nvPicPr>
          <p:cNvPr id="25" name="Picture 24">
            <a:extLst>
              <a:ext uri="{FF2B5EF4-FFF2-40B4-BE49-F238E27FC236}">
                <a16:creationId xmlns:a16="http://schemas.microsoft.com/office/drawing/2014/main" id="{D55641EE-9B71-44F5-902B-4F163F103702}"/>
              </a:ext>
            </a:extLst>
          </p:cNvPr>
          <p:cNvPicPr>
            <a:picLocks noChangeAspect="1"/>
          </p:cNvPicPr>
          <p:nvPr/>
        </p:nvPicPr>
        <p:blipFill>
          <a:blip r:embed="rId5"/>
          <a:stretch/>
        </p:blipFill>
        <p:spPr>
          <a:xfrm>
            <a:off x="704850" y="3152775"/>
            <a:ext cx="361950" cy="361950"/>
          </a:xfrm>
          <a:prstGeom prst="rect">
            <a:avLst/>
          </a:prstGeom>
        </p:spPr>
      </p:pic>
      <p:sp>
        <p:nvSpPr>
          <p:cNvPr id="26" name="agenda-number">
            <a:extLst>
              <a:ext uri="{FF2B5EF4-FFF2-40B4-BE49-F238E27FC236}">
                <a16:creationId xmlns:a16="http://schemas.microsoft.com/office/drawing/2014/main" id="{280CDFDA-BEE0-4751-A5E9-75282FC6E663}"/>
              </a:ext>
            </a:extLst>
          </p:cNvPr>
          <p:cNvSpPr>
            <a:spLocks noGrp="1"/>
          </p:cNvSpPr>
          <p:nvPr/>
        </p:nvSpPr>
        <p:spPr>
          <a:xfrm>
            <a:off x="1390650" y="3190875"/>
            <a:ext cx="647700" cy="381000"/>
          </a:xfrm>
          <a:prstGeom prst="rect">
            <a:avLst/>
          </a:prstGeom>
          <a:noFill/>
          <a:ln w="0">
            <a:noFill/>
          </a:ln>
        </p:spPr>
        <p:txBody>
          <a:bodyPr lIns="0" tIns="0" rIns="0" bIns="0">
            <a:noAutofit/>
          </a:bodyPr>
          <a:lstStyle>
            <a:defPPr>
              <a:defRPr sz="1875" b="1">
                <a:solidFill>
                  <a:srgbClr val="226FBB"/>
                </a:solidFill>
                <a:latin typeface="Helvetica Neue"/>
                <a:ea typeface="Helvetica Neue"/>
                <a:cs typeface="Helvetica Neue"/>
              </a:defRPr>
            </a:defPPr>
          </a:lstStyle>
          <a:p>
            <a:pPr>
              <a:defRPr sz="1875" b="1">
                <a:solidFill>
                  <a:srgbClr val="226FBB"/>
                </a:solidFill>
                <a:latin typeface="Helvetica Neue"/>
                <a:ea typeface="Helvetica Neue"/>
                <a:cs typeface="Helvetica Neue"/>
              </a:defRPr>
            </a:pPr>
            <a:r>
              <a:rPr sz="1875" b="1">
                <a:solidFill>
                  <a:srgbClr val="226FBB"/>
                </a:solidFill>
                <a:latin typeface="Helvetica Neue"/>
                <a:ea typeface="Helvetica Neue"/>
                <a:cs typeface="Helvetica Neue"/>
              </a:rPr>
              <a:t>03</a:t>
            </a:r>
          </a:p>
        </p:txBody>
      </p:sp>
      <p:sp>
        <p:nvSpPr>
          <p:cNvPr id="27" name="agenda-section">
            <a:extLst>
              <a:ext uri="{FF2B5EF4-FFF2-40B4-BE49-F238E27FC236}">
                <a16:creationId xmlns:a16="http://schemas.microsoft.com/office/drawing/2014/main" id="{12677853-2A6C-4F93-93ED-F2FD00C6D1D2}"/>
              </a:ext>
            </a:extLst>
          </p:cNvPr>
          <p:cNvSpPr>
            <a:spLocks noGrp="1"/>
          </p:cNvSpPr>
          <p:nvPr/>
        </p:nvSpPr>
        <p:spPr>
          <a:xfrm>
            <a:off x="2238375" y="3181350"/>
            <a:ext cx="9239250" cy="428625"/>
          </a:xfrm>
          <a:prstGeom prst="rect">
            <a:avLst/>
          </a:prstGeom>
          <a:noFill/>
          <a:ln w="0">
            <a:noFill/>
          </a:ln>
        </p:spPr>
        <p:txBody>
          <a:bodyPr lIns="0" tIns="0" rIns="0" bIns="0">
            <a:noAutofit/>
          </a:bodyPr>
          <a:lstStyle>
            <a:defPPr>
              <a:defRPr sz="2175" b="1">
                <a:solidFill>
                  <a:srgbClr val="102B46"/>
                </a:solidFill>
                <a:latin typeface="Helvetica Neue"/>
                <a:ea typeface="Helvetica Neue"/>
                <a:cs typeface="Helvetica Neue"/>
              </a:defRPr>
            </a:defPPr>
          </a:lstStyle>
          <a:p>
            <a:pPr>
              <a:defRPr sz="2175" b="1">
                <a:solidFill>
                  <a:srgbClr val="102B46"/>
                </a:solidFill>
                <a:latin typeface="Helvetica Neue"/>
                <a:ea typeface="Helvetica Neue"/>
                <a:cs typeface="Helvetica Neue"/>
              </a:defRPr>
            </a:pPr>
            <a:r>
              <a:rPr sz="2175" b="1">
                <a:solidFill>
                  <a:srgbClr val="102B46"/>
                </a:solidFill>
                <a:latin typeface="Helvetica Neue"/>
                <a:ea typeface="Helvetica Neue"/>
                <a:cs typeface="Helvetica Neue"/>
              </a:rPr>
              <a:t>Session 1: Concept definition</a:t>
            </a:r>
          </a:p>
        </p:txBody>
      </p:sp>
      <p:pic>
        <p:nvPicPr>
          <p:cNvPr id="28" name="Picture 27">
            <a:extLst>
              <a:ext uri="{FF2B5EF4-FFF2-40B4-BE49-F238E27FC236}">
                <a16:creationId xmlns:a16="http://schemas.microsoft.com/office/drawing/2014/main" id="{8FAE987B-8C1B-4962-8B90-8189A0C3C904}"/>
              </a:ext>
            </a:extLst>
          </p:cNvPr>
          <p:cNvPicPr>
            <a:picLocks noChangeAspect="1"/>
          </p:cNvPicPr>
          <p:nvPr/>
        </p:nvPicPr>
        <p:blipFill>
          <a:blip r:embed="rId6"/>
          <a:stretch/>
        </p:blipFill>
        <p:spPr>
          <a:xfrm>
            <a:off x="704850" y="3781425"/>
            <a:ext cx="361950" cy="361950"/>
          </a:xfrm>
          <a:prstGeom prst="rect">
            <a:avLst/>
          </a:prstGeom>
        </p:spPr>
      </p:pic>
      <p:sp>
        <p:nvSpPr>
          <p:cNvPr id="29" name="agenda-number">
            <a:extLst>
              <a:ext uri="{FF2B5EF4-FFF2-40B4-BE49-F238E27FC236}">
                <a16:creationId xmlns:a16="http://schemas.microsoft.com/office/drawing/2014/main" id="{A8638601-1C61-4B2B-B97D-7520F6931543}"/>
              </a:ext>
            </a:extLst>
          </p:cNvPr>
          <p:cNvSpPr>
            <a:spLocks noGrp="1"/>
          </p:cNvSpPr>
          <p:nvPr/>
        </p:nvSpPr>
        <p:spPr>
          <a:xfrm>
            <a:off x="1390650" y="3819525"/>
            <a:ext cx="647700" cy="381000"/>
          </a:xfrm>
          <a:prstGeom prst="rect">
            <a:avLst/>
          </a:prstGeom>
          <a:noFill/>
          <a:ln w="0">
            <a:noFill/>
          </a:ln>
        </p:spPr>
        <p:txBody>
          <a:bodyPr lIns="0" tIns="0" rIns="0" bIns="0">
            <a:noAutofit/>
          </a:bodyPr>
          <a:lstStyle>
            <a:defPPr>
              <a:defRPr sz="1875" b="1">
                <a:solidFill>
                  <a:srgbClr val="087E83"/>
                </a:solidFill>
                <a:latin typeface="Helvetica Neue"/>
                <a:ea typeface="Helvetica Neue"/>
                <a:cs typeface="Helvetica Neue"/>
              </a:defRPr>
            </a:defPPr>
          </a:lstStyle>
          <a:p>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04</a:t>
            </a:r>
          </a:p>
        </p:txBody>
      </p:sp>
      <p:sp>
        <p:nvSpPr>
          <p:cNvPr id="30" name="agenda-section">
            <a:extLst>
              <a:ext uri="{FF2B5EF4-FFF2-40B4-BE49-F238E27FC236}">
                <a16:creationId xmlns:a16="http://schemas.microsoft.com/office/drawing/2014/main" id="{9640E6D7-B7EA-4883-B07E-F011E1FF0CCC}"/>
              </a:ext>
            </a:extLst>
          </p:cNvPr>
          <p:cNvSpPr>
            <a:spLocks noGrp="1"/>
          </p:cNvSpPr>
          <p:nvPr/>
        </p:nvSpPr>
        <p:spPr>
          <a:xfrm>
            <a:off x="2238375" y="3810000"/>
            <a:ext cx="9239250" cy="428625"/>
          </a:xfrm>
          <a:prstGeom prst="rect">
            <a:avLst/>
          </a:prstGeom>
          <a:noFill/>
          <a:ln w="0">
            <a:noFill/>
          </a:ln>
        </p:spPr>
        <p:txBody>
          <a:bodyPr lIns="0" tIns="0" rIns="0" bIns="0">
            <a:noAutofit/>
          </a:bodyPr>
          <a:lstStyle>
            <a:defPPr>
              <a:defRPr sz="2175" b="1">
                <a:solidFill>
                  <a:srgbClr val="102B46"/>
                </a:solidFill>
                <a:latin typeface="Helvetica Neue"/>
                <a:ea typeface="Helvetica Neue"/>
                <a:cs typeface="Helvetica Neue"/>
              </a:defRPr>
            </a:defPPr>
          </a:lstStyle>
          <a:p>
            <a:pPr>
              <a:defRPr sz="2175" b="1">
                <a:solidFill>
                  <a:srgbClr val="102B46"/>
                </a:solidFill>
                <a:latin typeface="Helvetica Neue"/>
                <a:ea typeface="Helvetica Neue"/>
                <a:cs typeface="Helvetica Neue"/>
              </a:defRPr>
            </a:pPr>
            <a:r>
              <a:rPr sz="2175" b="1">
                <a:solidFill>
                  <a:srgbClr val="102B46"/>
                </a:solidFill>
                <a:latin typeface="Helvetica Neue"/>
                <a:ea typeface="Helvetica Neue"/>
                <a:cs typeface="Helvetica Neue"/>
              </a:rPr>
              <a:t>Session 2: Integrated solution</a:t>
            </a:r>
          </a:p>
        </p:txBody>
      </p:sp>
      <p:pic>
        <p:nvPicPr>
          <p:cNvPr id="31" name="Picture 30">
            <a:extLst>
              <a:ext uri="{FF2B5EF4-FFF2-40B4-BE49-F238E27FC236}">
                <a16:creationId xmlns:a16="http://schemas.microsoft.com/office/drawing/2014/main" id="{28BD624E-5EE5-43BD-9FF5-037BEE82795F}"/>
              </a:ext>
            </a:extLst>
          </p:cNvPr>
          <p:cNvPicPr>
            <a:picLocks noChangeAspect="1"/>
          </p:cNvPicPr>
          <p:nvPr/>
        </p:nvPicPr>
        <p:blipFill>
          <a:blip r:embed="rId7"/>
          <a:stretch/>
        </p:blipFill>
        <p:spPr>
          <a:xfrm>
            <a:off x="704850" y="4410075"/>
            <a:ext cx="361950" cy="361950"/>
          </a:xfrm>
          <a:prstGeom prst="rect">
            <a:avLst/>
          </a:prstGeom>
        </p:spPr>
      </p:pic>
      <p:sp>
        <p:nvSpPr>
          <p:cNvPr id="32" name="agenda-number">
            <a:extLst>
              <a:ext uri="{FF2B5EF4-FFF2-40B4-BE49-F238E27FC236}">
                <a16:creationId xmlns:a16="http://schemas.microsoft.com/office/drawing/2014/main" id="{0B0E6C21-263E-46CA-A643-EEE25A60F57E}"/>
              </a:ext>
            </a:extLst>
          </p:cNvPr>
          <p:cNvSpPr>
            <a:spLocks noGrp="1"/>
          </p:cNvSpPr>
          <p:nvPr/>
        </p:nvSpPr>
        <p:spPr>
          <a:xfrm>
            <a:off x="1390650" y="4448175"/>
            <a:ext cx="647700" cy="381000"/>
          </a:xfrm>
          <a:prstGeom prst="rect">
            <a:avLst/>
          </a:prstGeom>
          <a:noFill/>
          <a:ln w="0">
            <a:noFill/>
          </a:ln>
        </p:spPr>
        <p:txBody>
          <a:bodyPr lIns="0" tIns="0" rIns="0" bIns="0">
            <a:noAutofit/>
          </a:bodyPr>
          <a:lstStyle>
            <a:defPPr>
              <a:defRPr sz="1875" b="1">
                <a:solidFill>
                  <a:srgbClr val="7455B4"/>
                </a:solidFill>
                <a:latin typeface="Helvetica Neue"/>
                <a:ea typeface="Helvetica Neue"/>
                <a:cs typeface="Helvetica Neue"/>
              </a:defRPr>
            </a:defPPr>
          </a:lstStyle>
          <a:p>
            <a:pPr>
              <a:defRPr sz="1875" b="1">
                <a:solidFill>
                  <a:srgbClr val="7455B4"/>
                </a:solidFill>
                <a:latin typeface="Helvetica Neue"/>
                <a:ea typeface="Helvetica Neue"/>
                <a:cs typeface="Helvetica Neue"/>
              </a:defRPr>
            </a:pPr>
            <a:r>
              <a:rPr sz="1875" b="1">
                <a:solidFill>
                  <a:srgbClr val="7455B4"/>
                </a:solidFill>
                <a:latin typeface="Helvetica Neue"/>
                <a:ea typeface="Helvetica Neue"/>
                <a:cs typeface="Helvetica Neue"/>
              </a:rPr>
              <a:t>05</a:t>
            </a:r>
          </a:p>
        </p:txBody>
      </p:sp>
      <p:sp>
        <p:nvSpPr>
          <p:cNvPr id="33" name="agenda-section">
            <a:extLst>
              <a:ext uri="{FF2B5EF4-FFF2-40B4-BE49-F238E27FC236}">
                <a16:creationId xmlns:a16="http://schemas.microsoft.com/office/drawing/2014/main" id="{67C93D70-C28A-4395-8899-19FE44DDF101}"/>
              </a:ext>
            </a:extLst>
          </p:cNvPr>
          <p:cNvSpPr>
            <a:spLocks noGrp="1"/>
          </p:cNvSpPr>
          <p:nvPr/>
        </p:nvSpPr>
        <p:spPr>
          <a:xfrm>
            <a:off x="2238375" y="4438650"/>
            <a:ext cx="9239250" cy="428625"/>
          </a:xfrm>
          <a:prstGeom prst="rect">
            <a:avLst/>
          </a:prstGeom>
          <a:noFill/>
          <a:ln w="0">
            <a:noFill/>
          </a:ln>
        </p:spPr>
        <p:txBody>
          <a:bodyPr lIns="0" tIns="0" rIns="0" bIns="0">
            <a:noAutofit/>
          </a:bodyPr>
          <a:lstStyle>
            <a:defPPr>
              <a:defRPr sz="2175" b="1">
                <a:solidFill>
                  <a:srgbClr val="102B46"/>
                </a:solidFill>
                <a:latin typeface="Helvetica Neue"/>
                <a:ea typeface="Helvetica Neue"/>
                <a:cs typeface="Helvetica Neue"/>
              </a:defRPr>
            </a:defPPr>
          </a:lstStyle>
          <a:p>
            <a:pPr>
              <a:defRPr sz="2175" b="1">
                <a:solidFill>
                  <a:srgbClr val="102B46"/>
                </a:solidFill>
                <a:latin typeface="Helvetica Neue"/>
                <a:ea typeface="Helvetica Neue"/>
                <a:cs typeface="Helvetica Neue"/>
              </a:defRPr>
            </a:pPr>
            <a:r>
              <a:rPr sz="2175" b="1">
                <a:solidFill>
                  <a:srgbClr val="102B46"/>
                </a:solidFill>
                <a:latin typeface="Helvetica Neue"/>
                <a:ea typeface="Helvetica Neue"/>
                <a:cs typeface="Helvetica Neue"/>
              </a:rPr>
              <a:t>Session 3: Proposal and execution plan</a:t>
            </a:r>
          </a:p>
        </p:txBody>
      </p:sp>
      <p:pic>
        <p:nvPicPr>
          <p:cNvPr id="34" name="Picture 33">
            <a:extLst>
              <a:ext uri="{FF2B5EF4-FFF2-40B4-BE49-F238E27FC236}">
                <a16:creationId xmlns:a16="http://schemas.microsoft.com/office/drawing/2014/main" id="{7CEBDC24-9890-4253-8C0D-836024C3DDDC}"/>
              </a:ext>
            </a:extLst>
          </p:cNvPr>
          <p:cNvPicPr>
            <a:picLocks noChangeAspect="1"/>
          </p:cNvPicPr>
          <p:nvPr/>
        </p:nvPicPr>
        <p:blipFill>
          <a:blip r:embed="rId8"/>
          <a:stretch/>
        </p:blipFill>
        <p:spPr>
          <a:xfrm>
            <a:off x="704850" y="5038725"/>
            <a:ext cx="361950" cy="361950"/>
          </a:xfrm>
          <a:prstGeom prst="rect">
            <a:avLst/>
          </a:prstGeom>
        </p:spPr>
      </p:pic>
      <p:sp>
        <p:nvSpPr>
          <p:cNvPr id="35" name="agenda-number">
            <a:extLst>
              <a:ext uri="{FF2B5EF4-FFF2-40B4-BE49-F238E27FC236}">
                <a16:creationId xmlns:a16="http://schemas.microsoft.com/office/drawing/2014/main" id="{0A1040CE-6E96-423F-8CC8-CA26BBE86E33}"/>
              </a:ext>
            </a:extLst>
          </p:cNvPr>
          <p:cNvSpPr>
            <a:spLocks noGrp="1"/>
          </p:cNvSpPr>
          <p:nvPr/>
        </p:nvSpPr>
        <p:spPr>
          <a:xfrm>
            <a:off x="1390650" y="5076825"/>
            <a:ext cx="647700" cy="381000"/>
          </a:xfrm>
          <a:prstGeom prst="rect">
            <a:avLst/>
          </a:prstGeom>
          <a:noFill/>
          <a:ln w="0">
            <a:noFill/>
          </a:ln>
        </p:spPr>
        <p:txBody>
          <a:bodyPr lIns="0" tIns="0" rIns="0" bIns="0">
            <a:noAutofit/>
          </a:bodyPr>
          <a:lstStyle>
            <a:defPPr>
              <a:defRPr sz="1875" b="1">
                <a:solidFill>
                  <a:srgbClr val="A16C27"/>
                </a:solidFill>
                <a:latin typeface="Helvetica Neue"/>
                <a:ea typeface="Helvetica Neue"/>
                <a:cs typeface="Helvetica Neue"/>
              </a:defRPr>
            </a:defPPr>
          </a:lstStyle>
          <a:p>
            <a:pPr>
              <a:defRPr sz="1875" b="1">
                <a:solidFill>
                  <a:srgbClr val="A16C27"/>
                </a:solidFill>
                <a:latin typeface="Helvetica Neue"/>
                <a:ea typeface="Helvetica Neue"/>
                <a:cs typeface="Helvetica Neue"/>
              </a:defRPr>
            </a:pPr>
            <a:r>
              <a:rPr sz="1875" b="1">
                <a:solidFill>
                  <a:srgbClr val="A16C27"/>
                </a:solidFill>
                <a:latin typeface="Helvetica Neue"/>
                <a:ea typeface="Helvetica Neue"/>
                <a:cs typeface="Helvetica Neue"/>
              </a:rPr>
              <a:t>06</a:t>
            </a:r>
          </a:p>
        </p:txBody>
      </p:sp>
      <p:sp>
        <p:nvSpPr>
          <p:cNvPr id="36" name="agenda-section">
            <a:extLst>
              <a:ext uri="{FF2B5EF4-FFF2-40B4-BE49-F238E27FC236}">
                <a16:creationId xmlns:a16="http://schemas.microsoft.com/office/drawing/2014/main" id="{8E4434C2-65CE-4005-AE08-76B446A29128}"/>
              </a:ext>
            </a:extLst>
          </p:cNvPr>
          <p:cNvSpPr>
            <a:spLocks noGrp="1"/>
          </p:cNvSpPr>
          <p:nvPr/>
        </p:nvSpPr>
        <p:spPr>
          <a:xfrm>
            <a:off x="2238375" y="5067300"/>
            <a:ext cx="9239250" cy="428625"/>
          </a:xfrm>
          <a:prstGeom prst="rect">
            <a:avLst/>
          </a:prstGeom>
          <a:noFill/>
          <a:ln w="0">
            <a:noFill/>
          </a:ln>
        </p:spPr>
        <p:txBody>
          <a:bodyPr lIns="0" tIns="0" rIns="0" bIns="0">
            <a:noAutofit/>
          </a:bodyPr>
          <a:lstStyle>
            <a:defPPr>
              <a:defRPr sz="2175" b="1">
                <a:solidFill>
                  <a:srgbClr val="102B46"/>
                </a:solidFill>
                <a:latin typeface="Helvetica Neue"/>
                <a:ea typeface="Helvetica Neue"/>
                <a:cs typeface="Helvetica Neue"/>
              </a:defRPr>
            </a:defPPr>
          </a:lstStyle>
          <a:p>
            <a:pPr>
              <a:defRPr sz="2175" b="1">
                <a:solidFill>
                  <a:srgbClr val="102B46"/>
                </a:solidFill>
                <a:latin typeface="Helvetica Neue"/>
                <a:ea typeface="Helvetica Neue"/>
                <a:cs typeface="Helvetica Neue"/>
              </a:defRPr>
            </a:pPr>
            <a:r>
              <a:rPr sz="2175" b="1">
                <a:solidFill>
                  <a:srgbClr val="102B46"/>
                </a:solidFill>
                <a:latin typeface="Helvetica Neue"/>
                <a:ea typeface="Helvetica Neue"/>
                <a:cs typeface="Helvetica Neue"/>
              </a:rPr>
              <a:t>Proposal and delivery</a:t>
            </a:r>
          </a:p>
        </p:txBody>
      </p:sp>
      <p:sp>
        <p:nvSpPr>
          <p:cNvPr id="37" name="appendix-cue">
            <a:extLst>
              <a:ext uri="{FF2B5EF4-FFF2-40B4-BE49-F238E27FC236}">
                <a16:creationId xmlns:a16="http://schemas.microsoft.com/office/drawing/2014/main" id="{91D07412-480A-49B8-978D-2E1763FC7315}"/>
              </a:ext>
            </a:extLst>
          </p:cNvPr>
          <p:cNvSpPr>
            <a:spLocks noGrp="1"/>
          </p:cNvSpPr>
          <p:nvPr/>
        </p:nvSpPr>
        <p:spPr>
          <a:xfrm>
            <a:off x="609600" y="5953125"/>
            <a:ext cx="10972800" cy="333375"/>
          </a:xfrm>
          <a:prstGeom prst="rect">
            <a:avLst/>
          </a:prstGeom>
          <a:noFill/>
          <a:ln w="0">
            <a:noFill/>
          </a:ln>
        </p:spPr>
        <p:txBody>
          <a:bodyPr lIns="0" tIns="0" rIns="0" bIns="0">
            <a:noAutofit/>
          </a:bodyPr>
          <a:lstStyle>
            <a:defPPr>
              <a:defRPr sz="1725" b="0">
                <a:solidFill>
                  <a:srgbClr val="607482"/>
                </a:solidFill>
                <a:latin typeface="Helvetica Neue"/>
                <a:ea typeface="Helvetica Neue"/>
                <a:cs typeface="Helvetica Neue"/>
              </a:defRPr>
            </a:defPPr>
          </a:lstStyle>
          <a:p>
            <a:pPr>
              <a:defRPr sz="1725" b="0">
                <a:solidFill>
                  <a:srgbClr val="607482"/>
                </a:solidFill>
                <a:latin typeface="Helvetica Neue"/>
                <a:ea typeface="Helvetica Neue"/>
                <a:cs typeface="Helvetica Neue"/>
              </a:defRPr>
            </a:pPr>
            <a:r>
              <a:rPr sz="1725" b="0">
                <a:solidFill>
                  <a:srgbClr val="607482"/>
                </a:solidFill>
                <a:latin typeface="Helvetica Neue"/>
                <a:ea typeface="Helvetica Neue"/>
                <a:cs typeface="Helvetica Neue"/>
              </a:rPr>
              <a:t>Appendix: detailed steps, examples and prompt guide</a:t>
            </a:r>
          </a:p>
        </p:txBody>
      </p:sp>
    </p:spTree>
    <p:extLst>
      <p:ext uri="{BB962C8B-B14F-4D97-AF65-F5344CB8AC3E}">
        <p14:creationId xmlns:p14="http://schemas.microsoft.com/office/powerpoint/2010/main" val="345487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44653"/>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A6F971A-A131-476C-834D-5B756324CB03}"/>
              </a:ext>
            </a:extLst>
          </p:cNvPr>
          <p:cNvPicPr>
            <a:picLocks noChangeAspect="1"/>
          </p:cNvPicPr>
          <p:nvPr/>
        </p:nvPicPr>
        <p:blipFill>
          <a:blip r:embed="rId3"/>
          <a:stretch/>
        </p:blipFill>
        <p:spPr>
          <a:xfrm>
            <a:off x="10001250" y="666750"/>
            <a:ext cx="1219200" cy="1219200"/>
          </a:xfrm>
          <a:prstGeom prst="rect">
            <a:avLst/>
          </a:prstGeom>
        </p:spPr>
      </p:pic>
      <p:sp>
        <p:nvSpPr>
          <p:cNvPr id="2" name="slide-title">
            <a:extLst>
              <a:ext uri="{FF2B5EF4-FFF2-40B4-BE49-F238E27FC236}">
                <a16:creationId xmlns:a16="http://schemas.microsoft.com/office/drawing/2014/main" id="{8FC1881B-FA56-41EE-A6D8-25D61BB61438}"/>
              </a:ext>
            </a:extLst>
          </p:cNvPr>
          <p:cNvSpPr>
            <a:spLocks noGrp="1"/>
          </p:cNvSpPr>
          <p:nvPr/>
        </p:nvSpPr>
        <p:spPr>
          <a:xfrm>
            <a:off x="609600" y="2400300"/>
            <a:ext cx="10668000" cy="1762125"/>
          </a:xfrm>
          <a:prstGeom prst="rect">
            <a:avLst/>
          </a:prstGeom>
          <a:noFill/>
          <a:ln w="0">
            <a:noFill/>
          </a:ln>
        </p:spPr>
        <p:txBody>
          <a:bodyPr lIns="0" tIns="0" rIns="0" bIns="0">
            <a:noAutofit/>
          </a:bodyPr>
          <a:lstStyle>
            <a:defPPr>
              <a:defRPr sz="4350" b="1">
                <a:solidFill>
                  <a:srgbClr val="FFFFFF"/>
                </a:solidFill>
                <a:latin typeface="Helvetica Neue"/>
                <a:ea typeface="Helvetica Neue"/>
                <a:cs typeface="Helvetica Neue"/>
              </a:defRPr>
            </a:defPPr>
          </a:lstStyle>
          <a:p>
            <a:pPr>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Introduction</a:t>
            </a:r>
          </a:p>
        </p:txBody>
      </p:sp>
      <p:sp>
        <p:nvSpPr>
          <p:cNvPr id="3" name="section-subtitle">
            <a:extLst>
              <a:ext uri="{FF2B5EF4-FFF2-40B4-BE49-F238E27FC236}">
                <a16:creationId xmlns:a16="http://schemas.microsoft.com/office/drawing/2014/main" id="{E53779E0-6473-45C8-9D78-0D7FDF07E60A}"/>
              </a:ext>
            </a:extLst>
          </p:cNvPr>
          <p:cNvSpPr>
            <a:spLocks noGrp="1"/>
          </p:cNvSpPr>
          <p:nvPr/>
        </p:nvSpPr>
        <p:spPr>
          <a:xfrm>
            <a:off x="609600" y="4905375"/>
            <a:ext cx="10668000" cy="762000"/>
          </a:xfrm>
          <a:prstGeom prst="rect">
            <a:avLst/>
          </a:prstGeom>
          <a:noFill/>
          <a:ln w="0">
            <a:noFill/>
          </a:ln>
        </p:spPr>
        <p:txBody>
          <a:bodyPr lIns="0" tIns="0" rIns="0" bIns="0">
            <a:noAutofit/>
          </a:bodyPr>
          <a:lstStyle>
            <a:defPPr>
              <a:defRPr sz="2175" b="0">
                <a:solidFill>
                  <a:srgbClr val="FFFFFF"/>
                </a:solidFill>
                <a:latin typeface="Helvetica Neue"/>
                <a:ea typeface="Helvetica Neue"/>
                <a:cs typeface="Helvetica Neue"/>
              </a:defRPr>
            </a:defPPr>
          </a:lstStyle>
          <a:p>
            <a:pPr>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Working approach and session outputs</a:t>
            </a:r>
          </a:p>
        </p:txBody>
      </p:sp>
      <p:sp>
        <p:nvSpPr>
          <p:cNvPr id="4" name="page-number">
            <a:extLst>
              <a:ext uri="{FF2B5EF4-FFF2-40B4-BE49-F238E27FC236}">
                <a16:creationId xmlns:a16="http://schemas.microsoft.com/office/drawing/2014/main" id="{0730973B-4496-4BB4-B9BC-4F6A32AED32B}"/>
              </a:ext>
            </a:extLst>
          </p:cNvPr>
          <p:cNvSpPr>
            <a:spLocks noGrp="1"/>
          </p:cNvSpPr>
          <p:nvPr/>
        </p:nvSpPr>
        <p:spPr>
          <a:xfrm>
            <a:off x="10953750" y="6438900"/>
            <a:ext cx="619125" cy="238125"/>
          </a:xfrm>
          <a:prstGeom prst="rect">
            <a:avLst/>
          </a:prstGeom>
          <a:noFill/>
          <a:ln w="0">
            <a:noFill/>
          </a:ln>
        </p:spPr>
        <p:txBody>
          <a:bodyPr lIns="0" tIns="0" rIns="0" bIns="0">
            <a:noAutofit/>
          </a:bodyPr>
          <a:lstStyle>
            <a:defPPr>
              <a:defRPr sz="1125" b="0">
                <a:solidFill>
                  <a:srgbClr val="FFFFFF"/>
                </a:solidFill>
                <a:latin typeface="Helvetica Neue"/>
                <a:ea typeface="Helvetica Neue"/>
                <a:cs typeface="Helvetica Neue"/>
              </a:defRPr>
            </a:defPPr>
          </a:lstStyle>
          <a:p>
            <a:pPr>
              <a:defRPr sz="1125" b="0">
                <a:solidFill>
                  <a:srgbClr val="FFFFFF"/>
                </a:solidFill>
                <a:latin typeface="Helvetica Neue"/>
                <a:ea typeface="Helvetica Neue"/>
                <a:cs typeface="Helvetica Neue"/>
              </a:defRPr>
            </a:pPr>
            <a:r>
              <a:rPr sz="1125" b="0">
                <a:solidFill>
                  <a:srgbClr val="FFFFFF"/>
                </a:solidFill>
                <a:latin typeface="Helvetica Neue"/>
                <a:ea typeface="Helvetica Neue"/>
                <a:cs typeface="Helvetica Neue"/>
              </a:rPr>
              <a:t>3</a:t>
            </a:r>
          </a:p>
        </p:txBody>
      </p:sp>
    </p:spTree>
    <p:extLst>
      <p:ext uri="{BB962C8B-B14F-4D97-AF65-F5344CB8AC3E}">
        <p14:creationId xmlns:p14="http://schemas.microsoft.com/office/powerpoint/2010/main" val="2105944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section-label">
            <a:extLst>
              <a:ext uri="{FF2B5EF4-FFF2-40B4-BE49-F238E27FC236}">
                <a16:creationId xmlns:a16="http://schemas.microsoft.com/office/drawing/2014/main" id="{D53CB4F5-A580-49B5-B8FF-0E61FE635F7B}"/>
              </a:ext>
            </a:extLst>
          </p:cNvPr>
          <p:cNvSpPr>
            <a:spLocks noGrp="1"/>
          </p:cNvSpPr>
          <p:nvPr/>
        </p:nvSpPr>
        <p:spPr>
          <a:xfrm>
            <a:off x="609600" y="285750"/>
            <a:ext cx="10668000" cy="285750"/>
          </a:xfrm>
          <a:prstGeom prst="rect">
            <a:avLst/>
          </a:prstGeom>
          <a:noFill/>
          <a:ln w="0">
            <a:noFill/>
          </a:ln>
        </p:spPr>
        <p:txBody>
          <a:bodyPr lIns="0" tIns="0" rIns="0" bIns="0">
            <a:noAutofit/>
          </a:bodyPr>
          <a:lstStyle>
            <a:defPPr>
              <a:defRPr sz="1200" b="1">
                <a:solidFill>
                  <a:srgbClr val="244653"/>
                </a:solidFill>
                <a:latin typeface="Helvetica Neue"/>
                <a:ea typeface="Helvetica Neue"/>
                <a:cs typeface="Helvetica Neue"/>
              </a:defRPr>
            </a:defPPr>
          </a:lstStyle>
          <a:p>
            <a:pPr>
              <a:buNone/>
              <a:defRPr sz="1200" b="1">
                <a:solidFill>
                  <a:srgbClr val="244653"/>
                </a:solidFill>
                <a:latin typeface="Helvetica Neue"/>
                <a:ea typeface="Helvetica Neue"/>
                <a:cs typeface="Helvetica Neue"/>
              </a:defRPr>
            </a:pPr>
            <a:r>
              <a:rPr sz="1200" b="1">
                <a:solidFill>
                  <a:srgbClr val="244653"/>
                </a:solidFill>
                <a:latin typeface="Helvetica Neue"/>
                <a:ea typeface="Helvetica Neue"/>
                <a:cs typeface="Helvetica Neue"/>
              </a:rPr>
              <a:t>INTRODUCTION</a:t>
            </a:r>
          </a:p>
        </p:txBody>
      </p:sp>
      <p:sp>
        <p:nvSpPr>
          <p:cNvPr id="2" name="slide-title">
            <a:extLst>
              <a:ext uri="{FF2B5EF4-FFF2-40B4-BE49-F238E27FC236}">
                <a16:creationId xmlns:a16="http://schemas.microsoft.com/office/drawing/2014/main" id="{B25E9C59-0DDD-4F5F-8B4C-E6293CBE6494}"/>
              </a:ext>
            </a:extLst>
          </p:cNvPr>
          <p:cNvSpPr>
            <a:spLocks noGrp="1"/>
          </p:cNvSpPr>
          <p:nvPr/>
        </p:nvSpPr>
        <p:spPr>
          <a:xfrm>
            <a:off x="609600" y="781050"/>
            <a:ext cx="10972800" cy="819150"/>
          </a:xfrm>
          <a:prstGeom prst="rect">
            <a:avLst/>
          </a:prstGeom>
          <a:noFill/>
          <a:ln w="0">
            <a:noFill/>
          </a:ln>
        </p:spPr>
        <p:txBody>
          <a:bodyPr lIns="0" tIns="0" rIns="0" bIns="0">
            <a:noAutofit/>
          </a:bodyPr>
          <a:lstStyle>
            <a:defPPr>
              <a:defRPr sz="3450" b="1">
                <a:solidFill>
                  <a:srgbClr val="102B46"/>
                </a:solidFill>
                <a:latin typeface="Helvetica Neue"/>
                <a:ea typeface="Helvetica Neue"/>
                <a:cs typeface="Helvetica Neue"/>
              </a:defRPr>
            </a:defPPr>
          </a:lstStyle>
          <a:p>
            <a:pPr>
              <a:buNone/>
              <a:defRPr sz="3450" b="1">
                <a:solidFill>
                  <a:srgbClr val="102B46"/>
                </a:solidFill>
                <a:latin typeface="Helvetica Neue"/>
                <a:ea typeface="Helvetica Neue"/>
                <a:cs typeface="Helvetica Neue"/>
              </a:defRPr>
            </a:pPr>
            <a:r>
              <a:rPr sz="3450" b="1">
                <a:solidFill>
                  <a:srgbClr val="102B46"/>
                </a:solidFill>
                <a:latin typeface="Helvetica Neue"/>
                <a:ea typeface="Helvetica Neue"/>
                <a:cs typeface="Helvetica Neue"/>
              </a:rPr>
              <a:t>People and agents working together</a:t>
            </a:r>
          </a:p>
        </p:txBody>
      </p:sp>
      <p:sp>
        <p:nvSpPr>
          <p:cNvPr id="3" name="subtitle">
            <a:extLst>
              <a:ext uri="{FF2B5EF4-FFF2-40B4-BE49-F238E27FC236}">
                <a16:creationId xmlns:a16="http://schemas.microsoft.com/office/drawing/2014/main" id="{71B1443B-3C90-4C13-9506-D7C169E75803}"/>
              </a:ext>
            </a:extLst>
          </p:cNvPr>
          <p:cNvSpPr>
            <a:spLocks noGrp="1"/>
          </p:cNvSpPr>
          <p:nvPr/>
        </p:nvSpPr>
        <p:spPr>
          <a:xfrm>
            <a:off x="609600" y="1581150"/>
            <a:ext cx="10972800" cy="419100"/>
          </a:xfrm>
          <a:prstGeom prst="rect">
            <a:avLst/>
          </a:prstGeom>
          <a:noFill/>
          <a:ln w="0">
            <a:noFill/>
          </a:ln>
        </p:spPr>
        <p:txBody>
          <a:bodyPr lIns="0" tIns="0" rIns="0" bIns="0">
            <a:noAutofit/>
          </a:bodyPr>
          <a:lstStyle>
            <a:defPPr>
              <a:defRPr sz="1800" b="0">
                <a:solidFill>
                  <a:srgbClr val="607482"/>
                </a:solidFill>
                <a:latin typeface="Helvetica Neue"/>
                <a:ea typeface="Helvetica Neue"/>
                <a:cs typeface="Helvetica Neue"/>
              </a:defRPr>
            </a:defPPr>
          </a:lstStyle>
          <a:p>
            <a:pPr>
              <a:buNone/>
              <a:defRPr sz="1800" b="0">
                <a:solidFill>
                  <a:srgbClr val="607482"/>
                </a:solidFill>
                <a:latin typeface="Helvetica Neue"/>
                <a:ea typeface="Helvetica Neue"/>
                <a:cs typeface="Helvetica Neue"/>
              </a:defRPr>
            </a:pPr>
            <a:r>
              <a:rPr sz="1800" b="0">
                <a:solidFill>
                  <a:srgbClr val="607482"/>
                </a:solidFill>
                <a:latin typeface="Helvetica Neue"/>
                <a:ea typeface="Helvetica Neue"/>
                <a:cs typeface="Helvetica Neue"/>
              </a:rPr>
              <a:t>Technology, regulation and business progress in parallel</a:t>
            </a:r>
          </a:p>
        </p:txBody>
      </p:sp>
      <p:sp>
        <p:nvSpPr>
          <p:cNvPr id="4" name="workstream-Technology">
            <a:extLst>
              <a:ext uri="{FF2B5EF4-FFF2-40B4-BE49-F238E27FC236}">
                <a16:creationId xmlns:a16="http://schemas.microsoft.com/office/drawing/2014/main" id="{854BAA97-CCF5-4C31-A23D-3F386241E100}"/>
              </a:ext>
            </a:extLst>
          </p:cNvPr>
          <p:cNvSpPr>
            <a:spLocks noGrp="1"/>
          </p:cNvSpPr>
          <p:nvPr/>
        </p:nvSpPr>
        <p:spPr>
          <a:xfrm>
            <a:off x="609600" y="2247900"/>
            <a:ext cx="3505200" cy="2114550"/>
          </a:xfrm>
          <a:prstGeom prst="rect">
            <a:avLst/>
          </a:prstGeom>
          <a:solidFill>
            <a:srgbClr val="EFF5FC"/>
          </a:solidFill>
          <a:ln w="9525">
            <a:solidFill>
              <a:srgbClr val="226FBB"/>
            </a:solidFill>
          </a:ln>
        </p:spPr>
      </p:sp>
      <p:sp>
        <p:nvSpPr>
          <p:cNvPr id="5" name="workstream-title">
            <a:extLst>
              <a:ext uri="{FF2B5EF4-FFF2-40B4-BE49-F238E27FC236}">
                <a16:creationId xmlns:a16="http://schemas.microsoft.com/office/drawing/2014/main" id="{0234E7AB-9453-48FC-A6CA-7B380379A6B7}"/>
              </a:ext>
            </a:extLst>
          </p:cNvPr>
          <p:cNvSpPr>
            <a:spLocks noGrp="1"/>
          </p:cNvSpPr>
          <p:nvPr/>
        </p:nvSpPr>
        <p:spPr>
          <a:xfrm>
            <a:off x="819150" y="2419350"/>
            <a:ext cx="3086100" cy="409575"/>
          </a:xfrm>
          <a:prstGeom prst="rect">
            <a:avLst/>
          </a:prstGeom>
          <a:noFill/>
          <a:ln w="0">
            <a:noFill/>
          </a:ln>
        </p:spPr>
        <p:txBody>
          <a:bodyPr lIns="0" tIns="0" rIns="0" bIns="0">
            <a:noAutofit/>
          </a:bodyPr>
          <a:lstStyle>
            <a:defPPr>
              <a:defRPr sz="2250" b="1">
                <a:solidFill>
                  <a:srgbClr val="226FBB"/>
                </a:solidFill>
                <a:latin typeface="Helvetica Neue"/>
                <a:ea typeface="Helvetica Neue"/>
                <a:cs typeface="Helvetica Neue"/>
              </a:defRPr>
            </a:defPPr>
          </a:lstStyle>
          <a:p>
            <a:pPr>
              <a:buNone/>
              <a:defRPr sz="2250" b="1">
                <a:solidFill>
                  <a:srgbClr val="226FBB"/>
                </a:solidFill>
                <a:latin typeface="Helvetica Neue"/>
                <a:ea typeface="Helvetica Neue"/>
                <a:cs typeface="Helvetica Neue"/>
              </a:defRPr>
            </a:pPr>
            <a:r>
              <a:rPr sz="2250" b="1">
                <a:solidFill>
                  <a:srgbClr val="226FBB"/>
                </a:solidFill>
                <a:latin typeface="Helvetica Neue"/>
                <a:ea typeface="Helvetica Neue"/>
                <a:cs typeface="Helvetica Neue"/>
              </a:rPr>
              <a:t>Technology</a:t>
            </a:r>
          </a:p>
        </p:txBody>
      </p:sp>
      <p:pic>
        <p:nvPicPr>
          <p:cNvPr id="6" name="Picture 5">
            <a:extLst>
              <a:ext uri="{FF2B5EF4-FFF2-40B4-BE49-F238E27FC236}">
                <a16:creationId xmlns:a16="http://schemas.microsoft.com/office/drawing/2014/main" id="{AE286F88-E70D-4960-BCD4-7F8A15B1B29A}"/>
              </a:ext>
            </a:extLst>
          </p:cNvPr>
          <p:cNvPicPr>
            <a:picLocks noChangeAspect="1"/>
          </p:cNvPicPr>
          <p:nvPr/>
        </p:nvPicPr>
        <p:blipFill>
          <a:blip r:embed="rId3"/>
          <a:stretch/>
        </p:blipFill>
        <p:spPr>
          <a:xfrm>
            <a:off x="819150" y="2962275"/>
            <a:ext cx="400050" cy="400050"/>
          </a:xfrm>
          <a:prstGeom prst="rect">
            <a:avLst/>
          </a:prstGeom>
        </p:spPr>
      </p:pic>
      <p:pic>
        <p:nvPicPr>
          <p:cNvPr id="7" name="Picture 6">
            <a:extLst>
              <a:ext uri="{FF2B5EF4-FFF2-40B4-BE49-F238E27FC236}">
                <a16:creationId xmlns:a16="http://schemas.microsoft.com/office/drawing/2014/main" id="{9C31BB9C-7307-49CB-8706-23F46A33E6A3}"/>
              </a:ext>
            </a:extLst>
          </p:cNvPr>
          <p:cNvPicPr>
            <a:picLocks noChangeAspect="1"/>
          </p:cNvPicPr>
          <p:nvPr/>
        </p:nvPicPr>
        <p:blipFill>
          <a:blip r:embed="rId4"/>
          <a:stretch/>
        </p:blipFill>
        <p:spPr>
          <a:xfrm>
            <a:off x="1476375" y="2962275"/>
            <a:ext cx="400050" cy="400050"/>
          </a:xfrm>
          <a:prstGeom prst="rect">
            <a:avLst/>
          </a:prstGeom>
        </p:spPr>
      </p:pic>
      <p:sp>
        <p:nvSpPr>
          <p:cNvPr id="8" name="people-and-agent">
            <a:extLst>
              <a:ext uri="{FF2B5EF4-FFF2-40B4-BE49-F238E27FC236}">
                <a16:creationId xmlns:a16="http://schemas.microsoft.com/office/drawing/2014/main" id="{7153E7BD-A89E-4ED0-A01C-4E6E6DB0F127}"/>
              </a:ext>
            </a:extLst>
          </p:cNvPr>
          <p:cNvSpPr>
            <a:spLocks noGrp="1"/>
          </p:cNvSpPr>
          <p:nvPr/>
        </p:nvSpPr>
        <p:spPr>
          <a:xfrm>
            <a:off x="2057400" y="3038475"/>
            <a:ext cx="1847850" cy="371475"/>
          </a:xfrm>
          <a:prstGeom prst="rect">
            <a:avLst/>
          </a:prstGeom>
          <a:noFill/>
          <a:ln w="0">
            <a:noFill/>
          </a:ln>
        </p:spPr>
        <p:txBody>
          <a:bodyPr lIns="0" tIns="0" rIns="0" bIns="0">
            <a:noAutofit/>
          </a:bodyPr>
          <a:lstStyle>
            <a:defPPr>
              <a:defRPr sz="1725" b="1">
                <a:solidFill>
                  <a:srgbClr val="233A4B"/>
                </a:solidFill>
                <a:latin typeface="Helvetica Neue"/>
                <a:ea typeface="Helvetica Neue"/>
                <a:cs typeface="Helvetica Neue"/>
              </a:defRPr>
            </a:defPPr>
          </a:lstStyle>
          <a:p>
            <a:pPr>
              <a:buNone/>
              <a:defRPr sz="1725" b="1">
                <a:solidFill>
                  <a:srgbClr val="233A4B"/>
                </a:solidFill>
                <a:latin typeface="Helvetica Neue"/>
                <a:ea typeface="Helvetica Neue"/>
                <a:cs typeface="Helvetica Neue"/>
              </a:defRPr>
            </a:pPr>
            <a:r>
              <a:rPr sz="1725" b="1">
                <a:solidFill>
                  <a:srgbClr val="233A4B"/>
                </a:solidFill>
                <a:latin typeface="Helvetica Neue"/>
                <a:ea typeface="Helvetica Neue"/>
                <a:cs typeface="Helvetica Neue"/>
              </a:rPr>
              <a:t>People + agent</a:t>
            </a:r>
          </a:p>
        </p:txBody>
      </p:sp>
      <p:sp>
        <p:nvSpPr>
          <p:cNvPr id="9" name="workstream-tasks">
            <a:extLst>
              <a:ext uri="{FF2B5EF4-FFF2-40B4-BE49-F238E27FC236}">
                <a16:creationId xmlns:a16="http://schemas.microsoft.com/office/drawing/2014/main" id="{5E4161B8-C737-41F7-B44D-8DDAE8C27B30}"/>
              </a:ext>
            </a:extLst>
          </p:cNvPr>
          <p:cNvSpPr>
            <a:spLocks noGrp="1"/>
          </p:cNvSpPr>
          <p:nvPr/>
        </p:nvSpPr>
        <p:spPr>
          <a:xfrm>
            <a:off x="819150" y="3629025"/>
            <a:ext cx="3086100" cy="619125"/>
          </a:xfrm>
          <a:prstGeom prst="rect">
            <a:avLst/>
          </a:prstGeom>
          <a:noFill/>
          <a:ln w="0">
            <a:noFill/>
          </a:ln>
        </p:spPr>
        <p:txBody>
          <a:bodyPr lIns="0" tIns="0" rIns="0" bIns="0">
            <a:noAutofit/>
          </a:bodyPr>
          <a:lstStyle>
            <a:defPPr>
              <a:defRPr sz="1875" b="0">
                <a:solidFill>
                  <a:srgbClr val="233A4B"/>
                </a:solidFill>
                <a:latin typeface="Helvetica Neue"/>
                <a:ea typeface="Helvetica Neue"/>
                <a:cs typeface="Helvetica Neue"/>
              </a:defRPr>
            </a:defPPr>
          </a:lstStyle>
          <a:p>
            <a:pPr>
              <a:buNone/>
              <a:defRPr sz="1875" b="0">
                <a:solidFill>
                  <a:srgbClr val="233A4B"/>
                </a:solidFill>
                <a:latin typeface="Helvetica Neue"/>
                <a:ea typeface="Helvetica Neue"/>
                <a:cs typeface="Helvetica Neue"/>
              </a:defRPr>
            </a:pPr>
            <a:r>
              <a:rPr sz="1875" b="0">
                <a:solidFill>
                  <a:srgbClr val="233A4B"/>
                </a:solidFill>
                <a:latin typeface="Helvetica Neue"/>
                <a:ea typeface="Helvetica Neue"/>
                <a:cs typeface="Helvetica Neue"/>
              </a:rPr>
              <a:t>Define the system</a:t>
            </a:r>
          </a:p>
          <a:p>
            <a:pPr>
              <a:buNone/>
              <a:defRPr sz="1875" b="0">
                <a:solidFill>
                  <a:srgbClr val="233A4B"/>
                </a:solidFill>
                <a:latin typeface="Helvetica Neue"/>
                <a:ea typeface="Helvetica Neue"/>
                <a:cs typeface="Helvetica Neue"/>
              </a:defRPr>
            </a:pPr>
            <a:r>
              <a:rPr sz="1875" b="0">
                <a:solidFill>
                  <a:srgbClr val="233A4B"/>
                </a:solidFill>
                <a:latin typeface="Helvetica Neue"/>
                <a:ea typeface="Helvetica Neue"/>
                <a:cs typeface="Helvetica Neue"/>
              </a:rPr>
              <a:t>Compare evidence</a:t>
            </a:r>
          </a:p>
        </p:txBody>
      </p:sp>
      <p:cxnSp>
        <p:nvCxnSpPr>
          <p:cNvPr id="10" name="flow-connector">
            <a:extLst>
              <a:ext uri="{FF2B5EF4-FFF2-40B4-BE49-F238E27FC236}">
                <a16:creationId xmlns:a16="http://schemas.microsoft.com/office/drawing/2014/main" id="{7F0A0BE3-052B-4BF7-939C-8ADDE7020851}"/>
              </a:ext>
            </a:extLst>
          </p:cNvPr>
          <p:cNvCxnSpPr/>
          <p:nvPr/>
        </p:nvCxnSpPr>
        <p:spPr>
          <a:xfrm>
            <a:off x="2362200" y="4362450"/>
            <a:ext cx="0" cy="400050"/>
          </a:xfrm>
          <a:prstGeom prst="straightConnector1">
            <a:avLst/>
          </a:prstGeom>
          <a:ln w="16193">
            <a:solidFill>
              <a:srgbClr val="226FBB"/>
            </a:solidFill>
            <a:headEnd type="triangle" w="sm" len="sm"/>
            <a:tailEnd type="triangle" w="sm" len="sm"/>
          </a:ln>
        </p:spPr>
      </p:cxnSp>
      <p:sp>
        <p:nvSpPr>
          <p:cNvPr id="11" name="workstream-Regulation">
            <a:extLst>
              <a:ext uri="{FF2B5EF4-FFF2-40B4-BE49-F238E27FC236}">
                <a16:creationId xmlns:a16="http://schemas.microsoft.com/office/drawing/2014/main" id="{B6184332-F6BA-427A-9412-144897C2A7C3}"/>
              </a:ext>
            </a:extLst>
          </p:cNvPr>
          <p:cNvSpPr>
            <a:spLocks noGrp="1"/>
          </p:cNvSpPr>
          <p:nvPr/>
        </p:nvSpPr>
        <p:spPr>
          <a:xfrm>
            <a:off x="4343400" y="2247900"/>
            <a:ext cx="3505200" cy="2114550"/>
          </a:xfrm>
          <a:prstGeom prst="rect">
            <a:avLst/>
          </a:prstGeom>
          <a:solidFill>
            <a:srgbClr val="EDF7F6"/>
          </a:solidFill>
          <a:ln w="9525">
            <a:solidFill>
              <a:srgbClr val="087E83"/>
            </a:solidFill>
          </a:ln>
        </p:spPr>
      </p:sp>
      <p:sp>
        <p:nvSpPr>
          <p:cNvPr id="12" name="workstream-title">
            <a:extLst>
              <a:ext uri="{FF2B5EF4-FFF2-40B4-BE49-F238E27FC236}">
                <a16:creationId xmlns:a16="http://schemas.microsoft.com/office/drawing/2014/main" id="{31827681-7151-4F2F-9DC4-1FC81D7B3E22}"/>
              </a:ext>
            </a:extLst>
          </p:cNvPr>
          <p:cNvSpPr>
            <a:spLocks noGrp="1"/>
          </p:cNvSpPr>
          <p:nvPr/>
        </p:nvSpPr>
        <p:spPr>
          <a:xfrm>
            <a:off x="4552950" y="2419350"/>
            <a:ext cx="3086100" cy="409575"/>
          </a:xfrm>
          <a:prstGeom prst="rect">
            <a:avLst/>
          </a:prstGeom>
          <a:noFill/>
          <a:ln w="0">
            <a:noFill/>
          </a:ln>
        </p:spPr>
        <p:txBody>
          <a:bodyPr lIns="0" tIns="0" rIns="0" bIns="0">
            <a:noAutofit/>
          </a:bodyPr>
          <a:lstStyle>
            <a:defPPr>
              <a:defRPr sz="2250" b="1">
                <a:solidFill>
                  <a:srgbClr val="087E83"/>
                </a:solidFill>
                <a:latin typeface="Helvetica Neue"/>
                <a:ea typeface="Helvetica Neue"/>
                <a:cs typeface="Helvetica Neue"/>
              </a:defRPr>
            </a:defPPr>
          </a:lstStyle>
          <a:p>
            <a:pPr>
              <a:buNone/>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Regulation</a:t>
            </a:r>
          </a:p>
        </p:txBody>
      </p:sp>
      <p:pic>
        <p:nvPicPr>
          <p:cNvPr id="13" name="Picture 12">
            <a:extLst>
              <a:ext uri="{FF2B5EF4-FFF2-40B4-BE49-F238E27FC236}">
                <a16:creationId xmlns:a16="http://schemas.microsoft.com/office/drawing/2014/main" id="{EA07ECB3-9DEF-4B47-820D-623DAB14E27B}"/>
              </a:ext>
            </a:extLst>
          </p:cNvPr>
          <p:cNvPicPr>
            <a:picLocks noChangeAspect="1"/>
          </p:cNvPicPr>
          <p:nvPr/>
        </p:nvPicPr>
        <p:blipFill>
          <a:blip r:embed="rId5"/>
          <a:stretch/>
        </p:blipFill>
        <p:spPr>
          <a:xfrm>
            <a:off x="4552950" y="2962275"/>
            <a:ext cx="400050" cy="400050"/>
          </a:xfrm>
          <a:prstGeom prst="rect">
            <a:avLst/>
          </a:prstGeom>
        </p:spPr>
      </p:pic>
      <p:pic>
        <p:nvPicPr>
          <p:cNvPr id="14" name="Picture 13">
            <a:extLst>
              <a:ext uri="{FF2B5EF4-FFF2-40B4-BE49-F238E27FC236}">
                <a16:creationId xmlns:a16="http://schemas.microsoft.com/office/drawing/2014/main" id="{30FA0A3A-38B5-4199-AD4C-C1810DDA9991}"/>
              </a:ext>
            </a:extLst>
          </p:cNvPr>
          <p:cNvPicPr>
            <a:picLocks noChangeAspect="1"/>
          </p:cNvPicPr>
          <p:nvPr/>
        </p:nvPicPr>
        <p:blipFill>
          <a:blip r:embed="rId6"/>
          <a:stretch/>
        </p:blipFill>
        <p:spPr>
          <a:xfrm>
            <a:off x="5210175" y="2962275"/>
            <a:ext cx="400050" cy="400050"/>
          </a:xfrm>
          <a:prstGeom prst="rect">
            <a:avLst/>
          </a:prstGeom>
        </p:spPr>
      </p:pic>
      <p:sp>
        <p:nvSpPr>
          <p:cNvPr id="15" name="people-and-agent">
            <a:extLst>
              <a:ext uri="{FF2B5EF4-FFF2-40B4-BE49-F238E27FC236}">
                <a16:creationId xmlns:a16="http://schemas.microsoft.com/office/drawing/2014/main" id="{00C6E640-997C-49D6-BCBC-D3CAA7890BC3}"/>
              </a:ext>
            </a:extLst>
          </p:cNvPr>
          <p:cNvSpPr>
            <a:spLocks noGrp="1"/>
          </p:cNvSpPr>
          <p:nvPr/>
        </p:nvSpPr>
        <p:spPr>
          <a:xfrm>
            <a:off x="5791200" y="3038475"/>
            <a:ext cx="1847850" cy="371475"/>
          </a:xfrm>
          <a:prstGeom prst="rect">
            <a:avLst/>
          </a:prstGeom>
          <a:noFill/>
          <a:ln w="0">
            <a:noFill/>
          </a:ln>
        </p:spPr>
        <p:txBody>
          <a:bodyPr lIns="0" tIns="0" rIns="0" bIns="0">
            <a:noAutofit/>
          </a:bodyPr>
          <a:lstStyle>
            <a:defPPr>
              <a:defRPr sz="1725" b="1">
                <a:solidFill>
                  <a:srgbClr val="233A4B"/>
                </a:solidFill>
                <a:latin typeface="Helvetica Neue"/>
                <a:ea typeface="Helvetica Neue"/>
                <a:cs typeface="Helvetica Neue"/>
              </a:defRPr>
            </a:defPPr>
          </a:lstStyle>
          <a:p>
            <a:pPr>
              <a:buNone/>
              <a:defRPr sz="1725" b="1">
                <a:solidFill>
                  <a:srgbClr val="233A4B"/>
                </a:solidFill>
                <a:latin typeface="Helvetica Neue"/>
                <a:ea typeface="Helvetica Neue"/>
                <a:cs typeface="Helvetica Neue"/>
              </a:defRPr>
            </a:pPr>
            <a:r>
              <a:rPr sz="1725" b="1">
                <a:solidFill>
                  <a:srgbClr val="233A4B"/>
                </a:solidFill>
                <a:latin typeface="Helvetica Neue"/>
                <a:ea typeface="Helvetica Neue"/>
                <a:cs typeface="Helvetica Neue"/>
              </a:rPr>
              <a:t>People + agent</a:t>
            </a:r>
          </a:p>
        </p:txBody>
      </p:sp>
      <p:sp>
        <p:nvSpPr>
          <p:cNvPr id="16" name="workstream-tasks">
            <a:extLst>
              <a:ext uri="{FF2B5EF4-FFF2-40B4-BE49-F238E27FC236}">
                <a16:creationId xmlns:a16="http://schemas.microsoft.com/office/drawing/2014/main" id="{FE83C23A-09F9-4BE8-9C06-07845AFE5440}"/>
              </a:ext>
            </a:extLst>
          </p:cNvPr>
          <p:cNvSpPr>
            <a:spLocks noGrp="1"/>
          </p:cNvSpPr>
          <p:nvPr/>
        </p:nvSpPr>
        <p:spPr>
          <a:xfrm>
            <a:off x="4552950" y="3629025"/>
            <a:ext cx="3086100" cy="619125"/>
          </a:xfrm>
          <a:prstGeom prst="rect">
            <a:avLst/>
          </a:prstGeom>
          <a:noFill/>
          <a:ln w="0">
            <a:noFill/>
          </a:ln>
        </p:spPr>
        <p:txBody>
          <a:bodyPr lIns="0" tIns="0" rIns="0" bIns="0">
            <a:noAutofit/>
          </a:bodyPr>
          <a:lstStyle>
            <a:defPPr>
              <a:defRPr sz="1875" b="0">
                <a:solidFill>
                  <a:srgbClr val="233A4B"/>
                </a:solidFill>
                <a:latin typeface="Helvetica Neue"/>
                <a:ea typeface="Helvetica Neue"/>
                <a:cs typeface="Helvetica Neue"/>
              </a:defRPr>
            </a:defPPr>
          </a:lstStyle>
          <a:p>
            <a:pPr>
              <a:buNone/>
              <a:defRPr sz="1875" b="0">
                <a:solidFill>
                  <a:srgbClr val="233A4B"/>
                </a:solidFill>
                <a:latin typeface="Helvetica Neue"/>
                <a:ea typeface="Helvetica Neue"/>
                <a:cs typeface="Helvetica Neue"/>
              </a:defRPr>
            </a:pPr>
            <a:r>
              <a:rPr sz="1875" b="0">
                <a:solidFill>
                  <a:srgbClr val="233A4B"/>
                </a:solidFill>
                <a:latin typeface="Helvetica Neue"/>
                <a:ea typeface="Helvetica Neue"/>
                <a:cs typeface="Helvetica Neue"/>
              </a:rPr>
              <a:t>Find requirements</a:t>
            </a:r>
          </a:p>
          <a:p>
            <a:pPr>
              <a:buNone/>
              <a:defRPr sz="1875" b="0">
                <a:solidFill>
                  <a:srgbClr val="233A4B"/>
                </a:solidFill>
                <a:latin typeface="Helvetica Neue"/>
                <a:ea typeface="Helvetica Neue"/>
                <a:cs typeface="Helvetica Neue"/>
              </a:defRPr>
            </a:pPr>
            <a:r>
              <a:rPr sz="1875" b="0">
                <a:solidFill>
                  <a:srgbClr val="233A4B"/>
                </a:solidFill>
                <a:latin typeface="Helvetica Neue"/>
                <a:ea typeface="Helvetica Neue"/>
                <a:cs typeface="Helvetica Neue"/>
              </a:rPr>
              <a:t>Assess implications</a:t>
            </a:r>
          </a:p>
        </p:txBody>
      </p:sp>
      <p:cxnSp>
        <p:nvCxnSpPr>
          <p:cNvPr id="17" name="flow-connector">
            <a:extLst>
              <a:ext uri="{FF2B5EF4-FFF2-40B4-BE49-F238E27FC236}">
                <a16:creationId xmlns:a16="http://schemas.microsoft.com/office/drawing/2014/main" id="{525CEFE8-A879-447E-9730-43DFB60DADC9}"/>
              </a:ext>
            </a:extLst>
          </p:cNvPr>
          <p:cNvCxnSpPr/>
          <p:nvPr/>
        </p:nvCxnSpPr>
        <p:spPr>
          <a:xfrm>
            <a:off x="6096000" y="4362450"/>
            <a:ext cx="0" cy="400050"/>
          </a:xfrm>
          <a:prstGeom prst="straightConnector1">
            <a:avLst/>
          </a:prstGeom>
          <a:ln w="16193">
            <a:solidFill>
              <a:srgbClr val="087E83"/>
            </a:solidFill>
            <a:headEnd type="triangle" w="sm" len="sm"/>
            <a:tailEnd type="triangle" w="sm" len="sm"/>
          </a:ln>
        </p:spPr>
      </p:cxnSp>
      <p:sp>
        <p:nvSpPr>
          <p:cNvPr id="18" name="workstream-Business">
            <a:extLst>
              <a:ext uri="{FF2B5EF4-FFF2-40B4-BE49-F238E27FC236}">
                <a16:creationId xmlns:a16="http://schemas.microsoft.com/office/drawing/2014/main" id="{DA2D4BFE-176F-4517-889B-C3CB9B3D05FA}"/>
              </a:ext>
            </a:extLst>
          </p:cNvPr>
          <p:cNvSpPr>
            <a:spLocks noGrp="1"/>
          </p:cNvSpPr>
          <p:nvPr/>
        </p:nvSpPr>
        <p:spPr>
          <a:xfrm>
            <a:off x="8077200" y="2247900"/>
            <a:ext cx="3505200" cy="2114550"/>
          </a:xfrm>
          <a:prstGeom prst="rect">
            <a:avLst/>
          </a:prstGeom>
          <a:solidFill>
            <a:srgbClr val="FBF6ED"/>
          </a:solidFill>
          <a:ln w="9525">
            <a:solidFill>
              <a:srgbClr val="A16C27"/>
            </a:solidFill>
          </a:ln>
        </p:spPr>
      </p:sp>
      <p:sp>
        <p:nvSpPr>
          <p:cNvPr id="19" name="workstream-title">
            <a:extLst>
              <a:ext uri="{FF2B5EF4-FFF2-40B4-BE49-F238E27FC236}">
                <a16:creationId xmlns:a16="http://schemas.microsoft.com/office/drawing/2014/main" id="{51BEC9E3-CD40-40A1-8B6A-4308A7AFDB8D}"/>
              </a:ext>
            </a:extLst>
          </p:cNvPr>
          <p:cNvSpPr>
            <a:spLocks noGrp="1"/>
          </p:cNvSpPr>
          <p:nvPr/>
        </p:nvSpPr>
        <p:spPr>
          <a:xfrm>
            <a:off x="8286750" y="2419350"/>
            <a:ext cx="3086100" cy="409575"/>
          </a:xfrm>
          <a:prstGeom prst="rect">
            <a:avLst/>
          </a:prstGeom>
          <a:noFill/>
          <a:ln w="0">
            <a:noFill/>
          </a:ln>
        </p:spPr>
        <p:txBody>
          <a:bodyPr lIns="0" tIns="0" rIns="0" bIns="0">
            <a:noAutofit/>
          </a:bodyPr>
          <a:lstStyle>
            <a:defPPr>
              <a:defRPr sz="2250" b="1">
                <a:solidFill>
                  <a:srgbClr val="A16C27"/>
                </a:solidFill>
                <a:latin typeface="Helvetica Neue"/>
                <a:ea typeface="Helvetica Neue"/>
                <a:cs typeface="Helvetica Neue"/>
              </a:defRPr>
            </a:defPPr>
          </a:lstStyle>
          <a:p>
            <a:pPr>
              <a:buNone/>
              <a:defRPr sz="2250" b="1">
                <a:solidFill>
                  <a:srgbClr val="A16C27"/>
                </a:solidFill>
                <a:latin typeface="Helvetica Neue"/>
                <a:ea typeface="Helvetica Neue"/>
                <a:cs typeface="Helvetica Neue"/>
              </a:defRPr>
            </a:pPr>
            <a:r>
              <a:rPr sz="2250" b="1">
                <a:solidFill>
                  <a:srgbClr val="A16C27"/>
                </a:solidFill>
                <a:latin typeface="Helvetica Neue"/>
                <a:ea typeface="Helvetica Neue"/>
                <a:cs typeface="Helvetica Neue"/>
              </a:rPr>
              <a:t>Business</a:t>
            </a:r>
          </a:p>
        </p:txBody>
      </p:sp>
      <p:pic>
        <p:nvPicPr>
          <p:cNvPr id="20" name="Picture 19">
            <a:extLst>
              <a:ext uri="{FF2B5EF4-FFF2-40B4-BE49-F238E27FC236}">
                <a16:creationId xmlns:a16="http://schemas.microsoft.com/office/drawing/2014/main" id="{D5475794-6D46-47F6-B2B5-D256B8747285}"/>
              </a:ext>
            </a:extLst>
          </p:cNvPr>
          <p:cNvPicPr>
            <a:picLocks noChangeAspect="1"/>
          </p:cNvPicPr>
          <p:nvPr/>
        </p:nvPicPr>
        <p:blipFill>
          <a:blip r:embed="rId7"/>
          <a:stretch/>
        </p:blipFill>
        <p:spPr>
          <a:xfrm>
            <a:off x="8286750" y="2962275"/>
            <a:ext cx="400050" cy="400050"/>
          </a:xfrm>
          <a:prstGeom prst="rect">
            <a:avLst/>
          </a:prstGeom>
        </p:spPr>
      </p:pic>
      <p:pic>
        <p:nvPicPr>
          <p:cNvPr id="21" name="Picture 20">
            <a:extLst>
              <a:ext uri="{FF2B5EF4-FFF2-40B4-BE49-F238E27FC236}">
                <a16:creationId xmlns:a16="http://schemas.microsoft.com/office/drawing/2014/main" id="{2C1078C5-727D-42E9-A13D-6E6E7A15A60B}"/>
              </a:ext>
            </a:extLst>
          </p:cNvPr>
          <p:cNvPicPr>
            <a:picLocks noChangeAspect="1"/>
          </p:cNvPicPr>
          <p:nvPr/>
        </p:nvPicPr>
        <p:blipFill>
          <a:blip r:embed="rId8"/>
          <a:stretch/>
        </p:blipFill>
        <p:spPr>
          <a:xfrm>
            <a:off x="8943975" y="2962275"/>
            <a:ext cx="400050" cy="400050"/>
          </a:xfrm>
          <a:prstGeom prst="rect">
            <a:avLst/>
          </a:prstGeom>
        </p:spPr>
      </p:pic>
      <p:sp>
        <p:nvSpPr>
          <p:cNvPr id="22" name="people-and-agent">
            <a:extLst>
              <a:ext uri="{FF2B5EF4-FFF2-40B4-BE49-F238E27FC236}">
                <a16:creationId xmlns:a16="http://schemas.microsoft.com/office/drawing/2014/main" id="{840EFBCB-64A7-416A-8D7A-1BB9F75DB526}"/>
              </a:ext>
            </a:extLst>
          </p:cNvPr>
          <p:cNvSpPr>
            <a:spLocks noGrp="1"/>
          </p:cNvSpPr>
          <p:nvPr/>
        </p:nvSpPr>
        <p:spPr>
          <a:xfrm>
            <a:off x="9525000" y="3038475"/>
            <a:ext cx="1847850" cy="371475"/>
          </a:xfrm>
          <a:prstGeom prst="rect">
            <a:avLst/>
          </a:prstGeom>
          <a:noFill/>
          <a:ln w="0">
            <a:noFill/>
          </a:ln>
        </p:spPr>
        <p:txBody>
          <a:bodyPr lIns="0" tIns="0" rIns="0" bIns="0">
            <a:noAutofit/>
          </a:bodyPr>
          <a:lstStyle>
            <a:defPPr>
              <a:defRPr sz="1725" b="1">
                <a:solidFill>
                  <a:srgbClr val="233A4B"/>
                </a:solidFill>
                <a:latin typeface="Helvetica Neue"/>
                <a:ea typeface="Helvetica Neue"/>
                <a:cs typeface="Helvetica Neue"/>
              </a:defRPr>
            </a:defPPr>
          </a:lstStyle>
          <a:p>
            <a:pPr>
              <a:buNone/>
              <a:defRPr sz="1725" b="1">
                <a:solidFill>
                  <a:srgbClr val="233A4B"/>
                </a:solidFill>
                <a:latin typeface="Helvetica Neue"/>
                <a:ea typeface="Helvetica Neue"/>
                <a:cs typeface="Helvetica Neue"/>
              </a:defRPr>
            </a:pPr>
            <a:r>
              <a:rPr sz="1725" b="1">
                <a:solidFill>
                  <a:srgbClr val="233A4B"/>
                </a:solidFill>
                <a:latin typeface="Helvetica Neue"/>
                <a:ea typeface="Helvetica Neue"/>
                <a:cs typeface="Helvetica Neue"/>
              </a:rPr>
              <a:t>People + agent</a:t>
            </a:r>
          </a:p>
        </p:txBody>
      </p:sp>
      <p:sp>
        <p:nvSpPr>
          <p:cNvPr id="23" name="workstream-tasks">
            <a:extLst>
              <a:ext uri="{FF2B5EF4-FFF2-40B4-BE49-F238E27FC236}">
                <a16:creationId xmlns:a16="http://schemas.microsoft.com/office/drawing/2014/main" id="{3995F2F4-8B83-4094-BD91-2B0146C02ACA}"/>
              </a:ext>
            </a:extLst>
          </p:cNvPr>
          <p:cNvSpPr>
            <a:spLocks noGrp="1"/>
          </p:cNvSpPr>
          <p:nvPr/>
        </p:nvSpPr>
        <p:spPr>
          <a:xfrm>
            <a:off x="8286750" y="3629025"/>
            <a:ext cx="3086100" cy="619125"/>
          </a:xfrm>
          <a:prstGeom prst="rect">
            <a:avLst/>
          </a:prstGeom>
          <a:noFill/>
          <a:ln w="0">
            <a:noFill/>
          </a:ln>
        </p:spPr>
        <p:txBody>
          <a:bodyPr lIns="0" tIns="0" rIns="0" bIns="0">
            <a:noAutofit/>
          </a:bodyPr>
          <a:lstStyle>
            <a:defPPr>
              <a:defRPr sz="1875" b="0">
                <a:solidFill>
                  <a:srgbClr val="233A4B"/>
                </a:solidFill>
                <a:latin typeface="Helvetica Neue"/>
                <a:ea typeface="Helvetica Neue"/>
                <a:cs typeface="Helvetica Neue"/>
              </a:defRPr>
            </a:defPPr>
          </a:lstStyle>
          <a:p>
            <a:pPr>
              <a:buNone/>
              <a:defRPr sz="1875" b="0">
                <a:solidFill>
                  <a:srgbClr val="233A4B"/>
                </a:solidFill>
                <a:latin typeface="Helvetica Neue"/>
                <a:ea typeface="Helvetica Neue"/>
                <a:cs typeface="Helvetica Neue"/>
              </a:defRPr>
            </a:pPr>
            <a:r>
              <a:rPr sz="1875" b="0">
                <a:solidFill>
                  <a:srgbClr val="233A4B"/>
                </a:solidFill>
                <a:latin typeface="Helvetica Neue"/>
                <a:ea typeface="Helvetica Neue"/>
                <a:cs typeface="Helvetica Neue"/>
              </a:rPr>
              <a:t>Explore the market</a:t>
            </a:r>
          </a:p>
          <a:p>
            <a:pPr>
              <a:buNone/>
              <a:defRPr sz="1875" b="0">
                <a:solidFill>
                  <a:srgbClr val="233A4B"/>
                </a:solidFill>
                <a:latin typeface="Helvetica Neue"/>
                <a:ea typeface="Helvetica Neue"/>
                <a:cs typeface="Helvetica Neue"/>
              </a:defRPr>
            </a:pPr>
            <a:r>
              <a:rPr sz="1875" b="0">
                <a:solidFill>
                  <a:srgbClr val="233A4B"/>
                </a:solidFill>
                <a:latin typeface="Helvetica Neue"/>
                <a:ea typeface="Helvetica Neue"/>
                <a:cs typeface="Helvetica Neue"/>
              </a:rPr>
              <a:t>Shape the offer</a:t>
            </a:r>
          </a:p>
        </p:txBody>
      </p:sp>
      <p:cxnSp>
        <p:nvCxnSpPr>
          <p:cNvPr id="24" name="flow-connector">
            <a:extLst>
              <a:ext uri="{FF2B5EF4-FFF2-40B4-BE49-F238E27FC236}">
                <a16:creationId xmlns:a16="http://schemas.microsoft.com/office/drawing/2014/main" id="{52FADE93-6BF3-4E6B-9159-74F852F093FC}"/>
              </a:ext>
            </a:extLst>
          </p:cNvPr>
          <p:cNvCxnSpPr/>
          <p:nvPr/>
        </p:nvCxnSpPr>
        <p:spPr>
          <a:xfrm>
            <a:off x="9829800" y="4362450"/>
            <a:ext cx="0" cy="400050"/>
          </a:xfrm>
          <a:prstGeom prst="straightConnector1">
            <a:avLst/>
          </a:prstGeom>
          <a:ln w="16193">
            <a:solidFill>
              <a:srgbClr val="A16C27"/>
            </a:solidFill>
            <a:headEnd type="triangle" w="sm" len="sm"/>
            <a:tailEnd type="triangle" w="sm" len="sm"/>
          </a:ln>
        </p:spPr>
      </p:cxnSp>
      <p:sp>
        <p:nvSpPr>
          <p:cNvPr id="25" name="shared-project">
            <a:extLst>
              <a:ext uri="{FF2B5EF4-FFF2-40B4-BE49-F238E27FC236}">
                <a16:creationId xmlns:a16="http://schemas.microsoft.com/office/drawing/2014/main" id="{045D85DC-0BB5-4A37-BC7A-4EF7057EA48A}"/>
              </a:ext>
            </a:extLst>
          </p:cNvPr>
          <p:cNvSpPr>
            <a:spLocks noGrp="1"/>
          </p:cNvSpPr>
          <p:nvPr/>
        </p:nvSpPr>
        <p:spPr>
          <a:xfrm>
            <a:off x="609600" y="4762500"/>
            <a:ext cx="10972800" cy="952500"/>
          </a:xfrm>
          <a:prstGeom prst="rect">
            <a:avLst/>
          </a:prstGeom>
          <a:solidFill>
            <a:srgbClr val="F3F7FA"/>
          </a:solidFill>
          <a:ln w="9525">
            <a:solidFill>
              <a:srgbClr val="CCD9E2"/>
            </a:solidFill>
          </a:ln>
        </p:spPr>
      </p:sp>
      <p:pic>
        <p:nvPicPr>
          <p:cNvPr id="26" name="Picture 25">
            <a:extLst>
              <a:ext uri="{FF2B5EF4-FFF2-40B4-BE49-F238E27FC236}">
                <a16:creationId xmlns:a16="http://schemas.microsoft.com/office/drawing/2014/main" id="{B2056582-98B1-4FE8-A49A-7BE6DBF57E40}"/>
              </a:ext>
            </a:extLst>
          </p:cNvPr>
          <p:cNvPicPr>
            <a:picLocks noChangeAspect="1"/>
          </p:cNvPicPr>
          <p:nvPr/>
        </p:nvPicPr>
        <p:blipFill>
          <a:blip r:embed="rId9"/>
          <a:stretch/>
        </p:blipFill>
        <p:spPr>
          <a:xfrm>
            <a:off x="819150" y="5000625"/>
            <a:ext cx="419100" cy="419100"/>
          </a:xfrm>
          <a:prstGeom prst="rect">
            <a:avLst/>
          </a:prstGeom>
        </p:spPr>
      </p:pic>
      <p:sp>
        <p:nvSpPr>
          <p:cNvPr id="27" name="shared-project-title">
            <a:extLst>
              <a:ext uri="{FF2B5EF4-FFF2-40B4-BE49-F238E27FC236}">
                <a16:creationId xmlns:a16="http://schemas.microsoft.com/office/drawing/2014/main" id="{B6A8F2D1-9306-40BC-8744-E607D3FE6E4C}"/>
              </a:ext>
            </a:extLst>
          </p:cNvPr>
          <p:cNvSpPr>
            <a:spLocks noGrp="1"/>
          </p:cNvSpPr>
          <p:nvPr/>
        </p:nvSpPr>
        <p:spPr>
          <a:xfrm>
            <a:off x="1466850" y="4914900"/>
            <a:ext cx="9525000" cy="381000"/>
          </a:xfrm>
          <a:prstGeom prst="rect">
            <a:avLst/>
          </a:prstGeom>
          <a:noFill/>
          <a:ln w="0">
            <a:noFill/>
          </a:ln>
        </p:spPr>
        <p:txBody>
          <a:bodyPr lIns="0" tIns="0" rIns="0" bIns="0">
            <a:noAutofit/>
          </a:bodyPr>
          <a:lstStyle>
            <a:defPPr>
              <a:defRPr sz="2175" b="1">
                <a:solidFill>
                  <a:srgbClr val="102B46"/>
                </a:solidFill>
                <a:latin typeface="Helvetica Neue"/>
                <a:ea typeface="Helvetica Neue"/>
                <a:cs typeface="Helvetica Neue"/>
              </a:defRPr>
            </a:defPPr>
          </a:lstStyle>
          <a:p>
            <a:pPr>
              <a:buNone/>
              <a:defRPr sz="2175" b="1">
                <a:solidFill>
                  <a:srgbClr val="102B46"/>
                </a:solidFill>
                <a:latin typeface="Helvetica Neue"/>
                <a:ea typeface="Helvetica Neue"/>
                <a:cs typeface="Helvetica Neue"/>
              </a:defRPr>
            </a:pPr>
            <a:r>
              <a:rPr sz="2175" b="1">
                <a:solidFill>
                  <a:srgbClr val="102B46"/>
                </a:solidFill>
                <a:latin typeface="Helvetica Neue"/>
                <a:ea typeface="Helvetica Neue"/>
                <a:cs typeface="Helvetica Neue"/>
              </a:rPr>
              <a:t>One shared Project</a:t>
            </a:r>
          </a:p>
        </p:txBody>
      </p:sp>
      <p:sp>
        <p:nvSpPr>
          <p:cNvPr id="28" name="shared-project-description">
            <a:extLst>
              <a:ext uri="{FF2B5EF4-FFF2-40B4-BE49-F238E27FC236}">
                <a16:creationId xmlns:a16="http://schemas.microsoft.com/office/drawing/2014/main" id="{B56D01D5-6E04-4F4B-BBF6-C34882C7E905}"/>
              </a:ext>
            </a:extLst>
          </p:cNvPr>
          <p:cNvSpPr>
            <a:spLocks noGrp="1"/>
          </p:cNvSpPr>
          <p:nvPr/>
        </p:nvSpPr>
        <p:spPr>
          <a:xfrm>
            <a:off x="1466850" y="5334000"/>
            <a:ext cx="9525000" cy="295275"/>
          </a:xfrm>
          <a:prstGeom prst="rect">
            <a:avLst/>
          </a:prstGeom>
          <a:noFill/>
          <a:ln w="0">
            <a:noFill/>
          </a:ln>
        </p:spPr>
        <p:txBody>
          <a:bodyPr lIns="0" tIns="0" rIns="0" bIns="0">
            <a:noAutofit/>
          </a:bodyPr>
          <a:lstStyle>
            <a:defPPr>
              <a:defRPr sz="1650" b="0">
                <a:solidFill>
                  <a:srgbClr val="607482"/>
                </a:solidFill>
                <a:latin typeface="Helvetica Neue"/>
                <a:ea typeface="Helvetica Neue"/>
                <a:cs typeface="Helvetica Neue"/>
              </a:defRPr>
            </a:defPPr>
          </a:lstStyle>
          <a:p>
            <a:pPr>
              <a:buNone/>
              <a:defRPr sz="1650" b="0">
                <a:solidFill>
                  <a:srgbClr val="607482"/>
                </a:solidFill>
                <a:latin typeface="Helvetica Neue"/>
                <a:ea typeface="Helvetica Neue"/>
                <a:cs typeface="Helvetica Neue"/>
              </a:defRPr>
            </a:pPr>
            <a:r>
              <a:rPr sz="1650" b="0">
                <a:solidFill>
                  <a:srgbClr val="607482"/>
                </a:solidFill>
                <a:latin typeface="Helvetica Neue"/>
                <a:ea typeface="Helvetica Neue"/>
                <a:cs typeface="Helvetica Neue"/>
              </a:rPr>
              <a:t>Discuss findings. Agree decisions. Keep evidence together.</a:t>
            </a:r>
          </a:p>
        </p:txBody>
      </p:sp>
      <p:sp>
        <p:nvSpPr>
          <p:cNvPr id="30" name="page-number">
            <a:extLst>
              <a:ext uri="{FF2B5EF4-FFF2-40B4-BE49-F238E27FC236}">
                <a16:creationId xmlns:a16="http://schemas.microsoft.com/office/drawing/2014/main" id="{8CFF8A03-21F6-4100-B1E6-8BFEB662FC2C}"/>
              </a:ext>
            </a:extLst>
          </p:cNvPr>
          <p:cNvSpPr>
            <a:spLocks noGrp="1"/>
          </p:cNvSpPr>
          <p:nvPr/>
        </p:nvSpPr>
        <p:spPr>
          <a:xfrm>
            <a:off x="10953750" y="6438900"/>
            <a:ext cx="619125" cy="238125"/>
          </a:xfrm>
          <a:prstGeom prst="rect">
            <a:avLst/>
          </a:prstGeom>
          <a:noFill/>
          <a:ln w="0">
            <a:noFill/>
          </a:ln>
        </p:spPr>
        <p:txBody>
          <a:bodyPr lIns="0" tIns="0" rIns="0" bIns="0">
            <a:noAutofit/>
          </a:bodyPr>
          <a:lstStyle>
            <a:defPPr>
              <a:defRPr sz="1125" b="0">
                <a:solidFill>
                  <a:srgbClr val="607482"/>
                </a:solidFill>
                <a:latin typeface="Helvetica Neue"/>
                <a:ea typeface="Helvetica Neue"/>
                <a:cs typeface="Helvetica Neue"/>
              </a:defRPr>
            </a:defPPr>
          </a:lstStyle>
          <a:p>
            <a:pPr>
              <a:buNone/>
              <a:defRPr sz="1125" b="0">
                <a:solidFill>
                  <a:srgbClr val="607482"/>
                </a:solidFill>
                <a:latin typeface="Helvetica Neue"/>
                <a:ea typeface="Helvetica Neue"/>
                <a:cs typeface="Helvetica Neue"/>
              </a:defRPr>
            </a:pPr>
            <a:r>
              <a:rPr sz="1125" b="0">
                <a:solidFill>
                  <a:srgbClr val="607482"/>
                </a:solidFill>
                <a:latin typeface="Helvetica Neue"/>
                <a:ea typeface="Helvetica Neue"/>
                <a:cs typeface="Helvetica Neue"/>
              </a:rPr>
              <a:t>4</a:t>
            </a:r>
          </a:p>
        </p:txBody>
      </p:sp>
    </p:spTree>
    <p:extLst>
      <p:ext uri="{BB962C8B-B14F-4D97-AF65-F5344CB8AC3E}">
        <p14:creationId xmlns:p14="http://schemas.microsoft.com/office/powerpoint/2010/main" val="8653832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section-label">
            <a:extLst>
              <a:ext uri="{FF2B5EF4-FFF2-40B4-BE49-F238E27FC236}">
                <a16:creationId xmlns:a16="http://schemas.microsoft.com/office/drawing/2014/main" id="{9009F9DE-84AC-47F2-8E4C-892910F5EC5C}"/>
              </a:ext>
            </a:extLst>
          </p:cNvPr>
          <p:cNvSpPr>
            <a:spLocks noGrp="1"/>
          </p:cNvSpPr>
          <p:nvPr/>
        </p:nvSpPr>
        <p:spPr>
          <a:xfrm>
            <a:off x="609600" y="285750"/>
            <a:ext cx="10668000" cy="285750"/>
          </a:xfrm>
          <a:prstGeom prst="rect">
            <a:avLst/>
          </a:prstGeom>
          <a:noFill/>
          <a:ln w="0">
            <a:noFill/>
          </a:ln>
        </p:spPr>
        <p:txBody>
          <a:bodyPr lIns="0" tIns="0" rIns="0" bIns="0">
            <a:noAutofit/>
          </a:bodyPr>
          <a:lstStyle>
            <a:defPPr>
              <a:defRPr sz="1200" b="1">
                <a:solidFill>
                  <a:srgbClr val="244653"/>
                </a:solidFill>
                <a:latin typeface="Helvetica Neue"/>
                <a:ea typeface="Helvetica Neue"/>
                <a:cs typeface="Helvetica Neue"/>
              </a:defRPr>
            </a:defPPr>
          </a:lstStyle>
          <a:p>
            <a:pPr>
              <a:buNone/>
              <a:defRPr sz="1200" b="1">
                <a:solidFill>
                  <a:srgbClr val="244653"/>
                </a:solidFill>
                <a:latin typeface="Helvetica Neue"/>
                <a:ea typeface="Helvetica Neue"/>
                <a:cs typeface="Helvetica Neue"/>
              </a:defRPr>
            </a:pPr>
            <a:r>
              <a:rPr sz="1200" b="1">
                <a:solidFill>
                  <a:srgbClr val="244653"/>
                </a:solidFill>
                <a:latin typeface="Helvetica Neue"/>
                <a:ea typeface="Helvetica Neue"/>
                <a:cs typeface="Helvetica Neue"/>
              </a:rPr>
              <a:t>INTRODUCTION</a:t>
            </a:r>
          </a:p>
        </p:txBody>
      </p:sp>
      <p:sp>
        <p:nvSpPr>
          <p:cNvPr id="2" name="slide-title">
            <a:extLst>
              <a:ext uri="{FF2B5EF4-FFF2-40B4-BE49-F238E27FC236}">
                <a16:creationId xmlns:a16="http://schemas.microsoft.com/office/drawing/2014/main" id="{7623D1B9-EA65-4125-AC98-7BB77C018C74}"/>
              </a:ext>
            </a:extLst>
          </p:cNvPr>
          <p:cNvSpPr>
            <a:spLocks noGrp="1"/>
          </p:cNvSpPr>
          <p:nvPr/>
        </p:nvSpPr>
        <p:spPr>
          <a:xfrm>
            <a:off x="609600" y="781050"/>
            <a:ext cx="10972800" cy="819150"/>
          </a:xfrm>
          <a:prstGeom prst="rect">
            <a:avLst/>
          </a:prstGeom>
          <a:noFill/>
          <a:ln w="0">
            <a:noFill/>
          </a:ln>
        </p:spPr>
        <p:txBody>
          <a:bodyPr lIns="0" tIns="0" rIns="0" bIns="0">
            <a:noAutofit/>
          </a:bodyPr>
          <a:lstStyle>
            <a:defPPr>
              <a:defRPr sz="3450" b="1">
                <a:solidFill>
                  <a:srgbClr val="102B46"/>
                </a:solidFill>
                <a:latin typeface="Helvetica Neue"/>
                <a:ea typeface="Helvetica Neue"/>
                <a:cs typeface="Helvetica Neue"/>
              </a:defRPr>
            </a:defPPr>
          </a:lstStyle>
          <a:p>
            <a:pPr>
              <a:buNone/>
              <a:defRPr sz="3450" b="1">
                <a:solidFill>
                  <a:srgbClr val="102B46"/>
                </a:solidFill>
                <a:latin typeface="Helvetica Neue"/>
                <a:ea typeface="Helvetica Neue"/>
                <a:cs typeface="Helvetica Neue"/>
              </a:defRPr>
            </a:pPr>
            <a:r>
              <a:rPr sz="3450" b="1">
                <a:solidFill>
                  <a:srgbClr val="102B46"/>
                </a:solidFill>
                <a:latin typeface="Helvetica Neue"/>
                <a:ea typeface="Helvetica Neue"/>
                <a:cs typeface="Helvetica Neue"/>
              </a:rPr>
              <a:t>Three sessions, three checkpoints</a:t>
            </a:r>
          </a:p>
        </p:txBody>
      </p:sp>
      <p:sp>
        <p:nvSpPr>
          <p:cNvPr id="3" name="subtitle">
            <a:extLst>
              <a:ext uri="{FF2B5EF4-FFF2-40B4-BE49-F238E27FC236}">
                <a16:creationId xmlns:a16="http://schemas.microsoft.com/office/drawing/2014/main" id="{6D5E6D07-50E8-47B3-907B-1D6ABE9DF011}"/>
              </a:ext>
            </a:extLst>
          </p:cNvPr>
          <p:cNvSpPr>
            <a:spLocks noGrp="1"/>
          </p:cNvSpPr>
          <p:nvPr/>
        </p:nvSpPr>
        <p:spPr>
          <a:xfrm>
            <a:off x="609600" y="1581150"/>
            <a:ext cx="10972800" cy="419100"/>
          </a:xfrm>
          <a:prstGeom prst="rect">
            <a:avLst/>
          </a:prstGeom>
          <a:noFill/>
          <a:ln w="0">
            <a:noFill/>
          </a:ln>
        </p:spPr>
        <p:txBody>
          <a:bodyPr lIns="0" tIns="0" rIns="0" bIns="0">
            <a:noAutofit/>
          </a:bodyPr>
          <a:lstStyle>
            <a:defPPr>
              <a:defRPr sz="1800" b="0">
                <a:solidFill>
                  <a:srgbClr val="607482"/>
                </a:solidFill>
                <a:latin typeface="Helvetica Neue"/>
                <a:ea typeface="Helvetica Neue"/>
                <a:cs typeface="Helvetica Neue"/>
              </a:defRPr>
            </a:defPPr>
          </a:lstStyle>
          <a:p>
            <a:pPr>
              <a:buNone/>
              <a:defRPr sz="1800" b="0">
                <a:solidFill>
                  <a:srgbClr val="607482"/>
                </a:solidFill>
                <a:latin typeface="Helvetica Neue"/>
                <a:ea typeface="Helvetica Neue"/>
                <a:cs typeface="Helvetica Neue"/>
              </a:defRPr>
            </a:pPr>
            <a:r>
              <a:rPr sz="1800" b="0">
                <a:solidFill>
                  <a:srgbClr val="607482"/>
                </a:solidFill>
                <a:latin typeface="Helvetica Neue"/>
                <a:ea typeface="Helvetica Neue"/>
                <a:cs typeface="Helvetica Neue"/>
              </a:rPr>
              <a:t>Each session develops the same solution further</a:t>
            </a:r>
          </a:p>
        </p:txBody>
      </p:sp>
      <p:sp>
        <p:nvSpPr>
          <p:cNvPr id="4" name="session-output-block">
            <a:extLst>
              <a:ext uri="{FF2B5EF4-FFF2-40B4-BE49-F238E27FC236}">
                <a16:creationId xmlns:a16="http://schemas.microsoft.com/office/drawing/2014/main" id="{7E4C9BFE-39A7-4201-AE70-77235DAEA057}"/>
              </a:ext>
            </a:extLst>
          </p:cNvPr>
          <p:cNvSpPr>
            <a:spLocks noGrp="1"/>
          </p:cNvSpPr>
          <p:nvPr/>
        </p:nvSpPr>
        <p:spPr>
          <a:xfrm>
            <a:off x="609600" y="2228850"/>
            <a:ext cx="3505200" cy="2724150"/>
          </a:xfrm>
          <a:prstGeom prst="rect">
            <a:avLst/>
          </a:prstGeom>
          <a:solidFill>
            <a:srgbClr val="F5F8FA"/>
          </a:solidFill>
          <a:ln w="9525">
            <a:solidFill>
              <a:srgbClr val="226FBB"/>
            </a:solidFill>
          </a:ln>
        </p:spPr>
      </p:sp>
      <p:sp>
        <p:nvSpPr>
          <p:cNvPr id="5" name="session-number">
            <a:extLst>
              <a:ext uri="{FF2B5EF4-FFF2-40B4-BE49-F238E27FC236}">
                <a16:creationId xmlns:a16="http://schemas.microsoft.com/office/drawing/2014/main" id="{CB34BC22-DB29-4F44-9BC3-610D38FEA4CA}"/>
              </a:ext>
            </a:extLst>
          </p:cNvPr>
          <p:cNvSpPr>
            <a:spLocks noGrp="1"/>
          </p:cNvSpPr>
          <p:nvPr/>
        </p:nvSpPr>
        <p:spPr>
          <a:xfrm>
            <a:off x="819150" y="2428875"/>
            <a:ext cx="2476500" cy="285750"/>
          </a:xfrm>
          <a:prstGeom prst="rect">
            <a:avLst/>
          </a:prstGeom>
          <a:noFill/>
          <a:ln w="0">
            <a:noFill/>
          </a:ln>
        </p:spPr>
        <p:txBody>
          <a:bodyPr lIns="0" tIns="0" rIns="0" bIns="0">
            <a:noAutofit/>
          </a:bodyPr>
          <a:lstStyle>
            <a:defPPr>
              <a:defRPr sz="1350" b="1">
                <a:solidFill>
                  <a:srgbClr val="226FBB"/>
                </a:solidFill>
                <a:latin typeface="Helvetica Neue"/>
                <a:ea typeface="Helvetica Neue"/>
                <a:cs typeface="Helvetica Neue"/>
              </a:defRPr>
            </a:defPPr>
          </a:lstStyle>
          <a:p>
            <a:pPr>
              <a:buNone/>
              <a:defRPr sz="1350" b="1">
                <a:solidFill>
                  <a:srgbClr val="226FBB"/>
                </a:solidFill>
                <a:latin typeface="Helvetica Neue"/>
                <a:ea typeface="Helvetica Neue"/>
                <a:cs typeface="Helvetica Neue"/>
              </a:defRPr>
            </a:pPr>
            <a:r>
              <a:rPr sz="1350" b="1">
                <a:solidFill>
                  <a:srgbClr val="226FBB"/>
                </a:solidFill>
                <a:latin typeface="Helvetica Neue"/>
                <a:ea typeface="Helvetica Neue"/>
                <a:cs typeface="Helvetica Neue"/>
              </a:rPr>
              <a:t>SESSION 1</a:t>
            </a:r>
          </a:p>
        </p:txBody>
      </p:sp>
      <p:pic>
        <p:nvPicPr>
          <p:cNvPr id="6" name="Picture 5">
            <a:extLst>
              <a:ext uri="{FF2B5EF4-FFF2-40B4-BE49-F238E27FC236}">
                <a16:creationId xmlns:a16="http://schemas.microsoft.com/office/drawing/2014/main" id="{DBFBFF9C-CC0C-4812-9CB0-7CF8C105CBBC}"/>
              </a:ext>
            </a:extLst>
          </p:cNvPr>
          <p:cNvPicPr>
            <a:picLocks noChangeAspect="1"/>
          </p:cNvPicPr>
          <p:nvPr/>
        </p:nvPicPr>
        <p:blipFill>
          <a:blip r:embed="rId3"/>
          <a:stretch/>
        </p:blipFill>
        <p:spPr>
          <a:xfrm>
            <a:off x="3448050" y="2419350"/>
            <a:ext cx="400050" cy="400050"/>
          </a:xfrm>
          <a:prstGeom prst="rect">
            <a:avLst/>
          </a:prstGeom>
        </p:spPr>
      </p:pic>
      <p:sp>
        <p:nvSpPr>
          <p:cNvPr id="7" name="session-name">
            <a:extLst>
              <a:ext uri="{FF2B5EF4-FFF2-40B4-BE49-F238E27FC236}">
                <a16:creationId xmlns:a16="http://schemas.microsoft.com/office/drawing/2014/main" id="{D62F2759-90C8-4A23-991D-32E1AD1A19E6}"/>
              </a:ext>
            </a:extLst>
          </p:cNvPr>
          <p:cNvSpPr>
            <a:spLocks noGrp="1"/>
          </p:cNvSpPr>
          <p:nvPr/>
        </p:nvSpPr>
        <p:spPr>
          <a:xfrm>
            <a:off x="819150" y="2962275"/>
            <a:ext cx="3086100" cy="781050"/>
          </a:xfrm>
          <a:prstGeom prst="rect">
            <a:avLst/>
          </a:prstGeom>
          <a:noFill/>
          <a:ln w="0">
            <a:noFill/>
          </a:ln>
        </p:spPr>
        <p:txBody>
          <a:bodyPr lIns="0" tIns="0" rIns="0" bIns="0">
            <a:noAutofit/>
          </a:bodyPr>
          <a:lstStyle>
            <a:defPPr>
              <a:defRPr sz="2175" b="1">
                <a:solidFill>
                  <a:srgbClr val="102B46"/>
                </a:solidFill>
                <a:latin typeface="Helvetica Neue"/>
                <a:ea typeface="Helvetica Neue"/>
                <a:cs typeface="Helvetica Neue"/>
              </a:defRPr>
            </a:defPPr>
          </a:lstStyle>
          <a:p>
            <a:pPr>
              <a:buNone/>
              <a:defRPr sz="2175" b="1">
                <a:solidFill>
                  <a:srgbClr val="102B46"/>
                </a:solidFill>
                <a:latin typeface="Helvetica Neue"/>
                <a:ea typeface="Helvetica Neue"/>
                <a:cs typeface="Helvetica Neue"/>
              </a:defRPr>
            </a:pPr>
            <a:r>
              <a:rPr sz="2175" b="1">
                <a:solidFill>
                  <a:srgbClr val="102B46"/>
                </a:solidFill>
                <a:latin typeface="Helvetica Neue"/>
                <a:ea typeface="Helvetica Neue"/>
                <a:cs typeface="Helvetica Neue"/>
              </a:rPr>
              <a:t>Concept definition</a:t>
            </a:r>
          </a:p>
        </p:txBody>
      </p:sp>
      <p:sp>
        <p:nvSpPr>
          <p:cNvPr id="8" name="session-deliverable">
            <a:extLst>
              <a:ext uri="{FF2B5EF4-FFF2-40B4-BE49-F238E27FC236}">
                <a16:creationId xmlns:a16="http://schemas.microsoft.com/office/drawing/2014/main" id="{8BB9B056-19CF-4AD9-880C-A6FB6B7A0A32}"/>
              </a:ext>
            </a:extLst>
          </p:cNvPr>
          <p:cNvSpPr>
            <a:spLocks noGrp="1"/>
          </p:cNvSpPr>
          <p:nvPr/>
        </p:nvSpPr>
        <p:spPr>
          <a:xfrm>
            <a:off x="819150" y="3857625"/>
            <a:ext cx="3086100" cy="323850"/>
          </a:xfrm>
          <a:prstGeom prst="rect">
            <a:avLst/>
          </a:prstGeom>
          <a:noFill/>
          <a:ln w="0">
            <a:noFill/>
          </a:ln>
        </p:spPr>
        <p:txBody>
          <a:bodyPr lIns="0" tIns="0" rIns="0" bIns="0">
            <a:noAutofit/>
          </a:bodyPr>
          <a:lstStyle>
            <a:defPPr>
              <a:defRPr sz="1800" b="0">
                <a:solidFill>
                  <a:srgbClr val="233A4B"/>
                </a:solidFill>
                <a:latin typeface="Helvetica Neue"/>
                <a:ea typeface="Helvetica Neue"/>
                <a:cs typeface="Helvetica Neue"/>
              </a:defRPr>
            </a:defPPr>
          </a:lstStyle>
          <a:p>
            <a:pPr>
              <a:buNone/>
              <a:defRPr sz="1800" b="0">
                <a:solidFill>
                  <a:srgbClr val="233A4B"/>
                </a:solidFill>
                <a:latin typeface="Helvetica Neue"/>
                <a:ea typeface="Helvetica Neue"/>
                <a:cs typeface="Helvetica Neue"/>
              </a:defRPr>
            </a:pPr>
            <a:r>
              <a:rPr sz="1800" b="0">
                <a:solidFill>
                  <a:srgbClr val="233A4B"/>
                </a:solidFill>
                <a:latin typeface="Helvetica Neue"/>
                <a:ea typeface="Helvetica Neue"/>
                <a:cs typeface="Helvetica Neue"/>
              </a:rPr>
              <a:t>Concept V1</a:t>
            </a:r>
          </a:p>
        </p:txBody>
      </p:sp>
      <p:sp>
        <p:nvSpPr>
          <p:cNvPr id="9" name="session-deliverable">
            <a:extLst>
              <a:ext uri="{FF2B5EF4-FFF2-40B4-BE49-F238E27FC236}">
                <a16:creationId xmlns:a16="http://schemas.microsoft.com/office/drawing/2014/main" id="{7BB01852-AEB9-470A-B41E-27473E797ADD}"/>
              </a:ext>
            </a:extLst>
          </p:cNvPr>
          <p:cNvSpPr>
            <a:spLocks noGrp="1"/>
          </p:cNvSpPr>
          <p:nvPr/>
        </p:nvSpPr>
        <p:spPr>
          <a:xfrm>
            <a:off x="819150" y="4181475"/>
            <a:ext cx="3086100" cy="323850"/>
          </a:xfrm>
          <a:prstGeom prst="rect">
            <a:avLst/>
          </a:prstGeom>
          <a:noFill/>
          <a:ln w="0">
            <a:noFill/>
          </a:ln>
        </p:spPr>
        <p:txBody>
          <a:bodyPr lIns="0" tIns="0" rIns="0" bIns="0">
            <a:noAutofit/>
          </a:bodyPr>
          <a:lstStyle>
            <a:defPPr>
              <a:defRPr sz="1800" b="0">
                <a:solidFill>
                  <a:srgbClr val="233A4B"/>
                </a:solidFill>
                <a:latin typeface="Helvetica Neue"/>
                <a:ea typeface="Helvetica Neue"/>
                <a:cs typeface="Helvetica Neue"/>
              </a:defRPr>
            </a:defPPr>
          </a:lstStyle>
          <a:p>
            <a:pPr>
              <a:buNone/>
              <a:defRPr sz="1800" b="0">
                <a:solidFill>
                  <a:srgbClr val="233A4B"/>
                </a:solidFill>
                <a:latin typeface="Helvetica Neue"/>
                <a:ea typeface="Helvetica Neue"/>
                <a:cs typeface="Helvetica Neue"/>
              </a:defRPr>
            </a:pPr>
            <a:r>
              <a:rPr sz="1800" b="0">
                <a:solidFill>
                  <a:srgbClr val="233A4B"/>
                </a:solidFill>
                <a:latin typeface="Helvetica Neue"/>
                <a:ea typeface="Helvetica Neue"/>
                <a:cs typeface="Helvetica Neue"/>
              </a:rPr>
              <a:t>System sketch</a:t>
            </a:r>
          </a:p>
        </p:txBody>
      </p:sp>
      <p:sp>
        <p:nvSpPr>
          <p:cNvPr id="10" name="session-deliverable">
            <a:extLst>
              <a:ext uri="{FF2B5EF4-FFF2-40B4-BE49-F238E27FC236}">
                <a16:creationId xmlns:a16="http://schemas.microsoft.com/office/drawing/2014/main" id="{6BB3ACCB-6D20-4EB3-B226-42E064D6E9F9}"/>
              </a:ext>
            </a:extLst>
          </p:cNvPr>
          <p:cNvSpPr>
            <a:spLocks noGrp="1"/>
          </p:cNvSpPr>
          <p:nvPr/>
        </p:nvSpPr>
        <p:spPr>
          <a:xfrm>
            <a:off x="819150" y="4505325"/>
            <a:ext cx="3086100" cy="323850"/>
          </a:xfrm>
          <a:prstGeom prst="rect">
            <a:avLst/>
          </a:prstGeom>
          <a:noFill/>
          <a:ln w="0">
            <a:noFill/>
          </a:ln>
        </p:spPr>
        <p:txBody>
          <a:bodyPr lIns="0" tIns="0" rIns="0" bIns="0">
            <a:noAutofit/>
          </a:bodyPr>
          <a:lstStyle>
            <a:defPPr>
              <a:defRPr sz="1800" b="0">
                <a:solidFill>
                  <a:srgbClr val="233A4B"/>
                </a:solidFill>
                <a:latin typeface="Helvetica Neue"/>
                <a:ea typeface="Helvetica Neue"/>
                <a:cs typeface="Helvetica Neue"/>
              </a:defRPr>
            </a:defPPr>
          </a:lstStyle>
          <a:p>
            <a:pPr>
              <a:buNone/>
              <a:defRPr sz="1800" b="0">
                <a:solidFill>
                  <a:srgbClr val="233A4B"/>
                </a:solidFill>
                <a:latin typeface="Helvetica Neue"/>
                <a:ea typeface="Helvetica Neue"/>
                <a:cs typeface="Helvetica Neue"/>
              </a:defRPr>
            </a:pPr>
            <a:r>
              <a:rPr sz="1800" b="0">
                <a:solidFill>
                  <a:srgbClr val="233A4B"/>
                </a:solidFill>
                <a:latin typeface="Helvetica Neue"/>
                <a:ea typeface="Helvetica Neue"/>
                <a:cs typeface="Helvetica Neue"/>
              </a:rPr>
              <a:t>Initial research</a:t>
            </a:r>
          </a:p>
        </p:txBody>
      </p:sp>
      <p:cxnSp>
        <p:nvCxnSpPr>
          <p:cNvPr id="11" name="flow-connector">
            <a:extLst>
              <a:ext uri="{FF2B5EF4-FFF2-40B4-BE49-F238E27FC236}">
                <a16:creationId xmlns:a16="http://schemas.microsoft.com/office/drawing/2014/main" id="{02D02952-56C8-445B-9861-90723E812D8A}"/>
              </a:ext>
            </a:extLst>
          </p:cNvPr>
          <p:cNvCxnSpPr/>
          <p:nvPr/>
        </p:nvCxnSpPr>
        <p:spPr>
          <a:xfrm>
            <a:off x="4114800" y="3590925"/>
            <a:ext cx="228600" cy="0"/>
          </a:xfrm>
          <a:prstGeom prst="straightConnector1">
            <a:avLst/>
          </a:prstGeom>
          <a:ln w="16193">
            <a:solidFill>
              <a:srgbClr val="226FBB"/>
            </a:solidFill>
            <a:tailEnd type="triangle" w="sm" len="sm"/>
          </a:ln>
        </p:spPr>
      </p:cxnSp>
      <p:sp>
        <p:nvSpPr>
          <p:cNvPr id="12" name="session-output-block">
            <a:extLst>
              <a:ext uri="{FF2B5EF4-FFF2-40B4-BE49-F238E27FC236}">
                <a16:creationId xmlns:a16="http://schemas.microsoft.com/office/drawing/2014/main" id="{4E05981C-2B60-4C77-87D5-B788A22DD47E}"/>
              </a:ext>
            </a:extLst>
          </p:cNvPr>
          <p:cNvSpPr>
            <a:spLocks noGrp="1"/>
          </p:cNvSpPr>
          <p:nvPr/>
        </p:nvSpPr>
        <p:spPr>
          <a:xfrm>
            <a:off x="4343400" y="2228850"/>
            <a:ext cx="3505200" cy="2724150"/>
          </a:xfrm>
          <a:prstGeom prst="rect">
            <a:avLst/>
          </a:prstGeom>
          <a:solidFill>
            <a:srgbClr val="F5F8FA"/>
          </a:solidFill>
          <a:ln w="9525">
            <a:solidFill>
              <a:srgbClr val="087E83"/>
            </a:solidFill>
          </a:ln>
        </p:spPr>
      </p:sp>
      <p:sp>
        <p:nvSpPr>
          <p:cNvPr id="13" name="session-number">
            <a:extLst>
              <a:ext uri="{FF2B5EF4-FFF2-40B4-BE49-F238E27FC236}">
                <a16:creationId xmlns:a16="http://schemas.microsoft.com/office/drawing/2014/main" id="{ED5C05F4-2A62-4E10-BC1C-3EB106961F32}"/>
              </a:ext>
            </a:extLst>
          </p:cNvPr>
          <p:cNvSpPr>
            <a:spLocks noGrp="1"/>
          </p:cNvSpPr>
          <p:nvPr/>
        </p:nvSpPr>
        <p:spPr>
          <a:xfrm>
            <a:off x="4552950" y="2428875"/>
            <a:ext cx="2476500" cy="285750"/>
          </a:xfrm>
          <a:prstGeom prst="rect">
            <a:avLst/>
          </a:prstGeom>
          <a:noFill/>
          <a:ln w="0">
            <a:noFill/>
          </a:ln>
        </p:spPr>
        <p:txBody>
          <a:bodyPr lIns="0" tIns="0" rIns="0" bIns="0">
            <a:noAutofit/>
          </a:bodyPr>
          <a:lstStyle>
            <a:defPPr>
              <a:defRPr sz="1350" b="1">
                <a:solidFill>
                  <a:srgbClr val="087E83"/>
                </a:solidFill>
                <a:latin typeface="Helvetica Neue"/>
                <a:ea typeface="Helvetica Neue"/>
                <a:cs typeface="Helvetica Neue"/>
              </a:defRPr>
            </a:defPPr>
          </a:lstStyle>
          <a:p>
            <a:pPr>
              <a:buNone/>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SESSION 2</a:t>
            </a:r>
          </a:p>
        </p:txBody>
      </p:sp>
      <p:pic>
        <p:nvPicPr>
          <p:cNvPr id="14" name="Picture 13">
            <a:extLst>
              <a:ext uri="{FF2B5EF4-FFF2-40B4-BE49-F238E27FC236}">
                <a16:creationId xmlns:a16="http://schemas.microsoft.com/office/drawing/2014/main" id="{9E9D3B41-E5F9-4F43-BE9C-9FC3CFB0FF71}"/>
              </a:ext>
            </a:extLst>
          </p:cNvPr>
          <p:cNvPicPr>
            <a:picLocks noChangeAspect="1"/>
          </p:cNvPicPr>
          <p:nvPr/>
        </p:nvPicPr>
        <p:blipFill>
          <a:blip r:embed="rId4"/>
          <a:stretch/>
        </p:blipFill>
        <p:spPr>
          <a:xfrm>
            <a:off x="7181850" y="2419350"/>
            <a:ext cx="400050" cy="400050"/>
          </a:xfrm>
          <a:prstGeom prst="rect">
            <a:avLst/>
          </a:prstGeom>
        </p:spPr>
      </p:pic>
      <p:sp>
        <p:nvSpPr>
          <p:cNvPr id="15" name="session-name">
            <a:extLst>
              <a:ext uri="{FF2B5EF4-FFF2-40B4-BE49-F238E27FC236}">
                <a16:creationId xmlns:a16="http://schemas.microsoft.com/office/drawing/2014/main" id="{921E881F-7472-436C-AF7F-195C43ECF97A}"/>
              </a:ext>
            </a:extLst>
          </p:cNvPr>
          <p:cNvSpPr>
            <a:spLocks noGrp="1"/>
          </p:cNvSpPr>
          <p:nvPr/>
        </p:nvSpPr>
        <p:spPr>
          <a:xfrm>
            <a:off x="4552950" y="2962275"/>
            <a:ext cx="3086100" cy="781050"/>
          </a:xfrm>
          <a:prstGeom prst="rect">
            <a:avLst/>
          </a:prstGeom>
          <a:noFill/>
          <a:ln w="0">
            <a:noFill/>
          </a:ln>
        </p:spPr>
        <p:txBody>
          <a:bodyPr lIns="0" tIns="0" rIns="0" bIns="0">
            <a:noAutofit/>
          </a:bodyPr>
          <a:lstStyle>
            <a:defPPr>
              <a:defRPr sz="2175" b="1">
                <a:solidFill>
                  <a:srgbClr val="102B46"/>
                </a:solidFill>
                <a:latin typeface="Helvetica Neue"/>
                <a:ea typeface="Helvetica Neue"/>
                <a:cs typeface="Helvetica Neue"/>
              </a:defRPr>
            </a:defPPr>
          </a:lstStyle>
          <a:p>
            <a:pPr>
              <a:buNone/>
              <a:defRPr sz="2175" b="1">
                <a:solidFill>
                  <a:srgbClr val="102B46"/>
                </a:solidFill>
                <a:latin typeface="Helvetica Neue"/>
                <a:ea typeface="Helvetica Neue"/>
                <a:cs typeface="Helvetica Neue"/>
              </a:defRPr>
            </a:pPr>
            <a:r>
              <a:rPr sz="2175" b="1">
                <a:solidFill>
                  <a:srgbClr val="102B46"/>
                </a:solidFill>
                <a:latin typeface="Helvetica Neue"/>
                <a:ea typeface="Helvetica Neue"/>
                <a:cs typeface="Helvetica Neue"/>
              </a:rPr>
              <a:t>Integrated solution</a:t>
            </a:r>
          </a:p>
        </p:txBody>
      </p:sp>
      <p:sp>
        <p:nvSpPr>
          <p:cNvPr id="16" name="session-deliverable">
            <a:extLst>
              <a:ext uri="{FF2B5EF4-FFF2-40B4-BE49-F238E27FC236}">
                <a16:creationId xmlns:a16="http://schemas.microsoft.com/office/drawing/2014/main" id="{22F0A93B-022C-4989-813E-C28484BCA1F8}"/>
              </a:ext>
            </a:extLst>
          </p:cNvPr>
          <p:cNvSpPr>
            <a:spLocks noGrp="1"/>
          </p:cNvSpPr>
          <p:nvPr/>
        </p:nvSpPr>
        <p:spPr>
          <a:xfrm>
            <a:off x="4552950" y="3857625"/>
            <a:ext cx="3086100" cy="323850"/>
          </a:xfrm>
          <a:prstGeom prst="rect">
            <a:avLst/>
          </a:prstGeom>
          <a:noFill/>
          <a:ln w="0">
            <a:noFill/>
          </a:ln>
        </p:spPr>
        <p:txBody>
          <a:bodyPr lIns="0" tIns="0" rIns="0" bIns="0">
            <a:noAutofit/>
          </a:bodyPr>
          <a:lstStyle>
            <a:defPPr>
              <a:defRPr sz="1800" b="0">
                <a:solidFill>
                  <a:srgbClr val="233A4B"/>
                </a:solidFill>
                <a:latin typeface="Helvetica Neue"/>
                <a:ea typeface="Helvetica Neue"/>
                <a:cs typeface="Helvetica Neue"/>
              </a:defRPr>
            </a:defPPr>
          </a:lstStyle>
          <a:p>
            <a:pPr>
              <a:buNone/>
              <a:defRPr sz="1800" b="0">
                <a:solidFill>
                  <a:srgbClr val="233A4B"/>
                </a:solidFill>
                <a:latin typeface="Helvetica Neue"/>
                <a:ea typeface="Helvetica Neue"/>
                <a:cs typeface="Helvetica Neue"/>
              </a:defRPr>
            </a:pPr>
            <a:r>
              <a:rPr sz="1800" b="0">
                <a:solidFill>
                  <a:srgbClr val="233A4B"/>
                </a:solidFill>
                <a:latin typeface="Helvetica Neue"/>
                <a:ea typeface="Helvetica Neue"/>
                <a:cs typeface="Helvetica Neue"/>
              </a:rPr>
              <a:t>Solution V2</a:t>
            </a:r>
          </a:p>
        </p:txBody>
      </p:sp>
      <p:sp>
        <p:nvSpPr>
          <p:cNvPr id="17" name="session-deliverable">
            <a:extLst>
              <a:ext uri="{FF2B5EF4-FFF2-40B4-BE49-F238E27FC236}">
                <a16:creationId xmlns:a16="http://schemas.microsoft.com/office/drawing/2014/main" id="{0ECF745F-A062-4607-AF56-431D41E41864}"/>
              </a:ext>
            </a:extLst>
          </p:cNvPr>
          <p:cNvSpPr>
            <a:spLocks noGrp="1"/>
          </p:cNvSpPr>
          <p:nvPr/>
        </p:nvSpPr>
        <p:spPr>
          <a:xfrm>
            <a:off x="4552950" y="4181475"/>
            <a:ext cx="3086100" cy="323850"/>
          </a:xfrm>
          <a:prstGeom prst="rect">
            <a:avLst/>
          </a:prstGeom>
          <a:noFill/>
          <a:ln w="0">
            <a:noFill/>
          </a:ln>
        </p:spPr>
        <p:txBody>
          <a:bodyPr lIns="0" tIns="0" rIns="0" bIns="0">
            <a:noAutofit/>
          </a:bodyPr>
          <a:lstStyle>
            <a:defPPr>
              <a:defRPr sz="1800" b="0">
                <a:solidFill>
                  <a:srgbClr val="233A4B"/>
                </a:solidFill>
                <a:latin typeface="Helvetica Neue"/>
                <a:ea typeface="Helvetica Neue"/>
                <a:cs typeface="Helvetica Neue"/>
              </a:defRPr>
            </a:defPPr>
          </a:lstStyle>
          <a:p>
            <a:pPr>
              <a:buNone/>
              <a:defRPr sz="1800" b="0">
                <a:solidFill>
                  <a:srgbClr val="233A4B"/>
                </a:solidFill>
                <a:latin typeface="Helvetica Neue"/>
                <a:ea typeface="Helvetica Neue"/>
                <a:cs typeface="Helvetica Neue"/>
              </a:defRPr>
            </a:pPr>
            <a:r>
              <a:rPr sz="1800" b="0">
                <a:solidFill>
                  <a:srgbClr val="233A4B"/>
                </a:solidFill>
                <a:latin typeface="Helvetica Neue"/>
                <a:ea typeface="Helvetica Neue"/>
                <a:cs typeface="Helvetica Neue"/>
              </a:rPr>
              <a:t>Business model</a:t>
            </a:r>
          </a:p>
        </p:txBody>
      </p:sp>
      <p:sp>
        <p:nvSpPr>
          <p:cNvPr id="18" name="session-deliverable">
            <a:extLst>
              <a:ext uri="{FF2B5EF4-FFF2-40B4-BE49-F238E27FC236}">
                <a16:creationId xmlns:a16="http://schemas.microsoft.com/office/drawing/2014/main" id="{9BE103A0-4103-497C-AD74-D88F498A50F9}"/>
              </a:ext>
            </a:extLst>
          </p:cNvPr>
          <p:cNvSpPr>
            <a:spLocks noGrp="1"/>
          </p:cNvSpPr>
          <p:nvPr/>
        </p:nvSpPr>
        <p:spPr>
          <a:xfrm>
            <a:off x="4552950" y="4505325"/>
            <a:ext cx="3086100" cy="323850"/>
          </a:xfrm>
          <a:prstGeom prst="rect">
            <a:avLst/>
          </a:prstGeom>
          <a:noFill/>
          <a:ln w="0">
            <a:noFill/>
          </a:ln>
        </p:spPr>
        <p:txBody>
          <a:bodyPr lIns="0" tIns="0" rIns="0" bIns="0">
            <a:noAutofit/>
          </a:bodyPr>
          <a:lstStyle>
            <a:defPPr>
              <a:defRPr sz="1800" b="0">
                <a:solidFill>
                  <a:srgbClr val="233A4B"/>
                </a:solidFill>
                <a:latin typeface="Helvetica Neue"/>
                <a:ea typeface="Helvetica Neue"/>
                <a:cs typeface="Helvetica Neue"/>
              </a:defRPr>
            </a:defPPr>
          </a:lstStyle>
          <a:p>
            <a:pPr>
              <a:buNone/>
              <a:defRPr sz="1800" b="0">
                <a:solidFill>
                  <a:srgbClr val="233A4B"/>
                </a:solidFill>
                <a:latin typeface="Helvetica Neue"/>
                <a:ea typeface="Helvetica Neue"/>
                <a:cs typeface="Helvetica Neue"/>
              </a:defRPr>
            </a:pPr>
            <a:r>
              <a:rPr sz="1800" b="0">
                <a:solidFill>
                  <a:srgbClr val="233A4B"/>
                </a:solidFill>
                <a:latin typeface="Helvetica Neue"/>
                <a:ea typeface="Helvetica Neue"/>
                <a:cs typeface="Helvetica Neue"/>
              </a:rPr>
              <a:t>Regulatory approach</a:t>
            </a:r>
          </a:p>
        </p:txBody>
      </p:sp>
      <p:cxnSp>
        <p:nvCxnSpPr>
          <p:cNvPr id="19" name="flow-connector">
            <a:extLst>
              <a:ext uri="{FF2B5EF4-FFF2-40B4-BE49-F238E27FC236}">
                <a16:creationId xmlns:a16="http://schemas.microsoft.com/office/drawing/2014/main" id="{FF92294E-CE85-4576-A771-31D2AE3DFB2F}"/>
              </a:ext>
            </a:extLst>
          </p:cNvPr>
          <p:cNvCxnSpPr/>
          <p:nvPr/>
        </p:nvCxnSpPr>
        <p:spPr>
          <a:xfrm>
            <a:off x="7848600" y="3590925"/>
            <a:ext cx="228600" cy="0"/>
          </a:xfrm>
          <a:prstGeom prst="straightConnector1">
            <a:avLst/>
          </a:prstGeom>
          <a:ln w="16193">
            <a:solidFill>
              <a:srgbClr val="087E83"/>
            </a:solidFill>
            <a:tailEnd type="triangle" w="sm" len="sm"/>
          </a:ln>
        </p:spPr>
      </p:cxnSp>
      <p:sp>
        <p:nvSpPr>
          <p:cNvPr id="20" name="session-output-block">
            <a:extLst>
              <a:ext uri="{FF2B5EF4-FFF2-40B4-BE49-F238E27FC236}">
                <a16:creationId xmlns:a16="http://schemas.microsoft.com/office/drawing/2014/main" id="{D30CDD7E-1CDD-4722-A9F5-A13818A0A39F}"/>
              </a:ext>
            </a:extLst>
          </p:cNvPr>
          <p:cNvSpPr>
            <a:spLocks noGrp="1"/>
          </p:cNvSpPr>
          <p:nvPr/>
        </p:nvSpPr>
        <p:spPr>
          <a:xfrm>
            <a:off x="8077200" y="2228850"/>
            <a:ext cx="3505200" cy="2724150"/>
          </a:xfrm>
          <a:prstGeom prst="rect">
            <a:avLst/>
          </a:prstGeom>
          <a:solidFill>
            <a:srgbClr val="F5F8FA"/>
          </a:solidFill>
          <a:ln w="9525">
            <a:solidFill>
              <a:srgbClr val="7455B4"/>
            </a:solidFill>
          </a:ln>
        </p:spPr>
      </p:sp>
      <p:sp>
        <p:nvSpPr>
          <p:cNvPr id="21" name="session-number">
            <a:extLst>
              <a:ext uri="{FF2B5EF4-FFF2-40B4-BE49-F238E27FC236}">
                <a16:creationId xmlns:a16="http://schemas.microsoft.com/office/drawing/2014/main" id="{45288894-3215-4586-8490-F08F0C5D95F0}"/>
              </a:ext>
            </a:extLst>
          </p:cNvPr>
          <p:cNvSpPr>
            <a:spLocks noGrp="1"/>
          </p:cNvSpPr>
          <p:nvPr/>
        </p:nvSpPr>
        <p:spPr>
          <a:xfrm>
            <a:off x="8286750" y="2428875"/>
            <a:ext cx="2476500" cy="285750"/>
          </a:xfrm>
          <a:prstGeom prst="rect">
            <a:avLst/>
          </a:prstGeom>
          <a:noFill/>
          <a:ln w="0">
            <a:noFill/>
          </a:ln>
        </p:spPr>
        <p:txBody>
          <a:bodyPr lIns="0" tIns="0" rIns="0" bIns="0">
            <a:noAutofit/>
          </a:bodyPr>
          <a:lstStyle>
            <a:defPPr>
              <a:defRPr sz="1350" b="1">
                <a:solidFill>
                  <a:srgbClr val="7455B4"/>
                </a:solidFill>
                <a:latin typeface="Helvetica Neue"/>
                <a:ea typeface="Helvetica Neue"/>
                <a:cs typeface="Helvetica Neue"/>
              </a:defRPr>
            </a:defPPr>
          </a:lstStyle>
          <a:p>
            <a:pPr>
              <a:buNone/>
              <a:defRPr sz="1350" b="1">
                <a:solidFill>
                  <a:srgbClr val="7455B4"/>
                </a:solidFill>
                <a:latin typeface="Helvetica Neue"/>
                <a:ea typeface="Helvetica Neue"/>
                <a:cs typeface="Helvetica Neue"/>
              </a:defRPr>
            </a:pPr>
            <a:r>
              <a:rPr sz="1350" b="1">
                <a:solidFill>
                  <a:srgbClr val="7455B4"/>
                </a:solidFill>
                <a:latin typeface="Helvetica Neue"/>
                <a:ea typeface="Helvetica Neue"/>
                <a:cs typeface="Helvetica Neue"/>
              </a:rPr>
              <a:t>SESSION 3</a:t>
            </a:r>
          </a:p>
        </p:txBody>
      </p:sp>
      <p:pic>
        <p:nvPicPr>
          <p:cNvPr id="22" name="Picture 21">
            <a:extLst>
              <a:ext uri="{FF2B5EF4-FFF2-40B4-BE49-F238E27FC236}">
                <a16:creationId xmlns:a16="http://schemas.microsoft.com/office/drawing/2014/main" id="{A468CC9F-1DDE-48E4-937C-AECC3C0A62DE}"/>
              </a:ext>
            </a:extLst>
          </p:cNvPr>
          <p:cNvPicPr>
            <a:picLocks noChangeAspect="1"/>
          </p:cNvPicPr>
          <p:nvPr/>
        </p:nvPicPr>
        <p:blipFill>
          <a:blip r:embed="rId5"/>
          <a:stretch/>
        </p:blipFill>
        <p:spPr>
          <a:xfrm>
            <a:off x="10915650" y="2419350"/>
            <a:ext cx="400050" cy="400050"/>
          </a:xfrm>
          <a:prstGeom prst="rect">
            <a:avLst/>
          </a:prstGeom>
        </p:spPr>
      </p:pic>
      <p:sp>
        <p:nvSpPr>
          <p:cNvPr id="23" name="session-name">
            <a:extLst>
              <a:ext uri="{FF2B5EF4-FFF2-40B4-BE49-F238E27FC236}">
                <a16:creationId xmlns:a16="http://schemas.microsoft.com/office/drawing/2014/main" id="{88260634-3317-4F6F-9B46-A44DA4EAFAF3}"/>
              </a:ext>
            </a:extLst>
          </p:cNvPr>
          <p:cNvSpPr>
            <a:spLocks noGrp="1"/>
          </p:cNvSpPr>
          <p:nvPr/>
        </p:nvSpPr>
        <p:spPr>
          <a:xfrm>
            <a:off x="8286750" y="2962275"/>
            <a:ext cx="3086100" cy="781050"/>
          </a:xfrm>
          <a:prstGeom prst="rect">
            <a:avLst/>
          </a:prstGeom>
          <a:noFill/>
          <a:ln w="0">
            <a:noFill/>
          </a:ln>
        </p:spPr>
        <p:txBody>
          <a:bodyPr lIns="0" tIns="0" rIns="0" bIns="0">
            <a:noAutofit/>
          </a:bodyPr>
          <a:lstStyle>
            <a:defPPr>
              <a:defRPr sz="2175" b="1">
                <a:solidFill>
                  <a:srgbClr val="102B46"/>
                </a:solidFill>
                <a:latin typeface="Helvetica Neue"/>
                <a:ea typeface="Helvetica Neue"/>
                <a:cs typeface="Helvetica Neue"/>
              </a:defRPr>
            </a:defPPr>
          </a:lstStyle>
          <a:p>
            <a:pPr>
              <a:buNone/>
              <a:defRPr sz="2175" b="1">
                <a:solidFill>
                  <a:srgbClr val="102B46"/>
                </a:solidFill>
                <a:latin typeface="Helvetica Neue"/>
                <a:ea typeface="Helvetica Neue"/>
                <a:cs typeface="Helvetica Neue"/>
              </a:defRPr>
            </a:pPr>
            <a:r>
              <a:rPr sz="2175" b="1">
                <a:solidFill>
                  <a:srgbClr val="102B46"/>
                </a:solidFill>
                <a:latin typeface="Helvetica Neue"/>
                <a:ea typeface="Helvetica Neue"/>
                <a:cs typeface="Helvetica Neue"/>
              </a:rPr>
              <a:t>Proposal and</a:t>
            </a:r>
          </a:p>
          <a:p>
            <a:pPr>
              <a:buNone/>
              <a:defRPr sz="2175" b="1">
                <a:solidFill>
                  <a:srgbClr val="102B46"/>
                </a:solidFill>
                <a:latin typeface="Helvetica Neue"/>
                <a:ea typeface="Helvetica Neue"/>
                <a:cs typeface="Helvetica Neue"/>
              </a:defRPr>
            </a:pPr>
            <a:r>
              <a:rPr sz="2175" b="1">
                <a:solidFill>
                  <a:srgbClr val="102B46"/>
                </a:solidFill>
                <a:latin typeface="Helvetica Neue"/>
                <a:ea typeface="Helvetica Neue"/>
                <a:cs typeface="Helvetica Neue"/>
              </a:rPr>
              <a:t>execution plan</a:t>
            </a:r>
          </a:p>
        </p:txBody>
      </p:sp>
      <p:sp>
        <p:nvSpPr>
          <p:cNvPr id="24" name="session-deliverable">
            <a:extLst>
              <a:ext uri="{FF2B5EF4-FFF2-40B4-BE49-F238E27FC236}">
                <a16:creationId xmlns:a16="http://schemas.microsoft.com/office/drawing/2014/main" id="{CD904F81-52C1-4F06-9F37-ABE33166716C}"/>
              </a:ext>
            </a:extLst>
          </p:cNvPr>
          <p:cNvSpPr>
            <a:spLocks noGrp="1"/>
          </p:cNvSpPr>
          <p:nvPr/>
        </p:nvSpPr>
        <p:spPr>
          <a:xfrm>
            <a:off x="8286750" y="3857625"/>
            <a:ext cx="3086100" cy="323850"/>
          </a:xfrm>
          <a:prstGeom prst="rect">
            <a:avLst/>
          </a:prstGeom>
          <a:noFill/>
          <a:ln w="0">
            <a:noFill/>
          </a:ln>
        </p:spPr>
        <p:txBody>
          <a:bodyPr lIns="0" tIns="0" rIns="0" bIns="0">
            <a:noAutofit/>
          </a:bodyPr>
          <a:lstStyle>
            <a:defPPr>
              <a:defRPr sz="1800" b="0">
                <a:solidFill>
                  <a:srgbClr val="233A4B"/>
                </a:solidFill>
                <a:latin typeface="Helvetica Neue"/>
                <a:ea typeface="Helvetica Neue"/>
                <a:cs typeface="Helvetica Neue"/>
              </a:defRPr>
            </a:defPPr>
          </a:lstStyle>
          <a:p>
            <a:pPr>
              <a:buNone/>
              <a:defRPr sz="1800" b="0">
                <a:solidFill>
                  <a:srgbClr val="233A4B"/>
                </a:solidFill>
                <a:latin typeface="Helvetica Neue"/>
                <a:ea typeface="Helvetica Neue"/>
                <a:cs typeface="Helvetica Neue"/>
              </a:defRPr>
            </a:pPr>
            <a:r>
              <a:rPr sz="1800" b="0">
                <a:solidFill>
                  <a:srgbClr val="233A4B"/>
                </a:solidFill>
                <a:latin typeface="Helvetica Neue"/>
                <a:ea typeface="Helvetica Neue"/>
                <a:cs typeface="Helvetica Neue"/>
              </a:rPr>
              <a:t>10–15-page proposal</a:t>
            </a:r>
          </a:p>
        </p:txBody>
      </p:sp>
      <p:sp>
        <p:nvSpPr>
          <p:cNvPr id="25" name="session-deliverable">
            <a:extLst>
              <a:ext uri="{FF2B5EF4-FFF2-40B4-BE49-F238E27FC236}">
                <a16:creationId xmlns:a16="http://schemas.microsoft.com/office/drawing/2014/main" id="{A294D8C4-B720-49D9-A910-D90B4391563D}"/>
              </a:ext>
            </a:extLst>
          </p:cNvPr>
          <p:cNvSpPr>
            <a:spLocks noGrp="1"/>
          </p:cNvSpPr>
          <p:nvPr/>
        </p:nvSpPr>
        <p:spPr>
          <a:xfrm>
            <a:off x="8286750" y="4181475"/>
            <a:ext cx="3086100" cy="323850"/>
          </a:xfrm>
          <a:prstGeom prst="rect">
            <a:avLst/>
          </a:prstGeom>
          <a:noFill/>
          <a:ln w="0">
            <a:noFill/>
          </a:ln>
        </p:spPr>
        <p:txBody>
          <a:bodyPr lIns="0" tIns="0" rIns="0" bIns="0">
            <a:noAutofit/>
          </a:bodyPr>
          <a:lstStyle>
            <a:defPPr>
              <a:defRPr sz="1800" b="0">
                <a:solidFill>
                  <a:srgbClr val="233A4B"/>
                </a:solidFill>
                <a:latin typeface="Helvetica Neue"/>
                <a:ea typeface="Helvetica Neue"/>
                <a:cs typeface="Helvetica Neue"/>
              </a:defRPr>
            </a:defPPr>
          </a:lstStyle>
          <a:p>
            <a:pPr>
              <a:buNone/>
              <a:defRPr sz="1800" b="0">
                <a:solidFill>
                  <a:srgbClr val="233A4B"/>
                </a:solidFill>
                <a:latin typeface="Helvetica Neue"/>
                <a:ea typeface="Helvetica Neue"/>
                <a:cs typeface="Helvetica Neue"/>
              </a:defRPr>
            </a:pPr>
            <a:r>
              <a:rPr sz="1800" b="0">
                <a:solidFill>
                  <a:srgbClr val="233A4B"/>
                </a:solidFill>
                <a:latin typeface="Helvetica Neue"/>
                <a:ea typeface="Helvetica Neue"/>
                <a:cs typeface="Helvetica Neue"/>
              </a:rPr>
              <a:t>R&amp;D plan and budget</a:t>
            </a:r>
          </a:p>
        </p:txBody>
      </p:sp>
      <p:sp>
        <p:nvSpPr>
          <p:cNvPr id="26" name="session-deliverable">
            <a:extLst>
              <a:ext uri="{FF2B5EF4-FFF2-40B4-BE49-F238E27FC236}">
                <a16:creationId xmlns:a16="http://schemas.microsoft.com/office/drawing/2014/main" id="{F77114DD-D21B-4164-B343-BC2E50B84D7F}"/>
              </a:ext>
            </a:extLst>
          </p:cNvPr>
          <p:cNvSpPr>
            <a:spLocks noGrp="1"/>
          </p:cNvSpPr>
          <p:nvPr/>
        </p:nvSpPr>
        <p:spPr>
          <a:xfrm>
            <a:off x="8286750" y="4505325"/>
            <a:ext cx="3086100" cy="323850"/>
          </a:xfrm>
          <a:prstGeom prst="rect">
            <a:avLst/>
          </a:prstGeom>
          <a:noFill/>
          <a:ln w="0">
            <a:noFill/>
          </a:ln>
        </p:spPr>
        <p:txBody>
          <a:bodyPr lIns="0" tIns="0" rIns="0" bIns="0">
            <a:noAutofit/>
          </a:bodyPr>
          <a:lstStyle>
            <a:defPPr>
              <a:defRPr sz="1800" b="0">
                <a:solidFill>
                  <a:srgbClr val="233A4B"/>
                </a:solidFill>
                <a:latin typeface="Helvetica Neue"/>
                <a:ea typeface="Helvetica Neue"/>
                <a:cs typeface="Helvetica Neue"/>
              </a:defRPr>
            </a:defPPr>
          </a:lstStyle>
          <a:p>
            <a:pPr>
              <a:buNone/>
              <a:defRPr sz="1800" b="0">
                <a:solidFill>
                  <a:srgbClr val="233A4B"/>
                </a:solidFill>
                <a:latin typeface="Helvetica Neue"/>
                <a:ea typeface="Helvetica Neue"/>
                <a:cs typeface="Helvetica Neue"/>
              </a:defRPr>
            </a:pPr>
            <a:r>
              <a:rPr sz="1800" b="0">
                <a:solidFill>
                  <a:srgbClr val="233A4B"/>
                </a:solidFill>
                <a:latin typeface="Helvetica Neue"/>
                <a:ea typeface="Helvetica Neue"/>
                <a:cs typeface="Helvetica Neue"/>
              </a:rPr>
              <a:t>Pitch draft</a:t>
            </a:r>
          </a:p>
        </p:txBody>
      </p:sp>
      <p:sp>
        <p:nvSpPr>
          <p:cNvPr id="27" name="checkpoint-explanation">
            <a:extLst>
              <a:ext uri="{FF2B5EF4-FFF2-40B4-BE49-F238E27FC236}">
                <a16:creationId xmlns:a16="http://schemas.microsoft.com/office/drawing/2014/main" id="{1D43B41D-05DB-4748-9A83-ADE390C49F83}"/>
              </a:ext>
            </a:extLst>
          </p:cNvPr>
          <p:cNvSpPr>
            <a:spLocks noGrp="1"/>
          </p:cNvSpPr>
          <p:nvPr/>
        </p:nvSpPr>
        <p:spPr>
          <a:xfrm>
            <a:off x="609600" y="5314950"/>
            <a:ext cx="10972800" cy="409575"/>
          </a:xfrm>
          <a:prstGeom prst="rect">
            <a:avLst/>
          </a:prstGeom>
          <a:noFill/>
          <a:ln w="0">
            <a:noFill/>
          </a:ln>
        </p:spPr>
        <p:txBody>
          <a:bodyPr lIns="0" tIns="0" rIns="0" bIns="0">
            <a:noAutofit/>
          </a:bodyPr>
          <a:lstStyle>
            <a:defPPr>
              <a:defRPr sz="2100" b="1">
                <a:solidFill>
                  <a:srgbClr val="102B46"/>
                </a:solidFill>
                <a:latin typeface="Helvetica Neue"/>
                <a:ea typeface="Helvetica Neue"/>
                <a:cs typeface="Helvetica Neue"/>
              </a:defRPr>
            </a:defPPr>
          </a:lstStyle>
          <a:p>
            <a:pPr>
              <a:buNone/>
              <a:defRPr sz="2100" b="1">
                <a:solidFill>
                  <a:srgbClr val="102B46"/>
                </a:solidFill>
                <a:latin typeface="Helvetica Neue"/>
                <a:ea typeface="Helvetica Neue"/>
                <a:cs typeface="Helvetica Neue"/>
              </a:defRPr>
            </a:pPr>
            <a:r>
              <a:rPr sz="2100" b="1">
                <a:solidFill>
                  <a:srgbClr val="102B46"/>
                </a:solidFill>
                <a:latin typeface="Helvetica Neue"/>
                <a:ea typeface="Helvetica Neue"/>
                <a:cs typeface="Helvetica Neue"/>
              </a:rPr>
              <a:t>Five questions guide each checkpoint summary.</a:t>
            </a:r>
          </a:p>
        </p:txBody>
      </p:sp>
      <p:sp>
        <p:nvSpPr>
          <p:cNvPr id="28" name="feedback-explanation">
            <a:extLst>
              <a:ext uri="{FF2B5EF4-FFF2-40B4-BE49-F238E27FC236}">
                <a16:creationId xmlns:a16="http://schemas.microsoft.com/office/drawing/2014/main" id="{BDDFECF9-F8B0-4C1F-BB2E-D039746B3156}"/>
              </a:ext>
            </a:extLst>
          </p:cNvPr>
          <p:cNvSpPr>
            <a:spLocks noGrp="1"/>
          </p:cNvSpPr>
          <p:nvPr/>
        </p:nvSpPr>
        <p:spPr>
          <a:xfrm>
            <a:off x="609600" y="5857875"/>
            <a:ext cx="10972800" cy="381000"/>
          </a:xfrm>
          <a:prstGeom prst="rect">
            <a:avLst/>
          </a:prstGeom>
          <a:noFill/>
          <a:ln w="0">
            <a:noFill/>
          </a:ln>
        </p:spPr>
        <p:txBody>
          <a:bodyPr lIns="0" tIns="0" rIns="0" bIns="0">
            <a:noAutofit/>
          </a:bodyPr>
          <a:lstStyle>
            <a:defPPr>
              <a:defRPr sz="1800" b="0">
                <a:solidFill>
                  <a:srgbClr val="607482"/>
                </a:solidFill>
                <a:latin typeface="Helvetica Neue"/>
                <a:ea typeface="Helvetica Neue"/>
                <a:cs typeface="Helvetica Neue"/>
              </a:defRPr>
            </a:defPPr>
          </a:lstStyle>
          <a:p>
            <a:pPr>
              <a:buNone/>
              <a:defRPr sz="1800" b="0">
                <a:solidFill>
                  <a:srgbClr val="607482"/>
                </a:solidFill>
                <a:latin typeface="Helvetica Neue"/>
                <a:ea typeface="Helvetica Neue"/>
                <a:cs typeface="Helvetica Neue"/>
              </a:defRPr>
            </a:pPr>
            <a:r>
              <a:rPr sz="1800" b="0">
                <a:solidFill>
                  <a:srgbClr val="607482"/>
                </a:solidFill>
                <a:latin typeface="Helvetica Neue"/>
                <a:ea typeface="Helvetica Neue"/>
                <a:cs typeface="Helvetica Neue"/>
              </a:rPr>
              <a:t>Use the summary to discuss progress and open questions with experts.</a:t>
            </a:r>
          </a:p>
        </p:txBody>
      </p:sp>
      <p:sp>
        <p:nvSpPr>
          <p:cNvPr id="29" name="page-number">
            <a:extLst>
              <a:ext uri="{FF2B5EF4-FFF2-40B4-BE49-F238E27FC236}">
                <a16:creationId xmlns:a16="http://schemas.microsoft.com/office/drawing/2014/main" id="{77AD3ADB-4047-4B41-B086-AB7B9FC50077}"/>
              </a:ext>
            </a:extLst>
          </p:cNvPr>
          <p:cNvSpPr>
            <a:spLocks noGrp="1"/>
          </p:cNvSpPr>
          <p:nvPr/>
        </p:nvSpPr>
        <p:spPr>
          <a:xfrm>
            <a:off x="10953750" y="6438900"/>
            <a:ext cx="619125" cy="238125"/>
          </a:xfrm>
          <a:prstGeom prst="rect">
            <a:avLst/>
          </a:prstGeom>
          <a:noFill/>
          <a:ln w="0">
            <a:noFill/>
          </a:ln>
        </p:spPr>
        <p:txBody>
          <a:bodyPr lIns="0" tIns="0" rIns="0" bIns="0">
            <a:noAutofit/>
          </a:bodyPr>
          <a:lstStyle>
            <a:defPPr>
              <a:defRPr sz="1125" b="0">
                <a:solidFill>
                  <a:srgbClr val="607482"/>
                </a:solidFill>
                <a:latin typeface="Helvetica Neue"/>
                <a:ea typeface="Helvetica Neue"/>
                <a:cs typeface="Helvetica Neue"/>
              </a:defRPr>
            </a:defPPr>
          </a:lstStyle>
          <a:p>
            <a:pPr>
              <a:buNone/>
              <a:defRPr sz="1125" b="0">
                <a:solidFill>
                  <a:srgbClr val="607482"/>
                </a:solidFill>
                <a:latin typeface="Helvetica Neue"/>
                <a:ea typeface="Helvetica Neue"/>
                <a:cs typeface="Helvetica Neue"/>
              </a:defRPr>
            </a:pPr>
            <a:r>
              <a:rPr sz="1125" b="0">
                <a:solidFill>
                  <a:srgbClr val="607482"/>
                </a:solidFill>
                <a:latin typeface="Helvetica Neue"/>
                <a:ea typeface="Helvetica Neue"/>
                <a:cs typeface="Helvetica Neue"/>
              </a:rPr>
              <a:t>5</a:t>
            </a:r>
          </a:p>
        </p:txBody>
      </p:sp>
    </p:spTree>
    <p:extLst>
      <p:ext uri="{BB962C8B-B14F-4D97-AF65-F5344CB8AC3E}">
        <p14:creationId xmlns:p14="http://schemas.microsoft.com/office/powerpoint/2010/main" val="19569789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73E5E"/>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3C77655-9CEE-4E13-B226-4FC639FC8AB1}"/>
              </a:ext>
            </a:extLst>
          </p:cNvPr>
          <p:cNvPicPr>
            <a:picLocks noChangeAspect="1"/>
          </p:cNvPicPr>
          <p:nvPr/>
        </p:nvPicPr>
        <p:blipFill>
          <a:blip r:embed="rId3"/>
          <a:stretch/>
        </p:blipFill>
        <p:spPr>
          <a:xfrm>
            <a:off x="10001250" y="666750"/>
            <a:ext cx="1219200" cy="1219200"/>
          </a:xfrm>
          <a:prstGeom prst="rect">
            <a:avLst/>
          </a:prstGeom>
        </p:spPr>
      </p:pic>
      <p:sp>
        <p:nvSpPr>
          <p:cNvPr id="2" name="slide-title">
            <a:extLst>
              <a:ext uri="{FF2B5EF4-FFF2-40B4-BE49-F238E27FC236}">
                <a16:creationId xmlns:a16="http://schemas.microsoft.com/office/drawing/2014/main" id="{72CC8963-BC5B-45FC-9127-7731A0EFDB9E}"/>
              </a:ext>
            </a:extLst>
          </p:cNvPr>
          <p:cNvSpPr>
            <a:spLocks noGrp="1"/>
          </p:cNvSpPr>
          <p:nvPr/>
        </p:nvSpPr>
        <p:spPr>
          <a:xfrm>
            <a:off x="609600" y="2400300"/>
            <a:ext cx="10668000" cy="1762125"/>
          </a:xfrm>
          <a:prstGeom prst="rect">
            <a:avLst/>
          </a:prstGeom>
          <a:noFill/>
          <a:ln w="0">
            <a:noFill/>
          </a:ln>
        </p:spPr>
        <p:txBody>
          <a:bodyPr lIns="0" tIns="0" rIns="0" bIns="0">
            <a:noAutofit/>
          </a:bodyPr>
          <a:lstStyle>
            <a:defPPr>
              <a:defRPr sz="4350" b="1">
                <a:solidFill>
                  <a:srgbClr val="FFFFFF"/>
                </a:solidFill>
                <a:latin typeface="Helvetica Neue"/>
                <a:ea typeface="Helvetica Neue"/>
                <a:cs typeface="Helvetica Neue"/>
              </a:defRPr>
            </a:defPPr>
          </a:lstStyle>
          <a:p>
            <a:pPr>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SPAIDER platform</a:t>
            </a:r>
          </a:p>
        </p:txBody>
      </p:sp>
      <p:sp>
        <p:nvSpPr>
          <p:cNvPr id="3" name="section-subtitle">
            <a:extLst>
              <a:ext uri="{FF2B5EF4-FFF2-40B4-BE49-F238E27FC236}">
                <a16:creationId xmlns:a16="http://schemas.microsoft.com/office/drawing/2014/main" id="{D95166FA-8956-4CA4-A423-D230BC12C664}"/>
              </a:ext>
            </a:extLst>
          </p:cNvPr>
          <p:cNvSpPr>
            <a:spLocks noGrp="1"/>
          </p:cNvSpPr>
          <p:nvPr/>
        </p:nvSpPr>
        <p:spPr>
          <a:xfrm>
            <a:off x="609600" y="4057095"/>
            <a:ext cx="10668000" cy="1610280"/>
          </a:xfrm>
          <a:prstGeom prst="rect">
            <a:avLst/>
          </a:prstGeom>
          <a:noFill/>
          <a:ln w="0">
            <a:noFill/>
          </a:ln>
        </p:spPr>
        <p:txBody>
          <a:bodyPr lIns="0" tIns="0" rIns="0" bIns="0">
            <a:noAutofit/>
          </a:bodyPr>
          <a:lstStyle>
            <a:defPPr>
              <a:defRPr sz="2175" b="0">
                <a:solidFill>
                  <a:srgbClr val="FFFFFF"/>
                </a:solidFill>
                <a:latin typeface="Helvetica Neue"/>
                <a:ea typeface="Helvetica Neue"/>
                <a:cs typeface="Helvetica Neue"/>
              </a:defRPr>
            </a:defPPr>
          </a:lstStyle>
          <a:p>
            <a:pPr>
              <a:defRPr sz="2175" b="0">
                <a:solidFill>
                  <a:srgbClr val="FFFFFF"/>
                </a:solidFill>
                <a:latin typeface="Helvetica Neue"/>
                <a:ea typeface="Helvetica Neue"/>
                <a:cs typeface="Helvetica Neue"/>
              </a:defRPr>
            </a:pPr>
            <a:r>
              <a:rPr lang="en-US" sz="2175" b="0" dirty="0">
                <a:solidFill>
                  <a:srgbClr val="FFFFFF"/>
                </a:solidFill>
                <a:latin typeface="Helvetica Neue"/>
                <a:ea typeface="Helvetica Neue"/>
                <a:cs typeface="Helvetica Neue"/>
              </a:rPr>
              <a:t>Collaborative R&amp;D and engineering with </a:t>
            </a:r>
            <a:r>
              <a:rPr lang="en-US" sz="2175" dirty="0">
                <a:solidFill>
                  <a:srgbClr val="FFFFFF"/>
                </a:solidFill>
                <a:latin typeface="Helvetica Neue"/>
                <a:ea typeface="Helvetica Neue"/>
                <a:cs typeface="Helvetica Neue"/>
              </a:rPr>
              <a:t>space-domain expert AI Agents</a:t>
            </a:r>
          </a:p>
          <a:p>
            <a:pPr>
              <a:defRPr sz="2175" b="0">
                <a:solidFill>
                  <a:srgbClr val="FFFFFF"/>
                </a:solidFill>
                <a:latin typeface="Helvetica Neue"/>
                <a:ea typeface="Helvetica Neue"/>
                <a:cs typeface="Helvetica Neue"/>
              </a:defRPr>
            </a:pPr>
            <a:endParaRPr lang="en-US" sz="2175" b="0" dirty="0">
              <a:solidFill>
                <a:srgbClr val="FFFFFF"/>
              </a:solidFill>
              <a:latin typeface="Helvetica Neue"/>
              <a:ea typeface="Helvetica Neue"/>
              <a:cs typeface="Helvetica Neue"/>
            </a:endParaRPr>
          </a:p>
          <a:p>
            <a:pPr>
              <a:defRPr sz="2175" b="0">
                <a:solidFill>
                  <a:srgbClr val="FFFFFF"/>
                </a:solidFill>
                <a:latin typeface="Helvetica Neue"/>
                <a:ea typeface="Helvetica Neue"/>
                <a:cs typeface="Helvetica Neue"/>
              </a:defRPr>
            </a:pPr>
            <a:r>
              <a:rPr lang="en-GB" sz="2175" dirty="0">
                <a:solidFill>
                  <a:srgbClr val="FFFFFF"/>
                </a:solidFill>
                <a:latin typeface="Helvetica Neue"/>
                <a:ea typeface="Helvetica Neue"/>
                <a:cs typeface="Helvetica Neue"/>
              </a:rPr>
              <a:t>https://</a:t>
            </a:r>
            <a:r>
              <a:rPr lang="en-GB" sz="2175" dirty="0" err="1">
                <a:solidFill>
                  <a:srgbClr val="FFFFFF"/>
                </a:solidFill>
                <a:latin typeface="Helvetica Neue"/>
                <a:ea typeface="Helvetica Neue"/>
                <a:cs typeface="Helvetica Neue"/>
              </a:rPr>
              <a:t>neospace.spaiderspace.com</a:t>
            </a:r>
            <a:r>
              <a:rPr lang="en-GB" sz="2175" dirty="0">
                <a:solidFill>
                  <a:srgbClr val="FFFFFF"/>
                </a:solidFill>
                <a:latin typeface="Helvetica Neue"/>
                <a:ea typeface="Helvetica Neue"/>
                <a:cs typeface="Helvetica Neue"/>
              </a:rPr>
              <a:t>/</a:t>
            </a:r>
            <a:endParaRPr sz="2175" b="0" dirty="0">
              <a:solidFill>
                <a:srgbClr val="FFFFFF"/>
              </a:solidFill>
              <a:latin typeface="Helvetica Neue"/>
              <a:ea typeface="Helvetica Neue"/>
              <a:cs typeface="Helvetica Neue"/>
            </a:endParaRPr>
          </a:p>
        </p:txBody>
      </p:sp>
      <p:sp>
        <p:nvSpPr>
          <p:cNvPr id="4" name="page-number">
            <a:extLst>
              <a:ext uri="{FF2B5EF4-FFF2-40B4-BE49-F238E27FC236}">
                <a16:creationId xmlns:a16="http://schemas.microsoft.com/office/drawing/2014/main" id="{F8710AC6-EC5C-4E0C-9261-5C1E0AF91740}"/>
              </a:ext>
            </a:extLst>
          </p:cNvPr>
          <p:cNvSpPr>
            <a:spLocks noGrp="1"/>
          </p:cNvSpPr>
          <p:nvPr/>
        </p:nvSpPr>
        <p:spPr>
          <a:xfrm>
            <a:off x="10953750" y="6438900"/>
            <a:ext cx="619125" cy="238125"/>
          </a:xfrm>
          <a:prstGeom prst="rect">
            <a:avLst/>
          </a:prstGeom>
          <a:noFill/>
          <a:ln w="0">
            <a:noFill/>
          </a:ln>
        </p:spPr>
        <p:txBody>
          <a:bodyPr lIns="0" tIns="0" rIns="0" bIns="0">
            <a:noAutofit/>
          </a:bodyPr>
          <a:lstStyle>
            <a:defPPr>
              <a:defRPr sz="1125" b="0">
                <a:solidFill>
                  <a:srgbClr val="FFFFFF"/>
                </a:solidFill>
                <a:latin typeface="Helvetica Neue"/>
                <a:ea typeface="Helvetica Neue"/>
                <a:cs typeface="Helvetica Neue"/>
              </a:defRPr>
            </a:defPPr>
          </a:lstStyle>
          <a:p>
            <a:pPr>
              <a:defRPr sz="1125" b="0">
                <a:solidFill>
                  <a:srgbClr val="FFFFFF"/>
                </a:solidFill>
                <a:latin typeface="Helvetica Neue"/>
                <a:ea typeface="Helvetica Neue"/>
                <a:cs typeface="Helvetica Neue"/>
              </a:defRPr>
            </a:pPr>
            <a:r>
              <a:rPr sz="1125" b="0">
                <a:solidFill>
                  <a:srgbClr val="FFFFFF"/>
                </a:solidFill>
                <a:latin typeface="Helvetica Neue"/>
                <a:ea typeface="Helvetica Neue"/>
                <a:cs typeface="Helvetica Neue"/>
              </a:rPr>
              <a:t>6</a:t>
            </a:r>
          </a:p>
        </p:txBody>
      </p:sp>
    </p:spTree>
    <p:extLst>
      <p:ext uri="{BB962C8B-B14F-4D97-AF65-F5344CB8AC3E}">
        <p14:creationId xmlns:p14="http://schemas.microsoft.com/office/powerpoint/2010/main" val="2008569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title">
            <a:extLst>
              <a:ext uri="{FF2B5EF4-FFF2-40B4-BE49-F238E27FC236}">
                <a16:creationId xmlns:a16="http://schemas.microsoft.com/office/drawing/2014/main" id="{EDB18F38-62AE-4AC6-BD8C-A12C98620ABF}"/>
              </a:ext>
            </a:extLst>
          </p:cNvPr>
          <p:cNvSpPr>
            <a:spLocks noGrp="1"/>
          </p:cNvSpPr>
          <p:nvPr/>
        </p:nvSpPr>
        <p:spPr>
          <a:xfrm>
            <a:off x="609600" y="428623"/>
            <a:ext cx="10972800" cy="819150"/>
          </a:xfrm>
          <a:prstGeom prst="rect">
            <a:avLst/>
          </a:prstGeom>
          <a:noFill/>
          <a:ln w="0">
            <a:noFill/>
          </a:ln>
        </p:spPr>
        <p:txBody>
          <a:bodyPr lIns="0" tIns="0" rIns="0" bIns="0">
            <a:noAutofit/>
          </a:bodyPr>
          <a:lstStyle>
            <a:defPPr>
              <a:defRPr sz="3450" b="1">
                <a:solidFill>
                  <a:srgbClr val="102B46"/>
                </a:solidFill>
                <a:latin typeface="Helvetica Neue"/>
                <a:ea typeface="Helvetica Neue"/>
                <a:cs typeface="Helvetica Neue"/>
              </a:defRPr>
            </a:defPPr>
          </a:lstStyle>
          <a:p>
            <a:pPr>
              <a:defRPr sz="3450" b="1">
                <a:solidFill>
                  <a:srgbClr val="102B46"/>
                </a:solidFill>
                <a:latin typeface="Helvetica Neue"/>
                <a:ea typeface="Helvetica Neue"/>
                <a:cs typeface="Helvetica Neue"/>
              </a:defRPr>
            </a:pPr>
            <a:r>
              <a:rPr sz="3450" b="1" dirty="0">
                <a:solidFill>
                  <a:srgbClr val="102B46"/>
                </a:solidFill>
                <a:latin typeface="Helvetica Neue"/>
                <a:ea typeface="Helvetica Neue"/>
                <a:cs typeface="Helvetica Neue"/>
              </a:rPr>
              <a:t>Getting started with SPAIDER</a:t>
            </a:r>
          </a:p>
        </p:txBody>
      </p:sp>
      <p:pic>
        <p:nvPicPr>
          <p:cNvPr id="3" name="Picture 2">
            <a:extLst>
              <a:ext uri="{FF2B5EF4-FFF2-40B4-BE49-F238E27FC236}">
                <a16:creationId xmlns:a16="http://schemas.microsoft.com/office/drawing/2014/main" id="{DF60796A-DA99-F319-440F-D85CF6CE58DA}"/>
              </a:ext>
            </a:extLst>
          </p:cNvPr>
          <p:cNvPicPr>
            <a:picLocks noChangeAspect="1"/>
          </p:cNvPicPr>
          <p:nvPr/>
        </p:nvPicPr>
        <p:blipFill>
          <a:blip r:embed="rId3"/>
          <a:stretch>
            <a:fillRect/>
          </a:stretch>
        </p:blipFill>
        <p:spPr>
          <a:xfrm>
            <a:off x="152491" y="1600200"/>
            <a:ext cx="3853743" cy="4906537"/>
          </a:xfrm>
          <a:prstGeom prst="rect">
            <a:avLst/>
          </a:prstGeom>
          <a:ln>
            <a:solidFill>
              <a:schemeClr val="accent4"/>
            </a:solidFill>
          </a:ln>
        </p:spPr>
      </p:pic>
      <p:pic>
        <p:nvPicPr>
          <p:cNvPr id="4" name="Picture 3">
            <a:extLst>
              <a:ext uri="{FF2B5EF4-FFF2-40B4-BE49-F238E27FC236}">
                <a16:creationId xmlns:a16="http://schemas.microsoft.com/office/drawing/2014/main" id="{7B63D2DE-5EC8-D734-5FA9-C68F58D146F2}"/>
              </a:ext>
            </a:extLst>
          </p:cNvPr>
          <p:cNvPicPr>
            <a:picLocks noChangeAspect="1"/>
          </p:cNvPicPr>
          <p:nvPr/>
        </p:nvPicPr>
        <p:blipFill>
          <a:blip r:embed="rId4"/>
          <a:stretch>
            <a:fillRect/>
          </a:stretch>
        </p:blipFill>
        <p:spPr>
          <a:xfrm>
            <a:off x="4169128" y="1600199"/>
            <a:ext cx="3853743" cy="4906537"/>
          </a:xfrm>
          <a:prstGeom prst="rect">
            <a:avLst/>
          </a:prstGeom>
          <a:ln>
            <a:solidFill>
              <a:schemeClr val="accent4"/>
            </a:solidFill>
          </a:ln>
        </p:spPr>
      </p:pic>
      <p:pic>
        <p:nvPicPr>
          <p:cNvPr id="5" name="Picture 4">
            <a:extLst>
              <a:ext uri="{FF2B5EF4-FFF2-40B4-BE49-F238E27FC236}">
                <a16:creationId xmlns:a16="http://schemas.microsoft.com/office/drawing/2014/main" id="{08069228-0C47-5180-04CD-A61C1AA6D784}"/>
              </a:ext>
            </a:extLst>
          </p:cNvPr>
          <p:cNvPicPr>
            <a:picLocks noChangeAspect="1"/>
          </p:cNvPicPr>
          <p:nvPr/>
        </p:nvPicPr>
        <p:blipFill>
          <a:blip r:embed="rId5"/>
          <a:stretch>
            <a:fillRect/>
          </a:stretch>
        </p:blipFill>
        <p:spPr>
          <a:xfrm>
            <a:off x="8185765" y="1600198"/>
            <a:ext cx="3853743" cy="4906537"/>
          </a:xfrm>
          <a:prstGeom prst="rect">
            <a:avLst/>
          </a:prstGeom>
          <a:ln>
            <a:solidFill>
              <a:schemeClr val="accent4"/>
            </a:solidFill>
          </a:ln>
        </p:spPr>
      </p:pic>
      <p:cxnSp>
        <p:nvCxnSpPr>
          <p:cNvPr id="6" name="Straight Arrow Connector 5">
            <a:extLst>
              <a:ext uri="{FF2B5EF4-FFF2-40B4-BE49-F238E27FC236}">
                <a16:creationId xmlns:a16="http://schemas.microsoft.com/office/drawing/2014/main" id="{4E388DE2-09D1-0F98-AC1A-581ACB64129F}"/>
              </a:ext>
            </a:extLst>
          </p:cNvPr>
          <p:cNvCxnSpPr/>
          <p:nvPr/>
        </p:nvCxnSpPr>
        <p:spPr>
          <a:xfrm>
            <a:off x="7836020" y="4594610"/>
            <a:ext cx="526093" cy="0"/>
          </a:xfrm>
          <a:prstGeom prst="straightConnector1">
            <a:avLst/>
          </a:prstGeom>
          <a:ln w="3810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DDC384F3-72F9-CE98-82E1-6A80F7322D5C}"/>
              </a:ext>
            </a:extLst>
          </p:cNvPr>
          <p:cNvCxnSpPr/>
          <p:nvPr/>
        </p:nvCxnSpPr>
        <p:spPr>
          <a:xfrm>
            <a:off x="3777587" y="4569558"/>
            <a:ext cx="526093" cy="0"/>
          </a:xfrm>
          <a:prstGeom prst="straightConnector1">
            <a:avLst/>
          </a:prstGeom>
          <a:ln w="3810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 name="subtitle">
            <a:extLst>
              <a:ext uri="{FF2B5EF4-FFF2-40B4-BE49-F238E27FC236}">
                <a16:creationId xmlns:a16="http://schemas.microsoft.com/office/drawing/2014/main" id="{2C55FD1C-9AFA-A68B-69DB-3098AABD10A2}"/>
              </a:ext>
            </a:extLst>
          </p:cNvPr>
          <p:cNvSpPr>
            <a:spLocks noGrp="1"/>
          </p:cNvSpPr>
          <p:nvPr/>
        </p:nvSpPr>
        <p:spPr>
          <a:xfrm>
            <a:off x="609600" y="1171573"/>
            <a:ext cx="10858500" cy="428625"/>
          </a:xfrm>
          <a:prstGeom prst="rect">
            <a:avLst/>
          </a:prstGeom>
          <a:noFill/>
          <a:ln w="0">
            <a:noFill/>
          </a:ln>
        </p:spPr>
        <p:txBody>
          <a:bodyPr lIns="0" tIns="0" rIns="0" bIns="0">
            <a:noAutofit/>
          </a:bodyPr>
          <a:lstStyle>
            <a:defPPr algn="l">
              <a:defRPr sz="1800" b="0">
                <a:solidFill>
                  <a:srgbClr val="607482"/>
                </a:solidFill>
                <a:latin typeface="Helvetica Neue"/>
                <a:ea typeface="Helvetica Neue"/>
                <a:cs typeface="Helvetica Neue"/>
              </a:defRPr>
            </a:defPPr>
          </a:lstStyle>
          <a:p>
            <a:pPr algn="l">
              <a:buNone/>
              <a:defRPr sz="1800" b="0">
                <a:solidFill>
                  <a:srgbClr val="607482"/>
                </a:solidFill>
                <a:latin typeface="Helvetica Neue"/>
                <a:ea typeface="Helvetica Neue"/>
                <a:cs typeface="Helvetica Neue"/>
              </a:defRPr>
            </a:pPr>
            <a:r>
              <a:rPr lang="en-US" sz="1800" b="0" dirty="0">
                <a:solidFill>
                  <a:srgbClr val="607482"/>
                </a:solidFill>
                <a:latin typeface="Helvetica Neue"/>
                <a:ea typeface="Helvetica Neue"/>
                <a:cs typeface="Helvetica Neue"/>
              </a:rPr>
              <a:t>Sign Up </a:t>
            </a:r>
            <a:r>
              <a:rPr lang="en-US" sz="1800" b="0" dirty="0">
                <a:solidFill>
                  <a:srgbClr val="607482"/>
                </a:solidFill>
                <a:latin typeface="Helvetica Neue"/>
                <a:ea typeface="Helvetica Neue"/>
                <a:cs typeface="Helvetica Neue"/>
                <a:sym typeface="Wingdings" pitchFamily="2" charset="2"/>
              </a:rPr>
              <a:t> Create your Team/Org   Invite your teammates</a:t>
            </a:r>
            <a:endParaRPr sz="1800" b="0" dirty="0">
              <a:solidFill>
                <a:srgbClr val="607482"/>
              </a:solidFill>
              <a:latin typeface="Helvetica Neue"/>
              <a:ea typeface="Helvetica Neue"/>
              <a:cs typeface="Helvetica Neue"/>
            </a:endParaRPr>
          </a:p>
        </p:txBody>
      </p:sp>
    </p:spTree>
    <p:extLst>
      <p:ext uri="{BB962C8B-B14F-4D97-AF65-F5344CB8AC3E}">
        <p14:creationId xmlns:p14="http://schemas.microsoft.com/office/powerpoint/2010/main" val="14228325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C620AB2-2A6F-F06E-82E7-CF7301F3E717}"/>
              </a:ext>
            </a:extLst>
          </p:cNvPr>
          <p:cNvPicPr>
            <a:picLocks noChangeAspect="1"/>
          </p:cNvPicPr>
          <p:nvPr/>
        </p:nvPicPr>
        <p:blipFill>
          <a:blip r:embed="rId2"/>
          <a:stretch>
            <a:fillRect/>
          </a:stretch>
        </p:blipFill>
        <p:spPr>
          <a:xfrm>
            <a:off x="83128" y="1863641"/>
            <a:ext cx="7595790" cy="4122159"/>
          </a:xfrm>
          <a:prstGeom prst="rect">
            <a:avLst/>
          </a:prstGeom>
        </p:spPr>
      </p:pic>
      <p:sp>
        <p:nvSpPr>
          <p:cNvPr id="3" name="slide-title">
            <a:extLst>
              <a:ext uri="{FF2B5EF4-FFF2-40B4-BE49-F238E27FC236}">
                <a16:creationId xmlns:a16="http://schemas.microsoft.com/office/drawing/2014/main" id="{EF96A48B-13F7-E84C-43CF-44E13CE70A12}"/>
              </a:ext>
            </a:extLst>
          </p:cNvPr>
          <p:cNvSpPr>
            <a:spLocks noGrp="1"/>
          </p:cNvSpPr>
          <p:nvPr/>
        </p:nvSpPr>
        <p:spPr>
          <a:xfrm>
            <a:off x="609600" y="741373"/>
            <a:ext cx="10972800" cy="819150"/>
          </a:xfrm>
          <a:prstGeom prst="rect">
            <a:avLst/>
          </a:prstGeom>
          <a:noFill/>
          <a:ln w="0">
            <a:noFill/>
          </a:ln>
        </p:spPr>
        <p:txBody>
          <a:bodyPr lIns="0" tIns="0" rIns="0" bIns="0">
            <a:noAutofit/>
          </a:bodyPr>
          <a:lstStyle>
            <a:defPPr>
              <a:defRPr sz="3450" b="1">
                <a:solidFill>
                  <a:srgbClr val="102B46"/>
                </a:solidFill>
                <a:latin typeface="Helvetica Neue"/>
                <a:ea typeface="Helvetica Neue"/>
                <a:cs typeface="Helvetica Neue"/>
              </a:defRPr>
            </a:defPPr>
          </a:lstStyle>
          <a:p>
            <a:pPr>
              <a:defRPr sz="3450" b="1">
                <a:solidFill>
                  <a:srgbClr val="102B46"/>
                </a:solidFill>
                <a:latin typeface="Helvetica Neue"/>
                <a:ea typeface="Helvetica Neue"/>
                <a:cs typeface="Helvetica Neue"/>
              </a:defRPr>
            </a:pPr>
            <a:r>
              <a:rPr lang="en-US" sz="3450" b="1" dirty="0">
                <a:solidFill>
                  <a:srgbClr val="102B46"/>
                </a:solidFill>
                <a:latin typeface="Helvetica Neue"/>
                <a:ea typeface="Helvetica Neue"/>
                <a:cs typeface="Helvetica Neue"/>
              </a:rPr>
              <a:t>Adding/Inviting teammates</a:t>
            </a:r>
            <a:endParaRPr sz="3450" b="1" dirty="0">
              <a:solidFill>
                <a:srgbClr val="102B46"/>
              </a:solidFill>
              <a:latin typeface="Helvetica Neue"/>
              <a:ea typeface="Helvetica Neue"/>
              <a:cs typeface="Helvetica Neue"/>
            </a:endParaRPr>
          </a:p>
        </p:txBody>
      </p:sp>
      <p:sp>
        <p:nvSpPr>
          <p:cNvPr id="4" name="Rectangle 3">
            <a:extLst>
              <a:ext uri="{FF2B5EF4-FFF2-40B4-BE49-F238E27FC236}">
                <a16:creationId xmlns:a16="http://schemas.microsoft.com/office/drawing/2014/main" id="{6B97A902-6AA2-E2E5-A953-1A1B422649ED}"/>
              </a:ext>
            </a:extLst>
          </p:cNvPr>
          <p:cNvSpPr/>
          <p:nvPr/>
        </p:nvSpPr>
        <p:spPr>
          <a:xfrm>
            <a:off x="4196973" y="1923393"/>
            <a:ext cx="690337" cy="210207"/>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LU"/>
          </a:p>
        </p:txBody>
      </p:sp>
      <p:sp>
        <p:nvSpPr>
          <p:cNvPr id="5" name="Rectangle 4">
            <a:extLst>
              <a:ext uri="{FF2B5EF4-FFF2-40B4-BE49-F238E27FC236}">
                <a16:creationId xmlns:a16="http://schemas.microsoft.com/office/drawing/2014/main" id="{7970D10D-D046-21C7-39D8-66FBF5CD0333}"/>
              </a:ext>
            </a:extLst>
          </p:cNvPr>
          <p:cNvSpPr/>
          <p:nvPr/>
        </p:nvSpPr>
        <p:spPr>
          <a:xfrm>
            <a:off x="6215828" y="2713117"/>
            <a:ext cx="1372503" cy="1668877"/>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LU"/>
          </a:p>
        </p:txBody>
      </p:sp>
      <p:pic>
        <p:nvPicPr>
          <p:cNvPr id="6" name="Picture 5">
            <a:extLst>
              <a:ext uri="{FF2B5EF4-FFF2-40B4-BE49-F238E27FC236}">
                <a16:creationId xmlns:a16="http://schemas.microsoft.com/office/drawing/2014/main" id="{A3FC6B1C-4753-90E2-45F1-33EE06190A15}"/>
              </a:ext>
            </a:extLst>
          </p:cNvPr>
          <p:cNvPicPr>
            <a:picLocks noChangeAspect="1"/>
          </p:cNvPicPr>
          <p:nvPr/>
        </p:nvPicPr>
        <p:blipFill>
          <a:blip r:embed="rId3"/>
          <a:stretch>
            <a:fillRect/>
          </a:stretch>
        </p:blipFill>
        <p:spPr>
          <a:xfrm>
            <a:off x="7742430" y="1863641"/>
            <a:ext cx="4366442" cy="4052058"/>
          </a:xfrm>
          <a:prstGeom prst="rect">
            <a:avLst/>
          </a:prstGeom>
        </p:spPr>
      </p:pic>
      <p:sp>
        <p:nvSpPr>
          <p:cNvPr id="7" name="Rectangle 6">
            <a:extLst>
              <a:ext uri="{FF2B5EF4-FFF2-40B4-BE49-F238E27FC236}">
                <a16:creationId xmlns:a16="http://schemas.microsoft.com/office/drawing/2014/main" id="{B7A906D0-9758-D6DD-F9FE-ECEC76AE0B57}"/>
              </a:ext>
            </a:extLst>
          </p:cNvPr>
          <p:cNvSpPr/>
          <p:nvPr/>
        </p:nvSpPr>
        <p:spPr>
          <a:xfrm>
            <a:off x="8791007" y="2589382"/>
            <a:ext cx="3193337" cy="1668877"/>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LU"/>
          </a:p>
        </p:txBody>
      </p:sp>
    </p:spTree>
    <p:extLst>
      <p:ext uri="{BB962C8B-B14F-4D97-AF65-F5344CB8AC3E}">
        <p14:creationId xmlns:p14="http://schemas.microsoft.com/office/powerpoint/2010/main" val="39262630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09E0CF6-6F7A-6C59-595F-36C3E02B6E69}"/>
              </a:ext>
            </a:extLst>
          </p:cNvPr>
          <p:cNvPicPr>
            <a:picLocks noChangeAspect="1"/>
          </p:cNvPicPr>
          <p:nvPr/>
        </p:nvPicPr>
        <p:blipFill>
          <a:blip r:embed="rId2"/>
          <a:stretch>
            <a:fillRect/>
          </a:stretch>
        </p:blipFill>
        <p:spPr>
          <a:xfrm>
            <a:off x="6734713" y="1895303"/>
            <a:ext cx="4406070" cy="3488765"/>
          </a:xfrm>
          <a:prstGeom prst="rect">
            <a:avLst/>
          </a:prstGeom>
        </p:spPr>
      </p:pic>
      <p:pic>
        <p:nvPicPr>
          <p:cNvPr id="3" name="Picture 2">
            <a:extLst>
              <a:ext uri="{FF2B5EF4-FFF2-40B4-BE49-F238E27FC236}">
                <a16:creationId xmlns:a16="http://schemas.microsoft.com/office/drawing/2014/main" id="{0CB7E8E8-40F2-F89E-D5C8-9B7DB7920FC1}"/>
              </a:ext>
            </a:extLst>
          </p:cNvPr>
          <p:cNvPicPr>
            <a:picLocks noChangeAspect="1"/>
          </p:cNvPicPr>
          <p:nvPr/>
        </p:nvPicPr>
        <p:blipFill>
          <a:blip r:embed="rId3"/>
          <a:stretch>
            <a:fillRect/>
          </a:stretch>
        </p:blipFill>
        <p:spPr>
          <a:xfrm>
            <a:off x="887412" y="1895303"/>
            <a:ext cx="4406070" cy="3488765"/>
          </a:xfrm>
          <a:prstGeom prst="rect">
            <a:avLst/>
          </a:prstGeom>
        </p:spPr>
      </p:pic>
      <p:sp>
        <p:nvSpPr>
          <p:cNvPr id="5" name="slide-title">
            <a:extLst>
              <a:ext uri="{FF2B5EF4-FFF2-40B4-BE49-F238E27FC236}">
                <a16:creationId xmlns:a16="http://schemas.microsoft.com/office/drawing/2014/main" id="{41CD65E5-597B-1E84-5648-7C210E8825DA}"/>
              </a:ext>
            </a:extLst>
          </p:cNvPr>
          <p:cNvSpPr>
            <a:spLocks noGrp="1"/>
          </p:cNvSpPr>
          <p:nvPr/>
        </p:nvSpPr>
        <p:spPr>
          <a:xfrm>
            <a:off x="609600" y="741373"/>
            <a:ext cx="10972800" cy="819150"/>
          </a:xfrm>
          <a:prstGeom prst="rect">
            <a:avLst/>
          </a:prstGeom>
          <a:noFill/>
          <a:ln w="0">
            <a:noFill/>
          </a:ln>
        </p:spPr>
        <p:txBody>
          <a:bodyPr lIns="0" tIns="0" rIns="0" bIns="0">
            <a:noAutofit/>
          </a:bodyPr>
          <a:lstStyle>
            <a:defPPr>
              <a:defRPr sz="3450" b="1">
                <a:solidFill>
                  <a:srgbClr val="102B46"/>
                </a:solidFill>
                <a:latin typeface="Helvetica Neue"/>
                <a:ea typeface="Helvetica Neue"/>
                <a:cs typeface="Helvetica Neue"/>
              </a:defRPr>
            </a:defPPr>
          </a:lstStyle>
          <a:p>
            <a:pPr>
              <a:defRPr sz="3450" b="1">
                <a:solidFill>
                  <a:srgbClr val="102B46"/>
                </a:solidFill>
                <a:latin typeface="Helvetica Neue"/>
                <a:ea typeface="Helvetica Neue"/>
                <a:cs typeface="Helvetica Neue"/>
              </a:defRPr>
            </a:pPr>
            <a:r>
              <a:rPr lang="en-US" sz="3450" b="1" dirty="0">
                <a:solidFill>
                  <a:srgbClr val="102B46"/>
                </a:solidFill>
                <a:latin typeface="Helvetica Neue"/>
                <a:ea typeface="Helvetica Neue"/>
                <a:cs typeface="Helvetica Neue"/>
              </a:rPr>
              <a:t>Key Elements of SPAIDER Platform</a:t>
            </a:r>
            <a:endParaRPr sz="3450" b="1" dirty="0">
              <a:solidFill>
                <a:srgbClr val="102B46"/>
              </a:solidFill>
              <a:latin typeface="Helvetica Neue"/>
              <a:ea typeface="Helvetica Neue"/>
              <a:cs typeface="Helvetica Neue"/>
            </a:endParaRPr>
          </a:p>
        </p:txBody>
      </p:sp>
      <p:sp>
        <p:nvSpPr>
          <p:cNvPr id="6" name="subtitle">
            <a:extLst>
              <a:ext uri="{FF2B5EF4-FFF2-40B4-BE49-F238E27FC236}">
                <a16:creationId xmlns:a16="http://schemas.microsoft.com/office/drawing/2014/main" id="{370C4EA1-662C-20A5-E818-4B89E4475911}"/>
              </a:ext>
            </a:extLst>
          </p:cNvPr>
          <p:cNvSpPr>
            <a:spLocks noGrp="1"/>
          </p:cNvSpPr>
          <p:nvPr/>
        </p:nvSpPr>
        <p:spPr>
          <a:xfrm>
            <a:off x="914400" y="1473932"/>
            <a:ext cx="4379082" cy="419100"/>
          </a:xfrm>
          <a:prstGeom prst="rect">
            <a:avLst/>
          </a:prstGeom>
          <a:noFill/>
          <a:ln w="0">
            <a:noFill/>
          </a:ln>
        </p:spPr>
        <p:txBody>
          <a:bodyPr lIns="0" tIns="0" rIns="0" bIns="0">
            <a:noAutofit/>
          </a:bodyPr>
          <a:lstStyle>
            <a:defPPr>
              <a:defRPr sz="1800" b="0">
                <a:solidFill>
                  <a:srgbClr val="607482"/>
                </a:solidFill>
                <a:latin typeface="Helvetica Neue"/>
                <a:ea typeface="Helvetica Neue"/>
                <a:cs typeface="Helvetica Neue"/>
              </a:defRPr>
            </a:defPPr>
          </a:lstStyle>
          <a:p>
            <a:pPr algn="ctr">
              <a:buNone/>
              <a:defRPr sz="1800" b="0">
                <a:solidFill>
                  <a:srgbClr val="607482"/>
                </a:solidFill>
                <a:latin typeface="Helvetica Neue"/>
                <a:ea typeface="Helvetica Neue"/>
                <a:cs typeface="Helvetica Neue"/>
              </a:defRPr>
            </a:pPr>
            <a:r>
              <a:rPr lang="en-US" sz="1800" b="1" dirty="0">
                <a:solidFill>
                  <a:schemeClr val="accent2"/>
                </a:solidFill>
                <a:latin typeface="Helvetica Neue"/>
                <a:ea typeface="Helvetica Neue"/>
                <a:cs typeface="Helvetica Neue"/>
              </a:rPr>
              <a:t>LIBRARIES</a:t>
            </a:r>
            <a:endParaRPr sz="1800" b="1" dirty="0">
              <a:solidFill>
                <a:schemeClr val="accent2"/>
              </a:solidFill>
              <a:latin typeface="Helvetica Neue"/>
              <a:ea typeface="Helvetica Neue"/>
              <a:cs typeface="Helvetica Neue"/>
            </a:endParaRPr>
          </a:p>
        </p:txBody>
      </p:sp>
      <p:sp>
        <p:nvSpPr>
          <p:cNvPr id="7" name="subtitle">
            <a:extLst>
              <a:ext uri="{FF2B5EF4-FFF2-40B4-BE49-F238E27FC236}">
                <a16:creationId xmlns:a16="http://schemas.microsoft.com/office/drawing/2014/main" id="{3A053E8B-13AF-3E31-4F2E-0182DFF50E45}"/>
              </a:ext>
            </a:extLst>
          </p:cNvPr>
          <p:cNvSpPr>
            <a:spLocks noGrp="1"/>
          </p:cNvSpPr>
          <p:nvPr/>
        </p:nvSpPr>
        <p:spPr>
          <a:xfrm>
            <a:off x="914400" y="5554634"/>
            <a:ext cx="4379082" cy="419100"/>
          </a:xfrm>
          <a:prstGeom prst="rect">
            <a:avLst/>
          </a:prstGeom>
          <a:noFill/>
          <a:ln w="0">
            <a:noFill/>
          </a:ln>
        </p:spPr>
        <p:txBody>
          <a:bodyPr lIns="0" tIns="0" rIns="0" bIns="0">
            <a:noAutofit/>
          </a:bodyPr>
          <a:lstStyle>
            <a:defPPr>
              <a:defRPr sz="1800" b="0">
                <a:solidFill>
                  <a:srgbClr val="607482"/>
                </a:solidFill>
                <a:latin typeface="Helvetica Neue"/>
                <a:ea typeface="Helvetica Neue"/>
                <a:cs typeface="Helvetica Neue"/>
              </a:defRPr>
            </a:defPPr>
          </a:lstStyle>
          <a:p>
            <a:pPr>
              <a:buNone/>
              <a:defRPr sz="1800" b="0">
                <a:solidFill>
                  <a:srgbClr val="607482"/>
                </a:solidFill>
                <a:latin typeface="Helvetica Neue"/>
                <a:ea typeface="Helvetica Neue"/>
                <a:cs typeface="Helvetica Neue"/>
              </a:defRPr>
            </a:pPr>
            <a:r>
              <a:rPr lang="en-US" sz="1800" b="0" dirty="0">
                <a:solidFill>
                  <a:srgbClr val="607482"/>
                </a:solidFill>
                <a:latin typeface="Helvetica Neue"/>
                <a:ea typeface="Helvetica Neue"/>
                <a:cs typeface="Helvetica Neue"/>
              </a:rPr>
              <a:t>This is where your knowledge base lives</a:t>
            </a:r>
            <a:endParaRPr sz="1800" b="0" dirty="0">
              <a:solidFill>
                <a:srgbClr val="607482"/>
              </a:solidFill>
              <a:latin typeface="Helvetica Neue"/>
              <a:ea typeface="Helvetica Neue"/>
              <a:cs typeface="Helvetica Neue"/>
            </a:endParaRPr>
          </a:p>
        </p:txBody>
      </p:sp>
      <p:sp>
        <p:nvSpPr>
          <p:cNvPr id="8" name="subtitle">
            <a:extLst>
              <a:ext uri="{FF2B5EF4-FFF2-40B4-BE49-F238E27FC236}">
                <a16:creationId xmlns:a16="http://schemas.microsoft.com/office/drawing/2014/main" id="{64594C5D-2FC8-56B5-A6C6-F9BC662C0C6D}"/>
              </a:ext>
            </a:extLst>
          </p:cNvPr>
          <p:cNvSpPr>
            <a:spLocks noGrp="1"/>
          </p:cNvSpPr>
          <p:nvPr/>
        </p:nvSpPr>
        <p:spPr>
          <a:xfrm>
            <a:off x="6783184" y="5521382"/>
            <a:ext cx="5170517" cy="1062297"/>
          </a:xfrm>
          <a:prstGeom prst="rect">
            <a:avLst/>
          </a:prstGeom>
          <a:noFill/>
          <a:ln w="0">
            <a:noFill/>
          </a:ln>
        </p:spPr>
        <p:txBody>
          <a:bodyPr lIns="0" tIns="0" rIns="0" bIns="0">
            <a:noAutofit/>
          </a:bodyPr>
          <a:lstStyle>
            <a:defPPr>
              <a:defRPr sz="1800" b="0">
                <a:solidFill>
                  <a:srgbClr val="607482"/>
                </a:solidFill>
                <a:latin typeface="Helvetica Neue"/>
                <a:ea typeface="Helvetica Neue"/>
                <a:cs typeface="Helvetica Neue"/>
              </a:defRPr>
            </a:defPPr>
          </a:lstStyle>
          <a:p>
            <a:pPr>
              <a:buNone/>
              <a:defRPr sz="1800" b="0">
                <a:solidFill>
                  <a:srgbClr val="607482"/>
                </a:solidFill>
                <a:latin typeface="Helvetica Neue"/>
                <a:ea typeface="Helvetica Neue"/>
                <a:cs typeface="Helvetica Neue"/>
              </a:defRPr>
            </a:pPr>
            <a:r>
              <a:rPr lang="en-US" sz="1800" b="0" dirty="0">
                <a:solidFill>
                  <a:srgbClr val="607482"/>
                </a:solidFill>
                <a:latin typeface="Helvetica Neue"/>
                <a:ea typeface="Helvetica Neue"/>
                <a:cs typeface="Helvetica Neue"/>
              </a:rPr>
              <a:t>These are your assistants who work with/for you. </a:t>
            </a:r>
          </a:p>
          <a:p>
            <a:pPr>
              <a:buNone/>
              <a:defRPr sz="1800" b="0">
                <a:solidFill>
                  <a:srgbClr val="607482"/>
                </a:solidFill>
                <a:latin typeface="Helvetica Neue"/>
                <a:ea typeface="Helvetica Neue"/>
                <a:cs typeface="Helvetica Neue"/>
              </a:defRPr>
            </a:pPr>
            <a:r>
              <a:rPr lang="en-US" dirty="0">
                <a:solidFill>
                  <a:srgbClr val="607482"/>
                </a:solidFill>
                <a:latin typeface="Helvetica Neue"/>
                <a:ea typeface="Helvetica Neue"/>
                <a:cs typeface="Helvetica Neue"/>
              </a:rPr>
              <a:t>• Knowledge Agent : Knowledge work assistant</a:t>
            </a:r>
          </a:p>
          <a:p>
            <a:pPr>
              <a:buNone/>
              <a:defRPr sz="1800" b="0">
                <a:solidFill>
                  <a:srgbClr val="607482"/>
                </a:solidFill>
                <a:latin typeface="Helvetica Neue"/>
                <a:ea typeface="Helvetica Neue"/>
                <a:cs typeface="Helvetica Neue"/>
              </a:defRPr>
            </a:pPr>
            <a:r>
              <a:rPr lang="en-US" sz="1800" b="0" dirty="0">
                <a:solidFill>
                  <a:srgbClr val="607482"/>
                </a:solidFill>
                <a:latin typeface="Helvetica Neue"/>
                <a:ea typeface="Helvetica Neue"/>
                <a:cs typeface="Helvetica Neue"/>
              </a:rPr>
              <a:t>• Sagan : </a:t>
            </a:r>
            <a:r>
              <a:rPr lang="en-US" dirty="0">
                <a:solidFill>
                  <a:srgbClr val="607482"/>
                </a:solidFill>
                <a:latin typeface="Helvetica Neue"/>
                <a:ea typeface="Helvetica Neue"/>
                <a:cs typeface="Helvetica Neue"/>
              </a:rPr>
              <a:t>Expert proposal writer</a:t>
            </a:r>
          </a:p>
          <a:p>
            <a:pPr>
              <a:buNone/>
              <a:defRPr sz="1800" b="0">
                <a:solidFill>
                  <a:srgbClr val="607482"/>
                </a:solidFill>
                <a:latin typeface="Helvetica Neue"/>
                <a:ea typeface="Helvetica Neue"/>
                <a:cs typeface="Helvetica Neue"/>
              </a:defRPr>
            </a:pPr>
            <a:endParaRPr lang="en-US" sz="1800" b="0" dirty="0">
              <a:solidFill>
                <a:srgbClr val="607482"/>
              </a:solidFill>
              <a:latin typeface="Helvetica Neue"/>
              <a:ea typeface="Helvetica Neue"/>
              <a:cs typeface="Helvetica Neue"/>
            </a:endParaRPr>
          </a:p>
        </p:txBody>
      </p:sp>
      <p:sp>
        <p:nvSpPr>
          <p:cNvPr id="9" name="subtitle">
            <a:extLst>
              <a:ext uri="{FF2B5EF4-FFF2-40B4-BE49-F238E27FC236}">
                <a16:creationId xmlns:a16="http://schemas.microsoft.com/office/drawing/2014/main" id="{860C9B62-219B-93F7-1FA1-5120B0410F7C}"/>
              </a:ext>
            </a:extLst>
          </p:cNvPr>
          <p:cNvSpPr>
            <a:spLocks noGrp="1"/>
          </p:cNvSpPr>
          <p:nvPr/>
        </p:nvSpPr>
        <p:spPr>
          <a:xfrm>
            <a:off x="6761701" y="1518363"/>
            <a:ext cx="4379082" cy="419100"/>
          </a:xfrm>
          <a:prstGeom prst="rect">
            <a:avLst/>
          </a:prstGeom>
          <a:noFill/>
          <a:ln w="0">
            <a:noFill/>
          </a:ln>
        </p:spPr>
        <p:txBody>
          <a:bodyPr lIns="0" tIns="0" rIns="0" bIns="0">
            <a:noAutofit/>
          </a:bodyPr>
          <a:lstStyle>
            <a:defPPr>
              <a:defRPr sz="1800" b="0">
                <a:solidFill>
                  <a:srgbClr val="607482"/>
                </a:solidFill>
                <a:latin typeface="Helvetica Neue"/>
                <a:ea typeface="Helvetica Neue"/>
                <a:cs typeface="Helvetica Neue"/>
              </a:defRPr>
            </a:defPPr>
          </a:lstStyle>
          <a:p>
            <a:pPr algn="ctr">
              <a:buNone/>
              <a:defRPr sz="1800" b="0">
                <a:solidFill>
                  <a:srgbClr val="607482"/>
                </a:solidFill>
                <a:latin typeface="Helvetica Neue"/>
                <a:ea typeface="Helvetica Neue"/>
                <a:cs typeface="Helvetica Neue"/>
              </a:defRPr>
            </a:pPr>
            <a:r>
              <a:rPr lang="en-US" sz="1800" b="1" dirty="0">
                <a:solidFill>
                  <a:schemeClr val="accent2"/>
                </a:solidFill>
                <a:latin typeface="Helvetica Neue"/>
                <a:ea typeface="Helvetica Neue"/>
                <a:cs typeface="Helvetica Neue"/>
              </a:rPr>
              <a:t>AGENTS</a:t>
            </a:r>
            <a:endParaRPr sz="1800" b="1" dirty="0">
              <a:solidFill>
                <a:schemeClr val="accent2"/>
              </a:solidFill>
              <a:latin typeface="Helvetica Neue"/>
              <a:ea typeface="Helvetica Neue"/>
              <a:cs typeface="Helvetica Neue"/>
            </a:endParaRPr>
          </a:p>
        </p:txBody>
      </p:sp>
    </p:spTree>
    <p:extLst>
      <p:ext uri="{BB962C8B-B14F-4D97-AF65-F5344CB8AC3E}">
        <p14:creationId xmlns:p14="http://schemas.microsoft.com/office/powerpoint/2010/main" val="12981063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6F8B078-ED2C-A6A3-742D-1879B9F64DA4}"/>
              </a:ext>
            </a:extLst>
          </p:cNvPr>
          <p:cNvPicPr>
            <a:picLocks noChangeAspect="1"/>
          </p:cNvPicPr>
          <p:nvPr/>
        </p:nvPicPr>
        <p:blipFill>
          <a:blip r:embed="rId2"/>
          <a:stretch>
            <a:fillRect/>
          </a:stretch>
        </p:blipFill>
        <p:spPr>
          <a:xfrm>
            <a:off x="5554629" y="1422846"/>
            <a:ext cx="6498825" cy="5145828"/>
          </a:xfrm>
          <a:prstGeom prst="rect">
            <a:avLst/>
          </a:prstGeom>
        </p:spPr>
      </p:pic>
      <p:sp>
        <p:nvSpPr>
          <p:cNvPr id="3" name="slide-title">
            <a:extLst>
              <a:ext uri="{FF2B5EF4-FFF2-40B4-BE49-F238E27FC236}">
                <a16:creationId xmlns:a16="http://schemas.microsoft.com/office/drawing/2014/main" id="{EC1ED634-6BCB-9566-9E76-2569433CE508}"/>
              </a:ext>
            </a:extLst>
          </p:cNvPr>
          <p:cNvSpPr>
            <a:spLocks noGrp="1"/>
          </p:cNvSpPr>
          <p:nvPr/>
        </p:nvSpPr>
        <p:spPr>
          <a:xfrm>
            <a:off x="609600" y="741373"/>
            <a:ext cx="10972800" cy="819150"/>
          </a:xfrm>
          <a:prstGeom prst="rect">
            <a:avLst/>
          </a:prstGeom>
          <a:noFill/>
          <a:ln w="0">
            <a:noFill/>
          </a:ln>
        </p:spPr>
        <p:txBody>
          <a:bodyPr lIns="0" tIns="0" rIns="0" bIns="0">
            <a:noAutofit/>
          </a:bodyPr>
          <a:lstStyle>
            <a:defPPr>
              <a:defRPr sz="3450" b="1">
                <a:solidFill>
                  <a:srgbClr val="102B46"/>
                </a:solidFill>
                <a:latin typeface="Helvetica Neue"/>
                <a:ea typeface="Helvetica Neue"/>
                <a:cs typeface="Helvetica Neue"/>
              </a:defRPr>
            </a:defPPr>
          </a:lstStyle>
          <a:p>
            <a:pPr>
              <a:defRPr sz="3450" b="1">
                <a:solidFill>
                  <a:srgbClr val="102B46"/>
                </a:solidFill>
                <a:latin typeface="Helvetica Neue"/>
                <a:ea typeface="Helvetica Neue"/>
                <a:cs typeface="Helvetica Neue"/>
              </a:defRPr>
            </a:pPr>
            <a:r>
              <a:rPr lang="en-US" sz="3450" b="1" dirty="0">
                <a:solidFill>
                  <a:srgbClr val="102B46"/>
                </a:solidFill>
                <a:latin typeface="Helvetica Neue"/>
                <a:ea typeface="Helvetica Neue"/>
                <a:cs typeface="Helvetica Neue"/>
              </a:rPr>
              <a:t>Key Elements of SPAIDER Platform</a:t>
            </a:r>
            <a:endParaRPr sz="3450" b="1" dirty="0">
              <a:solidFill>
                <a:srgbClr val="102B46"/>
              </a:solidFill>
              <a:latin typeface="Helvetica Neue"/>
              <a:ea typeface="Helvetica Neue"/>
              <a:cs typeface="Helvetica Neue"/>
            </a:endParaRPr>
          </a:p>
        </p:txBody>
      </p:sp>
      <p:sp>
        <p:nvSpPr>
          <p:cNvPr id="4" name="subtitle">
            <a:extLst>
              <a:ext uri="{FF2B5EF4-FFF2-40B4-BE49-F238E27FC236}">
                <a16:creationId xmlns:a16="http://schemas.microsoft.com/office/drawing/2014/main" id="{0F3BA7F2-E8DB-B42D-9980-1C30054232C7}"/>
              </a:ext>
            </a:extLst>
          </p:cNvPr>
          <p:cNvSpPr>
            <a:spLocks noGrp="1"/>
          </p:cNvSpPr>
          <p:nvPr/>
        </p:nvSpPr>
        <p:spPr>
          <a:xfrm>
            <a:off x="609600" y="1473932"/>
            <a:ext cx="4683882" cy="419100"/>
          </a:xfrm>
          <a:prstGeom prst="rect">
            <a:avLst/>
          </a:prstGeom>
          <a:noFill/>
          <a:ln w="0">
            <a:noFill/>
          </a:ln>
        </p:spPr>
        <p:txBody>
          <a:bodyPr lIns="0" tIns="0" rIns="0" bIns="0">
            <a:noAutofit/>
          </a:bodyPr>
          <a:lstStyle>
            <a:defPPr>
              <a:defRPr sz="1800" b="0">
                <a:solidFill>
                  <a:srgbClr val="607482"/>
                </a:solidFill>
                <a:latin typeface="Helvetica Neue"/>
                <a:ea typeface="Helvetica Neue"/>
                <a:cs typeface="Helvetica Neue"/>
              </a:defRPr>
            </a:defPPr>
          </a:lstStyle>
          <a:p>
            <a:pPr>
              <a:buNone/>
              <a:defRPr sz="1800" b="0">
                <a:solidFill>
                  <a:srgbClr val="607482"/>
                </a:solidFill>
                <a:latin typeface="Helvetica Neue"/>
                <a:ea typeface="Helvetica Neue"/>
                <a:cs typeface="Helvetica Neue"/>
              </a:defRPr>
            </a:pPr>
            <a:r>
              <a:rPr lang="en-US" sz="1800" b="1" dirty="0">
                <a:solidFill>
                  <a:schemeClr val="accent2"/>
                </a:solidFill>
                <a:latin typeface="Helvetica Neue"/>
                <a:ea typeface="Helvetica Neue"/>
                <a:cs typeface="Helvetica Neue"/>
              </a:rPr>
              <a:t>PROJECTS</a:t>
            </a:r>
            <a:endParaRPr sz="1800" b="1" dirty="0">
              <a:solidFill>
                <a:schemeClr val="accent2"/>
              </a:solidFill>
              <a:latin typeface="Helvetica Neue"/>
              <a:ea typeface="Helvetica Neue"/>
              <a:cs typeface="Helvetica Neue"/>
            </a:endParaRPr>
          </a:p>
        </p:txBody>
      </p:sp>
      <p:sp>
        <p:nvSpPr>
          <p:cNvPr id="5" name="subtitle">
            <a:extLst>
              <a:ext uri="{FF2B5EF4-FFF2-40B4-BE49-F238E27FC236}">
                <a16:creationId xmlns:a16="http://schemas.microsoft.com/office/drawing/2014/main" id="{CCC7531B-8154-98B3-719F-B2A3DFD9F3AE}"/>
              </a:ext>
            </a:extLst>
          </p:cNvPr>
          <p:cNvSpPr>
            <a:spLocks noGrp="1"/>
          </p:cNvSpPr>
          <p:nvPr/>
        </p:nvSpPr>
        <p:spPr>
          <a:xfrm>
            <a:off x="609601" y="2043356"/>
            <a:ext cx="4683882" cy="4525318"/>
          </a:xfrm>
          <a:prstGeom prst="rect">
            <a:avLst/>
          </a:prstGeom>
          <a:noFill/>
          <a:ln w="0">
            <a:noFill/>
          </a:ln>
        </p:spPr>
        <p:txBody>
          <a:bodyPr lIns="0" tIns="0" rIns="0" bIns="0">
            <a:noAutofit/>
          </a:bodyPr>
          <a:lstStyle>
            <a:defPPr>
              <a:defRPr sz="1800" b="0">
                <a:solidFill>
                  <a:srgbClr val="607482"/>
                </a:solidFill>
                <a:latin typeface="Helvetica Neue"/>
                <a:ea typeface="Helvetica Neue"/>
                <a:cs typeface="Helvetica Neue"/>
              </a:defRPr>
            </a:defPPr>
          </a:lstStyle>
          <a:p>
            <a:pPr>
              <a:buNone/>
              <a:defRPr sz="1800" b="0">
                <a:solidFill>
                  <a:srgbClr val="607482"/>
                </a:solidFill>
                <a:latin typeface="Helvetica Neue"/>
                <a:ea typeface="Helvetica Neue"/>
                <a:cs typeface="Helvetica Neue"/>
              </a:defRPr>
            </a:pPr>
            <a:r>
              <a:rPr lang="en-US" sz="1800" b="0" dirty="0">
                <a:solidFill>
                  <a:srgbClr val="607482"/>
                </a:solidFill>
                <a:latin typeface="Helvetica Neue"/>
                <a:ea typeface="Helvetica Neue"/>
                <a:cs typeface="Helvetica Neue"/>
              </a:rPr>
              <a:t>This is where you can integrate your teammates, libraries and agents.</a:t>
            </a:r>
          </a:p>
          <a:p>
            <a:pPr>
              <a:buNone/>
              <a:defRPr sz="1800" b="0">
                <a:solidFill>
                  <a:srgbClr val="607482"/>
                </a:solidFill>
                <a:latin typeface="Helvetica Neue"/>
                <a:ea typeface="Helvetica Neue"/>
                <a:cs typeface="Helvetica Neue"/>
              </a:defRPr>
            </a:pPr>
            <a:endParaRPr lang="en-US" sz="1800" b="0" dirty="0">
              <a:solidFill>
                <a:srgbClr val="607482"/>
              </a:solidFill>
              <a:latin typeface="Helvetica Neue"/>
              <a:ea typeface="Helvetica Neue"/>
              <a:cs typeface="Helvetica Neue"/>
            </a:endParaRPr>
          </a:p>
          <a:p>
            <a:pPr marL="285750" indent="-285750">
              <a:buFont typeface="Arial" panose="020B0604020202020204" pitchFamily="34" charset="0"/>
              <a:buChar char="•"/>
              <a:defRPr sz="1800" b="0">
                <a:solidFill>
                  <a:srgbClr val="607482"/>
                </a:solidFill>
                <a:latin typeface="Helvetica Neue"/>
                <a:ea typeface="Helvetica Neue"/>
                <a:cs typeface="Helvetica Neue"/>
              </a:defRPr>
            </a:pPr>
            <a:r>
              <a:rPr lang="en-US" dirty="0">
                <a:solidFill>
                  <a:srgbClr val="607482"/>
                </a:solidFill>
                <a:latin typeface="Helvetica Neue"/>
                <a:ea typeface="Helvetica Neue"/>
                <a:cs typeface="Helvetica Neue"/>
              </a:rPr>
              <a:t>Teammates have read/write authority</a:t>
            </a:r>
          </a:p>
          <a:p>
            <a:pPr marL="285750" indent="-285750">
              <a:buFont typeface="Arial" panose="020B0604020202020204" pitchFamily="34" charset="0"/>
              <a:buChar char="•"/>
              <a:defRPr sz="1800" b="0">
                <a:solidFill>
                  <a:srgbClr val="607482"/>
                </a:solidFill>
                <a:latin typeface="Helvetica Neue"/>
                <a:ea typeface="Helvetica Neue"/>
                <a:cs typeface="Helvetica Neue"/>
              </a:defRPr>
            </a:pPr>
            <a:r>
              <a:rPr lang="en-US" dirty="0">
                <a:solidFill>
                  <a:srgbClr val="607482"/>
                </a:solidFill>
                <a:latin typeface="Helvetica Neue"/>
                <a:ea typeface="Helvetica Neue"/>
                <a:cs typeface="Helvetica Neue"/>
              </a:rPr>
              <a:t>All work inside the project is shared and visible to everyone in the project</a:t>
            </a:r>
          </a:p>
          <a:p>
            <a:pPr marL="285750" indent="-285750">
              <a:buFont typeface="Arial" panose="020B0604020202020204" pitchFamily="34" charset="0"/>
              <a:buChar char="•"/>
              <a:defRPr sz="1800" b="0">
                <a:solidFill>
                  <a:srgbClr val="607482"/>
                </a:solidFill>
                <a:latin typeface="Helvetica Neue"/>
                <a:ea typeface="Helvetica Neue"/>
                <a:cs typeface="Helvetica Neue"/>
              </a:defRPr>
            </a:pPr>
            <a:r>
              <a:rPr lang="en-US" dirty="0">
                <a:solidFill>
                  <a:srgbClr val="607482"/>
                </a:solidFill>
                <a:latin typeface="Helvetica Neue"/>
                <a:ea typeface="Helvetica Neue"/>
                <a:cs typeface="Helvetica Neue"/>
              </a:rPr>
              <a:t>You can collaborate with agents and teammates together</a:t>
            </a:r>
          </a:p>
          <a:p>
            <a:pPr marL="285750" indent="-285750">
              <a:buFont typeface="Arial" panose="020B0604020202020204" pitchFamily="34" charset="0"/>
              <a:buChar char="•"/>
              <a:defRPr sz="1800" b="0">
                <a:solidFill>
                  <a:srgbClr val="607482"/>
                </a:solidFill>
                <a:latin typeface="Helvetica Neue"/>
                <a:ea typeface="Helvetica Neue"/>
                <a:cs typeface="Helvetica Neue"/>
              </a:defRPr>
            </a:pPr>
            <a:r>
              <a:rPr lang="en-US" dirty="0">
                <a:solidFill>
                  <a:srgbClr val="607482"/>
                </a:solidFill>
                <a:latin typeface="Helvetica Neue"/>
                <a:ea typeface="Helvetica Neue"/>
                <a:cs typeface="Helvetica Neue"/>
              </a:rPr>
              <a:t>You can make any number of projects</a:t>
            </a:r>
          </a:p>
          <a:p>
            <a:pPr marL="742950" lvl="1" indent="-285750">
              <a:buFont typeface="Arial" panose="020B0604020202020204" pitchFamily="34" charset="0"/>
              <a:buChar char="•"/>
              <a:defRPr sz="1800" b="0">
                <a:solidFill>
                  <a:srgbClr val="607482"/>
                </a:solidFill>
                <a:latin typeface="Helvetica Neue"/>
                <a:ea typeface="Helvetica Neue"/>
                <a:cs typeface="Helvetica Neue"/>
              </a:defRPr>
            </a:pPr>
            <a:r>
              <a:rPr lang="en-US" dirty="0">
                <a:solidFill>
                  <a:srgbClr val="607482"/>
                </a:solidFill>
                <a:latin typeface="Helvetica Neue"/>
                <a:ea typeface="Helvetica Neue"/>
                <a:cs typeface="Helvetica Neue"/>
              </a:rPr>
              <a:t>Split between Tech, Reg., </a:t>
            </a:r>
            <a:r>
              <a:rPr lang="en-US" dirty="0" err="1">
                <a:solidFill>
                  <a:srgbClr val="607482"/>
                </a:solidFill>
                <a:latin typeface="Helvetica Neue"/>
                <a:ea typeface="Helvetica Neue"/>
                <a:cs typeface="Helvetica Neue"/>
              </a:rPr>
              <a:t>Bussiness</a:t>
            </a:r>
            <a:endParaRPr lang="en-US" dirty="0">
              <a:solidFill>
                <a:srgbClr val="607482"/>
              </a:solidFill>
              <a:latin typeface="Helvetica Neue"/>
              <a:ea typeface="Helvetica Neue"/>
              <a:cs typeface="Helvetica Neue"/>
            </a:endParaRPr>
          </a:p>
          <a:p>
            <a:pPr lvl="1">
              <a:defRPr sz="1800" b="0">
                <a:solidFill>
                  <a:srgbClr val="607482"/>
                </a:solidFill>
                <a:latin typeface="Helvetica Neue"/>
                <a:ea typeface="Helvetica Neue"/>
                <a:cs typeface="Helvetica Neue"/>
              </a:defRPr>
            </a:pPr>
            <a:r>
              <a:rPr lang="en-US" dirty="0">
                <a:solidFill>
                  <a:srgbClr val="607482"/>
                </a:solidFill>
                <a:latin typeface="Helvetica Neue"/>
                <a:ea typeface="Helvetica Neue"/>
                <a:cs typeface="Helvetica Neue"/>
              </a:rPr>
              <a:t>or</a:t>
            </a:r>
          </a:p>
          <a:p>
            <a:pPr marL="742950" lvl="1" indent="-285750">
              <a:buFont typeface="Arial" panose="020B0604020202020204" pitchFamily="34" charset="0"/>
              <a:buChar char="•"/>
              <a:defRPr sz="1800" b="0">
                <a:solidFill>
                  <a:srgbClr val="607482"/>
                </a:solidFill>
                <a:latin typeface="Helvetica Neue"/>
                <a:ea typeface="Helvetica Neue"/>
                <a:cs typeface="Helvetica Neue"/>
              </a:defRPr>
            </a:pPr>
            <a:r>
              <a:rPr lang="en-US" dirty="0">
                <a:solidFill>
                  <a:srgbClr val="607482"/>
                </a:solidFill>
                <a:latin typeface="Helvetica Neue"/>
                <a:ea typeface="Helvetica Neue"/>
                <a:cs typeface="Helvetica Neue"/>
              </a:rPr>
              <a:t>Work all together in one project</a:t>
            </a:r>
          </a:p>
          <a:p>
            <a:pPr marL="285750" indent="-285750">
              <a:buFont typeface="Arial" panose="020B0604020202020204" pitchFamily="34" charset="0"/>
              <a:buChar char="•"/>
              <a:defRPr sz="1800" b="0">
                <a:solidFill>
                  <a:srgbClr val="607482"/>
                </a:solidFill>
                <a:latin typeface="Helvetica Neue"/>
                <a:ea typeface="Helvetica Neue"/>
                <a:cs typeface="Helvetica Neue"/>
              </a:defRPr>
            </a:pPr>
            <a:r>
              <a:rPr lang="en-US" dirty="0">
                <a:solidFill>
                  <a:srgbClr val="C00000"/>
                </a:solidFill>
                <a:latin typeface="Helvetica Neue"/>
                <a:ea typeface="Helvetica Neue"/>
                <a:cs typeface="Helvetica Neue"/>
              </a:rPr>
              <a:t>Work with agents outside Projects is not shared and is your individual work</a:t>
            </a:r>
          </a:p>
          <a:p>
            <a:pPr>
              <a:buNone/>
              <a:defRPr sz="1800" b="0">
                <a:solidFill>
                  <a:srgbClr val="607482"/>
                </a:solidFill>
                <a:latin typeface="Helvetica Neue"/>
                <a:ea typeface="Helvetica Neue"/>
                <a:cs typeface="Helvetica Neue"/>
              </a:defRPr>
            </a:pPr>
            <a:endParaRPr lang="en-US" sz="1800" b="0" dirty="0">
              <a:solidFill>
                <a:srgbClr val="607482"/>
              </a:solidFill>
              <a:latin typeface="Helvetica Neue"/>
              <a:ea typeface="Helvetica Neue"/>
              <a:cs typeface="Helvetica Neue"/>
            </a:endParaRPr>
          </a:p>
        </p:txBody>
      </p:sp>
    </p:spTree>
    <p:extLst>
      <p:ext uri="{BB962C8B-B14F-4D97-AF65-F5344CB8AC3E}">
        <p14:creationId xmlns:p14="http://schemas.microsoft.com/office/powerpoint/2010/main" val="14631156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section-label">
            <a:extLst>
              <a:ext uri="{FF2B5EF4-FFF2-40B4-BE49-F238E27FC236}">
                <a16:creationId xmlns:a16="http://schemas.microsoft.com/office/drawing/2014/main" id="{12223A38-5C3C-44AE-B3FF-32CF60792BC5}"/>
              </a:ext>
            </a:extLst>
          </p:cNvPr>
          <p:cNvSpPr>
            <a:spLocks noGrp="1"/>
          </p:cNvSpPr>
          <p:nvPr/>
        </p:nvSpPr>
        <p:spPr>
          <a:xfrm>
            <a:off x="609600" y="285750"/>
            <a:ext cx="10668000" cy="285750"/>
          </a:xfrm>
          <a:prstGeom prst="rect">
            <a:avLst/>
          </a:prstGeom>
          <a:noFill/>
          <a:ln w="0">
            <a:noFill/>
          </a:ln>
        </p:spPr>
        <p:txBody>
          <a:bodyPr lIns="0" tIns="0" rIns="0" bIns="0">
            <a:noAutofit/>
          </a:bodyPr>
          <a:lstStyle>
            <a:defPPr algn="l">
              <a:defRPr sz="1200" b="1">
                <a:solidFill>
                  <a:srgbClr val="226FBB"/>
                </a:solidFill>
                <a:latin typeface="Helvetica Neue"/>
                <a:ea typeface="Helvetica Neue"/>
                <a:cs typeface="Helvetica Neue"/>
              </a:defRPr>
            </a:defPPr>
          </a:lstStyle>
          <a:p>
            <a:pPr algn="l">
              <a:buNone/>
              <a:defRPr sz="1200" b="1">
                <a:solidFill>
                  <a:srgbClr val="226FBB"/>
                </a:solidFill>
                <a:latin typeface="Helvetica Neue"/>
                <a:ea typeface="Helvetica Neue"/>
                <a:cs typeface="Helvetica Neue"/>
              </a:defRPr>
            </a:pPr>
            <a:r>
              <a:rPr sz="1200" b="1">
                <a:solidFill>
                  <a:srgbClr val="226FBB"/>
                </a:solidFill>
                <a:latin typeface="Helvetica Neue"/>
                <a:ea typeface="Helvetica Neue"/>
                <a:cs typeface="Helvetica Neue"/>
              </a:rPr>
              <a:t>SPAIDER PLATFORM</a:t>
            </a:r>
          </a:p>
        </p:txBody>
      </p:sp>
      <p:sp>
        <p:nvSpPr>
          <p:cNvPr id="2" name="slide-title">
            <a:extLst>
              <a:ext uri="{FF2B5EF4-FFF2-40B4-BE49-F238E27FC236}">
                <a16:creationId xmlns:a16="http://schemas.microsoft.com/office/drawing/2014/main" id="{17381297-687E-42A3-9D5B-0EBA0F63117B}"/>
              </a:ext>
            </a:extLst>
          </p:cNvPr>
          <p:cNvSpPr>
            <a:spLocks noGrp="1"/>
          </p:cNvSpPr>
          <p:nvPr/>
        </p:nvSpPr>
        <p:spPr>
          <a:xfrm>
            <a:off x="609600" y="781050"/>
            <a:ext cx="10858500" cy="857250"/>
          </a:xfrm>
          <a:prstGeom prst="rect">
            <a:avLst/>
          </a:prstGeom>
          <a:noFill/>
          <a:ln w="0">
            <a:noFill/>
          </a:ln>
        </p:spPr>
        <p:txBody>
          <a:bodyPr lIns="0" tIns="0" rIns="0" bIns="0">
            <a:noAutofit/>
          </a:bodyPr>
          <a:lstStyle>
            <a:defPPr algn="l">
              <a:defRPr sz="3450" b="1">
                <a:solidFill>
                  <a:srgbClr val="102B46"/>
                </a:solidFill>
                <a:latin typeface="Helvetica Neue"/>
                <a:ea typeface="Helvetica Neue"/>
                <a:cs typeface="Helvetica Neue"/>
              </a:defRPr>
            </a:defPPr>
          </a:lstStyle>
          <a:p>
            <a:pPr algn="l">
              <a:buNone/>
              <a:defRPr sz="3450" b="1">
                <a:solidFill>
                  <a:srgbClr val="102B46"/>
                </a:solidFill>
                <a:latin typeface="Helvetica Neue"/>
                <a:ea typeface="Helvetica Neue"/>
                <a:cs typeface="Helvetica Neue"/>
              </a:defRPr>
            </a:pPr>
            <a:r>
              <a:rPr sz="3450" b="1">
                <a:solidFill>
                  <a:srgbClr val="102B46"/>
                </a:solidFill>
                <a:latin typeface="Helvetica Neue"/>
                <a:ea typeface="Helvetica Neue"/>
                <a:cs typeface="Helvetica Neue"/>
              </a:rPr>
              <a:t>Libraries</a:t>
            </a:r>
          </a:p>
        </p:txBody>
      </p:sp>
      <p:sp>
        <p:nvSpPr>
          <p:cNvPr id="3" name="subtitle">
            <a:extLst>
              <a:ext uri="{FF2B5EF4-FFF2-40B4-BE49-F238E27FC236}">
                <a16:creationId xmlns:a16="http://schemas.microsoft.com/office/drawing/2014/main" id="{A008F845-33F9-4BA8-A6E0-C8EF388B84B8}"/>
              </a:ext>
            </a:extLst>
          </p:cNvPr>
          <p:cNvSpPr>
            <a:spLocks noGrp="1"/>
          </p:cNvSpPr>
          <p:nvPr/>
        </p:nvSpPr>
        <p:spPr>
          <a:xfrm>
            <a:off x="609600" y="1524000"/>
            <a:ext cx="10858500" cy="428625"/>
          </a:xfrm>
          <a:prstGeom prst="rect">
            <a:avLst/>
          </a:prstGeom>
          <a:noFill/>
          <a:ln w="0">
            <a:noFill/>
          </a:ln>
        </p:spPr>
        <p:txBody>
          <a:bodyPr lIns="0" tIns="0" rIns="0" bIns="0">
            <a:noAutofit/>
          </a:bodyPr>
          <a:lstStyle>
            <a:defPPr algn="l">
              <a:defRPr sz="1800" b="0">
                <a:solidFill>
                  <a:srgbClr val="607482"/>
                </a:solidFill>
                <a:latin typeface="Helvetica Neue"/>
                <a:ea typeface="Helvetica Neue"/>
                <a:cs typeface="Helvetica Neue"/>
              </a:defRPr>
            </a:defPPr>
          </a:lstStyle>
          <a:p>
            <a:pPr algn="l">
              <a:buNone/>
              <a:defRPr sz="1800" b="0">
                <a:solidFill>
                  <a:srgbClr val="607482"/>
                </a:solidFill>
                <a:latin typeface="Helvetica Neue"/>
                <a:ea typeface="Helvetica Neue"/>
                <a:cs typeface="Helvetica Neue"/>
              </a:defRPr>
            </a:pPr>
            <a:r>
              <a:rPr sz="1800" b="0" dirty="0">
                <a:solidFill>
                  <a:srgbClr val="607482"/>
                </a:solidFill>
                <a:latin typeface="Helvetica Neue"/>
                <a:ea typeface="Helvetica Neue"/>
                <a:cs typeface="Helvetica Neue"/>
              </a:rPr>
              <a:t>Shared source material for the selected challenge</a:t>
            </a:r>
          </a:p>
        </p:txBody>
      </p:sp>
      <p:sp>
        <p:nvSpPr>
          <p:cNvPr id="4" name="page-number">
            <a:extLst>
              <a:ext uri="{FF2B5EF4-FFF2-40B4-BE49-F238E27FC236}">
                <a16:creationId xmlns:a16="http://schemas.microsoft.com/office/drawing/2014/main" id="{09D7CEA2-BBA7-4D41-BC8C-36EA50040E32}"/>
              </a:ext>
            </a:extLst>
          </p:cNvPr>
          <p:cNvSpPr>
            <a:spLocks noGrp="1"/>
          </p:cNvSpPr>
          <p:nvPr/>
        </p:nvSpPr>
        <p:spPr>
          <a:xfrm>
            <a:off x="10953750" y="6438900"/>
            <a:ext cx="666750" cy="228600"/>
          </a:xfrm>
          <a:prstGeom prst="rect">
            <a:avLst/>
          </a:prstGeom>
          <a:noFill/>
          <a:ln w="0">
            <a:noFill/>
          </a:ln>
        </p:spPr>
        <p:txBody>
          <a:bodyPr lIns="0" tIns="0" rIns="0" bIns="0">
            <a:noAutofit/>
          </a:bodyPr>
          <a:lstStyle>
            <a:defPPr algn="r">
              <a:defRPr sz="1125" b="0">
                <a:solidFill>
                  <a:srgbClr val="607482"/>
                </a:solidFill>
                <a:latin typeface="Helvetica Neue"/>
                <a:ea typeface="Helvetica Neue"/>
                <a:cs typeface="Helvetica Neue"/>
              </a:defRPr>
            </a:defPPr>
          </a:lstStyle>
          <a:p>
            <a:pPr algn="r">
              <a:buNone/>
              <a:defRPr sz="1125" b="0">
                <a:solidFill>
                  <a:srgbClr val="607482"/>
                </a:solidFill>
                <a:latin typeface="Helvetica Neue"/>
                <a:ea typeface="Helvetica Neue"/>
                <a:cs typeface="Helvetica Neue"/>
              </a:defRPr>
            </a:pPr>
            <a:r>
              <a:rPr sz="1125" b="0">
                <a:solidFill>
                  <a:srgbClr val="607482"/>
                </a:solidFill>
                <a:latin typeface="Helvetica Neue"/>
                <a:ea typeface="Helvetica Neue"/>
                <a:cs typeface="Helvetica Neue"/>
              </a:rPr>
              <a:t>8</a:t>
            </a:r>
          </a:p>
        </p:txBody>
      </p:sp>
      <p:sp>
        <p:nvSpPr>
          <p:cNvPr id="5" name="action-list">
            <a:extLst>
              <a:ext uri="{FF2B5EF4-FFF2-40B4-BE49-F238E27FC236}">
                <a16:creationId xmlns:a16="http://schemas.microsoft.com/office/drawing/2014/main" id="{0E304C5E-1D93-418C-B6C2-86E8577A5F57}"/>
              </a:ext>
            </a:extLst>
          </p:cNvPr>
          <p:cNvSpPr>
            <a:spLocks noGrp="1"/>
          </p:cNvSpPr>
          <p:nvPr/>
        </p:nvSpPr>
        <p:spPr>
          <a:xfrm>
            <a:off x="609600" y="2295525"/>
            <a:ext cx="6572250" cy="3067050"/>
          </a:xfrm>
          <a:prstGeom prst="rect">
            <a:avLst/>
          </a:prstGeom>
          <a:noFill/>
          <a:ln w="0">
            <a:noFill/>
          </a:ln>
        </p:spPr>
        <p:txBody>
          <a:bodyPr lIns="0" tIns="0" rIns="0" bIns="0">
            <a:noAutofit/>
          </a:bodyPr>
          <a:lstStyle>
            <a:defPPr algn="l">
              <a:defRPr sz="2100" b="0">
                <a:solidFill>
                  <a:srgbClr val="233A4B"/>
                </a:solidFill>
                <a:latin typeface="Helvetica Neue"/>
                <a:ea typeface="Helvetica Neue"/>
                <a:cs typeface="Helvetica Neue"/>
              </a:defRPr>
            </a:defPPr>
          </a:lstStyle>
          <a:p>
            <a:pPr marL="228600" indent="-114300" algn="l">
              <a:spcAft>
                <a:spcPts val="1800"/>
              </a:spcAft>
              <a:buChar char="•"/>
              <a:defRPr sz="2100" b="0">
                <a:solidFill>
                  <a:srgbClr val="233A4B"/>
                </a:solidFill>
                <a:latin typeface="Helvetica Neue"/>
                <a:ea typeface="Helvetica Neue"/>
                <a:cs typeface="Helvetica Neue"/>
              </a:defRPr>
            </a:pPr>
            <a:endParaRPr/>
          </a:p>
        </p:txBody>
      </p:sp>
      <p:sp>
        <p:nvSpPr>
          <p:cNvPr id="7" name="library-location">
            <a:extLst>
              <a:ext uri="{FF2B5EF4-FFF2-40B4-BE49-F238E27FC236}">
                <a16:creationId xmlns:a16="http://schemas.microsoft.com/office/drawing/2014/main" id="{18AD80B2-6528-47DB-A5BB-26650F2BF709}"/>
              </a:ext>
            </a:extLst>
          </p:cNvPr>
          <p:cNvSpPr>
            <a:spLocks noGrp="1"/>
          </p:cNvSpPr>
          <p:nvPr/>
        </p:nvSpPr>
        <p:spPr>
          <a:xfrm>
            <a:off x="609600" y="5810250"/>
            <a:ext cx="10668000" cy="400050"/>
          </a:xfrm>
          <a:prstGeom prst="rect">
            <a:avLst/>
          </a:prstGeom>
          <a:noFill/>
          <a:ln w="0">
            <a:noFill/>
          </a:ln>
        </p:spPr>
        <p:txBody>
          <a:bodyPr lIns="0" tIns="0" rIns="0" bIns="0">
            <a:noAutofit/>
          </a:bodyPr>
          <a:lstStyle>
            <a:defPPr algn="l">
              <a:defRPr sz="1650" b="0">
                <a:solidFill>
                  <a:srgbClr val="607482"/>
                </a:solidFill>
                <a:latin typeface="Helvetica Neue"/>
                <a:ea typeface="Helvetica Neue"/>
                <a:cs typeface="Helvetica Neue"/>
              </a:defRPr>
            </a:defPPr>
          </a:lstStyle>
          <a:p>
            <a:pPr algn="l">
              <a:buNone/>
              <a:defRPr sz="1650" b="0">
                <a:solidFill>
                  <a:srgbClr val="607482"/>
                </a:solidFill>
                <a:latin typeface="Helvetica Neue"/>
                <a:ea typeface="Helvetica Neue"/>
                <a:cs typeface="Helvetica Neue"/>
              </a:defRPr>
            </a:pPr>
            <a:r>
              <a:rPr sz="1650" b="0">
                <a:solidFill>
                  <a:srgbClr val="607482"/>
                </a:solidFill>
                <a:latin typeface="Helvetica Neue"/>
                <a:ea typeface="Helvetica Neue"/>
                <a:cs typeface="Helvetica Neue"/>
              </a:rPr>
              <a:t>Create New Library / Upload Documents</a:t>
            </a:r>
          </a:p>
        </p:txBody>
      </p:sp>
      <p:pic>
        <p:nvPicPr>
          <p:cNvPr id="9" name="Picture 8">
            <a:extLst>
              <a:ext uri="{FF2B5EF4-FFF2-40B4-BE49-F238E27FC236}">
                <a16:creationId xmlns:a16="http://schemas.microsoft.com/office/drawing/2014/main" id="{AD9CDDBB-98F7-49D4-8A65-C738F4D2ABFC}"/>
              </a:ext>
            </a:extLst>
          </p:cNvPr>
          <p:cNvPicPr>
            <a:picLocks noChangeAspect="1"/>
          </p:cNvPicPr>
          <p:nvPr/>
        </p:nvPicPr>
        <p:blipFill>
          <a:blip r:embed="rId3"/>
          <a:stretch/>
        </p:blipFill>
        <p:spPr>
          <a:xfrm>
            <a:off x="638175" y="2286000"/>
            <a:ext cx="400050" cy="400050"/>
          </a:xfrm>
          <a:prstGeom prst="rect">
            <a:avLst/>
          </a:prstGeom>
        </p:spPr>
      </p:pic>
      <p:sp>
        <p:nvSpPr>
          <p:cNvPr id="10" name="action-1">
            <a:extLst>
              <a:ext uri="{FF2B5EF4-FFF2-40B4-BE49-F238E27FC236}">
                <a16:creationId xmlns:a16="http://schemas.microsoft.com/office/drawing/2014/main" id="{6FF1E8CA-744F-46C3-BE49-ECE3A13974EC}"/>
              </a:ext>
            </a:extLst>
          </p:cNvPr>
          <p:cNvSpPr>
            <a:spLocks noGrp="1"/>
          </p:cNvSpPr>
          <p:nvPr/>
        </p:nvSpPr>
        <p:spPr>
          <a:xfrm>
            <a:off x="1276350" y="2324100"/>
            <a:ext cx="619125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Explore the challenge Libraries</a:t>
            </a:r>
          </a:p>
        </p:txBody>
      </p:sp>
      <p:pic>
        <p:nvPicPr>
          <p:cNvPr id="11" name="Picture 10">
            <a:extLst>
              <a:ext uri="{FF2B5EF4-FFF2-40B4-BE49-F238E27FC236}">
                <a16:creationId xmlns:a16="http://schemas.microsoft.com/office/drawing/2014/main" id="{DFB941E9-EBC5-41F4-AECA-33153BE0E548}"/>
              </a:ext>
            </a:extLst>
          </p:cNvPr>
          <p:cNvPicPr>
            <a:picLocks noChangeAspect="1"/>
          </p:cNvPicPr>
          <p:nvPr/>
        </p:nvPicPr>
        <p:blipFill>
          <a:blip r:embed="rId4"/>
          <a:stretch/>
        </p:blipFill>
        <p:spPr>
          <a:xfrm>
            <a:off x="638175" y="2895600"/>
            <a:ext cx="400050" cy="400050"/>
          </a:xfrm>
          <a:prstGeom prst="rect">
            <a:avLst/>
          </a:prstGeom>
        </p:spPr>
      </p:pic>
      <p:sp>
        <p:nvSpPr>
          <p:cNvPr id="12" name="action-2">
            <a:extLst>
              <a:ext uri="{FF2B5EF4-FFF2-40B4-BE49-F238E27FC236}">
                <a16:creationId xmlns:a16="http://schemas.microsoft.com/office/drawing/2014/main" id="{4A9662D5-E552-4831-9CA0-2D280C9CF080}"/>
              </a:ext>
            </a:extLst>
          </p:cNvPr>
          <p:cNvSpPr>
            <a:spLocks noGrp="1"/>
          </p:cNvSpPr>
          <p:nvPr/>
        </p:nvSpPr>
        <p:spPr>
          <a:xfrm>
            <a:off x="1276350" y="2933700"/>
            <a:ext cx="619125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Read research sources</a:t>
            </a:r>
          </a:p>
        </p:txBody>
      </p:sp>
      <p:pic>
        <p:nvPicPr>
          <p:cNvPr id="13" name="Picture 12">
            <a:extLst>
              <a:ext uri="{FF2B5EF4-FFF2-40B4-BE49-F238E27FC236}">
                <a16:creationId xmlns:a16="http://schemas.microsoft.com/office/drawing/2014/main" id="{3882FF2D-6B9E-4826-9BFD-03F37646A13B}"/>
              </a:ext>
            </a:extLst>
          </p:cNvPr>
          <p:cNvPicPr>
            <a:picLocks noChangeAspect="1"/>
          </p:cNvPicPr>
          <p:nvPr/>
        </p:nvPicPr>
        <p:blipFill>
          <a:blip r:embed="rId5"/>
          <a:stretch/>
        </p:blipFill>
        <p:spPr>
          <a:xfrm>
            <a:off x="638175" y="3505200"/>
            <a:ext cx="400050" cy="400050"/>
          </a:xfrm>
          <a:prstGeom prst="rect">
            <a:avLst/>
          </a:prstGeom>
        </p:spPr>
      </p:pic>
      <p:sp>
        <p:nvSpPr>
          <p:cNvPr id="14" name="action-3">
            <a:extLst>
              <a:ext uri="{FF2B5EF4-FFF2-40B4-BE49-F238E27FC236}">
                <a16:creationId xmlns:a16="http://schemas.microsoft.com/office/drawing/2014/main" id="{2C245950-1107-484D-9577-8E658F29E734}"/>
              </a:ext>
            </a:extLst>
          </p:cNvPr>
          <p:cNvSpPr>
            <a:spLocks noGrp="1"/>
          </p:cNvSpPr>
          <p:nvPr/>
        </p:nvSpPr>
        <p:spPr>
          <a:xfrm>
            <a:off x="1276350" y="3543300"/>
            <a:ext cx="619125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Add papers and new sources</a:t>
            </a:r>
          </a:p>
        </p:txBody>
      </p:sp>
      <p:pic>
        <p:nvPicPr>
          <p:cNvPr id="15" name="Picture 14">
            <a:extLst>
              <a:ext uri="{FF2B5EF4-FFF2-40B4-BE49-F238E27FC236}">
                <a16:creationId xmlns:a16="http://schemas.microsoft.com/office/drawing/2014/main" id="{0C4B44C4-FCFE-4E26-AE80-3EAC457E04EC}"/>
              </a:ext>
            </a:extLst>
          </p:cNvPr>
          <p:cNvPicPr>
            <a:picLocks noChangeAspect="1"/>
          </p:cNvPicPr>
          <p:nvPr/>
        </p:nvPicPr>
        <p:blipFill>
          <a:blip r:embed="rId6"/>
          <a:stretch/>
        </p:blipFill>
        <p:spPr>
          <a:xfrm>
            <a:off x="638175" y="4114800"/>
            <a:ext cx="400050" cy="400050"/>
          </a:xfrm>
          <a:prstGeom prst="rect">
            <a:avLst/>
          </a:prstGeom>
        </p:spPr>
      </p:pic>
      <p:sp>
        <p:nvSpPr>
          <p:cNvPr id="16" name="action-4">
            <a:extLst>
              <a:ext uri="{FF2B5EF4-FFF2-40B4-BE49-F238E27FC236}">
                <a16:creationId xmlns:a16="http://schemas.microsoft.com/office/drawing/2014/main" id="{86E7E72C-F877-4BB3-A0FE-4FCFB0C31CD9}"/>
              </a:ext>
            </a:extLst>
          </p:cNvPr>
          <p:cNvSpPr>
            <a:spLocks noGrp="1"/>
          </p:cNvSpPr>
          <p:nvPr/>
        </p:nvSpPr>
        <p:spPr>
          <a:xfrm>
            <a:off x="1276350" y="4152900"/>
            <a:ext cx="619125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Check evidence and assumptions</a:t>
            </a:r>
          </a:p>
        </p:txBody>
      </p:sp>
      <p:pic>
        <p:nvPicPr>
          <p:cNvPr id="17" name="Picture 16">
            <a:extLst>
              <a:ext uri="{FF2B5EF4-FFF2-40B4-BE49-F238E27FC236}">
                <a16:creationId xmlns:a16="http://schemas.microsoft.com/office/drawing/2014/main" id="{4FF68683-FD31-480C-81A7-D9DD1A7EEBAB}"/>
              </a:ext>
            </a:extLst>
          </p:cNvPr>
          <p:cNvPicPr>
            <a:picLocks noChangeAspect="1"/>
          </p:cNvPicPr>
          <p:nvPr/>
        </p:nvPicPr>
        <p:blipFill>
          <a:blip r:embed="rId7"/>
          <a:stretch>
            <a:fillRect/>
          </a:stretch>
        </p:blipFill>
        <p:spPr>
          <a:xfrm>
            <a:off x="6184322" y="1525113"/>
            <a:ext cx="5935931" cy="3259896"/>
          </a:xfrm>
          <a:prstGeom prst="rect">
            <a:avLst/>
          </a:prstGeom>
        </p:spPr>
      </p:pic>
    </p:spTree>
    <p:extLst>
      <p:ext uri="{BB962C8B-B14F-4D97-AF65-F5344CB8AC3E}">
        <p14:creationId xmlns:p14="http://schemas.microsoft.com/office/powerpoint/2010/main" val="2170466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23EA123-1F28-7B98-863B-42205D8ACAF0}"/>
            </a:ext>
          </a:extLst>
        </p:cNvPr>
        <p:cNvGrpSpPr/>
        <p:nvPr/>
      </p:nvGrpSpPr>
      <p:grpSpPr>
        <a:xfrm>
          <a:off x="0" y="0"/>
          <a:ext cx="0" cy="0"/>
          <a:chOff x="0" y="0"/>
          <a:chExt cx="0" cy="0"/>
        </a:xfrm>
      </p:grpSpPr>
      <p:sp>
        <p:nvSpPr>
          <p:cNvPr id="2" name="slide-title">
            <a:extLst>
              <a:ext uri="{FF2B5EF4-FFF2-40B4-BE49-F238E27FC236}">
                <a16:creationId xmlns:a16="http://schemas.microsoft.com/office/drawing/2014/main" id="{C96ECE5B-5EDB-EC78-327D-1B2664319FC0}"/>
              </a:ext>
            </a:extLst>
          </p:cNvPr>
          <p:cNvSpPr>
            <a:spLocks noGrp="1"/>
          </p:cNvSpPr>
          <p:nvPr/>
        </p:nvSpPr>
        <p:spPr>
          <a:xfrm>
            <a:off x="609599" y="450450"/>
            <a:ext cx="10972800" cy="819150"/>
          </a:xfrm>
          <a:prstGeom prst="rect">
            <a:avLst/>
          </a:prstGeom>
          <a:noFill/>
          <a:ln w="0">
            <a:noFill/>
          </a:ln>
        </p:spPr>
        <p:txBody>
          <a:bodyPr lIns="0" tIns="0" rIns="0" bIns="0">
            <a:noAutofit/>
          </a:bodyPr>
          <a:lstStyle>
            <a:defPPr>
              <a:defRPr sz="3450" b="1">
                <a:solidFill>
                  <a:srgbClr val="102B46"/>
                </a:solidFill>
                <a:latin typeface="Helvetica Neue"/>
                <a:ea typeface="Helvetica Neue"/>
                <a:cs typeface="Helvetica Neue"/>
              </a:defRPr>
            </a:defPPr>
          </a:lstStyle>
          <a:p>
            <a:pPr>
              <a:defRPr sz="3450" b="1">
                <a:solidFill>
                  <a:srgbClr val="102B46"/>
                </a:solidFill>
                <a:latin typeface="Helvetica Neue"/>
                <a:ea typeface="Helvetica Neue"/>
                <a:cs typeface="Helvetica Neue"/>
              </a:defRPr>
            </a:pPr>
            <a:r>
              <a:rPr sz="3450" b="1" dirty="0">
                <a:solidFill>
                  <a:srgbClr val="102B46"/>
                </a:solidFill>
                <a:latin typeface="Helvetica Neue"/>
                <a:ea typeface="Helvetica Neue"/>
                <a:cs typeface="Helvetica Neue"/>
              </a:rPr>
              <a:t>Getting started with Libraries</a:t>
            </a:r>
          </a:p>
        </p:txBody>
      </p:sp>
      <p:pic>
        <p:nvPicPr>
          <p:cNvPr id="3" name="Picture 2">
            <a:extLst>
              <a:ext uri="{FF2B5EF4-FFF2-40B4-BE49-F238E27FC236}">
                <a16:creationId xmlns:a16="http://schemas.microsoft.com/office/drawing/2014/main" id="{E0EE2270-155C-111C-0F84-14B466308892}"/>
              </a:ext>
            </a:extLst>
          </p:cNvPr>
          <p:cNvPicPr>
            <a:picLocks noChangeAspect="1"/>
          </p:cNvPicPr>
          <p:nvPr/>
        </p:nvPicPr>
        <p:blipFill>
          <a:blip r:embed="rId3"/>
          <a:stretch>
            <a:fillRect/>
          </a:stretch>
        </p:blipFill>
        <p:spPr>
          <a:xfrm>
            <a:off x="1418992" y="1600200"/>
            <a:ext cx="9354015" cy="5109197"/>
          </a:xfrm>
          <a:prstGeom prst="rect">
            <a:avLst/>
          </a:prstGeom>
          <a:ln>
            <a:solidFill>
              <a:schemeClr val="accent4"/>
            </a:solidFill>
          </a:ln>
        </p:spPr>
      </p:pic>
      <p:pic>
        <p:nvPicPr>
          <p:cNvPr id="4" name="Picture 3">
            <a:extLst>
              <a:ext uri="{FF2B5EF4-FFF2-40B4-BE49-F238E27FC236}">
                <a16:creationId xmlns:a16="http://schemas.microsoft.com/office/drawing/2014/main" id="{D1F56D7F-660A-BBDD-9638-608EAEECD3CB}"/>
              </a:ext>
            </a:extLst>
          </p:cNvPr>
          <p:cNvPicPr>
            <a:picLocks noChangeAspect="1"/>
          </p:cNvPicPr>
          <p:nvPr/>
        </p:nvPicPr>
        <p:blipFill>
          <a:blip r:embed="rId4"/>
          <a:srcRect l="32367" t="33612" r="30870" b="33583"/>
          <a:stretch>
            <a:fillRect/>
          </a:stretch>
        </p:blipFill>
        <p:spPr>
          <a:xfrm>
            <a:off x="3610099" y="3610699"/>
            <a:ext cx="4485686" cy="2186364"/>
          </a:xfrm>
          <a:prstGeom prst="rect">
            <a:avLst/>
          </a:prstGeom>
          <a:ln>
            <a:solidFill>
              <a:schemeClr val="accent2"/>
            </a:solidFill>
          </a:ln>
        </p:spPr>
      </p:pic>
      <p:cxnSp>
        <p:nvCxnSpPr>
          <p:cNvPr id="6" name="Straight Arrow Connector 5">
            <a:extLst>
              <a:ext uri="{FF2B5EF4-FFF2-40B4-BE49-F238E27FC236}">
                <a16:creationId xmlns:a16="http://schemas.microsoft.com/office/drawing/2014/main" id="{3C6F1657-7062-D282-0D45-43A3B78A8747}"/>
              </a:ext>
            </a:extLst>
          </p:cNvPr>
          <p:cNvCxnSpPr>
            <a:cxnSpLocks/>
          </p:cNvCxnSpPr>
          <p:nvPr/>
        </p:nvCxnSpPr>
        <p:spPr>
          <a:xfrm flipH="1">
            <a:off x="8095785" y="2274849"/>
            <a:ext cx="1293542" cy="133585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 name="subtitle">
            <a:extLst>
              <a:ext uri="{FF2B5EF4-FFF2-40B4-BE49-F238E27FC236}">
                <a16:creationId xmlns:a16="http://schemas.microsoft.com/office/drawing/2014/main" id="{7DEF8007-2F33-E264-BCED-EE495A237394}"/>
              </a:ext>
            </a:extLst>
          </p:cNvPr>
          <p:cNvSpPr>
            <a:spLocks noGrp="1"/>
          </p:cNvSpPr>
          <p:nvPr/>
        </p:nvSpPr>
        <p:spPr>
          <a:xfrm>
            <a:off x="609599" y="1220588"/>
            <a:ext cx="10858500" cy="428625"/>
          </a:xfrm>
          <a:prstGeom prst="rect">
            <a:avLst/>
          </a:prstGeom>
          <a:noFill/>
          <a:ln w="0">
            <a:noFill/>
          </a:ln>
        </p:spPr>
        <p:txBody>
          <a:bodyPr lIns="0" tIns="0" rIns="0" bIns="0">
            <a:noAutofit/>
          </a:bodyPr>
          <a:lstStyle>
            <a:defPPr algn="l">
              <a:defRPr sz="1800" b="0">
                <a:solidFill>
                  <a:srgbClr val="607482"/>
                </a:solidFill>
                <a:latin typeface="Helvetica Neue"/>
                <a:ea typeface="Helvetica Neue"/>
                <a:cs typeface="Helvetica Neue"/>
              </a:defRPr>
            </a:defPPr>
          </a:lstStyle>
          <a:p>
            <a:pPr algn="l">
              <a:buNone/>
              <a:defRPr sz="1800" b="0">
                <a:solidFill>
                  <a:srgbClr val="607482"/>
                </a:solidFill>
                <a:latin typeface="Helvetica Neue"/>
                <a:ea typeface="Helvetica Neue"/>
                <a:cs typeface="Helvetica Neue"/>
              </a:defRPr>
            </a:pPr>
            <a:r>
              <a:rPr lang="en-US" sz="1800" b="0" dirty="0">
                <a:solidFill>
                  <a:srgbClr val="607482"/>
                </a:solidFill>
                <a:latin typeface="Helvetica Neue"/>
                <a:ea typeface="Helvetica Neue"/>
                <a:cs typeface="Helvetica Neue"/>
              </a:rPr>
              <a:t>Access Public Libraries: </a:t>
            </a:r>
            <a:r>
              <a:rPr lang="en-US" sz="1800" b="1" u="sng" dirty="0">
                <a:latin typeface="Helvetica Neue"/>
                <a:ea typeface="Helvetica Neue"/>
                <a:cs typeface="Helvetica Neue"/>
              </a:rPr>
              <a:t>Code</a:t>
            </a:r>
            <a:r>
              <a:rPr lang="en-US" sz="1800" b="1" u="sng" dirty="0">
                <a:solidFill>
                  <a:schemeClr val="accent4"/>
                </a:solidFill>
                <a:latin typeface="Helvetica Neue"/>
                <a:ea typeface="Helvetica Neue"/>
                <a:cs typeface="Helvetica Neue"/>
              </a:rPr>
              <a:t> “</a:t>
            </a:r>
            <a:r>
              <a:rPr lang="en-US" sz="1800" b="1" u="sng" dirty="0">
                <a:solidFill>
                  <a:schemeClr val="accent2"/>
                </a:solidFill>
                <a:latin typeface="Helvetica Neue"/>
                <a:ea typeface="Helvetica Neue"/>
                <a:cs typeface="Helvetica Neue"/>
              </a:rPr>
              <a:t>NEOchallenge2026</a:t>
            </a:r>
            <a:r>
              <a:rPr lang="en-US" sz="1800" b="1" u="sng" dirty="0">
                <a:solidFill>
                  <a:schemeClr val="accent4"/>
                </a:solidFill>
                <a:latin typeface="Helvetica Neue"/>
                <a:ea typeface="Helvetica Neue"/>
                <a:cs typeface="Helvetica Neue"/>
              </a:rPr>
              <a:t>”</a:t>
            </a:r>
            <a:endParaRPr sz="1800" b="1" u="sng" dirty="0">
              <a:solidFill>
                <a:schemeClr val="accent4"/>
              </a:solidFill>
              <a:latin typeface="Helvetica Neue"/>
              <a:ea typeface="Helvetica Neue"/>
              <a:cs typeface="Helvetica Neue"/>
            </a:endParaRPr>
          </a:p>
        </p:txBody>
      </p:sp>
    </p:spTree>
    <p:extLst>
      <p:ext uri="{BB962C8B-B14F-4D97-AF65-F5344CB8AC3E}">
        <p14:creationId xmlns:p14="http://schemas.microsoft.com/office/powerpoint/2010/main" val="1653326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title">
            <a:extLst>
              <a:ext uri="{FF2B5EF4-FFF2-40B4-BE49-F238E27FC236}">
                <a16:creationId xmlns:a16="http://schemas.microsoft.com/office/drawing/2014/main" id="{4D6C7A0B-33BC-422E-8E6F-11639DD30495}"/>
              </a:ext>
            </a:extLst>
          </p:cNvPr>
          <p:cNvSpPr>
            <a:spLocks noGrp="1"/>
          </p:cNvSpPr>
          <p:nvPr/>
        </p:nvSpPr>
        <p:spPr>
          <a:xfrm>
            <a:off x="609600" y="781050"/>
            <a:ext cx="10972800" cy="819150"/>
          </a:xfrm>
          <a:prstGeom prst="rect">
            <a:avLst/>
          </a:prstGeom>
          <a:noFill/>
          <a:ln w="0">
            <a:noFill/>
          </a:ln>
        </p:spPr>
        <p:txBody>
          <a:bodyPr lIns="0" tIns="0" rIns="0" bIns="0">
            <a:noAutofit/>
          </a:bodyPr>
          <a:lstStyle>
            <a:defPPr>
              <a:defRPr sz="3450" b="1">
                <a:solidFill>
                  <a:srgbClr val="102B46"/>
                </a:solidFill>
                <a:latin typeface="Helvetica Neue"/>
                <a:ea typeface="Helvetica Neue"/>
                <a:cs typeface="Helvetica Neue"/>
              </a:defRPr>
            </a:defPPr>
          </a:lstStyle>
          <a:p>
            <a:pPr>
              <a:defRPr sz="3450" b="1">
                <a:solidFill>
                  <a:srgbClr val="102B46"/>
                </a:solidFill>
                <a:latin typeface="Helvetica Neue"/>
                <a:ea typeface="Helvetica Neue"/>
                <a:cs typeface="Helvetica Neue"/>
              </a:defRPr>
            </a:pPr>
            <a:r>
              <a:rPr lang="en-US" sz="3450" b="1" dirty="0">
                <a:solidFill>
                  <a:srgbClr val="102B46"/>
                </a:solidFill>
                <a:latin typeface="Helvetica Neue"/>
                <a:ea typeface="Helvetica Neue"/>
                <a:cs typeface="Helvetica Neue"/>
              </a:rPr>
              <a:t>Hackathon Libraries</a:t>
            </a:r>
            <a:endParaRPr sz="3450" b="1" dirty="0">
              <a:solidFill>
                <a:srgbClr val="102B46"/>
              </a:solidFill>
              <a:latin typeface="Helvetica Neue"/>
              <a:ea typeface="Helvetica Neue"/>
              <a:cs typeface="Helvetica Neue"/>
            </a:endParaRPr>
          </a:p>
        </p:txBody>
      </p:sp>
      <p:pic>
        <p:nvPicPr>
          <p:cNvPr id="4" name="Picture 3">
            <a:extLst>
              <a:ext uri="{FF2B5EF4-FFF2-40B4-BE49-F238E27FC236}">
                <a16:creationId xmlns:a16="http://schemas.microsoft.com/office/drawing/2014/main" id="{0F1BE050-66A3-A1D6-CB54-AE0AA85B915D}"/>
              </a:ext>
            </a:extLst>
          </p:cNvPr>
          <p:cNvPicPr>
            <a:picLocks noChangeAspect="1"/>
          </p:cNvPicPr>
          <p:nvPr/>
        </p:nvPicPr>
        <p:blipFill>
          <a:blip r:embed="rId3"/>
          <a:stretch>
            <a:fillRect/>
          </a:stretch>
        </p:blipFill>
        <p:spPr>
          <a:xfrm>
            <a:off x="5274526" y="781050"/>
            <a:ext cx="6728651" cy="5935539"/>
          </a:xfrm>
          <a:prstGeom prst="rect">
            <a:avLst/>
          </a:prstGeom>
        </p:spPr>
      </p:pic>
      <p:sp>
        <p:nvSpPr>
          <p:cNvPr id="6" name="action-1">
            <a:extLst>
              <a:ext uri="{FF2B5EF4-FFF2-40B4-BE49-F238E27FC236}">
                <a16:creationId xmlns:a16="http://schemas.microsoft.com/office/drawing/2014/main" id="{8ACE479E-E375-F110-5218-DC47A3BAA8C1}"/>
              </a:ext>
            </a:extLst>
          </p:cNvPr>
          <p:cNvSpPr>
            <a:spLocks noGrp="1"/>
          </p:cNvSpPr>
          <p:nvPr/>
        </p:nvSpPr>
        <p:spPr>
          <a:xfrm>
            <a:off x="609600" y="1850386"/>
            <a:ext cx="619125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lang="en-US" sz="2175" b="0" dirty="0">
                <a:solidFill>
                  <a:srgbClr val="233A4B"/>
                </a:solidFill>
                <a:latin typeface="Helvetica Neue"/>
                <a:ea typeface="Helvetica Neue"/>
                <a:cs typeface="Helvetica Neue"/>
              </a:rPr>
              <a:t>Provided by partner Companies</a:t>
            </a:r>
            <a:endParaRPr sz="2175" b="0" dirty="0">
              <a:solidFill>
                <a:srgbClr val="233A4B"/>
              </a:solidFill>
              <a:latin typeface="Helvetica Neue"/>
              <a:ea typeface="Helvetica Neue"/>
              <a:cs typeface="Helvetica Neue"/>
            </a:endParaRPr>
          </a:p>
        </p:txBody>
      </p:sp>
      <p:sp>
        <p:nvSpPr>
          <p:cNvPr id="8" name="action-2">
            <a:extLst>
              <a:ext uri="{FF2B5EF4-FFF2-40B4-BE49-F238E27FC236}">
                <a16:creationId xmlns:a16="http://schemas.microsoft.com/office/drawing/2014/main" id="{2E560751-4A87-406B-0ABE-A742C06B1A0C}"/>
              </a:ext>
            </a:extLst>
          </p:cNvPr>
          <p:cNvSpPr>
            <a:spLocks noGrp="1"/>
          </p:cNvSpPr>
          <p:nvPr/>
        </p:nvSpPr>
        <p:spPr>
          <a:xfrm>
            <a:off x="609600" y="2459986"/>
            <a:ext cx="6191250" cy="1634936"/>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lang="en-US" sz="2175" b="0" dirty="0">
                <a:solidFill>
                  <a:srgbClr val="233A4B"/>
                </a:solidFill>
                <a:latin typeface="Helvetica Neue"/>
                <a:ea typeface="Helvetica Neue"/>
                <a:cs typeface="Helvetica Neue"/>
              </a:rPr>
              <a:t>Three libraries per challenge area</a:t>
            </a:r>
          </a:p>
          <a:p>
            <a:pPr lvl="1">
              <a:lnSpc>
                <a:spcPct val="150000"/>
              </a:lnSpc>
              <a:defRPr sz="2175" b="0">
                <a:solidFill>
                  <a:srgbClr val="233A4B"/>
                </a:solidFill>
                <a:latin typeface="Helvetica Neue"/>
                <a:ea typeface="Helvetica Neue"/>
                <a:cs typeface="Helvetica Neue"/>
              </a:defRPr>
            </a:pPr>
            <a:r>
              <a:rPr lang="en-US" sz="2000" dirty="0">
                <a:solidFill>
                  <a:srgbClr val="233A4B"/>
                </a:solidFill>
                <a:latin typeface="Helvetica Neue"/>
                <a:ea typeface="Helvetica Neue"/>
                <a:cs typeface="Helvetica Neue"/>
              </a:rPr>
              <a:t>Biotech : Business</a:t>
            </a:r>
          </a:p>
          <a:p>
            <a:pPr lvl="1">
              <a:lnSpc>
                <a:spcPct val="150000"/>
              </a:lnSpc>
              <a:defRPr sz="2175" b="0">
                <a:solidFill>
                  <a:srgbClr val="233A4B"/>
                </a:solidFill>
                <a:latin typeface="Helvetica Neue"/>
                <a:ea typeface="Helvetica Neue"/>
                <a:cs typeface="Helvetica Neue"/>
              </a:defRPr>
            </a:pPr>
            <a:r>
              <a:rPr lang="en-US" sz="2000" b="0" dirty="0">
                <a:solidFill>
                  <a:srgbClr val="233A4B"/>
                </a:solidFill>
                <a:latin typeface="Helvetica Neue"/>
                <a:ea typeface="Helvetica Neue"/>
                <a:cs typeface="Helvetica Neue"/>
              </a:rPr>
              <a:t>Biotech : Regulation</a:t>
            </a:r>
            <a:endParaRPr lang="en-US" sz="2000" dirty="0">
              <a:solidFill>
                <a:srgbClr val="233A4B"/>
              </a:solidFill>
              <a:latin typeface="Helvetica Neue"/>
              <a:ea typeface="Helvetica Neue"/>
              <a:cs typeface="Helvetica Neue"/>
            </a:endParaRPr>
          </a:p>
          <a:p>
            <a:pPr lvl="1">
              <a:lnSpc>
                <a:spcPct val="150000"/>
              </a:lnSpc>
              <a:defRPr sz="2175" b="0">
                <a:solidFill>
                  <a:srgbClr val="233A4B"/>
                </a:solidFill>
                <a:latin typeface="Helvetica Neue"/>
                <a:ea typeface="Helvetica Neue"/>
                <a:cs typeface="Helvetica Neue"/>
              </a:defRPr>
            </a:pPr>
            <a:r>
              <a:rPr lang="en-US" sz="2000" b="0" dirty="0">
                <a:solidFill>
                  <a:srgbClr val="233A4B"/>
                </a:solidFill>
                <a:latin typeface="Helvetica Neue"/>
                <a:ea typeface="Helvetica Neue"/>
                <a:cs typeface="Helvetica Neue"/>
              </a:rPr>
              <a:t>Bio</a:t>
            </a:r>
            <a:r>
              <a:rPr lang="en-US" sz="2000" dirty="0">
                <a:solidFill>
                  <a:srgbClr val="233A4B"/>
                </a:solidFill>
                <a:latin typeface="Helvetica Neue"/>
                <a:ea typeface="Helvetica Neue"/>
                <a:cs typeface="Helvetica Neue"/>
              </a:rPr>
              <a:t>tech : Tech</a:t>
            </a:r>
          </a:p>
          <a:p>
            <a:pPr lvl="1">
              <a:lnSpc>
                <a:spcPct val="150000"/>
              </a:lnSpc>
              <a:defRPr sz="2175" b="0">
                <a:solidFill>
                  <a:srgbClr val="233A4B"/>
                </a:solidFill>
                <a:latin typeface="Helvetica Neue"/>
                <a:ea typeface="Helvetica Neue"/>
                <a:cs typeface="Helvetica Neue"/>
              </a:defRPr>
            </a:pPr>
            <a:r>
              <a:rPr lang="en-US" sz="2000" b="0" dirty="0">
                <a:solidFill>
                  <a:srgbClr val="233A4B"/>
                </a:solidFill>
                <a:latin typeface="Helvetica Neue"/>
                <a:ea typeface="Helvetica Neue"/>
                <a:cs typeface="Helvetica Neue"/>
              </a:rPr>
              <a:t>…..</a:t>
            </a:r>
            <a:endParaRPr sz="2000" b="0" dirty="0">
              <a:solidFill>
                <a:srgbClr val="233A4B"/>
              </a:solidFill>
              <a:latin typeface="Helvetica Neue"/>
              <a:ea typeface="Helvetica Neue"/>
              <a:cs typeface="Helvetica Neue"/>
            </a:endParaRPr>
          </a:p>
        </p:txBody>
      </p:sp>
      <p:sp>
        <p:nvSpPr>
          <p:cNvPr id="10" name="action-3">
            <a:extLst>
              <a:ext uri="{FF2B5EF4-FFF2-40B4-BE49-F238E27FC236}">
                <a16:creationId xmlns:a16="http://schemas.microsoft.com/office/drawing/2014/main" id="{421B0785-F2C3-6419-25BD-035B9DC85588}"/>
              </a:ext>
            </a:extLst>
          </p:cNvPr>
          <p:cNvSpPr>
            <a:spLocks noGrp="1"/>
          </p:cNvSpPr>
          <p:nvPr/>
        </p:nvSpPr>
        <p:spPr>
          <a:xfrm>
            <a:off x="609600" y="3069586"/>
            <a:ext cx="619125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endParaRPr sz="2175" b="0" dirty="0">
              <a:solidFill>
                <a:srgbClr val="233A4B"/>
              </a:solidFill>
              <a:latin typeface="Helvetica Neue"/>
              <a:ea typeface="Helvetica Neue"/>
              <a:cs typeface="Helvetica Neue"/>
            </a:endParaRPr>
          </a:p>
        </p:txBody>
      </p:sp>
      <p:sp>
        <p:nvSpPr>
          <p:cNvPr id="12" name="action-4">
            <a:extLst>
              <a:ext uri="{FF2B5EF4-FFF2-40B4-BE49-F238E27FC236}">
                <a16:creationId xmlns:a16="http://schemas.microsoft.com/office/drawing/2014/main" id="{B7DC3D5A-0988-0BB2-D442-6143136B2BE4}"/>
              </a:ext>
            </a:extLst>
          </p:cNvPr>
          <p:cNvSpPr>
            <a:spLocks noGrp="1"/>
          </p:cNvSpPr>
          <p:nvPr/>
        </p:nvSpPr>
        <p:spPr>
          <a:xfrm>
            <a:off x="609600" y="4704522"/>
            <a:ext cx="619125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lang="en-US" sz="2000" b="0" dirty="0">
                <a:solidFill>
                  <a:srgbClr val="233A4B"/>
                </a:solidFill>
                <a:latin typeface="Helvetica Neue"/>
                <a:ea typeface="Helvetica Neue"/>
                <a:cs typeface="Helvetica Neue"/>
              </a:rPr>
              <a:t>Initial starting-point knowledge pool</a:t>
            </a:r>
          </a:p>
          <a:p>
            <a:pPr>
              <a:buNone/>
              <a:defRPr sz="2175" b="0">
                <a:solidFill>
                  <a:srgbClr val="233A4B"/>
                </a:solidFill>
                <a:latin typeface="Helvetica Neue"/>
                <a:ea typeface="Helvetica Neue"/>
                <a:cs typeface="Helvetica Neue"/>
              </a:defRPr>
            </a:pPr>
            <a:endParaRPr lang="en-US" sz="2000" dirty="0">
              <a:solidFill>
                <a:srgbClr val="233A4B"/>
              </a:solidFill>
              <a:latin typeface="Helvetica Neue"/>
              <a:ea typeface="Helvetica Neue"/>
              <a:cs typeface="Helvetica Neue"/>
            </a:endParaRPr>
          </a:p>
          <a:p>
            <a:pPr>
              <a:buNone/>
              <a:defRPr sz="2175" b="0">
                <a:solidFill>
                  <a:srgbClr val="233A4B"/>
                </a:solidFill>
                <a:latin typeface="Helvetica Neue"/>
                <a:ea typeface="Helvetica Neue"/>
                <a:cs typeface="Helvetica Neue"/>
              </a:defRPr>
            </a:pPr>
            <a:r>
              <a:rPr lang="en-US" sz="2000" b="0" dirty="0">
                <a:solidFill>
                  <a:srgbClr val="233A4B"/>
                </a:solidFill>
                <a:latin typeface="Helvetica Neue"/>
                <a:ea typeface="Helvetica Neue"/>
                <a:cs typeface="Helvetica Neue"/>
              </a:rPr>
              <a:t>You can make your own libraries as </a:t>
            </a:r>
          </a:p>
          <a:p>
            <a:pPr>
              <a:buNone/>
              <a:defRPr sz="2175" b="0">
                <a:solidFill>
                  <a:srgbClr val="233A4B"/>
                </a:solidFill>
                <a:latin typeface="Helvetica Neue"/>
                <a:ea typeface="Helvetica Neue"/>
                <a:cs typeface="Helvetica Neue"/>
              </a:defRPr>
            </a:pPr>
            <a:r>
              <a:rPr lang="en-US" sz="2000" dirty="0">
                <a:solidFill>
                  <a:srgbClr val="233A4B"/>
                </a:solidFill>
                <a:latin typeface="Helvetica Neue"/>
                <a:ea typeface="Helvetica Neue"/>
                <a:cs typeface="Helvetica Neue"/>
              </a:rPr>
              <a:t>your research grows</a:t>
            </a:r>
            <a:endParaRPr sz="2000" b="0" dirty="0">
              <a:solidFill>
                <a:srgbClr val="233A4B"/>
              </a:solidFill>
              <a:latin typeface="Helvetica Neue"/>
              <a:ea typeface="Helvetica Neue"/>
              <a:cs typeface="Helvetica Neue"/>
            </a:endParaRPr>
          </a:p>
        </p:txBody>
      </p:sp>
    </p:spTree>
    <p:extLst>
      <p:ext uri="{BB962C8B-B14F-4D97-AF65-F5344CB8AC3E}">
        <p14:creationId xmlns:p14="http://schemas.microsoft.com/office/powerpoint/2010/main" val="223961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4813699-7E4D-3BB3-8847-42A2213A881C}"/>
              </a:ext>
            </a:extLst>
          </p:cNvPr>
          <p:cNvPicPr>
            <a:picLocks noChangeAspect="1"/>
          </p:cNvPicPr>
          <p:nvPr/>
        </p:nvPicPr>
        <p:blipFill>
          <a:blip r:embed="rId2"/>
          <a:stretch>
            <a:fillRect/>
          </a:stretch>
        </p:blipFill>
        <p:spPr>
          <a:xfrm>
            <a:off x="0" y="2079320"/>
            <a:ext cx="4010743" cy="4555654"/>
          </a:xfrm>
          <a:prstGeom prst="rect">
            <a:avLst/>
          </a:prstGeom>
          <a:ln>
            <a:solidFill>
              <a:schemeClr val="accent1">
                <a:lumMod val="60000"/>
                <a:lumOff val="40000"/>
              </a:schemeClr>
            </a:solidFill>
          </a:ln>
        </p:spPr>
      </p:pic>
      <p:pic>
        <p:nvPicPr>
          <p:cNvPr id="3" name="Picture 2">
            <a:extLst>
              <a:ext uri="{FF2B5EF4-FFF2-40B4-BE49-F238E27FC236}">
                <a16:creationId xmlns:a16="http://schemas.microsoft.com/office/drawing/2014/main" id="{ED2FCF1E-5731-5E68-B34C-FDA9824D2C5A}"/>
              </a:ext>
            </a:extLst>
          </p:cNvPr>
          <p:cNvPicPr>
            <a:picLocks noChangeAspect="1"/>
          </p:cNvPicPr>
          <p:nvPr/>
        </p:nvPicPr>
        <p:blipFill>
          <a:blip r:embed="rId3"/>
          <a:stretch>
            <a:fillRect/>
          </a:stretch>
        </p:blipFill>
        <p:spPr>
          <a:xfrm>
            <a:off x="4088323" y="2079319"/>
            <a:ext cx="4010744" cy="4555656"/>
          </a:xfrm>
          <a:prstGeom prst="rect">
            <a:avLst/>
          </a:prstGeom>
          <a:ln>
            <a:solidFill>
              <a:schemeClr val="accent1">
                <a:lumMod val="60000"/>
                <a:lumOff val="40000"/>
              </a:schemeClr>
            </a:solidFill>
          </a:ln>
        </p:spPr>
      </p:pic>
      <p:sp>
        <p:nvSpPr>
          <p:cNvPr id="4" name="slide-title">
            <a:extLst>
              <a:ext uri="{FF2B5EF4-FFF2-40B4-BE49-F238E27FC236}">
                <a16:creationId xmlns:a16="http://schemas.microsoft.com/office/drawing/2014/main" id="{71A24389-E205-B1AA-B1D6-27C4ED325698}"/>
              </a:ext>
            </a:extLst>
          </p:cNvPr>
          <p:cNvSpPr>
            <a:spLocks noGrp="1"/>
          </p:cNvSpPr>
          <p:nvPr/>
        </p:nvSpPr>
        <p:spPr>
          <a:xfrm>
            <a:off x="609600" y="781050"/>
            <a:ext cx="10972800" cy="819150"/>
          </a:xfrm>
          <a:prstGeom prst="rect">
            <a:avLst/>
          </a:prstGeom>
          <a:noFill/>
          <a:ln w="0">
            <a:noFill/>
          </a:ln>
        </p:spPr>
        <p:txBody>
          <a:bodyPr lIns="0" tIns="0" rIns="0" bIns="0">
            <a:noAutofit/>
          </a:bodyPr>
          <a:lstStyle>
            <a:defPPr>
              <a:defRPr sz="3450" b="1">
                <a:solidFill>
                  <a:srgbClr val="102B46"/>
                </a:solidFill>
                <a:latin typeface="Helvetica Neue"/>
                <a:ea typeface="Helvetica Neue"/>
                <a:cs typeface="Helvetica Neue"/>
              </a:defRPr>
            </a:defPPr>
          </a:lstStyle>
          <a:p>
            <a:pPr>
              <a:defRPr sz="3450" b="1">
                <a:solidFill>
                  <a:srgbClr val="102B46"/>
                </a:solidFill>
                <a:latin typeface="Helvetica Neue"/>
                <a:ea typeface="Helvetica Neue"/>
                <a:cs typeface="Helvetica Neue"/>
              </a:defRPr>
            </a:pPr>
            <a:r>
              <a:rPr lang="en-US" sz="3450" b="1" dirty="0">
                <a:solidFill>
                  <a:srgbClr val="102B46"/>
                </a:solidFill>
                <a:latin typeface="Helvetica Neue"/>
                <a:ea typeface="Helvetica Neue"/>
                <a:cs typeface="Helvetica Neue"/>
              </a:rPr>
              <a:t>Create your own Libraries</a:t>
            </a:r>
            <a:endParaRPr sz="3450" b="1" dirty="0">
              <a:solidFill>
                <a:srgbClr val="102B46"/>
              </a:solidFill>
              <a:latin typeface="Helvetica Neue"/>
              <a:ea typeface="Helvetica Neue"/>
              <a:cs typeface="Helvetica Neue"/>
            </a:endParaRPr>
          </a:p>
        </p:txBody>
      </p:sp>
      <p:sp>
        <p:nvSpPr>
          <p:cNvPr id="5" name="subtitle">
            <a:extLst>
              <a:ext uri="{FF2B5EF4-FFF2-40B4-BE49-F238E27FC236}">
                <a16:creationId xmlns:a16="http://schemas.microsoft.com/office/drawing/2014/main" id="{6E705517-8F11-E908-A408-08F82E0ED297}"/>
              </a:ext>
            </a:extLst>
          </p:cNvPr>
          <p:cNvSpPr>
            <a:spLocks noGrp="1"/>
          </p:cNvSpPr>
          <p:nvPr/>
        </p:nvSpPr>
        <p:spPr>
          <a:xfrm>
            <a:off x="609600" y="1349993"/>
            <a:ext cx="10858500" cy="428625"/>
          </a:xfrm>
          <a:prstGeom prst="rect">
            <a:avLst/>
          </a:prstGeom>
          <a:noFill/>
          <a:ln w="0">
            <a:noFill/>
          </a:ln>
        </p:spPr>
        <p:txBody>
          <a:bodyPr lIns="0" tIns="0" rIns="0" bIns="0">
            <a:noAutofit/>
          </a:bodyPr>
          <a:lstStyle>
            <a:defPPr algn="l">
              <a:defRPr sz="1800" b="0">
                <a:solidFill>
                  <a:srgbClr val="607482"/>
                </a:solidFill>
                <a:latin typeface="Helvetica Neue"/>
                <a:ea typeface="Helvetica Neue"/>
                <a:cs typeface="Helvetica Neue"/>
              </a:defRPr>
            </a:defPPr>
          </a:lstStyle>
          <a:p>
            <a:pPr algn="l">
              <a:buNone/>
              <a:defRPr sz="1800" b="0">
                <a:solidFill>
                  <a:srgbClr val="607482"/>
                </a:solidFill>
                <a:latin typeface="Helvetica Neue"/>
                <a:ea typeface="Helvetica Neue"/>
                <a:cs typeface="Helvetica Neue"/>
              </a:defRPr>
            </a:pPr>
            <a:r>
              <a:rPr lang="en-US" sz="1800" b="0" dirty="0">
                <a:solidFill>
                  <a:srgbClr val="607482"/>
                </a:solidFill>
                <a:latin typeface="Helvetica Neue"/>
                <a:ea typeface="Helvetica Neue"/>
                <a:cs typeface="Helvetica Neue"/>
              </a:rPr>
              <a:t>Create Library </a:t>
            </a:r>
            <a:r>
              <a:rPr lang="en-US" sz="1800" b="0" dirty="0">
                <a:solidFill>
                  <a:srgbClr val="607482"/>
                </a:solidFill>
                <a:latin typeface="Helvetica Neue"/>
                <a:ea typeface="Helvetica Neue"/>
                <a:cs typeface="Helvetica Neue"/>
                <a:sym typeface="Wingdings" pitchFamily="2" charset="2"/>
              </a:rPr>
              <a:t> </a:t>
            </a:r>
            <a:r>
              <a:rPr lang="en-US" sz="1800" b="0" dirty="0">
                <a:solidFill>
                  <a:srgbClr val="607482"/>
                </a:solidFill>
                <a:latin typeface="Helvetica Neue"/>
                <a:ea typeface="Helvetica Neue"/>
                <a:cs typeface="Helvetica Neue"/>
              </a:rPr>
              <a:t>Upload source </a:t>
            </a:r>
            <a:r>
              <a:rPr lang="en-US" sz="1800" b="0" dirty="0">
                <a:solidFill>
                  <a:srgbClr val="607482"/>
                </a:solidFill>
                <a:latin typeface="Helvetica Neue"/>
                <a:ea typeface="Helvetica Neue"/>
                <a:cs typeface="Helvetica Neue"/>
                <a:sym typeface="Wingdings" pitchFamily="2" charset="2"/>
              </a:rPr>
              <a:t> Ingest</a:t>
            </a:r>
            <a:endParaRPr sz="1800" b="1" u="sng" dirty="0">
              <a:solidFill>
                <a:schemeClr val="accent4"/>
              </a:solidFill>
              <a:latin typeface="Helvetica Neue"/>
              <a:ea typeface="Helvetica Neue"/>
              <a:cs typeface="Helvetica Neue"/>
            </a:endParaRPr>
          </a:p>
        </p:txBody>
      </p:sp>
      <p:cxnSp>
        <p:nvCxnSpPr>
          <p:cNvPr id="9" name="Straight Arrow Connector 8">
            <a:extLst>
              <a:ext uri="{FF2B5EF4-FFF2-40B4-BE49-F238E27FC236}">
                <a16:creationId xmlns:a16="http://schemas.microsoft.com/office/drawing/2014/main" id="{3EDFD2C0-3D0A-EC70-C8EC-E10D30BAD099}"/>
              </a:ext>
            </a:extLst>
          </p:cNvPr>
          <p:cNvCxnSpPr/>
          <p:nvPr/>
        </p:nvCxnSpPr>
        <p:spPr>
          <a:xfrm>
            <a:off x="3777587" y="4569558"/>
            <a:ext cx="526093" cy="0"/>
          </a:xfrm>
          <a:prstGeom prst="straightConnector1">
            <a:avLst/>
          </a:prstGeom>
          <a:ln w="3810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EDFD88FA-0462-4DC9-293A-327F1B99F8E9}"/>
              </a:ext>
            </a:extLst>
          </p:cNvPr>
          <p:cNvPicPr>
            <a:picLocks noChangeAspect="1"/>
          </p:cNvPicPr>
          <p:nvPr/>
        </p:nvPicPr>
        <p:blipFill>
          <a:blip r:embed="rId4"/>
          <a:stretch>
            <a:fillRect/>
          </a:stretch>
        </p:blipFill>
        <p:spPr>
          <a:xfrm>
            <a:off x="8176647" y="2057323"/>
            <a:ext cx="4010744" cy="4555656"/>
          </a:xfrm>
          <a:prstGeom prst="rect">
            <a:avLst/>
          </a:prstGeom>
        </p:spPr>
      </p:pic>
      <p:cxnSp>
        <p:nvCxnSpPr>
          <p:cNvPr id="8" name="Straight Arrow Connector 7">
            <a:extLst>
              <a:ext uri="{FF2B5EF4-FFF2-40B4-BE49-F238E27FC236}">
                <a16:creationId xmlns:a16="http://schemas.microsoft.com/office/drawing/2014/main" id="{82A9F03E-63DE-7429-F4DE-5E5AFA1B8BC2}"/>
              </a:ext>
            </a:extLst>
          </p:cNvPr>
          <p:cNvCxnSpPr/>
          <p:nvPr/>
        </p:nvCxnSpPr>
        <p:spPr>
          <a:xfrm>
            <a:off x="7836020" y="4594610"/>
            <a:ext cx="526093" cy="0"/>
          </a:xfrm>
          <a:prstGeom prst="straightConnector1">
            <a:avLst/>
          </a:prstGeom>
          <a:ln w="3810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64721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section-label">
            <a:extLst>
              <a:ext uri="{FF2B5EF4-FFF2-40B4-BE49-F238E27FC236}">
                <a16:creationId xmlns:a16="http://schemas.microsoft.com/office/drawing/2014/main" id="{A9B690C3-FEB8-4E2F-A2C8-C2BF58030FE2}"/>
              </a:ext>
            </a:extLst>
          </p:cNvPr>
          <p:cNvSpPr>
            <a:spLocks noGrp="1"/>
          </p:cNvSpPr>
          <p:nvPr/>
        </p:nvSpPr>
        <p:spPr>
          <a:xfrm>
            <a:off x="609600" y="285750"/>
            <a:ext cx="10668000" cy="285750"/>
          </a:xfrm>
          <a:prstGeom prst="rect">
            <a:avLst/>
          </a:prstGeom>
          <a:noFill/>
          <a:ln w="0">
            <a:noFill/>
          </a:ln>
        </p:spPr>
        <p:txBody>
          <a:bodyPr lIns="0" tIns="0" rIns="0" bIns="0">
            <a:noAutofit/>
          </a:bodyPr>
          <a:lstStyle>
            <a:defPPr algn="l">
              <a:defRPr sz="1200" b="1">
                <a:solidFill>
                  <a:srgbClr val="226FBB"/>
                </a:solidFill>
                <a:latin typeface="Helvetica Neue"/>
                <a:ea typeface="Helvetica Neue"/>
                <a:cs typeface="Helvetica Neue"/>
              </a:defRPr>
            </a:defPPr>
          </a:lstStyle>
          <a:p>
            <a:pPr algn="l">
              <a:buNone/>
              <a:defRPr sz="1200" b="1">
                <a:solidFill>
                  <a:srgbClr val="226FBB"/>
                </a:solidFill>
                <a:latin typeface="Helvetica Neue"/>
                <a:ea typeface="Helvetica Neue"/>
                <a:cs typeface="Helvetica Neue"/>
              </a:defRPr>
            </a:pPr>
            <a:r>
              <a:rPr sz="1200" b="1">
                <a:solidFill>
                  <a:srgbClr val="226FBB"/>
                </a:solidFill>
                <a:latin typeface="Helvetica Neue"/>
                <a:ea typeface="Helvetica Neue"/>
                <a:cs typeface="Helvetica Neue"/>
              </a:rPr>
              <a:t>SPAIDER PLATFORM</a:t>
            </a:r>
          </a:p>
        </p:txBody>
      </p:sp>
      <p:sp>
        <p:nvSpPr>
          <p:cNvPr id="2" name="slide-title">
            <a:extLst>
              <a:ext uri="{FF2B5EF4-FFF2-40B4-BE49-F238E27FC236}">
                <a16:creationId xmlns:a16="http://schemas.microsoft.com/office/drawing/2014/main" id="{E4A8E753-63CE-4BFF-B791-82E245867311}"/>
              </a:ext>
            </a:extLst>
          </p:cNvPr>
          <p:cNvSpPr>
            <a:spLocks noGrp="1"/>
          </p:cNvSpPr>
          <p:nvPr/>
        </p:nvSpPr>
        <p:spPr>
          <a:xfrm>
            <a:off x="609600" y="781050"/>
            <a:ext cx="10858500" cy="857250"/>
          </a:xfrm>
          <a:prstGeom prst="rect">
            <a:avLst/>
          </a:prstGeom>
          <a:noFill/>
          <a:ln w="0">
            <a:noFill/>
          </a:ln>
        </p:spPr>
        <p:txBody>
          <a:bodyPr lIns="0" tIns="0" rIns="0" bIns="0">
            <a:noAutofit/>
          </a:bodyPr>
          <a:lstStyle>
            <a:defPPr algn="l">
              <a:defRPr sz="3450" b="1">
                <a:solidFill>
                  <a:srgbClr val="102B46"/>
                </a:solidFill>
                <a:latin typeface="Helvetica Neue"/>
                <a:ea typeface="Helvetica Neue"/>
                <a:cs typeface="Helvetica Neue"/>
              </a:defRPr>
            </a:defPPr>
          </a:lstStyle>
          <a:p>
            <a:pPr algn="l">
              <a:buNone/>
              <a:defRPr sz="3450" b="1">
                <a:solidFill>
                  <a:srgbClr val="102B46"/>
                </a:solidFill>
                <a:latin typeface="Helvetica Neue"/>
                <a:ea typeface="Helvetica Neue"/>
                <a:cs typeface="Helvetica Neue"/>
              </a:defRPr>
            </a:pPr>
            <a:r>
              <a:rPr sz="3450" b="1">
                <a:solidFill>
                  <a:srgbClr val="102B46"/>
                </a:solidFill>
                <a:latin typeface="Helvetica Neue"/>
                <a:ea typeface="Helvetica Neue"/>
                <a:cs typeface="Helvetica Neue"/>
              </a:rPr>
              <a:t>Knowledge Agent</a:t>
            </a:r>
          </a:p>
        </p:txBody>
      </p:sp>
      <p:sp>
        <p:nvSpPr>
          <p:cNvPr id="3" name="subtitle">
            <a:extLst>
              <a:ext uri="{FF2B5EF4-FFF2-40B4-BE49-F238E27FC236}">
                <a16:creationId xmlns:a16="http://schemas.microsoft.com/office/drawing/2014/main" id="{3BFAC0F6-EACF-4A15-BB8F-E8F4D8F73789}"/>
              </a:ext>
            </a:extLst>
          </p:cNvPr>
          <p:cNvSpPr>
            <a:spLocks noGrp="1"/>
          </p:cNvSpPr>
          <p:nvPr/>
        </p:nvSpPr>
        <p:spPr>
          <a:xfrm>
            <a:off x="609600" y="1524000"/>
            <a:ext cx="10858500" cy="428625"/>
          </a:xfrm>
          <a:prstGeom prst="rect">
            <a:avLst/>
          </a:prstGeom>
          <a:noFill/>
          <a:ln w="0">
            <a:noFill/>
          </a:ln>
        </p:spPr>
        <p:txBody>
          <a:bodyPr lIns="0" tIns="0" rIns="0" bIns="0">
            <a:noAutofit/>
          </a:bodyPr>
          <a:lstStyle>
            <a:defPPr algn="l">
              <a:defRPr sz="1800" b="0">
                <a:solidFill>
                  <a:srgbClr val="607482"/>
                </a:solidFill>
                <a:latin typeface="Helvetica Neue"/>
                <a:ea typeface="Helvetica Neue"/>
                <a:cs typeface="Helvetica Neue"/>
              </a:defRPr>
            </a:defPPr>
          </a:lstStyle>
          <a:p>
            <a:pPr algn="l">
              <a:buNone/>
              <a:defRPr sz="1800" b="0">
                <a:solidFill>
                  <a:srgbClr val="607482"/>
                </a:solidFill>
                <a:latin typeface="Helvetica Neue"/>
                <a:ea typeface="Helvetica Neue"/>
                <a:cs typeface="Helvetica Neue"/>
              </a:defRPr>
            </a:pPr>
            <a:r>
              <a:rPr sz="1800" b="0" dirty="0">
                <a:solidFill>
                  <a:srgbClr val="607482"/>
                </a:solidFill>
                <a:latin typeface="Helvetica Neue"/>
                <a:ea typeface="Helvetica Neue"/>
                <a:cs typeface="Helvetica Neue"/>
              </a:rPr>
              <a:t>Research and concept development in Sessions 1 and 2</a:t>
            </a:r>
          </a:p>
        </p:txBody>
      </p:sp>
      <p:sp>
        <p:nvSpPr>
          <p:cNvPr id="4" name="page-number">
            <a:extLst>
              <a:ext uri="{FF2B5EF4-FFF2-40B4-BE49-F238E27FC236}">
                <a16:creationId xmlns:a16="http://schemas.microsoft.com/office/drawing/2014/main" id="{3036861B-7A33-4E0E-BDE0-556BD1AE86D5}"/>
              </a:ext>
            </a:extLst>
          </p:cNvPr>
          <p:cNvSpPr>
            <a:spLocks noGrp="1"/>
          </p:cNvSpPr>
          <p:nvPr/>
        </p:nvSpPr>
        <p:spPr>
          <a:xfrm>
            <a:off x="10953750" y="6438900"/>
            <a:ext cx="666750" cy="228600"/>
          </a:xfrm>
          <a:prstGeom prst="rect">
            <a:avLst/>
          </a:prstGeom>
          <a:noFill/>
          <a:ln w="0">
            <a:noFill/>
          </a:ln>
        </p:spPr>
        <p:txBody>
          <a:bodyPr lIns="0" tIns="0" rIns="0" bIns="0">
            <a:noAutofit/>
          </a:bodyPr>
          <a:lstStyle>
            <a:defPPr algn="r">
              <a:defRPr sz="1125" b="0">
                <a:solidFill>
                  <a:srgbClr val="607482"/>
                </a:solidFill>
                <a:latin typeface="Helvetica Neue"/>
                <a:ea typeface="Helvetica Neue"/>
                <a:cs typeface="Helvetica Neue"/>
              </a:defRPr>
            </a:defPPr>
          </a:lstStyle>
          <a:p>
            <a:pPr algn="r">
              <a:buNone/>
              <a:defRPr sz="1125" b="0">
                <a:solidFill>
                  <a:srgbClr val="607482"/>
                </a:solidFill>
                <a:latin typeface="Helvetica Neue"/>
                <a:ea typeface="Helvetica Neue"/>
                <a:cs typeface="Helvetica Neue"/>
              </a:defRPr>
            </a:pPr>
            <a:r>
              <a:rPr sz="1125" b="0">
                <a:solidFill>
                  <a:srgbClr val="607482"/>
                </a:solidFill>
                <a:latin typeface="Helvetica Neue"/>
                <a:ea typeface="Helvetica Neue"/>
                <a:cs typeface="Helvetica Neue"/>
              </a:rPr>
              <a:t>10</a:t>
            </a:r>
          </a:p>
        </p:txBody>
      </p:sp>
      <p:sp>
        <p:nvSpPr>
          <p:cNvPr id="5" name="action-list">
            <a:extLst>
              <a:ext uri="{FF2B5EF4-FFF2-40B4-BE49-F238E27FC236}">
                <a16:creationId xmlns:a16="http://schemas.microsoft.com/office/drawing/2014/main" id="{699FCC88-1F01-4FBE-988C-BA98DA182979}"/>
              </a:ext>
            </a:extLst>
          </p:cNvPr>
          <p:cNvSpPr>
            <a:spLocks noGrp="1"/>
          </p:cNvSpPr>
          <p:nvPr/>
        </p:nvSpPr>
        <p:spPr>
          <a:xfrm>
            <a:off x="609600" y="2238375"/>
            <a:ext cx="6572250" cy="3143250"/>
          </a:xfrm>
          <a:prstGeom prst="rect">
            <a:avLst/>
          </a:prstGeom>
          <a:noFill/>
          <a:ln w="0">
            <a:noFill/>
          </a:ln>
        </p:spPr>
        <p:txBody>
          <a:bodyPr lIns="0" tIns="0" rIns="0" bIns="0">
            <a:noAutofit/>
          </a:bodyPr>
          <a:lstStyle>
            <a:defPPr algn="l">
              <a:defRPr sz="2100" b="0">
                <a:solidFill>
                  <a:srgbClr val="233A4B"/>
                </a:solidFill>
                <a:latin typeface="Helvetica Neue"/>
                <a:ea typeface="Helvetica Neue"/>
                <a:cs typeface="Helvetica Neue"/>
              </a:defRPr>
            </a:defPPr>
          </a:lstStyle>
          <a:p>
            <a:pPr marL="228600" indent="-114300" algn="l">
              <a:spcAft>
                <a:spcPts val="1800"/>
              </a:spcAft>
              <a:buChar char="•"/>
              <a:defRPr sz="2100" b="0">
                <a:solidFill>
                  <a:srgbClr val="233A4B"/>
                </a:solidFill>
                <a:latin typeface="Helvetica Neue"/>
                <a:ea typeface="Helvetica Neue"/>
                <a:cs typeface="Helvetica Neue"/>
              </a:defRPr>
            </a:pPr>
            <a:endParaRPr/>
          </a:p>
        </p:txBody>
      </p:sp>
      <p:sp>
        <p:nvSpPr>
          <p:cNvPr id="7" name="agent-reminder">
            <a:extLst>
              <a:ext uri="{FF2B5EF4-FFF2-40B4-BE49-F238E27FC236}">
                <a16:creationId xmlns:a16="http://schemas.microsoft.com/office/drawing/2014/main" id="{B9CE2AE8-BC6F-41FA-8628-0A4232CDF01E}"/>
              </a:ext>
            </a:extLst>
          </p:cNvPr>
          <p:cNvSpPr>
            <a:spLocks noGrp="1"/>
          </p:cNvSpPr>
          <p:nvPr/>
        </p:nvSpPr>
        <p:spPr>
          <a:xfrm>
            <a:off x="609600" y="5810250"/>
            <a:ext cx="10668000" cy="428625"/>
          </a:xfrm>
          <a:prstGeom prst="rect">
            <a:avLst/>
          </a:prstGeom>
          <a:noFill/>
          <a:ln w="0">
            <a:noFill/>
          </a:ln>
        </p:spPr>
        <p:txBody>
          <a:bodyPr lIns="0" tIns="0" rIns="0" bIns="0">
            <a:noAutofit/>
          </a:bodyPr>
          <a:lstStyle>
            <a:defPPr algn="l">
              <a:defRPr sz="1650" b="1">
                <a:solidFill>
                  <a:srgbClr val="607482"/>
                </a:solidFill>
                <a:latin typeface="Helvetica Neue"/>
                <a:ea typeface="Helvetica Neue"/>
                <a:cs typeface="Helvetica Neue"/>
              </a:defRPr>
            </a:defPPr>
          </a:lstStyle>
          <a:p>
            <a:pPr algn="l">
              <a:buNone/>
              <a:defRPr sz="1650" b="1">
                <a:solidFill>
                  <a:srgbClr val="607482"/>
                </a:solidFill>
                <a:latin typeface="Helvetica Neue"/>
                <a:ea typeface="Helvetica Neue"/>
                <a:cs typeface="Helvetica Neue"/>
              </a:defRPr>
            </a:pPr>
            <a:r>
              <a:rPr sz="1650" b="1">
                <a:solidFill>
                  <a:srgbClr val="607482"/>
                </a:solidFill>
                <a:latin typeface="Helvetica Neue"/>
                <a:ea typeface="Helvetica Neue"/>
                <a:cs typeface="Helvetica Neue"/>
              </a:rPr>
              <a:t>Discuss findings with a teammate.</a:t>
            </a:r>
          </a:p>
        </p:txBody>
      </p:sp>
      <p:pic>
        <p:nvPicPr>
          <p:cNvPr id="9" name="Picture 8">
            <a:extLst>
              <a:ext uri="{FF2B5EF4-FFF2-40B4-BE49-F238E27FC236}">
                <a16:creationId xmlns:a16="http://schemas.microsoft.com/office/drawing/2014/main" id="{A7848927-BAA8-4989-BD86-BF9E75248AD2}"/>
              </a:ext>
            </a:extLst>
          </p:cNvPr>
          <p:cNvPicPr>
            <a:picLocks noChangeAspect="1"/>
          </p:cNvPicPr>
          <p:nvPr/>
        </p:nvPicPr>
        <p:blipFill>
          <a:blip r:embed="rId3"/>
          <a:stretch/>
        </p:blipFill>
        <p:spPr>
          <a:xfrm>
            <a:off x="638175" y="2238375"/>
            <a:ext cx="400050" cy="400050"/>
          </a:xfrm>
          <a:prstGeom prst="rect">
            <a:avLst/>
          </a:prstGeom>
        </p:spPr>
      </p:pic>
      <p:sp>
        <p:nvSpPr>
          <p:cNvPr id="10" name="action-1">
            <a:extLst>
              <a:ext uri="{FF2B5EF4-FFF2-40B4-BE49-F238E27FC236}">
                <a16:creationId xmlns:a16="http://schemas.microsoft.com/office/drawing/2014/main" id="{C9C0EF07-F34C-4E35-A6BA-1022ED3E5B79}"/>
              </a:ext>
            </a:extLst>
          </p:cNvPr>
          <p:cNvSpPr>
            <a:spLocks noGrp="1"/>
          </p:cNvSpPr>
          <p:nvPr/>
        </p:nvSpPr>
        <p:spPr>
          <a:xfrm>
            <a:off x="1276350" y="2276475"/>
            <a:ext cx="619125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dirty="0">
                <a:solidFill>
                  <a:srgbClr val="233A4B"/>
                </a:solidFill>
                <a:latin typeface="Helvetica Neue"/>
                <a:ea typeface="Helvetica Neue"/>
                <a:cs typeface="Helvetica Neue"/>
              </a:rPr>
              <a:t>Ask a focused question</a:t>
            </a:r>
          </a:p>
        </p:txBody>
      </p:sp>
      <p:pic>
        <p:nvPicPr>
          <p:cNvPr id="11" name="Picture 10">
            <a:extLst>
              <a:ext uri="{FF2B5EF4-FFF2-40B4-BE49-F238E27FC236}">
                <a16:creationId xmlns:a16="http://schemas.microsoft.com/office/drawing/2014/main" id="{30729734-F02C-4DD1-977E-6D65DF950B3E}"/>
              </a:ext>
            </a:extLst>
          </p:cNvPr>
          <p:cNvPicPr>
            <a:picLocks noChangeAspect="1"/>
          </p:cNvPicPr>
          <p:nvPr/>
        </p:nvPicPr>
        <p:blipFill>
          <a:blip r:embed="rId4"/>
          <a:stretch/>
        </p:blipFill>
        <p:spPr>
          <a:xfrm>
            <a:off x="638175" y="2847975"/>
            <a:ext cx="400050" cy="400050"/>
          </a:xfrm>
          <a:prstGeom prst="rect">
            <a:avLst/>
          </a:prstGeom>
        </p:spPr>
      </p:pic>
      <p:sp>
        <p:nvSpPr>
          <p:cNvPr id="12" name="action-2">
            <a:extLst>
              <a:ext uri="{FF2B5EF4-FFF2-40B4-BE49-F238E27FC236}">
                <a16:creationId xmlns:a16="http://schemas.microsoft.com/office/drawing/2014/main" id="{B39F0920-1DF5-4164-B8EA-D06CB8625200}"/>
              </a:ext>
            </a:extLst>
          </p:cNvPr>
          <p:cNvSpPr>
            <a:spLocks noGrp="1"/>
          </p:cNvSpPr>
          <p:nvPr/>
        </p:nvSpPr>
        <p:spPr>
          <a:xfrm>
            <a:off x="1276350" y="2886075"/>
            <a:ext cx="619125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Compare and test ideas</a:t>
            </a:r>
          </a:p>
        </p:txBody>
      </p:sp>
      <p:pic>
        <p:nvPicPr>
          <p:cNvPr id="13" name="Picture 12">
            <a:extLst>
              <a:ext uri="{FF2B5EF4-FFF2-40B4-BE49-F238E27FC236}">
                <a16:creationId xmlns:a16="http://schemas.microsoft.com/office/drawing/2014/main" id="{9C96BCF5-AD30-4B2E-AF23-90372109494A}"/>
              </a:ext>
            </a:extLst>
          </p:cNvPr>
          <p:cNvPicPr>
            <a:picLocks noChangeAspect="1"/>
          </p:cNvPicPr>
          <p:nvPr/>
        </p:nvPicPr>
        <p:blipFill>
          <a:blip r:embed="rId5"/>
          <a:stretch/>
        </p:blipFill>
        <p:spPr>
          <a:xfrm>
            <a:off x="638175" y="3457575"/>
            <a:ext cx="400050" cy="400050"/>
          </a:xfrm>
          <a:prstGeom prst="rect">
            <a:avLst/>
          </a:prstGeom>
        </p:spPr>
      </p:pic>
      <p:sp>
        <p:nvSpPr>
          <p:cNvPr id="14" name="action-3">
            <a:extLst>
              <a:ext uri="{FF2B5EF4-FFF2-40B4-BE49-F238E27FC236}">
                <a16:creationId xmlns:a16="http://schemas.microsoft.com/office/drawing/2014/main" id="{A03D8E65-B988-47B6-853D-9B4400BAE235}"/>
              </a:ext>
            </a:extLst>
          </p:cNvPr>
          <p:cNvSpPr>
            <a:spLocks noGrp="1"/>
          </p:cNvSpPr>
          <p:nvPr/>
        </p:nvSpPr>
        <p:spPr>
          <a:xfrm>
            <a:off x="1276350" y="3495675"/>
            <a:ext cx="619125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Examine evidence and assumptions</a:t>
            </a:r>
          </a:p>
        </p:txBody>
      </p:sp>
      <p:pic>
        <p:nvPicPr>
          <p:cNvPr id="15" name="Picture 14">
            <a:extLst>
              <a:ext uri="{FF2B5EF4-FFF2-40B4-BE49-F238E27FC236}">
                <a16:creationId xmlns:a16="http://schemas.microsoft.com/office/drawing/2014/main" id="{10402529-12D5-4553-886F-244EC9C25364}"/>
              </a:ext>
            </a:extLst>
          </p:cNvPr>
          <p:cNvPicPr>
            <a:picLocks noChangeAspect="1"/>
          </p:cNvPicPr>
          <p:nvPr/>
        </p:nvPicPr>
        <p:blipFill>
          <a:blip r:embed="rId6"/>
          <a:stretch/>
        </p:blipFill>
        <p:spPr>
          <a:xfrm>
            <a:off x="638175" y="4067175"/>
            <a:ext cx="400050" cy="400050"/>
          </a:xfrm>
          <a:prstGeom prst="rect">
            <a:avLst/>
          </a:prstGeom>
        </p:spPr>
      </p:pic>
      <p:sp>
        <p:nvSpPr>
          <p:cNvPr id="16" name="action-4">
            <a:extLst>
              <a:ext uri="{FF2B5EF4-FFF2-40B4-BE49-F238E27FC236}">
                <a16:creationId xmlns:a16="http://schemas.microsoft.com/office/drawing/2014/main" id="{C032A704-A27A-4BC6-B756-501B5EB4F419}"/>
              </a:ext>
            </a:extLst>
          </p:cNvPr>
          <p:cNvSpPr>
            <a:spLocks noGrp="1"/>
          </p:cNvSpPr>
          <p:nvPr/>
        </p:nvSpPr>
        <p:spPr>
          <a:xfrm>
            <a:off x="1276350" y="4105275"/>
            <a:ext cx="619125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Use arXiv or Web search</a:t>
            </a:r>
          </a:p>
        </p:txBody>
      </p:sp>
      <p:pic>
        <p:nvPicPr>
          <p:cNvPr id="17" name="Picture 16">
            <a:extLst>
              <a:ext uri="{FF2B5EF4-FFF2-40B4-BE49-F238E27FC236}">
                <a16:creationId xmlns:a16="http://schemas.microsoft.com/office/drawing/2014/main" id="{E7A2748E-F061-41AD-B9F7-49041FD942A2}"/>
              </a:ext>
            </a:extLst>
          </p:cNvPr>
          <p:cNvPicPr>
            <a:picLocks noChangeAspect="1"/>
          </p:cNvPicPr>
          <p:nvPr/>
        </p:nvPicPr>
        <p:blipFill>
          <a:blip r:embed="rId7"/>
          <a:stretch>
            <a:fillRect/>
          </a:stretch>
        </p:blipFill>
        <p:spPr>
          <a:xfrm>
            <a:off x="6222380" y="2283074"/>
            <a:ext cx="5867400" cy="2229280"/>
          </a:xfrm>
          <a:prstGeom prst="rect">
            <a:avLst/>
          </a:prstGeom>
        </p:spPr>
      </p:pic>
    </p:spTree>
    <p:extLst>
      <p:ext uri="{BB962C8B-B14F-4D97-AF65-F5344CB8AC3E}">
        <p14:creationId xmlns:p14="http://schemas.microsoft.com/office/powerpoint/2010/main" val="9139752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section-label">
            <a:extLst>
              <a:ext uri="{FF2B5EF4-FFF2-40B4-BE49-F238E27FC236}">
                <a16:creationId xmlns:a16="http://schemas.microsoft.com/office/drawing/2014/main" id="{865A25AB-4663-4364-9A51-49065E5BFEB4}"/>
              </a:ext>
            </a:extLst>
          </p:cNvPr>
          <p:cNvSpPr>
            <a:spLocks noGrp="1"/>
          </p:cNvSpPr>
          <p:nvPr/>
        </p:nvSpPr>
        <p:spPr>
          <a:xfrm>
            <a:off x="609600" y="285750"/>
            <a:ext cx="10668000" cy="285750"/>
          </a:xfrm>
          <a:prstGeom prst="rect">
            <a:avLst/>
          </a:prstGeom>
          <a:noFill/>
          <a:ln w="0">
            <a:noFill/>
          </a:ln>
        </p:spPr>
        <p:txBody>
          <a:bodyPr lIns="0" tIns="0" rIns="0" bIns="0">
            <a:noAutofit/>
          </a:bodyPr>
          <a:lstStyle>
            <a:defPPr algn="l">
              <a:defRPr sz="1200" b="1">
                <a:solidFill>
                  <a:srgbClr val="226FBB"/>
                </a:solidFill>
                <a:latin typeface="Helvetica Neue"/>
                <a:ea typeface="Helvetica Neue"/>
                <a:cs typeface="Helvetica Neue"/>
              </a:defRPr>
            </a:defPPr>
          </a:lstStyle>
          <a:p>
            <a:pPr algn="l">
              <a:buNone/>
              <a:defRPr sz="1200" b="1">
                <a:solidFill>
                  <a:srgbClr val="226FBB"/>
                </a:solidFill>
                <a:latin typeface="Helvetica Neue"/>
                <a:ea typeface="Helvetica Neue"/>
                <a:cs typeface="Helvetica Neue"/>
              </a:defRPr>
            </a:pPr>
            <a:r>
              <a:rPr sz="1200" b="1">
                <a:solidFill>
                  <a:srgbClr val="226FBB"/>
                </a:solidFill>
                <a:latin typeface="Helvetica Neue"/>
                <a:ea typeface="Helvetica Neue"/>
                <a:cs typeface="Helvetica Neue"/>
              </a:rPr>
              <a:t>SPAIDER PLATFORM</a:t>
            </a:r>
          </a:p>
        </p:txBody>
      </p:sp>
      <p:sp>
        <p:nvSpPr>
          <p:cNvPr id="2" name="slide-title">
            <a:extLst>
              <a:ext uri="{FF2B5EF4-FFF2-40B4-BE49-F238E27FC236}">
                <a16:creationId xmlns:a16="http://schemas.microsoft.com/office/drawing/2014/main" id="{D22CC3DD-4B1F-4728-BE8B-E74EFDF0F424}"/>
              </a:ext>
            </a:extLst>
          </p:cNvPr>
          <p:cNvSpPr>
            <a:spLocks noGrp="1"/>
          </p:cNvSpPr>
          <p:nvPr/>
        </p:nvSpPr>
        <p:spPr>
          <a:xfrm>
            <a:off x="609600" y="781050"/>
            <a:ext cx="10858500" cy="857250"/>
          </a:xfrm>
          <a:prstGeom prst="rect">
            <a:avLst/>
          </a:prstGeom>
          <a:noFill/>
          <a:ln w="0">
            <a:noFill/>
          </a:ln>
        </p:spPr>
        <p:txBody>
          <a:bodyPr lIns="0" tIns="0" rIns="0" bIns="0">
            <a:noAutofit/>
          </a:bodyPr>
          <a:lstStyle>
            <a:defPPr algn="l">
              <a:defRPr sz="3450" b="1">
                <a:solidFill>
                  <a:srgbClr val="102B46"/>
                </a:solidFill>
                <a:latin typeface="Helvetica Neue"/>
                <a:ea typeface="Helvetica Neue"/>
                <a:cs typeface="Helvetica Neue"/>
              </a:defRPr>
            </a:defPPr>
          </a:lstStyle>
          <a:p>
            <a:pPr algn="l">
              <a:buNone/>
              <a:defRPr sz="3450" b="1">
                <a:solidFill>
                  <a:srgbClr val="102B46"/>
                </a:solidFill>
                <a:latin typeface="Helvetica Neue"/>
                <a:ea typeface="Helvetica Neue"/>
                <a:cs typeface="Helvetica Neue"/>
              </a:defRPr>
            </a:pPr>
            <a:r>
              <a:rPr sz="3450" b="1">
                <a:solidFill>
                  <a:srgbClr val="102B46"/>
                </a:solidFill>
                <a:latin typeface="Helvetica Neue"/>
                <a:ea typeface="Helvetica Neue"/>
                <a:cs typeface="Helvetica Neue"/>
              </a:rPr>
              <a:t>Projects</a:t>
            </a:r>
          </a:p>
        </p:txBody>
      </p:sp>
      <p:sp>
        <p:nvSpPr>
          <p:cNvPr id="3" name="subtitle">
            <a:extLst>
              <a:ext uri="{FF2B5EF4-FFF2-40B4-BE49-F238E27FC236}">
                <a16:creationId xmlns:a16="http://schemas.microsoft.com/office/drawing/2014/main" id="{CCA47D53-C1B4-47C0-87C2-C888CF1D84AD}"/>
              </a:ext>
            </a:extLst>
          </p:cNvPr>
          <p:cNvSpPr>
            <a:spLocks noGrp="1"/>
          </p:cNvSpPr>
          <p:nvPr/>
        </p:nvSpPr>
        <p:spPr>
          <a:xfrm>
            <a:off x="609600" y="1524000"/>
            <a:ext cx="10858500" cy="428625"/>
          </a:xfrm>
          <a:prstGeom prst="rect">
            <a:avLst/>
          </a:prstGeom>
          <a:noFill/>
          <a:ln w="0">
            <a:noFill/>
          </a:ln>
        </p:spPr>
        <p:txBody>
          <a:bodyPr lIns="0" tIns="0" rIns="0" bIns="0">
            <a:noAutofit/>
          </a:bodyPr>
          <a:lstStyle>
            <a:defPPr algn="l">
              <a:defRPr sz="1800" b="0">
                <a:solidFill>
                  <a:srgbClr val="607482"/>
                </a:solidFill>
                <a:latin typeface="Helvetica Neue"/>
                <a:ea typeface="Helvetica Neue"/>
                <a:cs typeface="Helvetica Neue"/>
              </a:defRPr>
            </a:defPPr>
          </a:lstStyle>
          <a:p>
            <a:pPr algn="l">
              <a:buNone/>
              <a:defRPr sz="1800" b="0">
                <a:solidFill>
                  <a:srgbClr val="607482"/>
                </a:solidFill>
                <a:latin typeface="Helvetica Neue"/>
                <a:ea typeface="Helvetica Neue"/>
                <a:cs typeface="Helvetica Neue"/>
              </a:defRPr>
            </a:pPr>
            <a:r>
              <a:rPr sz="1800" b="0">
                <a:solidFill>
                  <a:srgbClr val="607482"/>
                </a:solidFill>
                <a:latin typeface="Helvetica Neue"/>
                <a:ea typeface="Helvetica Neue"/>
                <a:cs typeface="Helvetica Neue"/>
              </a:rPr>
              <a:t>One shared workspace for the whole team</a:t>
            </a:r>
          </a:p>
        </p:txBody>
      </p:sp>
      <p:sp>
        <p:nvSpPr>
          <p:cNvPr id="4" name="page-number">
            <a:extLst>
              <a:ext uri="{FF2B5EF4-FFF2-40B4-BE49-F238E27FC236}">
                <a16:creationId xmlns:a16="http://schemas.microsoft.com/office/drawing/2014/main" id="{F24637B4-7E6D-4EAF-8738-A5C11E080DCD}"/>
              </a:ext>
            </a:extLst>
          </p:cNvPr>
          <p:cNvSpPr>
            <a:spLocks noGrp="1"/>
          </p:cNvSpPr>
          <p:nvPr/>
        </p:nvSpPr>
        <p:spPr>
          <a:xfrm>
            <a:off x="10953750" y="6438900"/>
            <a:ext cx="666750" cy="228600"/>
          </a:xfrm>
          <a:prstGeom prst="rect">
            <a:avLst/>
          </a:prstGeom>
          <a:noFill/>
          <a:ln w="0">
            <a:noFill/>
          </a:ln>
        </p:spPr>
        <p:txBody>
          <a:bodyPr lIns="0" tIns="0" rIns="0" bIns="0">
            <a:noAutofit/>
          </a:bodyPr>
          <a:lstStyle>
            <a:defPPr algn="r">
              <a:defRPr sz="1125" b="0">
                <a:solidFill>
                  <a:srgbClr val="607482"/>
                </a:solidFill>
                <a:latin typeface="Helvetica Neue"/>
                <a:ea typeface="Helvetica Neue"/>
                <a:cs typeface="Helvetica Neue"/>
              </a:defRPr>
            </a:defPPr>
          </a:lstStyle>
          <a:p>
            <a:pPr algn="r">
              <a:buNone/>
              <a:defRPr sz="1125" b="0">
                <a:solidFill>
                  <a:srgbClr val="607482"/>
                </a:solidFill>
                <a:latin typeface="Helvetica Neue"/>
                <a:ea typeface="Helvetica Neue"/>
                <a:cs typeface="Helvetica Neue"/>
              </a:defRPr>
            </a:pPr>
            <a:r>
              <a:rPr sz="1125" b="0">
                <a:solidFill>
                  <a:srgbClr val="607482"/>
                </a:solidFill>
                <a:latin typeface="Helvetica Neue"/>
                <a:ea typeface="Helvetica Neue"/>
                <a:cs typeface="Helvetica Neue"/>
              </a:rPr>
              <a:t>11</a:t>
            </a:r>
          </a:p>
        </p:txBody>
      </p:sp>
      <p:sp>
        <p:nvSpPr>
          <p:cNvPr id="5" name="action-list">
            <a:extLst>
              <a:ext uri="{FF2B5EF4-FFF2-40B4-BE49-F238E27FC236}">
                <a16:creationId xmlns:a16="http://schemas.microsoft.com/office/drawing/2014/main" id="{FFE79318-6FB6-4F23-9A57-C2D8F035CCCA}"/>
              </a:ext>
            </a:extLst>
          </p:cNvPr>
          <p:cNvSpPr>
            <a:spLocks noGrp="1"/>
          </p:cNvSpPr>
          <p:nvPr/>
        </p:nvSpPr>
        <p:spPr>
          <a:xfrm>
            <a:off x="609600" y="2266950"/>
            <a:ext cx="6953250" cy="3143250"/>
          </a:xfrm>
          <a:prstGeom prst="rect">
            <a:avLst/>
          </a:prstGeom>
          <a:noFill/>
          <a:ln w="0">
            <a:noFill/>
          </a:ln>
        </p:spPr>
        <p:txBody>
          <a:bodyPr lIns="0" tIns="0" rIns="0" bIns="0">
            <a:noAutofit/>
          </a:bodyPr>
          <a:lstStyle>
            <a:defPPr algn="l">
              <a:defRPr sz="2100" b="0">
                <a:solidFill>
                  <a:srgbClr val="233A4B"/>
                </a:solidFill>
                <a:latin typeface="Helvetica Neue"/>
                <a:ea typeface="Helvetica Neue"/>
                <a:cs typeface="Helvetica Neue"/>
              </a:defRPr>
            </a:defPPr>
          </a:lstStyle>
          <a:p>
            <a:pPr marL="228600" indent="-114300" algn="l">
              <a:spcAft>
                <a:spcPts val="1800"/>
              </a:spcAft>
              <a:buChar char="•"/>
              <a:defRPr sz="2100" b="0">
                <a:solidFill>
                  <a:srgbClr val="233A4B"/>
                </a:solidFill>
                <a:latin typeface="Helvetica Neue"/>
                <a:ea typeface="Helvetica Neue"/>
                <a:cs typeface="Helvetica Neue"/>
              </a:defRPr>
            </a:pPr>
            <a:endParaRPr/>
          </a:p>
        </p:txBody>
      </p:sp>
      <p:sp>
        <p:nvSpPr>
          <p:cNvPr id="7" name="project-location">
            <a:extLst>
              <a:ext uri="{FF2B5EF4-FFF2-40B4-BE49-F238E27FC236}">
                <a16:creationId xmlns:a16="http://schemas.microsoft.com/office/drawing/2014/main" id="{6EA7B24C-843D-40AE-8C12-761A1AC124F1}"/>
              </a:ext>
            </a:extLst>
          </p:cNvPr>
          <p:cNvSpPr>
            <a:spLocks noGrp="1"/>
          </p:cNvSpPr>
          <p:nvPr/>
        </p:nvSpPr>
        <p:spPr>
          <a:xfrm>
            <a:off x="609600" y="5810250"/>
            <a:ext cx="10668000" cy="400050"/>
          </a:xfrm>
          <a:prstGeom prst="rect">
            <a:avLst/>
          </a:prstGeom>
          <a:noFill/>
          <a:ln w="0">
            <a:noFill/>
          </a:ln>
        </p:spPr>
        <p:txBody>
          <a:bodyPr lIns="0" tIns="0" rIns="0" bIns="0">
            <a:noAutofit/>
          </a:bodyPr>
          <a:lstStyle>
            <a:defPPr algn="l">
              <a:defRPr sz="1650" b="0">
                <a:solidFill>
                  <a:srgbClr val="607482"/>
                </a:solidFill>
                <a:latin typeface="Helvetica Neue"/>
                <a:ea typeface="Helvetica Neue"/>
                <a:cs typeface="Helvetica Neue"/>
              </a:defRPr>
            </a:defPPr>
          </a:lstStyle>
          <a:p>
            <a:pPr algn="l">
              <a:buNone/>
              <a:defRPr sz="1650" b="0">
                <a:solidFill>
                  <a:srgbClr val="607482"/>
                </a:solidFill>
                <a:latin typeface="Helvetica Neue"/>
                <a:ea typeface="Helvetica Neue"/>
                <a:cs typeface="Helvetica Neue"/>
              </a:defRPr>
            </a:pPr>
            <a:r>
              <a:rPr sz="1650" b="0">
                <a:solidFill>
                  <a:srgbClr val="607482"/>
                </a:solidFill>
                <a:latin typeface="Helvetica Neue"/>
                <a:ea typeface="Helvetica Neue"/>
                <a:cs typeface="Helvetica Neue"/>
              </a:rPr>
              <a:t>New project / Libraries / Members / Files</a:t>
            </a:r>
          </a:p>
        </p:txBody>
      </p:sp>
      <p:pic>
        <p:nvPicPr>
          <p:cNvPr id="9" name="Picture 8">
            <a:extLst>
              <a:ext uri="{FF2B5EF4-FFF2-40B4-BE49-F238E27FC236}">
                <a16:creationId xmlns:a16="http://schemas.microsoft.com/office/drawing/2014/main" id="{959BDC44-2209-425E-B992-F6AB6D04ADB2}"/>
              </a:ext>
            </a:extLst>
          </p:cNvPr>
          <p:cNvPicPr>
            <a:picLocks noChangeAspect="1"/>
          </p:cNvPicPr>
          <p:nvPr/>
        </p:nvPicPr>
        <p:blipFill>
          <a:blip r:embed="rId3"/>
          <a:stretch/>
        </p:blipFill>
        <p:spPr>
          <a:xfrm>
            <a:off x="638175" y="2276475"/>
            <a:ext cx="400050" cy="400050"/>
          </a:xfrm>
          <a:prstGeom prst="rect">
            <a:avLst/>
          </a:prstGeom>
        </p:spPr>
      </p:pic>
      <p:sp>
        <p:nvSpPr>
          <p:cNvPr id="10" name="action-1">
            <a:extLst>
              <a:ext uri="{FF2B5EF4-FFF2-40B4-BE49-F238E27FC236}">
                <a16:creationId xmlns:a16="http://schemas.microsoft.com/office/drawing/2014/main" id="{BCC6DA5C-D842-4197-B89B-D1D25C0768C6}"/>
              </a:ext>
            </a:extLst>
          </p:cNvPr>
          <p:cNvSpPr>
            <a:spLocks noGrp="1"/>
          </p:cNvSpPr>
          <p:nvPr/>
        </p:nvSpPr>
        <p:spPr>
          <a:xfrm>
            <a:off x="1276350" y="2314575"/>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Create one shared Project</a:t>
            </a:r>
          </a:p>
        </p:txBody>
      </p:sp>
      <p:pic>
        <p:nvPicPr>
          <p:cNvPr id="11" name="Picture 10">
            <a:extLst>
              <a:ext uri="{FF2B5EF4-FFF2-40B4-BE49-F238E27FC236}">
                <a16:creationId xmlns:a16="http://schemas.microsoft.com/office/drawing/2014/main" id="{FE6209DA-4070-45D3-B7E4-42F6ED611D44}"/>
              </a:ext>
            </a:extLst>
          </p:cNvPr>
          <p:cNvPicPr>
            <a:picLocks noChangeAspect="1"/>
          </p:cNvPicPr>
          <p:nvPr/>
        </p:nvPicPr>
        <p:blipFill>
          <a:blip r:embed="rId4"/>
          <a:stretch/>
        </p:blipFill>
        <p:spPr>
          <a:xfrm>
            <a:off x="638175" y="2886075"/>
            <a:ext cx="400050" cy="400050"/>
          </a:xfrm>
          <a:prstGeom prst="rect">
            <a:avLst/>
          </a:prstGeom>
        </p:spPr>
      </p:pic>
      <p:sp>
        <p:nvSpPr>
          <p:cNvPr id="12" name="action-2">
            <a:extLst>
              <a:ext uri="{FF2B5EF4-FFF2-40B4-BE49-F238E27FC236}">
                <a16:creationId xmlns:a16="http://schemas.microsoft.com/office/drawing/2014/main" id="{A0E10A8A-BA15-4EDE-B7C8-7B47A80713F2}"/>
              </a:ext>
            </a:extLst>
          </p:cNvPr>
          <p:cNvSpPr>
            <a:spLocks noGrp="1"/>
          </p:cNvSpPr>
          <p:nvPr/>
        </p:nvSpPr>
        <p:spPr>
          <a:xfrm>
            <a:off x="1276350" y="2924175"/>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Add teammates and Libraries</a:t>
            </a:r>
          </a:p>
        </p:txBody>
      </p:sp>
      <p:pic>
        <p:nvPicPr>
          <p:cNvPr id="13" name="Picture 12">
            <a:extLst>
              <a:ext uri="{FF2B5EF4-FFF2-40B4-BE49-F238E27FC236}">
                <a16:creationId xmlns:a16="http://schemas.microsoft.com/office/drawing/2014/main" id="{61BC2F29-C238-405D-A858-28EC13702301}"/>
              </a:ext>
            </a:extLst>
          </p:cNvPr>
          <p:cNvPicPr>
            <a:picLocks noChangeAspect="1"/>
          </p:cNvPicPr>
          <p:nvPr/>
        </p:nvPicPr>
        <p:blipFill>
          <a:blip r:embed="rId5"/>
          <a:stretch/>
        </p:blipFill>
        <p:spPr>
          <a:xfrm>
            <a:off x="638175" y="3495675"/>
            <a:ext cx="400050" cy="400050"/>
          </a:xfrm>
          <a:prstGeom prst="rect">
            <a:avLst/>
          </a:prstGeom>
        </p:spPr>
      </p:pic>
      <p:sp>
        <p:nvSpPr>
          <p:cNvPr id="14" name="action-3">
            <a:extLst>
              <a:ext uri="{FF2B5EF4-FFF2-40B4-BE49-F238E27FC236}">
                <a16:creationId xmlns:a16="http://schemas.microsoft.com/office/drawing/2014/main" id="{66666883-0320-41F4-8E77-2DFC82CD06C9}"/>
              </a:ext>
            </a:extLst>
          </p:cNvPr>
          <p:cNvSpPr>
            <a:spLocks noGrp="1"/>
          </p:cNvSpPr>
          <p:nvPr/>
        </p:nvSpPr>
        <p:spPr>
          <a:xfrm>
            <a:off x="1276350" y="3533775"/>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Review each other’s research</a:t>
            </a:r>
          </a:p>
        </p:txBody>
      </p:sp>
      <p:pic>
        <p:nvPicPr>
          <p:cNvPr id="15" name="Picture 14">
            <a:extLst>
              <a:ext uri="{FF2B5EF4-FFF2-40B4-BE49-F238E27FC236}">
                <a16:creationId xmlns:a16="http://schemas.microsoft.com/office/drawing/2014/main" id="{D6FFEA7F-5B1F-439E-8843-E422F82893EE}"/>
              </a:ext>
            </a:extLst>
          </p:cNvPr>
          <p:cNvPicPr>
            <a:picLocks noChangeAspect="1"/>
          </p:cNvPicPr>
          <p:nvPr/>
        </p:nvPicPr>
        <p:blipFill>
          <a:blip r:embed="rId6"/>
          <a:stretch/>
        </p:blipFill>
        <p:spPr>
          <a:xfrm>
            <a:off x="638175" y="4105275"/>
            <a:ext cx="400050" cy="400050"/>
          </a:xfrm>
          <a:prstGeom prst="rect">
            <a:avLst/>
          </a:prstGeom>
        </p:spPr>
      </p:pic>
      <p:sp>
        <p:nvSpPr>
          <p:cNvPr id="16" name="action-4">
            <a:extLst>
              <a:ext uri="{FF2B5EF4-FFF2-40B4-BE49-F238E27FC236}">
                <a16:creationId xmlns:a16="http://schemas.microsoft.com/office/drawing/2014/main" id="{69280176-EE64-4CB5-B82E-D5E127051C07}"/>
              </a:ext>
            </a:extLst>
          </p:cNvPr>
          <p:cNvSpPr>
            <a:spLocks noGrp="1"/>
          </p:cNvSpPr>
          <p:nvPr/>
        </p:nvSpPr>
        <p:spPr>
          <a:xfrm>
            <a:off x="1276350" y="4143375"/>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Organise inputs, notes and outputs</a:t>
            </a:r>
          </a:p>
        </p:txBody>
      </p:sp>
      <p:pic>
        <p:nvPicPr>
          <p:cNvPr id="17" name="Picture 16">
            <a:extLst>
              <a:ext uri="{FF2B5EF4-FFF2-40B4-BE49-F238E27FC236}">
                <a16:creationId xmlns:a16="http://schemas.microsoft.com/office/drawing/2014/main" id="{2C113F0C-B087-4F19-BB16-1B5B7D1ADF1D}"/>
              </a:ext>
            </a:extLst>
          </p:cNvPr>
          <p:cNvPicPr>
            <a:picLocks noChangeAspect="1"/>
          </p:cNvPicPr>
          <p:nvPr/>
        </p:nvPicPr>
        <p:blipFill>
          <a:blip r:embed="rId7"/>
          <a:stretch>
            <a:fillRect/>
          </a:stretch>
        </p:blipFill>
        <p:spPr>
          <a:xfrm>
            <a:off x="5887232" y="1320427"/>
            <a:ext cx="6140885" cy="3584949"/>
          </a:xfrm>
          <a:prstGeom prst="rect">
            <a:avLst/>
          </a:prstGeom>
        </p:spPr>
      </p:pic>
    </p:spTree>
    <p:extLst>
      <p:ext uri="{BB962C8B-B14F-4D97-AF65-F5344CB8AC3E}">
        <p14:creationId xmlns:p14="http://schemas.microsoft.com/office/powerpoint/2010/main" val="415704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title">
            <a:extLst>
              <a:ext uri="{FF2B5EF4-FFF2-40B4-BE49-F238E27FC236}">
                <a16:creationId xmlns:a16="http://schemas.microsoft.com/office/drawing/2014/main" id="{3821697C-D819-42AC-B399-6AB104266E39}"/>
              </a:ext>
            </a:extLst>
          </p:cNvPr>
          <p:cNvSpPr>
            <a:spLocks noGrp="1"/>
          </p:cNvSpPr>
          <p:nvPr/>
        </p:nvSpPr>
        <p:spPr>
          <a:xfrm>
            <a:off x="609600" y="781050"/>
            <a:ext cx="10972800" cy="819150"/>
          </a:xfrm>
          <a:prstGeom prst="rect">
            <a:avLst/>
          </a:prstGeom>
          <a:noFill/>
          <a:ln w="0">
            <a:noFill/>
          </a:ln>
        </p:spPr>
        <p:txBody>
          <a:bodyPr lIns="0" tIns="0" rIns="0" bIns="0">
            <a:noAutofit/>
          </a:bodyPr>
          <a:lstStyle>
            <a:defPPr>
              <a:defRPr sz="3450" b="1">
                <a:solidFill>
                  <a:srgbClr val="102B46"/>
                </a:solidFill>
                <a:latin typeface="Helvetica Neue"/>
                <a:ea typeface="Helvetica Neue"/>
                <a:cs typeface="Helvetica Neue"/>
              </a:defRPr>
            </a:defPPr>
          </a:lstStyle>
          <a:p>
            <a:pPr>
              <a:defRPr sz="3450" b="1">
                <a:solidFill>
                  <a:srgbClr val="102B46"/>
                </a:solidFill>
                <a:latin typeface="Helvetica Neue"/>
                <a:ea typeface="Helvetica Neue"/>
                <a:cs typeface="Helvetica Neue"/>
              </a:defRPr>
            </a:pPr>
            <a:r>
              <a:rPr sz="3450" b="1" dirty="0">
                <a:solidFill>
                  <a:srgbClr val="102B46"/>
                </a:solidFill>
                <a:latin typeface="Helvetica Neue"/>
                <a:ea typeface="Helvetica Neue"/>
                <a:cs typeface="Helvetica Neue"/>
              </a:rPr>
              <a:t>Getting started with Projects</a:t>
            </a:r>
          </a:p>
        </p:txBody>
      </p:sp>
      <p:pic>
        <p:nvPicPr>
          <p:cNvPr id="4" name="Picture 3">
            <a:extLst>
              <a:ext uri="{FF2B5EF4-FFF2-40B4-BE49-F238E27FC236}">
                <a16:creationId xmlns:a16="http://schemas.microsoft.com/office/drawing/2014/main" id="{15B9E696-2662-3A48-C472-E7DF9B3A98CA}"/>
              </a:ext>
            </a:extLst>
          </p:cNvPr>
          <p:cNvPicPr>
            <a:picLocks noChangeAspect="1"/>
          </p:cNvPicPr>
          <p:nvPr/>
        </p:nvPicPr>
        <p:blipFill>
          <a:blip r:embed="rId3"/>
          <a:stretch>
            <a:fillRect/>
          </a:stretch>
        </p:blipFill>
        <p:spPr>
          <a:xfrm>
            <a:off x="4123799" y="2011679"/>
            <a:ext cx="3930343" cy="4605251"/>
          </a:xfrm>
          <a:prstGeom prst="rect">
            <a:avLst/>
          </a:prstGeom>
          <a:ln>
            <a:solidFill>
              <a:schemeClr val="accent2"/>
            </a:solidFill>
          </a:ln>
        </p:spPr>
      </p:pic>
      <p:pic>
        <p:nvPicPr>
          <p:cNvPr id="5" name="Picture 4">
            <a:extLst>
              <a:ext uri="{FF2B5EF4-FFF2-40B4-BE49-F238E27FC236}">
                <a16:creationId xmlns:a16="http://schemas.microsoft.com/office/drawing/2014/main" id="{C9A9C2FB-8117-CC81-84A8-FA1A1ABF1492}"/>
              </a:ext>
            </a:extLst>
          </p:cNvPr>
          <p:cNvPicPr>
            <a:picLocks noChangeAspect="1"/>
          </p:cNvPicPr>
          <p:nvPr/>
        </p:nvPicPr>
        <p:blipFill>
          <a:blip r:embed="rId4"/>
          <a:stretch>
            <a:fillRect/>
          </a:stretch>
        </p:blipFill>
        <p:spPr>
          <a:xfrm>
            <a:off x="0" y="2011679"/>
            <a:ext cx="3930343" cy="4605251"/>
          </a:xfrm>
          <a:prstGeom prst="rect">
            <a:avLst/>
          </a:prstGeom>
          <a:ln>
            <a:solidFill>
              <a:schemeClr val="accent2"/>
            </a:solidFill>
          </a:ln>
        </p:spPr>
      </p:pic>
      <p:pic>
        <p:nvPicPr>
          <p:cNvPr id="6" name="Picture 5">
            <a:extLst>
              <a:ext uri="{FF2B5EF4-FFF2-40B4-BE49-F238E27FC236}">
                <a16:creationId xmlns:a16="http://schemas.microsoft.com/office/drawing/2014/main" id="{641BE217-DEAE-6F81-CAE6-0E396B490BCB}"/>
              </a:ext>
            </a:extLst>
          </p:cNvPr>
          <p:cNvPicPr>
            <a:picLocks noChangeAspect="1"/>
          </p:cNvPicPr>
          <p:nvPr/>
        </p:nvPicPr>
        <p:blipFill>
          <a:blip r:embed="rId5"/>
          <a:stretch>
            <a:fillRect/>
          </a:stretch>
        </p:blipFill>
        <p:spPr>
          <a:xfrm>
            <a:off x="8261656" y="2011679"/>
            <a:ext cx="3930343" cy="4605251"/>
          </a:xfrm>
          <a:prstGeom prst="rect">
            <a:avLst/>
          </a:prstGeom>
          <a:ln>
            <a:solidFill>
              <a:schemeClr val="accent2"/>
            </a:solidFill>
          </a:ln>
        </p:spPr>
      </p:pic>
      <p:sp>
        <p:nvSpPr>
          <p:cNvPr id="7" name="subtitle">
            <a:extLst>
              <a:ext uri="{FF2B5EF4-FFF2-40B4-BE49-F238E27FC236}">
                <a16:creationId xmlns:a16="http://schemas.microsoft.com/office/drawing/2014/main" id="{37D6E69E-DDB3-FF33-0F79-F0208928C73A}"/>
              </a:ext>
            </a:extLst>
          </p:cNvPr>
          <p:cNvSpPr>
            <a:spLocks noGrp="1"/>
          </p:cNvSpPr>
          <p:nvPr/>
        </p:nvSpPr>
        <p:spPr>
          <a:xfrm>
            <a:off x="609600" y="1349993"/>
            <a:ext cx="10858500" cy="428625"/>
          </a:xfrm>
          <a:prstGeom prst="rect">
            <a:avLst/>
          </a:prstGeom>
          <a:noFill/>
          <a:ln w="0">
            <a:noFill/>
          </a:ln>
        </p:spPr>
        <p:txBody>
          <a:bodyPr lIns="0" tIns="0" rIns="0" bIns="0">
            <a:noAutofit/>
          </a:bodyPr>
          <a:lstStyle>
            <a:defPPr algn="l">
              <a:defRPr sz="1800" b="0">
                <a:solidFill>
                  <a:srgbClr val="607482"/>
                </a:solidFill>
                <a:latin typeface="Helvetica Neue"/>
                <a:ea typeface="Helvetica Neue"/>
                <a:cs typeface="Helvetica Neue"/>
              </a:defRPr>
            </a:defPPr>
          </a:lstStyle>
          <a:p>
            <a:pPr algn="l">
              <a:buNone/>
              <a:defRPr sz="1800" b="0">
                <a:solidFill>
                  <a:srgbClr val="607482"/>
                </a:solidFill>
                <a:latin typeface="Helvetica Neue"/>
                <a:ea typeface="Helvetica Neue"/>
                <a:cs typeface="Helvetica Neue"/>
              </a:defRPr>
            </a:pPr>
            <a:r>
              <a:rPr lang="en-US" sz="1800" b="0" dirty="0">
                <a:solidFill>
                  <a:srgbClr val="607482"/>
                </a:solidFill>
                <a:latin typeface="Helvetica Neue"/>
                <a:ea typeface="Helvetica Neue"/>
                <a:cs typeface="Helvetica Neue"/>
              </a:rPr>
              <a:t>Create Project </a:t>
            </a:r>
            <a:r>
              <a:rPr lang="en-US" sz="1800" b="0" dirty="0">
                <a:solidFill>
                  <a:srgbClr val="607482"/>
                </a:solidFill>
                <a:latin typeface="Helvetica Neue"/>
                <a:ea typeface="Helvetica Neue"/>
                <a:cs typeface="Helvetica Neue"/>
                <a:sym typeface="Wingdings" pitchFamily="2" charset="2"/>
              </a:rPr>
              <a:t> </a:t>
            </a:r>
            <a:r>
              <a:rPr lang="en-US" sz="1800" b="0" dirty="0">
                <a:solidFill>
                  <a:srgbClr val="607482"/>
                </a:solidFill>
                <a:latin typeface="Helvetica Neue"/>
                <a:ea typeface="Helvetica Neue"/>
                <a:cs typeface="Helvetica Neue"/>
              </a:rPr>
              <a:t>Invite Teammates (Read or Write) </a:t>
            </a:r>
            <a:r>
              <a:rPr lang="en-US" sz="1800" b="0" dirty="0">
                <a:solidFill>
                  <a:srgbClr val="607482"/>
                </a:solidFill>
                <a:latin typeface="Helvetica Neue"/>
                <a:ea typeface="Helvetica Neue"/>
                <a:cs typeface="Helvetica Neue"/>
                <a:sym typeface="Wingdings" pitchFamily="2" charset="2"/>
              </a:rPr>
              <a:t> Add Libraries (to query and work from)</a:t>
            </a:r>
            <a:endParaRPr sz="1800" b="1" u="sng" dirty="0">
              <a:solidFill>
                <a:schemeClr val="accent4"/>
              </a:solidFill>
              <a:latin typeface="Helvetica Neue"/>
              <a:ea typeface="Helvetica Neue"/>
              <a:cs typeface="Helvetica Neue"/>
            </a:endParaRPr>
          </a:p>
        </p:txBody>
      </p:sp>
    </p:spTree>
    <p:extLst>
      <p:ext uri="{BB962C8B-B14F-4D97-AF65-F5344CB8AC3E}">
        <p14:creationId xmlns:p14="http://schemas.microsoft.com/office/powerpoint/2010/main" val="18107390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E6FA6E-0F12-AAD3-42D6-838AEABED92A}"/>
              </a:ext>
            </a:extLst>
          </p:cNvPr>
          <p:cNvPicPr>
            <a:picLocks noChangeAspect="1"/>
          </p:cNvPicPr>
          <p:nvPr/>
        </p:nvPicPr>
        <p:blipFill>
          <a:blip r:embed="rId2"/>
          <a:stretch>
            <a:fillRect/>
          </a:stretch>
        </p:blipFill>
        <p:spPr>
          <a:xfrm>
            <a:off x="5879631" y="1600200"/>
            <a:ext cx="6147497" cy="4867643"/>
          </a:xfrm>
          <a:prstGeom prst="rect">
            <a:avLst/>
          </a:prstGeom>
        </p:spPr>
      </p:pic>
      <p:sp>
        <p:nvSpPr>
          <p:cNvPr id="4" name="slide-title">
            <a:extLst>
              <a:ext uri="{FF2B5EF4-FFF2-40B4-BE49-F238E27FC236}">
                <a16:creationId xmlns:a16="http://schemas.microsoft.com/office/drawing/2014/main" id="{8B776846-CEB0-7219-1DC6-09251E844D71}"/>
              </a:ext>
            </a:extLst>
          </p:cNvPr>
          <p:cNvSpPr>
            <a:spLocks noGrp="1"/>
          </p:cNvSpPr>
          <p:nvPr/>
        </p:nvSpPr>
        <p:spPr>
          <a:xfrm>
            <a:off x="609600" y="781050"/>
            <a:ext cx="10972800" cy="819150"/>
          </a:xfrm>
          <a:prstGeom prst="rect">
            <a:avLst/>
          </a:prstGeom>
          <a:noFill/>
          <a:ln w="0">
            <a:noFill/>
          </a:ln>
        </p:spPr>
        <p:txBody>
          <a:bodyPr lIns="0" tIns="0" rIns="0" bIns="0">
            <a:noAutofit/>
          </a:bodyPr>
          <a:lstStyle>
            <a:defPPr>
              <a:defRPr sz="3450" b="1">
                <a:solidFill>
                  <a:srgbClr val="102B46"/>
                </a:solidFill>
                <a:latin typeface="Helvetica Neue"/>
                <a:ea typeface="Helvetica Neue"/>
                <a:cs typeface="Helvetica Neue"/>
              </a:defRPr>
            </a:defPPr>
          </a:lstStyle>
          <a:p>
            <a:pPr>
              <a:defRPr sz="3450" b="1">
                <a:solidFill>
                  <a:srgbClr val="102B46"/>
                </a:solidFill>
                <a:latin typeface="Helvetica Neue"/>
                <a:ea typeface="Helvetica Neue"/>
                <a:cs typeface="Helvetica Neue"/>
              </a:defRPr>
            </a:pPr>
            <a:r>
              <a:rPr lang="en-US" sz="3450" b="1" dirty="0">
                <a:solidFill>
                  <a:srgbClr val="102B46"/>
                </a:solidFill>
                <a:latin typeface="Helvetica Neue"/>
                <a:ea typeface="Helvetica Neue"/>
                <a:cs typeface="Helvetica Neue"/>
              </a:rPr>
              <a:t>Collaborative Knowledge Work </a:t>
            </a:r>
            <a:r>
              <a:rPr sz="3450" b="1" dirty="0">
                <a:solidFill>
                  <a:srgbClr val="102B46"/>
                </a:solidFill>
                <a:latin typeface="Helvetica Neue"/>
                <a:ea typeface="Helvetica Neue"/>
                <a:cs typeface="Helvetica Neue"/>
              </a:rPr>
              <a:t>with Projects</a:t>
            </a:r>
          </a:p>
        </p:txBody>
      </p:sp>
      <p:sp>
        <p:nvSpPr>
          <p:cNvPr id="5" name="subtitle">
            <a:extLst>
              <a:ext uri="{FF2B5EF4-FFF2-40B4-BE49-F238E27FC236}">
                <a16:creationId xmlns:a16="http://schemas.microsoft.com/office/drawing/2014/main" id="{A5EBD501-D543-1DC6-E09A-447B117178BB}"/>
              </a:ext>
            </a:extLst>
          </p:cNvPr>
          <p:cNvSpPr>
            <a:spLocks noGrp="1"/>
          </p:cNvSpPr>
          <p:nvPr/>
        </p:nvSpPr>
        <p:spPr>
          <a:xfrm>
            <a:off x="609600" y="1792672"/>
            <a:ext cx="4993178" cy="428625"/>
          </a:xfrm>
          <a:prstGeom prst="rect">
            <a:avLst/>
          </a:prstGeom>
          <a:noFill/>
          <a:ln w="0">
            <a:noFill/>
          </a:ln>
        </p:spPr>
        <p:txBody>
          <a:bodyPr lIns="0" tIns="0" rIns="0" bIns="0">
            <a:noAutofit/>
          </a:bodyPr>
          <a:lstStyle>
            <a:defPPr algn="l">
              <a:defRPr sz="1800" b="0">
                <a:solidFill>
                  <a:srgbClr val="607482"/>
                </a:solidFill>
                <a:latin typeface="Helvetica Neue"/>
                <a:ea typeface="Helvetica Neue"/>
                <a:cs typeface="Helvetica Neue"/>
              </a:defRPr>
            </a:defPPr>
          </a:lstStyle>
          <a:p>
            <a:pPr algn="l">
              <a:buNone/>
              <a:defRPr sz="1800" b="0">
                <a:solidFill>
                  <a:srgbClr val="607482"/>
                </a:solidFill>
                <a:latin typeface="Helvetica Neue"/>
                <a:ea typeface="Helvetica Neue"/>
                <a:cs typeface="Helvetica Neue"/>
              </a:defRPr>
            </a:pPr>
            <a:r>
              <a:rPr lang="en-US" sz="1800" b="0" dirty="0">
                <a:solidFill>
                  <a:srgbClr val="607482"/>
                </a:solidFill>
                <a:latin typeface="Helvetica Neue"/>
                <a:ea typeface="Helvetica Neue"/>
                <a:cs typeface="Helvetica Neue"/>
              </a:rPr>
              <a:t>Select Libraries</a:t>
            </a:r>
          </a:p>
          <a:p>
            <a:pPr algn="l">
              <a:buNone/>
              <a:defRPr sz="1800" b="0">
                <a:solidFill>
                  <a:srgbClr val="607482"/>
                </a:solidFill>
                <a:latin typeface="Helvetica Neue"/>
                <a:ea typeface="Helvetica Neue"/>
                <a:cs typeface="Helvetica Neue"/>
              </a:defRPr>
            </a:pPr>
            <a:r>
              <a:rPr lang="en-US" dirty="0">
                <a:solidFill>
                  <a:srgbClr val="607482"/>
                </a:solidFill>
                <a:latin typeface="Helvetica Neue"/>
                <a:ea typeface="Helvetica Neue"/>
                <a:cs typeface="Helvetica Neue"/>
              </a:rPr>
              <a:t>or</a:t>
            </a:r>
          </a:p>
          <a:p>
            <a:pPr algn="l">
              <a:buNone/>
              <a:defRPr sz="1800" b="0">
                <a:solidFill>
                  <a:srgbClr val="607482"/>
                </a:solidFill>
                <a:latin typeface="Helvetica Neue"/>
                <a:ea typeface="Helvetica Neue"/>
                <a:cs typeface="Helvetica Neue"/>
              </a:defRPr>
            </a:pPr>
            <a:r>
              <a:rPr lang="en-US" sz="1800" b="0" dirty="0">
                <a:solidFill>
                  <a:srgbClr val="607482"/>
                </a:solidFill>
                <a:latin typeface="Helvetica Neue"/>
                <a:ea typeface="Helvetica Neue"/>
                <a:cs typeface="Helvetica Neue"/>
              </a:rPr>
              <a:t>Select a web-source </a:t>
            </a:r>
          </a:p>
          <a:p>
            <a:pPr algn="l">
              <a:buNone/>
              <a:defRPr sz="1800" b="0">
                <a:solidFill>
                  <a:srgbClr val="607482"/>
                </a:solidFill>
                <a:latin typeface="Helvetica Neue"/>
                <a:ea typeface="Helvetica Neue"/>
                <a:cs typeface="Helvetica Neue"/>
              </a:defRPr>
            </a:pPr>
            <a:endParaRPr lang="en-US" sz="1800" b="0" dirty="0">
              <a:solidFill>
                <a:srgbClr val="607482"/>
              </a:solidFill>
              <a:latin typeface="Helvetica Neue"/>
              <a:ea typeface="Helvetica Neue"/>
              <a:cs typeface="Helvetica Neue"/>
            </a:endParaRPr>
          </a:p>
          <a:p>
            <a:pPr algn="l">
              <a:buNone/>
              <a:defRPr sz="1800" b="0">
                <a:solidFill>
                  <a:srgbClr val="607482"/>
                </a:solidFill>
                <a:latin typeface="Helvetica Neue"/>
                <a:ea typeface="Helvetica Neue"/>
                <a:cs typeface="Helvetica Neue"/>
              </a:defRPr>
            </a:pPr>
            <a:r>
              <a:rPr lang="en-US" dirty="0">
                <a:solidFill>
                  <a:srgbClr val="607482"/>
                </a:solidFill>
                <a:latin typeface="Helvetica Neue"/>
                <a:ea typeface="Helvetica Neue"/>
                <a:cs typeface="Helvetica Neue"/>
              </a:rPr>
              <a:t>Start the chat</a:t>
            </a:r>
          </a:p>
          <a:p>
            <a:pPr algn="l">
              <a:buNone/>
              <a:defRPr sz="1800" b="0">
                <a:solidFill>
                  <a:srgbClr val="607482"/>
                </a:solidFill>
                <a:latin typeface="Helvetica Neue"/>
                <a:ea typeface="Helvetica Neue"/>
                <a:cs typeface="Helvetica Neue"/>
              </a:defRPr>
            </a:pPr>
            <a:endParaRPr lang="en-US" sz="1800" b="0" dirty="0">
              <a:solidFill>
                <a:srgbClr val="607482"/>
              </a:solidFill>
              <a:latin typeface="Helvetica Neue"/>
              <a:ea typeface="Helvetica Neue"/>
              <a:cs typeface="Helvetica Neue"/>
            </a:endParaRPr>
          </a:p>
          <a:p>
            <a:pPr algn="l">
              <a:buNone/>
              <a:defRPr sz="1800" b="0">
                <a:solidFill>
                  <a:srgbClr val="607482"/>
                </a:solidFill>
                <a:latin typeface="Helvetica Neue"/>
                <a:ea typeface="Helvetica Neue"/>
                <a:cs typeface="Helvetica Neue"/>
              </a:defRPr>
            </a:pPr>
            <a:r>
              <a:rPr lang="en-US" dirty="0">
                <a:solidFill>
                  <a:srgbClr val="607482"/>
                </a:solidFill>
                <a:latin typeface="Helvetica Neue"/>
                <a:ea typeface="Helvetica Neue"/>
                <a:cs typeface="Helvetica Neue"/>
              </a:rPr>
              <a:t>All teammates can join the chat and start working together </a:t>
            </a:r>
            <a:endParaRPr lang="en-US" sz="1800" b="0" dirty="0">
              <a:solidFill>
                <a:srgbClr val="607482"/>
              </a:solidFill>
              <a:latin typeface="Helvetica Neue"/>
              <a:ea typeface="Helvetica Neue"/>
              <a:cs typeface="Helvetica Neue"/>
            </a:endParaRPr>
          </a:p>
          <a:p>
            <a:pPr algn="l">
              <a:buNone/>
              <a:defRPr sz="1800" b="0">
                <a:solidFill>
                  <a:srgbClr val="607482"/>
                </a:solidFill>
                <a:latin typeface="Helvetica Neue"/>
                <a:ea typeface="Helvetica Neue"/>
                <a:cs typeface="Helvetica Neue"/>
              </a:defRPr>
            </a:pPr>
            <a:endParaRPr lang="en-US" u="sng" dirty="0">
              <a:solidFill>
                <a:srgbClr val="607482"/>
              </a:solidFill>
              <a:latin typeface="Helvetica Neue"/>
              <a:ea typeface="Helvetica Neue"/>
              <a:cs typeface="Helvetica Neue"/>
            </a:endParaRPr>
          </a:p>
        </p:txBody>
      </p:sp>
    </p:spTree>
    <p:extLst>
      <p:ext uri="{BB962C8B-B14F-4D97-AF65-F5344CB8AC3E}">
        <p14:creationId xmlns:p14="http://schemas.microsoft.com/office/powerpoint/2010/main" val="35583477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26FBB"/>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A1F3DE1-46C6-489A-A5B9-8C29A6B7896B}"/>
              </a:ext>
            </a:extLst>
          </p:cNvPr>
          <p:cNvPicPr>
            <a:picLocks noChangeAspect="1"/>
          </p:cNvPicPr>
          <p:nvPr/>
        </p:nvPicPr>
        <p:blipFill>
          <a:blip r:embed="rId3"/>
          <a:stretch/>
        </p:blipFill>
        <p:spPr>
          <a:xfrm>
            <a:off x="10001250" y="666750"/>
            <a:ext cx="1219200" cy="1219200"/>
          </a:xfrm>
          <a:prstGeom prst="rect">
            <a:avLst/>
          </a:prstGeom>
        </p:spPr>
      </p:pic>
      <p:sp>
        <p:nvSpPr>
          <p:cNvPr id="2" name="slide-title">
            <a:extLst>
              <a:ext uri="{FF2B5EF4-FFF2-40B4-BE49-F238E27FC236}">
                <a16:creationId xmlns:a16="http://schemas.microsoft.com/office/drawing/2014/main" id="{0D94B184-4198-4E64-943F-4FD7ED487CCE}"/>
              </a:ext>
            </a:extLst>
          </p:cNvPr>
          <p:cNvSpPr>
            <a:spLocks noGrp="1"/>
          </p:cNvSpPr>
          <p:nvPr/>
        </p:nvSpPr>
        <p:spPr>
          <a:xfrm>
            <a:off x="609600" y="2400300"/>
            <a:ext cx="10668000" cy="1762125"/>
          </a:xfrm>
          <a:prstGeom prst="rect">
            <a:avLst/>
          </a:prstGeom>
          <a:noFill/>
          <a:ln w="0">
            <a:noFill/>
          </a:ln>
        </p:spPr>
        <p:txBody>
          <a:bodyPr lIns="0" tIns="0" rIns="0" bIns="0">
            <a:noAutofit/>
          </a:bodyPr>
          <a:lstStyle>
            <a:defPPr>
              <a:defRPr sz="4350" b="1">
                <a:solidFill>
                  <a:srgbClr val="FFFFFF"/>
                </a:solidFill>
                <a:latin typeface="Helvetica Neue"/>
                <a:ea typeface="Helvetica Neue"/>
                <a:cs typeface="Helvetica Neue"/>
              </a:defRPr>
            </a:defPPr>
          </a:lstStyle>
          <a:p>
            <a:pPr>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Session 1</a:t>
            </a:r>
          </a:p>
          <a:p>
            <a:pPr>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Concept definition</a:t>
            </a:r>
          </a:p>
        </p:txBody>
      </p:sp>
      <p:sp>
        <p:nvSpPr>
          <p:cNvPr id="3" name="section-subtitle">
            <a:extLst>
              <a:ext uri="{FF2B5EF4-FFF2-40B4-BE49-F238E27FC236}">
                <a16:creationId xmlns:a16="http://schemas.microsoft.com/office/drawing/2014/main" id="{77DC3AF2-3091-4EF0-A959-7DF9E8CE34E1}"/>
              </a:ext>
            </a:extLst>
          </p:cNvPr>
          <p:cNvSpPr>
            <a:spLocks noGrp="1"/>
          </p:cNvSpPr>
          <p:nvPr/>
        </p:nvSpPr>
        <p:spPr>
          <a:xfrm>
            <a:off x="609600" y="4905375"/>
            <a:ext cx="10668000" cy="762000"/>
          </a:xfrm>
          <a:prstGeom prst="rect">
            <a:avLst/>
          </a:prstGeom>
          <a:noFill/>
          <a:ln w="0">
            <a:noFill/>
          </a:ln>
        </p:spPr>
        <p:txBody>
          <a:bodyPr lIns="0" tIns="0" rIns="0" bIns="0">
            <a:noAutofit/>
          </a:bodyPr>
          <a:lstStyle>
            <a:defPPr>
              <a:defRPr sz="2175" b="0">
                <a:solidFill>
                  <a:srgbClr val="FFFFFF"/>
                </a:solidFill>
                <a:latin typeface="Helvetica Neue"/>
                <a:ea typeface="Helvetica Neue"/>
                <a:cs typeface="Helvetica Neue"/>
              </a:defRPr>
            </a:defPPr>
          </a:lstStyle>
          <a:p>
            <a:pPr>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3 hours. Concept V1, system sketch and initial research</a:t>
            </a:r>
          </a:p>
        </p:txBody>
      </p:sp>
      <p:sp>
        <p:nvSpPr>
          <p:cNvPr id="4" name="page-number">
            <a:extLst>
              <a:ext uri="{FF2B5EF4-FFF2-40B4-BE49-F238E27FC236}">
                <a16:creationId xmlns:a16="http://schemas.microsoft.com/office/drawing/2014/main" id="{0E0FBC7C-0883-45BE-A014-9B49A63817C8}"/>
              </a:ext>
            </a:extLst>
          </p:cNvPr>
          <p:cNvSpPr>
            <a:spLocks noGrp="1"/>
          </p:cNvSpPr>
          <p:nvPr/>
        </p:nvSpPr>
        <p:spPr>
          <a:xfrm>
            <a:off x="10953750" y="6438900"/>
            <a:ext cx="619125" cy="238125"/>
          </a:xfrm>
          <a:prstGeom prst="rect">
            <a:avLst/>
          </a:prstGeom>
          <a:noFill/>
          <a:ln w="0">
            <a:noFill/>
          </a:ln>
        </p:spPr>
        <p:txBody>
          <a:bodyPr lIns="0" tIns="0" rIns="0" bIns="0">
            <a:noAutofit/>
          </a:bodyPr>
          <a:lstStyle>
            <a:defPPr>
              <a:defRPr sz="1125" b="0">
                <a:solidFill>
                  <a:srgbClr val="FFFFFF"/>
                </a:solidFill>
                <a:latin typeface="Helvetica Neue"/>
                <a:ea typeface="Helvetica Neue"/>
                <a:cs typeface="Helvetica Neue"/>
              </a:defRPr>
            </a:defPPr>
          </a:lstStyle>
          <a:p>
            <a:pPr>
              <a:defRPr sz="1125" b="0">
                <a:solidFill>
                  <a:srgbClr val="FFFFFF"/>
                </a:solidFill>
                <a:latin typeface="Helvetica Neue"/>
                <a:ea typeface="Helvetica Neue"/>
                <a:cs typeface="Helvetica Neue"/>
              </a:defRPr>
            </a:pPr>
            <a:r>
              <a:rPr sz="1125" b="0">
                <a:solidFill>
                  <a:srgbClr val="FFFFFF"/>
                </a:solidFill>
                <a:latin typeface="Helvetica Neue"/>
                <a:ea typeface="Helvetica Neue"/>
                <a:cs typeface="Helvetica Neue"/>
              </a:rPr>
              <a:t>13</a:t>
            </a:r>
          </a:p>
        </p:txBody>
      </p:sp>
    </p:spTree>
    <p:extLst>
      <p:ext uri="{BB962C8B-B14F-4D97-AF65-F5344CB8AC3E}">
        <p14:creationId xmlns:p14="http://schemas.microsoft.com/office/powerpoint/2010/main" val="12769864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3" name="Straight Arrow Connector 22">
            <a:extLst>
              <a:ext uri="{FF2B5EF4-FFF2-40B4-BE49-F238E27FC236}">
                <a16:creationId xmlns:a16="http://schemas.microsoft.com/office/drawing/2014/main" id="{706BEAB2-54E8-4870-A656-7D92D7DED52D}"/>
              </a:ext>
            </a:extLst>
          </p:cNvPr>
          <p:cNvCxnSpPr>
            <a:stCxn id="16" idx="3"/>
            <a:endCxn id="20" idx="1"/>
          </p:cNvCxnSpPr>
          <p:nvPr/>
        </p:nvCxnSpPr>
        <p:spPr>
          <a:xfrm>
            <a:off x="9372600" y="3228975"/>
            <a:ext cx="228600" cy="0"/>
          </a:xfrm>
          <a:prstGeom prst="straightConnector1">
            <a:avLst/>
          </a:prstGeom>
          <a:ln w="19050">
            <a:solidFill>
              <a:srgbClr val="226FBB"/>
            </a:solidFill>
            <a:prstDash val="solid"/>
            <a:tailEnd type="triangle" w="sm" len="sm"/>
          </a:ln>
        </p:spPr>
      </p:cxnSp>
      <p:cxnSp>
        <p:nvCxnSpPr>
          <p:cNvPr id="19" name="Straight Arrow Connector 18">
            <a:extLst>
              <a:ext uri="{FF2B5EF4-FFF2-40B4-BE49-F238E27FC236}">
                <a16:creationId xmlns:a16="http://schemas.microsoft.com/office/drawing/2014/main" id="{5525D091-9054-4B6B-9183-2A8699509A86}"/>
              </a:ext>
            </a:extLst>
          </p:cNvPr>
          <p:cNvCxnSpPr>
            <a:stCxn id="12" idx="3"/>
            <a:endCxn id="16" idx="1"/>
          </p:cNvCxnSpPr>
          <p:nvPr/>
        </p:nvCxnSpPr>
        <p:spPr>
          <a:xfrm>
            <a:off x="7124700" y="3228975"/>
            <a:ext cx="228600" cy="0"/>
          </a:xfrm>
          <a:prstGeom prst="straightConnector1">
            <a:avLst/>
          </a:prstGeom>
          <a:ln w="19050">
            <a:solidFill>
              <a:srgbClr val="226FBB"/>
            </a:solidFill>
            <a:prstDash val="solid"/>
            <a:tailEnd type="triangle" w="sm" len="sm"/>
          </a:ln>
        </p:spPr>
      </p:cxnSp>
      <p:cxnSp>
        <p:nvCxnSpPr>
          <p:cNvPr id="15" name="Straight Arrow Connector 14">
            <a:extLst>
              <a:ext uri="{FF2B5EF4-FFF2-40B4-BE49-F238E27FC236}">
                <a16:creationId xmlns:a16="http://schemas.microsoft.com/office/drawing/2014/main" id="{D6C13619-1DC1-4E69-92B2-F0510B08ADB9}"/>
              </a:ext>
            </a:extLst>
          </p:cNvPr>
          <p:cNvCxnSpPr>
            <a:stCxn id="8" idx="3"/>
            <a:endCxn id="12" idx="1"/>
          </p:cNvCxnSpPr>
          <p:nvPr/>
        </p:nvCxnSpPr>
        <p:spPr>
          <a:xfrm>
            <a:off x="4876800" y="3228975"/>
            <a:ext cx="228600" cy="0"/>
          </a:xfrm>
          <a:prstGeom prst="straightConnector1">
            <a:avLst/>
          </a:prstGeom>
          <a:ln w="19050">
            <a:solidFill>
              <a:srgbClr val="226FBB"/>
            </a:solidFill>
            <a:prstDash val="solid"/>
            <a:tailEnd type="triangle" w="sm" len="sm"/>
          </a:ln>
        </p:spPr>
      </p:cxnSp>
      <p:cxnSp>
        <p:nvCxnSpPr>
          <p:cNvPr id="11" name="Straight Arrow Connector 10">
            <a:extLst>
              <a:ext uri="{FF2B5EF4-FFF2-40B4-BE49-F238E27FC236}">
                <a16:creationId xmlns:a16="http://schemas.microsoft.com/office/drawing/2014/main" id="{B916F218-5C82-498F-8DCB-9EA3DD2C6C18}"/>
              </a:ext>
            </a:extLst>
          </p:cNvPr>
          <p:cNvCxnSpPr>
            <a:stCxn id="5" idx="3"/>
            <a:endCxn id="8" idx="1"/>
          </p:cNvCxnSpPr>
          <p:nvPr/>
        </p:nvCxnSpPr>
        <p:spPr>
          <a:xfrm>
            <a:off x="2628900" y="3228975"/>
            <a:ext cx="228600" cy="0"/>
          </a:xfrm>
          <a:prstGeom prst="straightConnector1">
            <a:avLst/>
          </a:prstGeom>
          <a:ln w="19050">
            <a:solidFill>
              <a:srgbClr val="226FBB"/>
            </a:solidFill>
            <a:prstDash val="solid"/>
            <a:tailEnd type="triangle" w="sm" len="sm"/>
          </a:ln>
        </p:spPr>
      </p:cxnSp>
      <p:sp>
        <p:nvSpPr>
          <p:cNvPr id="27" name="section-label">
            <a:extLst>
              <a:ext uri="{FF2B5EF4-FFF2-40B4-BE49-F238E27FC236}">
                <a16:creationId xmlns:a16="http://schemas.microsoft.com/office/drawing/2014/main" id="{B597DEB1-9206-40CA-A78F-AB0A58620A1C}"/>
              </a:ext>
            </a:extLst>
          </p:cNvPr>
          <p:cNvSpPr>
            <a:spLocks noGrp="1"/>
          </p:cNvSpPr>
          <p:nvPr/>
        </p:nvSpPr>
        <p:spPr>
          <a:xfrm>
            <a:off x="609600" y="285750"/>
            <a:ext cx="10668000" cy="285750"/>
          </a:xfrm>
          <a:prstGeom prst="rect">
            <a:avLst/>
          </a:prstGeom>
          <a:noFill/>
          <a:ln w="0">
            <a:noFill/>
          </a:ln>
        </p:spPr>
        <p:txBody>
          <a:bodyPr lIns="0" tIns="0" rIns="0" bIns="0">
            <a:noAutofit/>
          </a:bodyPr>
          <a:lstStyle>
            <a:defPPr algn="l">
              <a:defRPr sz="1200" b="1">
                <a:solidFill>
                  <a:srgbClr val="226FBB"/>
                </a:solidFill>
                <a:latin typeface="Helvetica Neue"/>
                <a:ea typeface="Helvetica Neue"/>
                <a:cs typeface="Helvetica Neue"/>
              </a:defRPr>
            </a:defPPr>
          </a:lstStyle>
          <a:p>
            <a:pPr algn="l">
              <a:buNone/>
              <a:defRPr sz="1200" b="1">
                <a:solidFill>
                  <a:srgbClr val="226FBB"/>
                </a:solidFill>
                <a:latin typeface="Helvetica Neue"/>
                <a:ea typeface="Helvetica Neue"/>
                <a:cs typeface="Helvetica Neue"/>
              </a:defRPr>
            </a:pPr>
            <a:r>
              <a:rPr sz="1200" b="1">
                <a:solidFill>
                  <a:srgbClr val="226FBB"/>
                </a:solidFill>
                <a:latin typeface="Helvetica Neue"/>
                <a:ea typeface="Helvetica Neue"/>
                <a:cs typeface="Helvetica Neue"/>
              </a:rPr>
              <a:t>SESSION 1: CONCEPT DEFINITION</a:t>
            </a:r>
          </a:p>
        </p:txBody>
      </p:sp>
      <p:sp>
        <p:nvSpPr>
          <p:cNvPr id="2" name="slide-title">
            <a:extLst>
              <a:ext uri="{FF2B5EF4-FFF2-40B4-BE49-F238E27FC236}">
                <a16:creationId xmlns:a16="http://schemas.microsoft.com/office/drawing/2014/main" id="{4B64EDB8-BD6A-45FB-8C12-58DB6F0C92A9}"/>
              </a:ext>
            </a:extLst>
          </p:cNvPr>
          <p:cNvSpPr>
            <a:spLocks noGrp="1"/>
          </p:cNvSpPr>
          <p:nvPr/>
        </p:nvSpPr>
        <p:spPr>
          <a:xfrm>
            <a:off x="609600" y="781050"/>
            <a:ext cx="10858500" cy="857250"/>
          </a:xfrm>
          <a:prstGeom prst="rect">
            <a:avLst/>
          </a:prstGeom>
          <a:noFill/>
          <a:ln w="0">
            <a:noFill/>
          </a:ln>
        </p:spPr>
        <p:txBody>
          <a:bodyPr lIns="0" tIns="0" rIns="0" bIns="0">
            <a:noAutofit/>
          </a:bodyPr>
          <a:lstStyle>
            <a:defPPr algn="l">
              <a:defRPr sz="3450" b="1">
                <a:solidFill>
                  <a:srgbClr val="102B46"/>
                </a:solidFill>
                <a:latin typeface="Helvetica Neue"/>
                <a:ea typeface="Helvetica Neue"/>
                <a:cs typeface="Helvetica Neue"/>
              </a:defRPr>
            </a:defPPr>
          </a:lstStyle>
          <a:p>
            <a:pPr algn="l">
              <a:buNone/>
              <a:defRPr sz="3450" b="1">
                <a:solidFill>
                  <a:srgbClr val="102B46"/>
                </a:solidFill>
                <a:latin typeface="Helvetica Neue"/>
                <a:ea typeface="Helvetica Neue"/>
                <a:cs typeface="Helvetica Neue"/>
              </a:defRPr>
            </a:pPr>
            <a:r>
              <a:rPr sz="3450" b="1">
                <a:solidFill>
                  <a:srgbClr val="102B46"/>
                </a:solidFill>
                <a:latin typeface="Helvetica Neue"/>
                <a:ea typeface="Helvetica Neue"/>
                <a:cs typeface="Helvetica Neue"/>
              </a:rPr>
              <a:t>Session 1 process</a:t>
            </a:r>
          </a:p>
        </p:txBody>
      </p:sp>
      <p:sp>
        <p:nvSpPr>
          <p:cNvPr id="3" name="subtitle">
            <a:extLst>
              <a:ext uri="{FF2B5EF4-FFF2-40B4-BE49-F238E27FC236}">
                <a16:creationId xmlns:a16="http://schemas.microsoft.com/office/drawing/2014/main" id="{7B17A655-0D13-4310-AA8C-AC84ACAF99BF}"/>
              </a:ext>
            </a:extLst>
          </p:cNvPr>
          <p:cNvSpPr>
            <a:spLocks noGrp="1"/>
          </p:cNvSpPr>
          <p:nvPr/>
        </p:nvSpPr>
        <p:spPr>
          <a:xfrm>
            <a:off x="609600" y="1524000"/>
            <a:ext cx="10858500" cy="428625"/>
          </a:xfrm>
          <a:prstGeom prst="rect">
            <a:avLst/>
          </a:prstGeom>
          <a:noFill/>
          <a:ln w="0">
            <a:noFill/>
          </a:ln>
        </p:spPr>
        <p:txBody>
          <a:bodyPr lIns="0" tIns="0" rIns="0" bIns="0">
            <a:noAutofit/>
          </a:bodyPr>
          <a:lstStyle>
            <a:defPPr algn="l">
              <a:defRPr sz="1800" b="0">
                <a:solidFill>
                  <a:srgbClr val="607482"/>
                </a:solidFill>
                <a:latin typeface="Helvetica Neue"/>
                <a:ea typeface="Helvetica Neue"/>
                <a:cs typeface="Helvetica Neue"/>
              </a:defRPr>
            </a:defPPr>
          </a:lstStyle>
          <a:p>
            <a:pPr algn="l">
              <a:buNone/>
              <a:defRPr sz="1800" b="0">
                <a:solidFill>
                  <a:srgbClr val="607482"/>
                </a:solidFill>
                <a:latin typeface="Helvetica Neue"/>
                <a:ea typeface="Helvetica Neue"/>
                <a:cs typeface="Helvetica Neue"/>
              </a:defRPr>
            </a:pPr>
            <a:r>
              <a:rPr sz="1800" b="0">
                <a:solidFill>
                  <a:srgbClr val="607482"/>
                </a:solidFill>
                <a:latin typeface="Helvetica Neue"/>
                <a:ea typeface="Helvetica Neue"/>
                <a:cs typeface="Helvetica Neue"/>
              </a:rPr>
              <a:t>3 hours. Project + Knowledge Agent + Libraries + patent and market search</a:t>
            </a:r>
          </a:p>
        </p:txBody>
      </p:sp>
      <p:sp>
        <p:nvSpPr>
          <p:cNvPr id="4" name="page-number">
            <a:extLst>
              <a:ext uri="{FF2B5EF4-FFF2-40B4-BE49-F238E27FC236}">
                <a16:creationId xmlns:a16="http://schemas.microsoft.com/office/drawing/2014/main" id="{22DB68F8-B417-497E-91F0-3418A8AE335E}"/>
              </a:ext>
            </a:extLst>
          </p:cNvPr>
          <p:cNvSpPr>
            <a:spLocks noGrp="1"/>
          </p:cNvSpPr>
          <p:nvPr/>
        </p:nvSpPr>
        <p:spPr>
          <a:xfrm>
            <a:off x="10953750" y="6438900"/>
            <a:ext cx="666750" cy="228600"/>
          </a:xfrm>
          <a:prstGeom prst="rect">
            <a:avLst/>
          </a:prstGeom>
          <a:noFill/>
          <a:ln w="0">
            <a:noFill/>
          </a:ln>
        </p:spPr>
        <p:txBody>
          <a:bodyPr lIns="0" tIns="0" rIns="0" bIns="0">
            <a:noAutofit/>
          </a:bodyPr>
          <a:lstStyle>
            <a:defPPr algn="r">
              <a:defRPr sz="1125" b="0">
                <a:solidFill>
                  <a:srgbClr val="607482"/>
                </a:solidFill>
                <a:latin typeface="Helvetica Neue"/>
                <a:ea typeface="Helvetica Neue"/>
                <a:cs typeface="Helvetica Neue"/>
              </a:defRPr>
            </a:defPPr>
          </a:lstStyle>
          <a:p>
            <a:pPr algn="r">
              <a:buNone/>
              <a:defRPr sz="1125" b="0">
                <a:solidFill>
                  <a:srgbClr val="607482"/>
                </a:solidFill>
                <a:latin typeface="Helvetica Neue"/>
                <a:ea typeface="Helvetica Neue"/>
                <a:cs typeface="Helvetica Neue"/>
              </a:defRPr>
            </a:pPr>
            <a:r>
              <a:rPr sz="1125" b="0">
                <a:solidFill>
                  <a:srgbClr val="607482"/>
                </a:solidFill>
                <a:latin typeface="Helvetica Neue"/>
                <a:ea typeface="Helvetica Neue"/>
                <a:cs typeface="Helvetica Neue"/>
              </a:rPr>
              <a:t>14</a:t>
            </a:r>
          </a:p>
        </p:txBody>
      </p:sp>
      <p:sp>
        <p:nvSpPr>
          <p:cNvPr id="5" name="process-step-1">
            <a:extLst>
              <a:ext uri="{FF2B5EF4-FFF2-40B4-BE49-F238E27FC236}">
                <a16:creationId xmlns:a16="http://schemas.microsoft.com/office/drawing/2014/main" id="{34DF683B-5818-4DE2-A341-E72068565D52}"/>
              </a:ext>
            </a:extLst>
          </p:cNvPr>
          <p:cNvSpPr>
            <a:spLocks noGrp="1"/>
          </p:cNvSpPr>
          <p:nvPr/>
        </p:nvSpPr>
        <p:spPr>
          <a:xfrm>
            <a:off x="609600" y="2181225"/>
            <a:ext cx="2019300" cy="2095500"/>
          </a:xfrm>
          <a:prstGeom prst="rect">
            <a:avLst/>
          </a:prstGeom>
          <a:solidFill>
            <a:srgbClr val="F3F7FA"/>
          </a:solidFill>
          <a:ln w="9525">
            <a:solidFill>
              <a:srgbClr val="226FBB"/>
            </a:solidFill>
            <a:prstDash val="solid"/>
          </a:ln>
        </p:spPr>
      </p:sp>
      <p:sp>
        <p:nvSpPr>
          <p:cNvPr id="6" name="step-index-1">
            <a:extLst>
              <a:ext uri="{FF2B5EF4-FFF2-40B4-BE49-F238E27FC236}">
                <a16:creationId xmlns:a16="http://schemas.microsoft.com/office/drawing/2014/main" id="{31D9FF04-F7B1-42B9-878F-13EE8DCD169F}"/>
              </a:ext>
            </a:extLst>
          </p:cNvPr>
          <p:cNvSpPr>
            <a:spLocks noGrp="1"/>
          </p:cNvSpPr>
          <p:nvPr/>
        </p:nvSpPr>
        <p:spPr>
          <a:xfrm>
            <a:off x="800100" y="2352675"/>
            <a:ext cx="1638300" cy="552450"/>
          </a:xfrm>
          <a:prstGeom prst="rect">
            <a:avLst/>
          </a:prstGeom>
          <a:noFill/>
          <a:ln w="0">
            <a:noFill/>
          </a:ln>
        </p:spPr>
        <p:txBody>
          <a:bodyPr lIns="0" tIns="0" rIns="0" bIns="0">
            <a:noAutofit/>
          </a:bodyPr>
          <a:lstStyle>
            <a:defPPr algn="l">
              <a:defRPr sz="3300" b="1">
                <a:solidFill>
                  <a:srgbClr val="226FBB"/>
                </a:solidFill>
                <a:latin typeface="Helvetica Neue"/>
                <a:ea typeface="Helvetica Neue"/>
                <a:cs typeface="Helvetica Neue"/>
              </a:defRPr>
            </a:defPPr>
          </a:lstStyle>
          <a:p>
            <a:pPr algn="l">
              <a:buNone/>
              <a:defRPr sz="3300" b="1">
                <a:solidFill>
                  <a:srgbClr val="226FBB"/>
                </a:solidFill>
                <a:latin typeface="Helvetica Neue"/>
                <a:ea typeface="Helvetica Neue"/>
                <a:cs typeface="Helvetica Neue"/>
              </a:defRPr>
            </a:pPr>
            <a:r>
              <a:rPr sz="3300" b="1">
                <a:solidFill>
                  <a:srgbClr val="226FBB"/>
                </a:solidFill>
                <a:latin typeface="Helvetica Neue"/>
                <a:ea typeface="Helvetica Neue"/>
                <a:cs typeface="Helvetica Neue"/>
              </a:rPr>
              <a:t>1A</a:t>
            </a:r>
          </a:p>
        </p:txBody>
      </p:sp>
      <p:sp>
        <p:nvSpPr>
          <p:cNvPr id="7" name="step-label-1">
            <a:extLst>
              <a:ext uri="{FF2B5EF4-FFF2-40B4-BE49-F238E27FC236}">
                <a16:creationId xmlns:a16="http://schemas.microsoft.com/office/drawing/2014/main" id="{4DC30255-3889-4188-B8AA-280D302DE422}"/>
              </a:ext>
            </a:extLst>
          </p:cNvPr>
          <p:cNvSpPr>
            <a:spLocks noGrp="1"/>
          </p:cNvSpPr>
          <p:nvPr/>
        </p:nvSpPr>
        <p:spPr>
          <a:xfrm>
            <a:off x="800100" y="3086100"/>
            <a:ext cx="1638300" cy="1028700"/>
          </a:xfrm>
          <a:prstGeom prst="rect">
            <a:avLst/>
          </a:prstGeom>
          <a:noFill/>
          <a:ln w="0">
            <a:noFill/>
          </a:ln>
        </p:spPr>
        <p:txBody>
          <a:bodyPr lIns="0" tIns="0" rIns="0" bIns="0">
            <a:noAutofit/>
          </a:bodyPr>
          <a:lstStyle>
            <a:defPPr algn="l">
              <a:defRPr sz="1875" b="1">
                <a:solidFill>
                  <a:srgbClr val="102B46"/>
                </a:solidFill>
                <a:latin typeface="Helvetica Neue"/>
                <a:ea typeface="Helvetica Neue"/>
                <a:cs typeface="Helvetica Neue"/>
              </a:defRPr>
            </a:defPPr>
          </a:lstStyle>
          <a:p>
            <a:pPr algn="l">
              <a:buNone/>
              <a:defRPr sz="1875" b="1">
                <a:solidFill>
                  <a:srgbClr val="102B46"/>
                </a:solidFill>
                <a:latin typeface="Helvetica Neue"/>
                <a:ea typeface="Helvetica Neue"/>
                <a:cs typeface="Helvetica Neue"/>
              </a:defRPr>
            </a:pPr>
            <a:r>
              <a:rPr sz="1875" b="1">
                <a:solidFill>
                  <a:srgbClr val="102B46"/>
                </a:solidFill>
                <a:latin typeface="Helvetica Neue"/>
                <a:ea typeface="Helvetica Neue"/>
                <a:cs typeface="Helvetica Neue"/>
              </a:rPr>
              <a:t>Project and</a:t>
            </a:r>
          </a:p>
          <a:p>
            <a:pPr algn="l">
              <a:buNone/>
              <a:defRPr sz="1875" b="1">
                <a:solidFill>
                  <a:srgbClr val="102B46"/>
                </a:solidFill>
                <a:latin typeface="Helvetica Neue"/>
                <a:ea typeface="Helvetica Neue"/>
                <a:cs typeface="Helvetica Neue"/>
              </a:defRPr>
            </a:pPr>
            <a:r>
              <a:rPr sz="1875" b="1">
                <a:solidFill>
                  <a:srgbClr val="102B46"/>
                </a:solidFill>
                <a:latin typeface="Helvetica Neue"/>
                <a:ea typeface="Helvetica Neue"/>
                <a:cs typeface="Helvetica Neue"/>
              </a:rPr>
              <a:t>problem</a:t>
            </a:r>
          </a:p>
        </p:txBody>
      </p:sp>
      <p:sp>
        <p:nvSpPr>
          <p:cNvPr id="8" name="process-step-2">
            <a:extLst>
              <a:ext uri="{FF2B5EF4-FFF2-40B4-BE49-F238E27FC236}">
                <a16:creationId xmlns:a16="http://schemas.microsoft.com/office/drawing/2014/main" id="{0E29CDB3-BE75-418A-BE42-EB2312AC8ECE}"/>
              </a:ext>
            </a:extLst>
          </p:cNvPr>
          <p:cNvSpPr>
            <a:spLocks noGrp="1"/>
          </p:cNvSpPr>
          <p:nvPr/>
        </p:nvSpPr>
        <p:spPr>
          <a:xfrm>
            <a:off x="2857500" y="2181225"/>
            <a:ext cx="2019300" cy="2095500"/>
          </a:xfrm>
          <a:prstGeom prst="rect">
            <a:avLst/>
          </a:prstGeom>
          <a:solidFill>
            <a:srgbClr val="F3F7FA"/>
          </a:solidFill>
          <a:ln w="9525">
            <a:solidFill>
              <a:srgbClr val="226FBB"/>
            </a:solidFill>
            <a:prstDash val="solid"/>
          </a:ln>
        </p:spPr>
      </p:sp>
      <p:sp>
        <p:nvSpPr>
          <p:cNvPr id="9" name="step-index-2">
            <a:extLst>
              <a:ext uri="{FF2B5EF4-FFF2-40B4-BE49-F238E27FC236}">
                <a16:creationId xmlns:a16="http://schemas.microsoft.com/office/drawing/2014/main" id="{59C18FC7-79AD-4624-91C1-A48C9B7E8F9A}"/>
              </a:ext>
            </a:extLst>
          </p:cNvPr>
          <p:cNvSpPr>
            <a:spLocks noGrp="1"/>
          </p:cNvSpPr>
          <p:nvPr/>
        </p:nvSpPr>
        <p:spPr>
          <a:xfrm>
            <a:off x="3048000" y="2352675"/>
            <a:ext cx="1638300" cy="552450"/>
          </a:xfrm>
          <a:prstGeom prst="rect">
            <a:avLst/>
          </a:prstGeom>
          <a:noFill/>
          <a:ln w="0">
            <a:noFill/>
          </a:ln>
        </p:spPr>
        <p:txBody>
          <a:bodyPr lIns="0" tIns="0" rIns="0" bIns="0">
            <a:noAutofit/>
          </a:bodyPr>
          <a:lstStyle>
            <a:defPPr algn="l">
              <a:defRPr sz="3300" b="1">
                <a:solidFill>
                  <a:srgbClr val="226FBB"/>
                </a:solidFill>
                <a:latin typeface="Helvetica Neue"/>
                <a:ea typeface="Helvetica Neue"/>
                <a:cs typeface="Helvetica Neue"/>
              </a:defRPr>
            </a:defPPr>
          </a:lstStyle>
          <a:p>
            <a:pPr algn="l">
              <a:buNone/>
              <a:defRPr sz="3300" b="1">
                <a:solidFill>
                  <a:srgbClr val="226FBB"/>
                </a:solidFill>
                <a:latin typeface="Helvetica Neue"/>
                <a:ea typeface="Helvetica Neue"/>
                <a:cs typeface="Helvetica Neue"/>
              </a:defRPr>
            </a:pPr>
            <a:r>
              <a:rPr sz="3300" b="1">
                <a:solidFill>
                  <a:srgbClr val="226FBB"/>
                </a:solidFill>
                <a:latin typeface="Helvetica Neue"/>
                <a:ea typeface="Helvetica Neue"/>
                <a:cs typeface="Helvetica Neue"/>
              </a:rPr>
              <a:t>1B</a:t>
            </a:r>
          </a:p>
        </p:txBody>
      </p:sp>
      <p:sp>
        <p:nvSpPr>
          <p:cNvPr id="10" name="step-label-2">
            <a:extLst>
              <a:ext uri="{FF2B5EF4-FFF2-40B4-BE49-F238E27FC236}">
                <a16:creationId xmlns:a16="http://schemas.microsoft.com/office/drawing/2014/main" id="{61464734-3CB9-4FF2-B3B9-FA911700A99A}"/>
              </a:ext>
            </a:extLst>
          </p:cNvPr>
          <p:cNvSpPr>
            <a:spLocks noGrp="1"/>
          </p:cNvSpPr>
          <p:nvPr/>
        </p:nvSpPr>
        <p:spPr>
          <a:xfrm>
            <a:off x="3048000" y="3086100"/>
            <a:ext cx="1638300" cy="1028700"/>
          </a:xfrm>
          <a:prstGeom prst="rect">
            <a:avLst/>
          </a:prstGeom>
          <a:noFill/>
          <a:ln w="0">
            <a:noFill/>
          </a:ln>
        </p:spPr>
        <p:txBody>
          <a:bodyPr lIns="0" tIns="0" rIns="0" bIns="0">
            <a:noAutofit/>
          </a:bodyPr>
          <a:lstStyle>
            <a:defPPr algn="l">
              <a:defRPr sz="1875" b="1">
                <a:solidFill>
                  <a:srgbClr val="102B46"/>
                </a:solidFill>
                <a:latin typeface="Helvetica Neue"/>
                <a:ea typeface="Helvetica Neue"/>
                <a:cs typeface="Helvetica Neue"/>
              </a:defRPr>
            </a:defPPr>
          </a:lstStyle>
          <a:p>
            <a:pPr algn="l">
              <a:buNone/>
              <a:defRPr sz="1875" b="1">
                <a:solidFill>
                  <a:srgbClr val="102B46"/>
                </a:solidFill>
                <a:latin typeface="Helvetica Neue"/>
                <a:ea typeface="Helvetica Neue"/>
                <a:cs typeface="Helvetica Neue"/>
              </a:defRPr>
            </a:pPr>
            <a:r>
              <a:rPr sz="1875" b="1">
                <a:solidFill>
                  <a:srgbClr val="102B46"/>
                </a:solidFill>
                <a:latin typeface="Helvetica Neue"/>
                <a:ea typeface="Helvetica Neue"/>
                <a:cs typeface="Helvetica Neue"/>
              </a:rPr>
              <a:t>Operational</a:t>
            </a:r>
          </a:p>
          <a:p>
            <a:pPr algn="l">
              <a:buNone/>
              <a:defRPr sz="1875" b="1">
                <a:solidFill>
                  <a:srgbClr val="102B46"/>
                </a:solidFill>
                <a:latin typeface="Helvetica Neue"/>
                <a:ea typeface="Helvetica Neue"/>
                <a:cs typeface="Helvetica Neue"/>
              </a:defRPr>
            </a:pPr>
            <a:r>
              <a:rPr sz="1875" b="1">
                <a:solidFill>
                  <a:srgbClr val="102B46"/>
                </a:solidFill>
                <a:latin typeface="Helvetica Neue"/>
                <a:ea typeface="Helvetica Neue"/>
                <a:cs typeface="Helvetica Neue"/>
              </a:rPr>
              <a:t>scenario</a:t>
            </a:r>
          </a:p>
        </p:txBody>
      </p:sp>
      <p:sp>
        <p:nvSpPr>
          <p:cNvPr id="12" name="process-step-3">
            <a:extLst>
              <a:ext uri="{FF2B5EF4-FFF2-40B4-BE49-F238E27FC236}">
                <a16:creationId xmlns:a16="http://schemas.microsoft.com/office/drawing/2014/main" id="{1C6D1334-A6D8-43A2-BC96-506B86DD07E9}"/>
              </a:ext>
            </a:extLst>
          </p:cNvPr>
          <p:cNvSpPr>
            <a:spLocks noGrp="1"/>
          </p:cNvSpPr>
          <p:nvPr/>
        </p:nvSpPr>
        <p:spPr>
          <a:xfrm>
            <a:off x="5105400" y="2181225"/>
            <a:ext cx="2019300" cy="2095500"/>
          </a:xfrm>
          <a:prstGeom prst="rect">
            <a:avLst/>
          </a:prstGeom>
          <a:solidFill>
            <a:srgbClr val="F3F7FA"/>
          </a:solidFill>
          <a:ln w="9525">
            <a:solidFill>
              <a:srgbClr val="226FBB"/>
            </a:solidFill>
            <a:prstDash val="solid"/>
          </a:ln>
        </p:spPr>
      </p:sp>
      <p:sp>
        <p:nvSpPr>
          <p:cNvPr id="13" name="step-index-3">
            <a:extLst>
              <a:ext uri="{FF2B5EF4-FFF2-40B4-BE49-F238E27FC236}">
                <a16:creationId xmlns:a16="http://schemas.microsoft.com/office/drawing/2014/main" id="{80A05D29-E1B5-4AD6-8E29-9835422C773B}"/>
              </a:ext>
            </a:extLst>
          </p:cNvPr>
          <p:cNvSpPr>
            <a:spLocks noGrp="1"/>
          </p:cNvSpPr>
          <p:nvPr/>
        </p:nvSpPr>
        <p:spPr>
          <a:xfrm>
            <a:off x="5295900" y="2352675"/>
            <a:ext cx="1638300" cy="552450"/>
          </a:xfrm>
          <a:prstGeom prst="rect">
            <a:avLst/>
          </a:prstGeom>
          <a:noFill/>
          <a:ln w="0">
            <a:noFill/>
          </a:ln>
        </p:spPr>
        <p:txBody>
          <a:bodyPr lIns="0" tIns="0" rIns="0" bIns="0">
            <a:noAutofit/>
          </a:bodyPr>
          <a:lstStyle>
            <a:defPPr algn="l">
              <a:defRPr sz="3300" b="1">
                <a:solidFill>
                  <a:srgbClr val="226FBB"/>
                </a:solidFill>
                <a:latin typeface="Helvetica Neue"/>
                <a:ea typeface="Helvetica Neue"/>
                <a:cs typeface="Helvetica Neue"/>
              </a:defRPr>
            </a:defPPr>
          </a:lstStyle>
          <a:p>
            <a:pPr algn="l">
              <a:buNone/>
              <a:defRPr sz="3300" b="1">
                <a:solidFill>
                  <a:srgbClr val="226FBB"/>
                </a:solidFill>
                <a:latin typeface="Helvetica Neue"/>
                <a:ea typeface="Helvetica Neue"/>
                <a:cs typeface="Helvetica Neue"/>
              </a:defRPr>
            </a:pPr>
            <a:r>
              <a:rPr sz="3300" b="1">
                <a:solidFill>
                  <a:srgbClr val="226FBB"/>
                </a:solidFill>
                <a:latin typeface="Helvetica Neue"/>
                <a:ea typeface="Helvetica Neue"/>
                <a:cs typeface="Helvetica Neue"/>
              </a:rPr>
              <a:t>1C</a:t>
            </a:r>
          </a:p>
        </p:txBody>
      </p:sp>
      <p:sp>
        <p:nvSpPr>
          <p:cNvPr id="14" name="step-label-3">
            <a:extLst>
              <a:ext uri="{FF2B5EF4-FFF2-40B4-BE49-F238E27FC236}">
                <a16:creationId xmlns:a16="http://schemas.microsoft.com/office/drawing/2014/main" id="{6ED7D87B-F10A-47D2-99C9-A2A637E3F9C5}"/>
              </a:ext>
            </a:extLst>
          </p:cNvPr>
          <p:cNvSpPr>
            <a:spLocks noGrp="1"/>
          </p:cNvSpPr>
          <p:nvPr/>
        </p:nvSpPr>
        <p:spPr>
          <a:xfrm>
            <a:off x="5295900" y="3086100"/>
            <a:ext cx="1638300" cy="1028700"/>
          </a:xfrm>
          <a:prstGeom prst="rect">
            <a:avLst/>
          </a:prstGeom>
          <a:noFill/>
          <a:ln w="0">
            <a:noFill/>
          </a:ln>
        </p:spPr>
        <p:txBody>
          <a:bodyPr lIns="0" tIns="0" rIns="0" bIns="0">
            <a:noAutofit/>
          </a:bodyPr>
          <a:lstStyle>
            <a:defPPr algn="l">
              <a:defRPr sz="1875" b="1">
                <a:solidFill>
                  <a:srgbClr val="102B46"/>
                </a:solidFill>
                <a:latin typeface="Helvetica Neue"/>
                <a:ea typeface="Helvetica Neue"/>
                <a:cs typeface="Helvetica Neue"/>
              </a:defRPr>
            </a:defPPr>
          </a:lstStyle>
          <a:p>
            <a:pPr algn="l">
              <a:buNone/>
              <a:defRPr sz="1875" b="1">
                <a:solidFill>
                  <a:srgbClr val="102B46"/>
                </a:solidFill>
                <a:latin typeface="Helvetica Neue"/>
                <a:ea typeface="Helvetica Neue"/>
                <a:cs typeface="Helvetica Neue"/>
              </a:defRPr>
            </a:pPr>
            <a:r>
              <a:rPr sz="1875" b="1">
                <a:solidFill>
                  <a:srgbClr val="102B46"/>
                </a:solidFill>
                <a:latin typeface="Helvetica Neue"/>
                <a:ea typeface="Helvetica Neue"/>
                <a:cs typeface="Helvetica Neue"/>
              </a:rPr>
              <a:t>Patents and</a:t>
            </a:r>
          </a:p>
          <a:p>
            <a:pPr algn="l">
              <a:buNone/>
              <a:defRPr sz="1875" b="1">
                <a:solidFill>
                  <a:srgbClr val="102B46"/>
                </a:solidFill>
                <a:latin typeface="Helvetica Neue"/>
                <a:ea typeface="Helvetica Neue"/>
                <a:cs typeface="Helvetica Neue"/>
              </a:defRPr>
            </a:pPr>
            <a:r>
              <a:rPr sz="1875" b="1">
                <a:solidFill>
                  <a:srgbClr val="102B46"/>
                </a:solidFill>
                <a:latin typeface="Helvetica Neue"/>
                <a:ea typeface="Helvetica Neue"/>
                <a:cs typeface="Helvetica Neue"/>
              </a:rPr>
              <a:t>market</a:t>
            </a:r>
          </a:p>
        </p:txBody>
      </p:sp>
      <p:sp>
        <p:nvSpPr>
          <p:cNvPr id="16" name="process-step-4">
            <a:extLst>
              <a:ext uri="{FF2B5EF4-FFF2-40B4-BE49-F238E27FC236}">
                <a16:creationId xmlns:a16="http://schemas.microsoft.com/office/drawing/2014/main" id="{D8A8D8FB-815F-4191-9A01-48E791017B43}"/>
              </a:ext>
            </a:extLst>
          </p:cNvPr>
          <p:cNvSpPr>
            <a:spLocks noGrp="1"/>
          </p:cNvSpPr>
          <p:nvPr/>
        </p:nvSpPr>
        <p:spPr>
          <a:xfrm>
            <a:off x="7353300" y="2181225"/>
            <a:ext cx="2019300" cy="2095500"/>
          </a:xfrm>
          <a:prstGeom prst="rect">
            <a:avLst/>
          </a:prstGeom>
          <a:solidFill>
            <a:srgbClr val="F3F7FA"/>
          </a:solidFill>
          <a:ln w="9525">
            <a:solidFill>
              <a:srgbClr val="226FBB"/>
            </a:solidFill>
            <a:prstDash val="solid"/>
          </a:ln>
        </p:spPr>
      </p:sp>
      <p:sp>
        <p:nvSpPr>
          <p:cNvPr id="17" name="step-index-4">
            <a:extLst>
              <a:ext uri="{FF2B5EF4-FFF2-40B4-BE49-F238E27FC236}">
                <a16:creationId xmlns:a16="http://schemas.microsoft.com/office/drawing/2014/main" id="{3632B6FB-23F9-43D4-8F1B-439A43B73CA7}"/>
              </a:ext>
            </a:extLst>
          </p:cNvPr>
          <p:cNvSpPr>
            <a:spLocks noGrp="1"/>
          </p:cNvSpPr>
          <p:nvPr/>
        </p:nvSpPr>
        <p:spPr>
          <a:xfrm>
            <a:off x="7543800" y="2352675"/>
            <a:ext cx="1638300" cy="552450"/>
          </a:xfrm>
          <a:prstGeom prst="rect">
            <a:avLst/>
          </a:prstGeom>
          <a:noFill/>
          <a:ln w="0">
            <a:noFill/>
          </a:ln>
        </p:spPr>
        <p:txBody>
          <a:bodyPr lIns="0" tIns="0" rIns="0" bIns="0">
            <a:noAutofit/>
          </a:bodyPr>
          <a:lstStyle>
            <a:defPPr algn="l">
              <a:defRPr sz="3300" b="1">
                <a:solidFill>
                  <a:srgbClr val="226FBB"/>
                </a:solidFill>
                <a:latin typeface="Helvetica Neue"/>
                <a:ea typeface="Helvetica Neue"/>
                <a:cs typeface="Helvetica Neue"/>
              </a:defRPr>
            </a:defPPr>
          </a:lstStyle>
          <a:p>
            <a:pPr algn="l">
              <a:buNone/>
              <a:defRPr sz="3300" b="1">
                <a:solidFill>
                  <a:srgbClr val="226FBB"/>
                </a:solidFill>
                <a:latin typeface="Helvetica Neue"/>
                <a:ea typeface="Helvetica Neue"/>
                <a:cs typeface="Helvetica Neue"/>
              </a:defRPr>
            </a:pPr>
            <a:r>
              <a:rPr sz="3300" b="1">
                <a:solidFill>
                  <a:srgbClr val="226FBB"/>
                </a:solidFill>
                <a:latin typeface="Helvetica Neue"/>
                <a:ea typeface="Helvetica Neue"/>
                <a:cs typeface="Helvetica Neue"/>
              </a:rPr>
              <a:t>1D</a:t>
            </a:r>
          </a:p>
        </p:txBody>
      </p:sp>
      <p:sp>
        <p:nvSpPr>
          <p:cNvPr id="18" name="step-label-4">
            <a:extLst>
              <a:ext uri="{FF2B5EF4-FFF2-40B4-BE49-F238E27FC236}">
                <a16:creationId xmlns:a16="http://schemas.microsoft.com/office/drawing/2014/main" id="{8731FB39-0E3D-4076-BCD5-0230759E89E9}"/>
              </a:ext>
            </a:extLst>
          </p:cNvPr>
          <p:cNvSpPr>
            <a:spLocks noGrp="1"/>
          </p:cNvSpPr>
          <p:nvPr/>
        </p:nvSpPr>
        <p:spPr>
          <a:xfrm>
            <a:off x="7543800" y="3086100"/>
            <a:ext cx="1638300" cy="1028700"/>
          </a:xfrm>
          <a:prstGeom prst="rect">
            <a:avLst/>
          </a:prstGeom>
          <a:noFill/>
          <a:ln w="0">
            <a:noFill/>
          </a:ln>
        </p:spPr>
        <p:txBody>
          <a:bodyPr lIns="0" tIns="0" rIns="0" bIns="0">
            <a:noAutofit/>
          </a:bodyPr>
          <a:lstStyle>
            <a:defPPr algn="l">
              <a:defRPr sz="1875" b="1">
                <a:solidFill>
                  <a:srgbClr val="102B46"/>
                </a:solidFill>
                <a:latin typeface="Helvetica Neue"/>
                <a:ea typeface="Helvetica Neue"/>
                <a:cs typeface="Helvetica Neue"/>
              </a:defRPr>
            </a:defPPr>
          </a:lstStyle>
          <a:p>
            <a:pPr algn="l">
              <a:buNone/>
              <a:defRPr sz="1875" b="1">
                <a:solidFill>
                  <a:srgbClr val="102B46"/>
                </a:solidFill>
                <a:latin typeface="Helvetica Neue"/>
                <a:ea typeface="Helvetica Neue"/>
                <a:cs typeface="Helvetica Neue"/>
              </a:defRPr>
            </a:pPr>
            <a:r>
              <a:rPr sz="1875" b="1">
                <a:solidFill>
                  <a:srgbClr val="102B46"/>
                </a:solidFill>
                <a:latin typeface="Helvetica Neue"/>
                <a:ea typeface="Helvetica Neue"/>
                <a:cs typeface="Helvetica Neue"/>
              </a:rPr>
              <a:t>System parts</a:t>
            </a:r>
          </a:p>
          <a:p>
            <a:pPr algn="l">
              <a:buNone/>
              <a:defRPr sz="1875" b="1">
                <a:solidFill>
                  <a:srgbClr val="102B46"/>
                </a:solidFill>
                <a:latin typeface="Helvetica Neue"/>
                <a:ea typeface="Helvetica Neue"/>
                <a:cs typeface="Helvetica Neue"/>
              </a:defRPr>
            </a:pPr>
            <a:r>
              <a:rPr sz="1875" b="1">
                <a:solidFill>
                  <a:srgbClr val="102B46"/>
                </a:solidFill>
                <a:latin typeface="Helvetica Neue"/>
                <a:ea typeface="Helvetica Neue"/>
                <a:cs typeface="Helvetica Neue"/>
              </a:rPr>
              <a:t>and value</a:t>
            </a:r>
          </a:p>
        </p:txBody>
      </p:sp>
      <p:sp>
        <p:nvSpPr>
          <p:cNvPr id="20" name="process-step-5">
            <a:extLst>
              <a:ext uri="{FF2B5EF4-FFF2-40B4-BE49-F238E27FC236}">
                <a16:creationId xmlns:a16="http://schemas.microsoft.com/office/drawing/2014/main" id="{B9CB9A35-C07D-4BAA-B222-F04C982FC592}"/>
              </a:ext>
            </a:extLst>
          </p:cNvPr>
          <p:cNvSpPr>
            <a:spLocks noGrp="1"/>
          </p:cNvSpPr>
          <p:nvPr/>
        </p:nvSpPr>
        <p:spPr>
          <a:xfrm>
            <a:off x="9601200" y="2181225"/>
            <a:ext cx="2019300" cy="2095500"/>
          </a:xfrm>
          <a:prstGeom prst="rect">
            <a:avLst/>
          </a:prstGeom>
          <a:solidFill>
            <a:srgbClr val="F3F7FA"/>
          </a:solidFill>
          <a:ln w="9525">
            <a:solidFill>
              <a:srgbClr val="226FBB"/>
            </a:solidFill>
            <a:prstDash val="solid"/>
          </a:ln>
        </p:spPr>
      </p:sp>
      <p:sp>
        <p:nvSpPr>
          <p:cNvPr id="21" name="step-index-5">
            <a:extLst>
              <a:ext uri="{FF2B5EF4-FFF2-40B4-BE49-F238E27FC236}">
                <a16:creationId xmlns:a16="http://schemas.microsoft.com/office/drawing/2014/main" id="{412EAADB-E16D-4DFE-AAF2-8AF72E5CC8AC}"/>
              </a:ext>
            </a:extLst>
          </p:cNvPr>
          <p:cNvSpPr>
            <a:spLocks noGrp="1"/>
          </p:cNvSpPr>
          <p:nvPr/>
        </p:nvSpPr>
        <p:spPr>
          <a:xfrm>
            <a:off x="9791700" y="2352675"/>
            <a:ext cx="1638300" cy="552450"/>
          </a:xfrm>
          <a:prstGeom prst="rect">
            <a:avLst/>
          </a:prstGeom>
          <a:noFill/>
          <a:ln w="0">
            <a:noFill/>
          </a:ln>
        </p:spPr>
        <p:txBody>
          <a:bodyPr lIns="0" tIns="0" rIns="0" bIns="0">
            <a:noAutofit/>
          </a:bodyPr>
          <a:lstStyle>
            <a:defPPr algn="l">
              <a:defRPr sz="3300" b="1">
                <a:solidFill>
                  <a:srgbClr val="226FBB"/>
                </a:solidFill>
                <a:latin typeface="Helvetica Neue"/>
                <a:ea typeface="Helvetica Neue"/>
                <a:cs typeface="Helvetica Neue"/>
              </a:defRPr>
            </a:defPPr>
          </a:lstStyle>
          <a:p>
            <a:pPr algn="l">
              <a:buNone/>
              <a:defRPr sz="3300" b="1">
                <a:solidFill>
                  <a:srgbClr val="226FBB"/>
                </a:solidFill>
                <a:latin typeface="Helvetica Neue"/>
                <a:ea typeface="Helvetica Neue"/>
                <a:cs typeface="Helvetica Neue"/>
              </a:defRPr>
            </a:pPr>
            <a:r>
              <a:rPr sz="3300" b="1">
                <a:solidFill>
                  <a:srgbClr val="226FBB"/>
                </a:solidFill>
                <a:latin typeface="Helvetica Neue"/>
                <a:ea typeface="Helvetica Neue"/>
                <a:cs typeface="Helvetica Neue"/>
              </a:rPr>
              <a:t>1E</a:t>
            </a:r>
          </a:p>
        </p:txBody>
      </p:sp>
      <p:sp>
        <p:nvSpPr>
          <p:cNvPr id="22" name="step-label-5">
            <a:extLst>
              <a:ext uri="{FF2B5EF4-FFF2-40B4-BE49-F238E27FC236}">
                <a16:creationId xmlns:a16="http://schemas.microsoft.com/office/drawing/2014/main" id="{13A11F43-42FF-4E9D-BB3D-D3DA4C818B96}"/>
              </a:ext>
            </a:extLst>
          </p:cNvPr>
          <p:cNvSpPr>
            <a:spLocks noGrp="1"/>
          </p:cNvSpPr>
          <p:nvPr/>
        </p:nvSpPr>
        <p:spPr>
          <a:xfrm>
            <a:off x="9791700" y="3086100"/>
            <a:ext cx="1638300" cy="1028700"/>
          </a:xfrm>
          <a:prstGeom prst="rect">
            <a:avLst/>
          </a:prstGeom>
          <a:noFill/>
          <a:ln w="0">
            <a:noFill/>
          </a:ln>
        </p:spPr>
        <p:txBody>
          <a:bodyPr lIns="0" tIns="0" rIns="0" bIns="0">
            <a:noAutofit/>
          </a:bodyPr>
          <a:lstStyle>
            <a:defPPr algn="l">
              <a:defRPr sz="1875" b="1">
                <a:solidFill>
                  <a:srgbClr val="102B46"/>
                </a:solidFill>
                <a:latin typeface="Helvetica Neue"/>
                <a:ea typeface="Helvetica Neue"/>
                <a:cs typeface="Helvetica Neue"/>
              </a:defRPr>
            </a:defPPr>
          </a:lstStyle>
          <a:p>
            <a:pPr algn="l">
              <a:buNone/>
              <a:defRPr sz="1875" b="1">
                <a:solidFill>
                  <a:srgbClr val="102B46"/>
                </a:solidFill>
                <a:latin typeface="Helvetica Neue"/>
                <a:ea typeface="Helvetica Neue"/>
                <a:cs typeface="Helvetica Neue"/>
              </a:defRPr>
            </a:pPr>
            <a:r>
              <a:rPr sz="1875" b="1">
                <a:solidFill>
                  <a:srgbClr val="102B46"/>
                </a:solidFill>
                <a:latin typeface="Helvetica Neue"/>
                <a:ea typeface="Helvetica Neue"/>
                <a:cs typeface="Helvetica Neue"/>
              </a:rPr>
              <a:t>Concept</a:t>
            </a:r>
          </a:p>
          <a:p>
            <a:pPr algn="l">
              <a:buNone/>
              <a:defRPr sz="1875" b="1">
                <a:solidFill>
                  <a:srgbClr val="102B46"/>
                </a:solidFill>
                <a:latin typeface="Helvetica Neue"/>
                <a:ea typeface="Helvetica Neue"/>
                <a:cs typeface="Helvetica Neue"/>
              </a:defRPr>
            </a:pPr>
            <a:r>
              <a:rPr sz="1875" b="1">
                <a:solidFill>
                  <a:srgbClr val="102B46"/>
                </a:solidFill>
                <a:latin typeface="Helvetica Neue"/>
                <a:ea typeface="Helvetica Neue"/>
                <a:cs typeface="Helvetica Neue"/>
              </a:rPr>
              <a:t>checkpoint</a:t>
            </a:r>
          </a:p>
        </p:txBody>
      </p:sp>
      <p:sp>
        <p:nvSpPr>
          <p:cNvPr id="24" name="bottom-label">
            <a:extLst>
              <a:ext uri="{FF2B5EF4-FFF2-40B4-BE49-F238E27FC236}">
                <a16:creationId xmlns:a16="http://schemas.microsoft.com/office/drawing/2014/main" id="{0DAEDAA6-6502-4C46-9AA4-D864DFFC982E}"/>
              </a:ext>
            </a:extLst>
          </p:cNvPr>
          <p:cNvSpPr>
            <a:spLocks noGrp="1"/>
          </p:cNvSpPr>
          <p:nvPr/>
        </p:nvSpPr>
        <p:spPr>
          <a:xfrm>
            <a:off x="609600" y="5229225"/>
            <a:ext cx="2095500" cy="285750"/>
          </a:xfrm>
          <a:prstGeom prst="rect">
            <a:avLst/>
          </a:prstGeom>
          <a:noFill/>
          <a:ln w="0">
            <a:noFill/>
          </a:ln>
        </p:spPr>
        <p:txBody>
          <a:bodyPr lIns="0" tIns="0" rIns="0" bIns="0">
            <a:noAutofit/>
          </a:bodyPr>
          <a:lstStyle>
            <a:defPPr algn="l">
              <a:defRPr sz="1350" b="1">
                <a:solidFill>
                  <a:srgbClr val="226FBB"/>
                </a:solidFill>
                <a:latin typeface="Helvetica Neue"/>
                <a:ea typeface="Helvetica Neue"/>
                <a:cs typeface="Helvetica Neue"/>
              </a:defRPr>
            </a:defPPr>
          </a:lstStyle>
          <a:p>
            <a:pPr algn="l">
              <a:buNone/>
              <a:defRPr sz="1350" b="1">
                <a:solidFill>
                  <a:srgbClr val="226FBB"/>
                </a:solidFill>
                <a:latin typeface="Helvetica Neue"/>
                <a:ea typeface="Helvetica Neue"/>
                <a:cs typeface="Helvetica Neue"/>
              </a:defRPr>
            </a:pPr>
            <a:r>
              <a:rPr sz="1350" b="1">
                <a:solidFill>
                  <a:srgbClr val="226FBB"/>
                </a:solidFill>
                <a:latin typeface="Helvetica Neue"/>
                <a:ea typeface="Helvetica Neue"/>
                <a:cs typeface="Helvetica Neue"/>
              </a:rPr>
              <a:t>SESSION OUTPUT</a:t>
            </a:r>
          </a:p>
        </p:txBody>
      </p:sp>
      <p:sp>
        <p:nvSpPr>
          <p:cNvPr id="25" name="bottom-value">
            <a:extLst>
              <a:ext uri="{FF2B5EF4-FFF2-40B4-BE49-F238E27FC236}">
                <a16:creationId xmlns:a16="http://schemas.microsoft.com/office/drawing/2014/main" id="{EEFCEA9D-D009-46A6-A7F4-5890D70CF2CE}"/>
              </a:ext>
            </a:extLst>
          </p:cNvPr>
          <p:cNvSpPr>
            <a:spLocks noGrp="1"/>
          </p:cNvSpPr>
          <p:nvPr/>
        </p:nvSpPr>
        <p:spPr>
          <a:xfrm>
            <a:off x="609600" y="5581650"/>
            <a:ext cx="10858500" cy="533400"/>
          </a:xfrm>
          <a:prstGeom prst="rect">
            <a:avLst/>
          </a:prstGeom>
          <a:noFill/>
          <a:ln w="0">
            <a:noFill/>
          </a:ln>
        </p:spPr>
        <p:txBody>
          <a:bodyPr lIns="0" tIns="0" rIns="0" bIns="0">
            <a:noAutofit/>
          </a:bodyPr>
          <a:lstStyle>
            <a:defPPr algn="l">
              <a:defRPr sz="2025" b="0">
                <a:solidFill>
                  <a:srgbClr val="233A4B"/>
                </a:solidFill>
                <a:latin typeface="Helvetica Neue"/>
                <a:ea typeface="Helvetica Neue"/>
                <a:cs typeface="Helvetica Neue"/>
              </a:defRPr>
            </a:defPPr>
          </a:lstStyle>
          <a:p>
            <a:pPr algn="l">
              <a:buNone/>
              <a:defRPr sz="2025" b="0">
                <a:solidFill>
                  <a:srgbClr val="233A4B"/>
                </a:solidFill>
                <a:latin typeface="Helvetica Neue"/>
                <a:ea typeface="Helvetica Neue"/>
                <a:cs typeface="Helvetica Neue"/>
              </a:defRPr>
            </a:pPr>
            <a:r>
              <a:rPr sz="2025" b="0">
                <a:solidFill>
                  <a:srgbClr val="233A4B"/>
                </a:solidFill>
                <a:latin typeface="Helvetica Neue"/>
                <a:ea typeface="Helvetica Neue"/>
                <a:cs typeface="Helvetica Neue"/>
              </a:rPr>
              <a:t>Concept V1 + system sketch + initial evidence</a:t>
            </a:r>
          </a:p>
        </p:txBody>
      </p:sp>
      <p:sp>
        <p:nvSpPr>
          <p:cNvPr id="26" name="review-cue">
            <a:extLst>
              <a:ext uri="{FF2B5EF4-FFF2-40B4-BE49-F238E27FC236}">
                <a16:creationId xmlns:a16="http://schemas.microsoft.com/office/drawing/2014/main" id="{632436AB-CB54-4497-A326-1063D47F7118}"/>
              </a:ext>
            </a:extLst>
          </p:cNvPr>
          <p:cNvSpPr>
            <a:spLocks noGrp="1"/>
          </p:cNvSpPr>
          <p:nvPr/>
        </p:nvSpPr>
        <p:spPr>
          <a:xfrm>
            <a:off x="609600" y="6153150"/>
            <a:ext cx="10668000" cy="266700"/>
          </a:xfrm>
          <a:prstGeom prst="rect">
            <a:avLst/>
          </a:prstGeom>
          <a:noFill/>
          <a:ln w="0">
            <a:noFill/>
          </a:ln>
        </p:spPr>
        <p:txBody>
          <a:bodyPr lIns="0" tIns="0" rIns="0" bIns="0">
            <a:noAutofit/>
          </a:bodyPr>
          <a:lstStyle>
            <a:defPPr algn="l">
              <a:defRPr sz="1650" b="0">
                <a:solidFill>
                  <a:srgbClr val="607482"/>
                </a:solidFill>
                <a:latin typeface="Helvetica Neue"/>
                <a:ea typeface="Helvetica Neue"/>
                <a:cs typeface="Helvetica Neue"/>
              </a:defRPr>
            </a:defPPr>
          </a:lstStyle>
          <a:p>
            <a:pPr algn="l">
              <a:buNone/>
              <a:defRPr sz="1650" b="0">
                <a:solidFill>
                  <a:srgbClr val="607482"/>
                </a:solidFill>
                <a:latin typeface="Helvetica Neue"/>
                <a:ea typeface="Helvetica Neue"/>
                <a:cs typeface="Helvetica Neue"/>
              </a:defRPr>
            </a:pPr>
            <a:r>
              <a:rPr sz="1650" b="0">
                <a:solidFill>
                  <a:srgbClr val="607482"/>
                </a:solidFill>
                <a:latin typeface="Helvetica Neue"/>
                <a:ea typeface="Helvetica Neue"/>
                <a:cs typeface="Helvetica Neue"/>
              </a:rPr>
              <a:t>Use the checkpoint questions to prepare for expert feedback.</a:t>
            </a:r>
          </a:p>
        </p:txBody>
      </p:sp>
      <p:pic>
        <p:nvPicPr>
          <p:cNvPr id="28" name="Picture 27">
            <a:extLst>
              <a:ext uri="{FF2B5EF4-FFF2-40B4-BE49-F238E27FC236}">
                <a16:creationId xmlns:a16="http://schemas.microsoft.com/office/drawing/2014/main" id="{F3B79641-AF84-41D5-A564-791A4F5BEF01}"/>
              </a:ext>
            </a:extLst>
          </p:cNvPr>
          <p:cNvPicPr>
            <a:picLocks noChangeAspect="1"/>
          </p:cNvPicPr>
          <p:nvPr/>
        </p:nvPicPr>
        <p:blipFill>
          <a:blip r:embed="rId3"/>
          <a:stretch/>
        </p:blipFill>
        <p:spPr>
          <a:xfrm>
            <a:off x="2000250" y="2428875"/>
            <a:ext cx="400050" cy="400050"/>
          </a:xfrm>
          <a:prstGeom prst="rect">
            <a:avLst/>
          </a:prstGeom>
        </p:spPr>
      </p:pic>
      <p:pic>
        <p:nvPicPr>
          <p:cNvPr id="29" name="Picture 28">
            <a:extLst>
              <a:ext uri="{FF2B5EF4-FFF2-40B4-BE49-F238E27FC236}">
                <a16:creationId xmlns:a16="http://schemas.microsoft.com/office/drawing/2014/main" id="{AD90C500-EC91-41EC-9EBF-B3E988644CBA}"/>
              </a:ext>
            </a:extLst>
          </p:cNvPr>
          <p:cNvPicPr>
            <a:picLocks noChangeAspect="1"/>
          </p:cNvPicPr>
          <p:nvPr/>
        </p:nvPicPr>
        <p:blipFill>
          <a:blip r:embed="rId4"/>
          <a:stretch/>
        </p:blipFill>
        <p:spPr>
          <a:xfrm>
            <a:off x="4248150" y="2428875"/>
            <a:ext cx="400050" cy="400050"/>
          </a:xfrm>
          <a:prstGeom prst="rect">
            <a:avLst/>
          </a:prstGeom>
        </p:spPr>
      </p:pic>
      <p:pic>
        <p:nvPicPr>
          <p:cNvPr id="30" name="Picture 29">
            <a:extLst>
              <a:ext uri="{FF2B5EF4-FFF2-40B4-BE49-F238E27FC236}">
                <a16:creationId xmlns:a16="http://schemas.microsoft.com/office/drawing/2014/main" id="{609C841A-596E-4169-85BF-D6DD6B8414C6}"/>
              </a:ext>
            </a:extLst>
          </p:cNvPr>
          <p:cNvPicPr>
            <a:picLocks noChangeAspect="1"/>
          </p:cNvPicPr>
          <p:nvPr/>
        </p:nvPicPr>
        <p:blipFill>
          <a:blip r:embed="rId5"/>
          <a:stretch/>
        </p:blipFill>
        <p:spPr>
          <a:xfrm>
            <a:off x="6496050" y="2428875"/>
            <a:ext cx="400050" cy="400050"/>
          </a:xfrm>
          <a:prstGeom prst="rect">
            <a:avLst/>
          </a:prstGeom>
        </p:spPr>
      </p:pic>
      <p:pic>
        <p:nvPicPr>
          <p:cNvPr id="31" name="Picture 30">
            <a:extLst>
              <a:ext uri="{FF2B5EF4-FFF2-40B4-BE49-F238E27FC236}">
                <a16:creationId xmlns:a16="http://schemas.microsoft.com/office/drawing/2014/main" id="{773FC2CB-234B-413C-8769-1E87F1F673ED}"/>
              </a:ext>
            </a:extLst>
          </p:cNvPr>
          <p:cNvPicPr>
            <a:picLocks noChangeAspect="1"/>
          </p:cNvPicPr>
          <p:nvPr/>
        </p:nvPicPr>
        <p:blipFill>
          <a:blip r:embed="rId6"/>
          <a:stretch/>
        </p:blipFill>
        <p:spPr>
          <a:xfrm>
            <a:off x="8743950" y="2428875"/>
            <a:ext cx="400050" cy="400050"/>
          </a:xfrm>
          <a:prstGeom prst="rect">
            <a:avLst/>
          </a:prstGeom>
        </p:spPr>
      </p:pic>
      <p:pic>
        <p:nvPicPr>
          <p:cNvPr id="32" name="Picture 31">
            <a:extLst>
              <a:ext uri="{FF2B5EF4-FFF2-40B4-BE49-F238E27FC236}">
                <a16:creationId xmlns:a16="http://schemas.microsoft.com/office/drawing/2014/main" id="{5AED6D9F-AE74-42A0-AE58-2C7E22C33C50}"/>
              </a:ext>
            </a:extLst>
          </p:cNvPr>
          <p:cNvPicPr>
            <a:picLocks noChangeAspect="1"/>
          </p:cNvPicPr>
          <p:nvPr/>
        </p:nvPicPr>
        <p:blipFill>
          <a:blip r:embed="rId7"/>
          <a:stretch/>
        </p:blipFill>
        <p:spPr>
          <a:xfrm>
            <a:off x="10991850" y="2428875"/>
            <a:ext cx="400050" cy="400050"/>
          </a:xfrm>
          <a:prstGeom prst="rect">
            <a:avLst/>
          </a:prstGeom>
        </p:spPr>
      </p:pic>
      <p:pic>
        <p:nvPicPr>
          <p:cNvPr id="33" name="Picture 32" descr="ESPACENET: Patent database reference in Europe — OVTT">
            <a:extLst>
              <a:ext uri="{FF2B5EF4-FFF2-40B4-BE49-F238E27FC236}">
                <a16:creationId xmlns:a16="http://schemas.microsoft.com/office/drawing/2014/main" id="{C6A80B83-AD7A-4BDB-EC5A-390BCD32CC59}"/>
              </a:ext>
            </a:extLst>
          </p:cNvPr>
          <p:cNvPicPr>
            <a:picLocks noChangeAspect="1"/>
          </p:cNvPicPr>
          <p:nvPr/>
        </p:nvPicPr>
        <p:blipFill>
          <a:blip r:embed="rId8"/>
          <a:stretch>
            <a:fillRect/>
          </a:stretch>
        </p:blipFill>
        <p:spPr>
          <a:xfrm>
            <a:off x="5105400" y="4371974"/>
            <a:ext cx="1879600" cy="533400"/>
          </a:xfrm>
          <a:prstGeom prst="rect">
            <a:avLst/>
          </a:prstGeom>
        </p:spPr>
      </p:pic>
      <p:pic>
        <p:nvPicPr>
          <p:cNvPr id="34" name="Picture 33" descr="Accueil - Institut de la Propriété Intellectuelle Luxembourg">
            <a:extLst>
              <a:ext uri="{FF2B5EF4-FFF2-40B4-BE49-F238E27FC236}">
                <a16:creationId xmlns:a16="http://schemas.microsoft.com/office/drawing/2014/main" id="{118782BA-6F21-1A6B-B7CE-B00E28814BC6}"/>
              </a:ext>
            </a:extLst>
          </p:cNvPr>
          <p:cNvPicPr>
            <a:picLocks noChangeAspect="1"/>
          </p:cNvPicPr>
          <p:nvPr/>
        </p:nvPicPr>
        <p:blipFill>
          <a:blip r:embed="rId9"/>
          <a:stretch>
            <a:fillRect/>
          </a:stretch>
        </p:blipFill>
        <p:spPr>
          <a:xfrm>
            <a:off x="3654772" y="4410074"/>
            <a:ext cx="1336328" cy="695325"/>
          </a:xfrm>
          <a:prstGeom prst="rect">
            <a:avLst/>
          </a:prstGeom>
        </p:spPr>
      </p:pic>
    </p:spTree>
    <p:extLst>
      <p:ext uri="{BB962C8B-B14F-4D97-AF65-F5344CB8AC3E}">
        <p14:creationId xmlns:p14="http://schemas.microsoft.com/office/powerpoint/2010/main" val="3800450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section-label">
            <a:extLst>
              <a:ext uri="{FF2B5EF4-FFF2-40B4-BE49-F238E27FC236}">
                <a16:creationId xmlns:a16="http://schemas.microsoft.com/office/drawing/2014/main" id="{78D999A5-AEE7-43BF-962A-A30C40256BC0}"/>
              </a:ext>
            </a:extLst>
          </p:cNvPr>
          <p:cNvSpPr>
            <a:spLocks noGrp="1"/>
          </p:cNvSpPr>
          <p:nvPr/>
        </p:nvSpPr>
        <p:spPr>
          <a:xfrm>
            <a:off x="609600" y="285750"/>
            <a:ext cx="10668000" cy="285750"/>
          </a:xfrm>
          <a:prstGeom prst="rect">
            <a:avLst/>
          </a:prstGeom>
          <a:noFill/>
          <a:ln w="0">
            <a:noFill/>
          </a:ln>
        </p:spPr>
        <p:txBody>
          <a:bodyPr lIns="0" tIns="0" rIns="0" bIns="0">
            <a:noAutofit/>
          </a:bodyPr>
          <a:lstStyle>
            <a:defPPr>
              <a:defRPr sz="1200" b="1">
                <a:solidFill>
                  <a:srgbClr val="226FBB"/>
                </a:solidFill>
                <a:latin typeface="Helvetica Neue"/>
                <a:ea typeface="Helvetica Neue"/>
                <a:cs typeface="Helvetica Neue"/>
              </a:defRPr>
            </a:defPPr>
          </a:lstStyle>
          <a:p>
            <a:pPr>
              <a:buNone/>
              <a:defRPr sz="1200" b="1">
                <a:solidFill>
                  <a:srgbClr val="226FBB"/>
                </a:solidFill>
                <a:latin typeface="Helvetica Neue"/>
                <a:ea typeface="Helvetica Neue"/>
                <a:cs typeface="Helvetica Neue"/>
              </a:defRPr>
            </a:pPr>
            <a:r>
              <a:rPr sz="1200" b="1">
                <a:solidFill>
                  <a:srgbClr val="226FBB"/>
                </a:solidFill>
                <a:latin typeface="Helvetica Neue"/>
                <a:ea typeface="Helvetica Neue"/>
                <a:cs typeface="Helvetica Neue"/>
              </a:rPr>
              <a:t>SESSION 1: CONCEPT DEFINITION</a:t>
            </a:r>
          </a:p>
        </p:txBody>
      </p:sp>
      <p:sp>
        <p:nvSpPr>
          <p:cNvPr id="2" name="slide-title">
            <a:extLst>
              <a:ext uri="{FF2B5EF4-FFF2-40B4-BE49-F238E27FC236}">
                <a16:creationId xmlns:a16="http://schemas.microsoft.com/office/drawing/2014/main" id="{42C15533-DB7A-42B4-A04D-29DAF7425B29}"/>
              </a:ext>
            </a:extLst>
          </p:cNvPr>
          <p:cNvSpPr>
            <a:spLocks noGrp="1"/>
          </p:cNvSpPr>
          <p:nvPr/>
        </p:nvSpPr>
        <p:spPr>
          <a:xfrm>
            <a:off x="609600" y="781050"/>
            <a:ext cx="10972800" cy="819150"/>
          </a:xfrm>
          <a:prstGeom prst="rect">
            <a:avLst/>
          </a:prstGeom>
          <a:noFill/>
          <a:ln w="0">
            <a:noFill/>
          </a:ln>
        </p:spPr>
        <p:txBody>
          <a:bodyPr lIns="0" tIns="0" rIns="0" bIns="0">
            <a:noAutofit/>
          </a:bodyPr>
          <a:lstStyle>
            <a:defPPr>
              <a:defRPr sz="3450" b="1">
                <a:solidFill>
                  <a:srgbClr val="102B46"/>
                </a:solidFill>
                <a:latin typeface="Helvetica Neue"/>
                <a:ea typeface="Helvetica Neue"/>
                <a:cs typeface="Helvetica Neue"/>
              </a:defRPr>
            </a:defPPr>
          </a:lstStyle>
          <a:p>
            <a:pPr>
              <a:buNone/>
              <a:defRPr sz="3450" b="1">
                <a:solidFill>
                  <a:srgbClr val="102B46"/>
                </a:solidFill>
                <a:latin typeface="Helvetica Neue"/>
                <a:ea typeface="Helvetica Neue"/>
                <a:cs typeface="Helvetica Neue"/>
              </a:defRPr>
            </a:pPr>
            <a:r>
              <a:rPr sz="3450" b="1">
                <a:solidFill>
                  <a:srgbClr val="102B46"/>
                </a:solidFill>
                <a:latin typeface="Helvetica Neue"/>
                <a:ea typeface="Helvetica Neue"/>
                <a:cs typeface="Helvetica Neue"/>
              </a:rPr>
              <a:t>Session 1 deliverables</a:t>
            </a:r>
          </a:p>
        </p:txBody>
      </p:sp>
      <p:sp>
        <p:nvSpPr>
          <p:cNvPr id="3" name="subtitle">
            <a:extLst>
              <a:ext uri="{FF2B5EF4-FFF2-40B4-BE49-F238E27FC236}">
                <a16:creationId xmlns:a16="http://schemas.microsoft.com/office/drawing/2014/main" id="{67AA3383-FD8A-4610-A5AF-562C37E2D3BB}"/>
              </a:ext>
            </a:extLst>
          </p:cNvPr>
          <p:cNvSpPr>
            <a:spLocks noGrp="1"/>
          </p:cNvSpPr>
          <p:nvPr/>
        </p:nvSpPr>
        <p:spPr>
          <a:xfrm>
            <a:off x="609600" y="1581150"/>
            <a:ext cx="10972800" cy="419100"/>
          </a:xfrm>
          <a:prstGeom prst="rect">
            <a:avLst/>
          </a:prstGeom>
          <a:noFill/>
          <a:ln w="0">
            <a:noFill/>
          </a:ln>
        </p:spPr>
        <p:txBody>
          <a:bodyPr lIns="0" tIns="0" rIns="0" bIns="0">
            <a:noAutofit/>
          </a:bodyPr>
          <a:lstStyle>
            <a:defPPr>
              <a:defRPr sz="1800" b="0">
                <a:solidFill>
                  <a:srgbClr val="607482"/>
                </a:solidFill>
                <a:latin typeface="Helvetica Neue"/>
                <a:ea typeface="Helvetica Neue"/>
                <a:cs typeface="Helvetica Neue"/>
              </a:defRPr>
            </a:defPPr>
          </a:lstStyle>
          <a:p>
            <a:pPr>
              <a:buNone/>
              <a:defRPr sz="1800" b="0">
                <a:solidFill>
                  <a:srgbClr val="607482"/>
                </a:solidFill>
                <a:latin typeface="Helvetica Neue"/>
                <a:ea typeface="Helvetica Neue"/>
                <a:cs typeface="Helvetica Neue"/>
              </a:defRPr>
            </a:pPr>
            <a:r>
              <a:rPr sz="1800" b="0">
                <a:solidFill>
                  <a:srgbClr val="607482"/>
                </a:solidFill>
                <a:latin typeface="Helvetica Neue"/>
                <a:ea typeface="Helvetica Neue"/>
                <a:cs typeface="Helvetica Neue"/>
              </a:rPr>
              <a:t>Questions for the expert checkpoint</a:t>
            </a:r>
          </a:p>
        </p:txBody>
      </p:sp>
      <p:sp>
        <p:nvSpPr>
          <p:cNvPr id="4" name="question-number">
            <a:extLst>
              <a:ext uri="{FF2B5EF4-FFF2-40B4-BE49-F238E27FC236}">
                <a16:creationId xmlns:a16="http://schemas.microsoft.com/office/drawing/2014/main" id="{911F8C86-8C79-43D4-B89B-6D79BCDD33AE}"/>
              </a:ext>
            </a:extLst>
          </p:cNvPr>
          <p:cNvSpPr>
            <a:spLocks noGrp="1"/>
          </p:cNvSpPr>
          <p:nvPr/>
        </p:nvSpPr>
        <p:spPr>
          <a:xfrm>
            <a:off x="609600" y="2228850"/>
            <a:ext cx="533400" cy="438150"/>
          </a:xfrm>
          <a:prstGeom prst="rect">
            <a:avLst/>
          </a:prstGeom>
          <a:noFill/>
          <a:ln w="0">
            <a:noFill/>
          </a:ln>
        </p:spPr>
        <p:txBody>
          <a:bodyPr lIns="0" tIns="0" rIns="0" bIns="0">
            <a:noAutofit/>
          </a:bodyPr>
          <a:lstStyle>
            <a:defPPr>
              <a:defRPr sz="1875" b="1">
                <a:solidFill>
                  <a:srgbClr val="226FBB"/>
                </a:solidFill>
                <a:latin typeface="Helvetica Neue"/>
                <a:ea typeface="Helvetica Neue"/>
                <a:cs typeface="Helvetica Neue"/>
              </a:defRPr>
            </a:defPPr>
          </a:lstStyle>
          <a:p>
            <a:pPr>
              <a:buNone/>
              <a:defRPr sz="1875" b="1">
                <a:solidFill>
                  <a:srgbClr val="226FBB"/>
                </a:solidFill>
                <a:latin typeface="Helvetica Neue"/>
                <a:ea typeface="Helvetica Neue"/>
                <a:cs typeface="Helvetica Neue"/>
              </a:defRPr>
            </a:pPr>
            <a:r>
              <a:rPr sz="1875" b="1">
                <a:solidFill>
                  <a:srgbClr val="226FBB"/>
                </a:solidFill>
                <a:latin typeface="Helvetica Neue"/>
                <a:ea typeface="Helvetica Neue"/>
                <a:cs typeface="Helvetica Neue"/>
              </a:rPr>
              <a:t>Q1</a:t>
            </a:r>
          </a:p>
        </p:txBody>
      </p:sp>
      <p:sp>
        <p:nvSpPr>
          <p:cNvPr id="5" name="checkpoint-question">
            <a:extLst>
              <a:ext uri="{FF2B5EF4-FFF2-40B4-BE49-F238E27FC236}">
                <a16:creationId xmlns:a16="http://schemas.microsoft.com/office/drawing/2014/main" id="{4A1749A0-31E0-4179-904F-2914387D6B0D}"/>
              </a:ext>
            </a:extLst>
          </p:cNvPr>
          <p:cNvSpPr>
            <a:spLocks noGrp="1"/>
          </p:cNvSpPr>
          <p:nvPr/>
        </p:nvSpPr>
        <p:spPr>
          <a:xfrm>
            <a:off x="1352550" y="2228850"/>
            <a:ext cx="10229850" cy="552450"/>
          </a:xfrm>
          <a:prstGeom prst="rect">
            <a:avLst/>
          </a:prstGeom>
          <a:noFill/>
          <a:ln w="0">
            <a:noFill/>
          </a:ln>
        </p:spPr>
        <p:txBody>
          <a:bodyPr lIns="0" tIns="0" rIns="0" bIns="0">
            <a:noAutofit/>
          </a:bodyPr>
          <a:lstStyle>
            <a:defPPr>
              <a:defRPr sz="2025" b="0">
                <a:solidFill>
                  <a:srgbClr val="233A4B"/>
                </a:solidFill>
                <a:latin typeface="Helvetica Neue"/>
                <a:ea typeface="Helvetica Neue"/>
                <a:cs typeface="Helvetica Neue"/>
              </a:defRPr>
            </a:defPPr>
          </a:lstStyle>
          <a:p>
            <a:pPr>
              <a:buNone/>
              <a:defRPr sz="2025" b="0">
                <a:solidFill>
                  <a:srgbClr val="233A4B"/>
                </a:solidFill>
                <a:latin typeface="Helvetica Neue"/>
                <a:ea typeface="Helvetica Neue"/>
                <a:cs typeface="Helvetica Neue"/>
              </a:defRPr>
            </a:pPr>
            <a:r>
              <a:rPr sz="2025" b="0">
                <a:solidFill>
                  <a:srgbClr val="233A4B"/>
                </a:solidFill>
                <a:latin typeface="Helvetica Neue"/>
                <a:ea typeface="Helvetica Neue"/>
                <a:cs typeface="Helvetica Neue"/>
              </a:rPr>
              <a:t>Who uses the solution, and what problem does it solve?</a:t>
            </a:r>
          </a:p>
        </p:txBody>
      </p:sp>
      <p:sp>
        <p:nvSpPr>
          <p:cNvPr id="6" name="question-number">
            <a:extLst>
              <a:ext uri="{FF2B5EF4-FFF2-40B4-BE49-F238E27FC236}">
                <a16:creationId xmlns:a16="http://schemas.microsoft.com/office/drawing/2014/main" id="{2C877CFC-39F8-4853-97BB-428709682AFE}"/>
              </a:ext>
            </a:extLst>
          </p:cNvPr>
          <p:cNvSpPr>
            <a:spLocks noGrp="1"/>
          </p:cNvSpPr>
          <p:nvPr/>
        </p:nvSpPr>
        <p:spPr>
          <a:xfrm>
            <a:off x="609600" y="2876550"/>
            <a:ext cx="533400" cy="438150"/>
          </a:xfrm>
          <a:prstGeom prst="rect">
            <a:avLst/>
          </a:prstGeom>
          <a:noFill/>
          <a:ln w="0">
            <a:noFill/>
          </a:ln>
        </p:spPr>
        <p:txBody>
          <a:bodyPr lIns="0" tIns="0" rIns="0" bIns="0">
            <a:noAutofit/>
          </a:bodyPr>
          <a:lstStyle>
            <a:defPPr>
              <a:defRPr sz="1875" b="1">
                <a:solidFill>
                  <a:srgbClr val="226FBB"/>
                </a:solidFill>
                <a:latin typeface="Helvetica Neue"/>
                <a:ea typeface="Helvetica Neue"/>
                <a:cs typeface="Helvetica Neue"/>
              </a:defRPr>
            </a:defPPr>
          </a:lstStyle>
          <a:p>
            <a:pPr>
              <a:buNone/>
              <a:defRPr sz="1875" b="1">
                <a:solidFill>
                  <a:srgbClr val="226FBB"/>
                </a:solidFill>
                <a:latin typeface="Helvetica Neue"/>
                <a:ea typeface="Helvetica Neue"/>
                <a:cs typeface="Helvetica Neue"/>
              </a:defRPr>
            </a:pPr>
            <a:r>
              <a:rPr sz="1875" b="1">
                <a:solidFill>
                  <a:srgbClr val="226FBB"/>
                </a:solidFill>
                <a:latin typeface="Helvetica Neue"/>
                <a:ea typeface="Helvetica Neue"/>
                <a:cs typeface="Helvetica Neue"/>
              </a:rPr>
              <a:t>Q2</a:t>
            </a:r>
          </a:p>
        </p:txBody>
      </p:sp>
      <p:sp>
        <p:nvSpPr>
          <p:cNvPr id="7" name="checkpoint-question">
            <a:extLst>
              <a:ext uri="{FF2B5EF4-FFF2-40B4-BE49-F238E27FC236}">
                <a16:creationId xmlns:a16="http://schemas.microsoft.com/office/drawing/2014/main" id="{5A7F888C-D21A-44EB-95D3-65388329A76C}"/>
              </a:ext>
            </a:extLst>
          </p:cNvPr>
          <p:cNvSpPr>
            <a:spLocks noGrp="1"/>
          </p:cNvSpPr>
          <p:nvPr/>
        </p:nvSpPr>
        <p:spPr>
          <a:xfrm>
            <a:off x="1352550" y="2876550"/>
            <a:ext cx="10229850" cy="552450"/>
          </a:xfrm>
          <a:prstGeom prst="rect">
            <a:avLst/>
          </a:prstGeom>
          <a:noFill/>
          <a:ln w="0">
            <a:noFill/>
          </a:ln>
        </p:spPr>
        <p:txBody>
          <a:bodyPr lIns="0" tIns="0" rIns="0" bIns="0">
            <a:noAutofit/>
          </a:bodyPr>
          <a:lstStyle>
            <a:defPPr>
              <a:defRPr sz="2025" b="0">
                <a:solidFill>
                  <a:srgbClr val="233A4B"/>
                </a:solidFill>
                <a:latin typeface="Helvetica Neue"/>
                <a:ea typeface="Helvetica Neue"/>
                <a:cs typeface="Helvetica Neue"/>
              </a:defRPr>
            </a:defPPr>
          </a:lstStyle>
          <a:p>
            <a:pPr>
              <a:buNone/>
              <a:defRPr sz="2025" b="0">
                <a:solidFill>
                  <a:srgbClr val="233A4B"/>
                </a:solidFill>
                <a:latin typeface="Helvetica Neue"/>
                <a:ea typeface="Helvetica Neue"/>
                <a:cs typeface="Helvetica Neue"/>
              </a:defRPr>
            </a:pPr>
            <a:r>
              <a:rPr sz="2025" b="0">
                <a:solidFill>
                  <a:srgbClr val="233A4B"/>
                </a:solidFill>
                <a:latin typeface="Helvetica Neue"/>
                <a:ea typeface="Helvetica Neue"/>
                <a:cs typeface="Helvetica Neue"/>
              </a:rPr>
              <a:t>What are the main parts, and how do they connect?</a:t>
            </a:r>
          </a:p>
        </p:txBody>
      </p:sp>
      <p:sp>
        <p:nvSpPr>
          <p:cNvPr id="8" name="question-number">
            <a:extLst>
              <a:ext uri="{FF2B5EF4-FFF2-40B4-BE49-F238E27FC236}">
                <a16:creationId xmlns:a16="http://schemas.microsoft.com/office/drawing/2014/main" id="{E8699F38-A773-4E4D-8509-0EA6F4D21A8E}"/>
              </a:ext>
            </a:extLst>
          </p:cNvPr>
          <p:cNvSpPr>
            <a:spLocks noGrp="1"/>
          </p:cNvSpPr>
          <p:nvPr/>
        </p:nvSpPr>
        <p:spPr>
          <a:xfrm>
            <a:off x="609600" y="3524250"/>
            <a:ext cx="533400" cy="438150"/>
          </a:xfrm>
          <a:prstGeom prst="rect">
            <a:avLst/>
          </a:prstGeom>
          <a:noFill/>
          <a:ln w="0">
            <a:noFill/>
          </a:ln>
        </p:spPr>
        <p:txBody>
          <a:bodyPr lIns="0" tIns="0" rIns="0" bIns="0">
            <a:noAutofit/>
          </a:bodyPr>
          <a:lstStyle>
            <a:defPPr>
              <a:defRPr sz="1875" b="1">
                <a:solidFill>
                  <a:srgbClr val="226FBB"/>
                </a:solidFill>
                <a:latin typeface="Helvetica Neue"/>
                <a:ea typeface="Helvetica Neue"/>
                <a:cs typeface="Helvetica Neue"/>
              </a:defRPr>
            </a:defPPr>
          </a:lstStyle>
          <a:p>
            <a:pPr>
              <a:buNone/>
              <a:defRPr sz="1875" b="1">
                <a:solidFill>
                  <a:srgbClr val="226FBB"/>
                </a:solidFill>
                <a:latin typeface="Helvetica Neue"/>
                <a:ea typeface="Helvetica Neue"/>
                <a:cs typeface="Helvetica Neue"/>
              </a:defRPr>
            </a:pPr>
            <a:r>
              <a:rPr sz="1875" b="1">
                <a:solidFill>
                  <a:srgbClr val="226FBB"/>
                </a:solidFill>
                <a:latin typeface="Helvetica Neue"/>
                <a:ea typeface="Helvetica Neue"/>
                <a:cs typeface="Helvetica Neue"/>
              </a:rPr>
              <a:t>Q3</a:t>
            </a:r>
          </a:p>
        </p:txBody>
      </p:sp>
      <p:sp>
        <p:nvSpPr>
          <p:cNvPr id="9" name="checkpoint-question">
            <a:extLst>
              <a:ext uri="{FF2B5EF4-FFF2-40B4-BE49-F238E27FC236}">
                <a16:creationId xmlns:a16="http://schemas.microsoft.com/office/drawing/2014/main" id="{4E7405B5-C00B-493A-B875-33E6A75CCDA3}"/>
              </a:ext>
            </a:extLst>
          </p:cNvPr>
          <p:cNvSpPr>
            <a:spLocks noGrp="1"/>
          </p:cNvSpPr>
          <p:nvPr/>
        </p:nvSpPr>
        <p:spPr>
          <a:xfrm>
            <a:off x="1352550" y="3524250"/>
            <a:ext cx="10229850" cy="552450"/>
          </a:xfrm>
          <a:prstGeom prst="rect">
            <a:avLst/>
          </a:prstGeom>
          <a:noFill/>
          <a:ln w="0">
            <a:noFill/>
          </a:ln>
        </p:spPr>
        <p:txBody>
          <a:bodyPr lIns="0" tIns="0" rIns="0" bIns="0">
            <a:noAutofit/>
          </a:bodyPr>
          <a:lstStyle>
            <a:defPPr>
              <a:defRPr sz="2025" b="0">
                <a:solidFill>
                  <a:srgbClr val="233A4B"/>
                </a:solidFill>
                <a:latin typeface="Helvetica Neue"/>
                <a:ea typeface="Helvetica Neue"/>
                <a:cs typeface="Helvetica Neue"/>
              </a:defRPr>
            </a:defPPr>
          </a:lstStyle>
          <a:p>
            <a:pPr>
              <a:buNone/>
              <a:defRPr sz="2025" b="0">
                <a:solidFill>
                  <a:srgbClr val="233A4B"/>
                </a:solidFill>
                <a:latin typeface="Helvetica Neue"/>
                <a:ea typeface="Helvetica Neue"/>
                <a:cs typeface="Helvetica Neue"/>
              </a:defRPr>
            </a:pPr>
            <a:r>
              <a:rPr sz="2025" b="0">
                <a:solidFill>
                  <a:srgbClr val="233A4B"/>
                </a:solidFill>
                <a:latin typeface="Helvetica Neue"/>
                <a:ea typeface="Helvetica Neue"/>
                <a:cs typeface="Helvetica Neue"/>
              </a:rPr>
              <a:t>How does it work normally and when something goes wrong?</a:t>
            </a:r>
          </a:p>
        </p:txBody>
      </p:sp>
      <p:sp>
        <p:nvSpPr>
          <p:cNvPr id="10" name="question-number">
            <a:extLst>
              <a:ext uri="{FF2B5EF4-FFF2-40B4-BE49-F238E27FC236}">
                <a16:creationId xmlns:a16="http://schemas.microsoft.com/office/drawing/2014/main" id="{079086F6-1AC4-48F7-B895-CD6352164922}"/>
              </a:ext>
            </a:extLst>
          </p:cNvPr>
          <p:cNvSpPr>
            <a:spLocks noGrp="1"/>
          </p:cNvSpPr>
          <p:nvPr/>
        </p:nvSpPr>
        <p:spPr>
          <a:xfrm>
            <a:off x="609600" y="4171950"/>
            <a:ext cx="533400" cy="438150"/>
          </a:xfrm>
          <a:prstGeom prst="rect">
            <a:avLst/>
          </a:prstGeom>
          <a:noFill/>
          <a:ln w="0">
            <a:noFill/>
          </a:ln>
        </p:spPr>
        <p:txBody>
          <a:bodyPr lIns="0" tIns="0" rIns="0" bIns="0">
            <a:noAutofit/>
          </a:bodyPr>
          <a:lstStyle>
            <a:defPPr>
              <a:defRPr sz="1875" b="1">
                <a:solidFill>
                  <a:srgbClr val="226FBB"/>
                </a:solidFill>
                <a:latin typeface="Helvetica Neue"/>
                <a:ea typeface="Helvetica Neue"/>
                <a:cs typeface="Helvetica Neue"/>
              </a:defRPr>
            </a:defPPr>
          </a:lstStyle>
          <a:p>
            <a:pPr>
              <a:buNone/>
              <a:defRPr sz="1875" b="1">
                <a:solidFill>
                  <a:srgbClr val="226FBB"/>
                </a:solidFill>
                <a:latin typeface="Helvetica Neue"/>
                <a:ea typeface="Helvetica Neue"/>
                <a:cs typeface="Helvetica Neue"/>
              </a:defRPr>
            </a:pPr>
            <a:r>
              <a:rPr sz="1875" b="1">
                <a:solidFill>
                  <a:srgbClr val="226FBB"/>
                </a:solidFill>
                <a:latin typeface="Helvetica Neue"/>
                <a:ea typeface="Helvetica Neue"/>
                <a:cs typeface="Helvetica Neue"/>
              </a:rPr>
              <a:t>Q4</a:t>
            </a:r>
          </a:p>
        </p:txBody>
      </p:sp>
      <p:sp>
        <p:nvSpPr>
          <p:cNvPr id="11" name="checkpoint-question">
            <a:extLst>
              <a:ext uri="{FF2B5EF4-FFF2-40B4-BE49-F238E27FC236}">
                <a16:creationId xmlns:a16="http://schemas.microsoft.com/office/drawing/2014/main" id="{CB5AA24D-C231-400D-8A21-D834A01515F5}"/>
              </a:ext>
            </a:extLst>
          </p:cNvPr>
          <p:cNvSpPr>
            <a:spLocks noGrp="1"/>
          </p:cNvSpPr>
          <p:nvPr/>
        </p:nvSpPr>
        <p:spPr>
          <a:xfrm>
            <a:off x="1352550" y="4171950"/>
            <a:ext cx="10229850" cy="552450"/>
          </a:xfrm>
          <a:prstGeom prst="rect">
            <a:avLst/>
          </a:prstGeom>
          <a:noFill/>
          <a:ln w="0">
            <a:noFill/>
          </a:ln>
        </p:spPr>
        <p:txBody>
          <a:bodyPr lIns="0" tIns="0" rIns="0" bIns="0">
            <a:noAutofit/>
          </a:bodyPr>
          <a:lstStyle>
            <a:defPPr>
              <a:defRPr sz="2025" b="0">
                <a:solidFill>
                  <a:srgbClr val="233A4B"/>
                </a:solidFill>
                <a:latin typeface="Helvetica Neue"/>
                <a:ea typeface="Helvetica Neue"/>
                <a:cs typeface="Helvetica Neue"/>
              </a:defRPr>
            </a:defPPr>
          </a:lstStyle>
          <a:p>
            <a:pPr>
              <a:buNone/>
              <a:defRPr sz="2025" b="0">
                <a:solidFill>
                  <a:srgbClr val="233A4B"/>
                </a:solidFill>
                <a:latin typeface="Helvetica Neue"/>
                <a:ea typeface="Helvetica Neue"/>
                <a:cs typeface="Helvetica Neue"/>
              </a:defRPr>
            </a:pPr>
            <a:r>
              <a:rPr sz="2025" b="0">
                <a:solidFill>
                  <a:srgbClr val="233A4B"/>
                </a:solidFill>
                <a:latin typeface="Helvetica Neue"/>
                <a:ea typeface="Helvetica Neue"/>
                <a:cs typeface="Helvetica Neue"/>
              </a:rPr>
              <a:t>Which rules and standards may apply?</a:t>
            </a:r>
          </a:p>
        </p:txBody>
      </p:sp>
      <p:sp>
        <p:nvSpPr>
          <p:cNvPr id="12" name="question-number">
            <a:extLst>
              <a:ext uri="{FF2B5EF4-FFF2-40B4-BE49-F238E27FC236}">
                <a16:creationId xmlns:a16="http://schemas.microsoft.com/office/drawing/2014/main" id="{18E85B91-1DBB-40E5-AB57-F53F4D5ABD6B}"/>
              </a:ext>
            </a:extLst>
          </p:cNvPr>
          <p:cNvSpPr>
            <a:spLocks noGrp="1"/>
          </p:cNvSpPr>
          <p:nvPr/>
        </p:nvSpPr>
        <p:spPr>
          <a:xfrm>
            <a:off x="609600" y="4819650"/>
            <a:ext cx="533400" cy="438150"/>
          </a:xfrm>
          <a:prstGeom prst="rect">
            <a:avLst/>
          </a:prstGeom>
          <a:noFill/>
          <a:ln w="0">
            <a:noFill/>
          </a:ln>
        </p:spPr>
        <p:txBody>
          <a:bodyPr lIns="0" tIns="0" rIns="0" bIns="0">
            <a:noAutofit/>
          </a:bodyPr>
          <a:lstStyle>
            <a:defPPr>
              <a:defRPr sz="1875" b="1">
                <a:solidFill>
                  <a:srgbClr val="226FBB"/>
                </a:solidFill>
                <a:latin typeface="Helvetica Neue"/>
                <a:ea typeface="Helvetica Neue"/>
                <a:cs typeface="Helvetica Neue"/>
              </a:defRPr>
            </a:defPPr>
          </a:lstStyle>
          <a:p>
            <a:pPr>
              <a:buNone/>
              <a:defRPr sz="1875" b="1">
                <a:solidFill>
                  <a:srgbClr val="226FBB"/>
                </a:solidFill>
                <a:latin typeface="Helvetica Neue"/>
                <a:ea typeface="Helvetica Neue"/>
                <a:cs typeface="Helvetica Neue"/>
              </a:defRPr>
            </a:pPr>
            <a:r>
              <a:rPr sz="1875" b="1">
                <a:solidFill>
                  <a:srgbClr val="226FBB"/>
                </a:solidFill>
                <a:latin typeface="Helvetica Neue"/>
                <a:ea typeface="Helvetica Neue"/>
                <a:cs typeface="Helvetica Neue"/>
              </a:rPr>
              <a:t>Q5</a:t>
            </a:r>
          </a:p>
        </p:txBody>
      </p:sp>
      <p:sp>
        <p:nvSpPr>
          <p:cNvPr id="13" name="checkpoint-question">
            <a:extLst>
              <a:ext uri="{FF2B5EF4-FFF2-40B4-BE49-F238E27FC236}">
                <a16:creationId xmlns:a16="http://schemas.microsoft.com/office/drawing/2014/main" id="{8DC9EC04-A07C-47DC-97D5-0C02F732973C}"/>
              </a:ext>
            </a:extLst>
          </p:cNvPr>
          <p:cNvSpPr>
            <a:spLocks noGrp="1"/>
          </p:cNvSpPr>
          <p:nvPr/>
        </p:nvSpPr>
        <p:spPr>
          <a:xfrm>
            <a:off x="1352550" y="4819650"/>
            <a:ext cx="10229850" cy="552450"/>
          </a:xfrm>
          <a:prstGeom prst="rect">
            <a:avLst/>
          </a:prstGeom>
          <a:noFill/>
          <a:ln w="0">
            <a:noFill/>
          </a:ln>
        </p:spPr>
        <p:txBody>
          <a:bodyPr lIns="0" tIns="0" rIns="0" bIns="0">
            <a:noAutofit/>
          </a:bodyPr>
          <a:lstStyle>
            <a:defPPr>
              <a:defRPr sz="2025" b="0">
                <a:solidFill>
                  <a:srgbClr val="233A4B"/>
                </a:solidFill>
                <a:latin typeface="Helvetica Neue"/>
                <a:ea typeface="Helvetica Neue"/>
                <a:cs typeface="Helvetica Neue"/>
              </a:defRPr>
            </a:defPPr>
          </a:lstStyle>
          <a:p>
            <a:pPr>
              <a:buNone/>
              <a:defRPr sz="2025" b="0">
                <a:solidFill>
                  <a:srgbClr val="233A4B"/>
                </a:solidFill>
                <a:latin typeface="Helvetica Neue"/>
                <a:ea typeface="Helvetica Neue"/>
                <a:cs typeface="Helvetica Neue"/>
              </a:defRPr>
            </a:pPr>
            <a:r>
              <a:rPr sz="2025" b="0">
                <a:solidFill>
                  <a:srgbClr val="233A4B"/>
                </a:solidFill>
                <a:latin typeface="Helvetica Neue"/>
                <a:ea typeface="Helvetica Neue"/>
                <a:cs typeface="Helvetica Neue"/>
              </a:rPr>
              <a:t>Which existing offers address a similar need, and who buys them?</a:t>
            </a:r>
          </a:p>
        </p:txBody>
      </p:sp>
      <p:sp>
        <p:nvSpPr>
          <p:cNvPr id="14" name="deliverable-label">
            <a:extLst>
              <a:ext uri="{FF2B5EF4-FFF2-40B4-BE49-F238E27FC236}">
                <a16:creationId xmlns:a16="http://schemas.microsoft.com/office/drawing/2014/main" id="{CCA08C94-F457-497C-9B43-5E7F7C676DDE}"/>
              </a:ext>
            </a:extLst>
          </p:cNvPr>
          <p:cNvSpPr>
            <a:spLocks noGrp="1"/>
          </p:cNvSpPr>
          <p:nvPr/>
        </p:nvSpPr>
        <p:spPr>
          <a:xfrm>
            <a:off x="609600" y="5657850"/>
            <a:ext cx="10972800" cy="266700"/>
          </a:xfrm>
          <a:prstGeom prst="rect">
            <a:avLst/>
          </a:prstGeom>
          <a:noFill/>
          <a:ln w="0">
            <a:noFill/>
          </a:ln>
        </p:spPr>
        <p:txBody>
          <a:bodyPr lIns="0" tIns="0" rIns="0" bIns="0">
            <a:noAutofit/>
          </a:bodyPr>
          <a:lstStyle>
            <a:defPPr>
              <a:defRPr sz="1275" b="1">
                <a:solidFill>
                  <a:srgbClr val="226FBB"/>
                </a:solidFill>
                <a:latin typeface="Helvetica Neue"/>
                <a:ea typeface="Helvetica Neue"/>
                <a:cs typeface="Helvetica Neue"/>
              </a:defRPr>
            </a:defPPr>
          </a:lstStyle>
          <a:p>
            <a:pPr>
              <a:buNone/>
              <a:defRPr sz="1275" b="1">
                <a:solidFill>
                  <a:srgbClr val="226FBB"/>
                </a:solidFill>
                <a:latin typeface="Helvetica Neue"/>
                <a:ea typeface="Helvetica Neue"/>
                <a:cs typeface="Helvetica Neue"/>
              </a:defRPr>
            </a:pPr>
            <a:r>
              <a:rPr sz="1275" b="1">
                <a:solidFill>
                  <a:srgbClr val="226FBB"/>
                </a:solidFill>
                <a:latin typeface="Helvetica Neue"/>
                <a:ea typeface="Helvetica Neue"/>
                <a:cs typeface="Helvetica Neue"/>
              </a:rPr>
              <a:t>DELIVERABLES</a:t>
            </a:r>
          </a:p>
        </p:txBody>
      </p:sp>
      <p:sp>
        <p:nvSpPr>
          <p:cNvPr id="15" name="deliverable-content">
            <a:extLst>
              <a:ext uri="{FF2B5EF4-FFF2-40B4-BE49-F238E27FC236}">
                <a16:creationId xmlns:a16="http://schemas.microsoft.com/office/drawing/2014/main" id="{645C3355-F11C-43D0-885E-6DCBF5C7684E}"/>
              </a:ext>
            </a:extLst>
          </p:cNvPr>
          <p:cNvSpPr>
            <a:spLocks noGrp="1"/>
          </p:cNvSpPr>
          <p:nvPr/>
        </p:nvSpPr>
        <p:spPr>
          <a:xfrm>
            <a:off x="609600" y="5991225"/>
            <a:ext cx="10972800" cy="400050"/>
          </a:xfrm>
          <a:prstGeom prst="rect">
            <a:avLst/>
          </a:prstGeom>
          <a:noFill/>
          <a:ln w="0">
            <a:noFill/>
          </a:ln>
        </p:spPr>
        <p:txBody>
          <a:bodyPr lIns="0" tIns="0" rIns="0" bIns="0">
            <a:noAutofit/>
          </a:bodyPr>
          <a:lstStyle>
            <a:defPPr>
              <a:defRPr sz="1800" b="1">
                <a:solidFill>
                  <a:srgbClr val="102B46"/>
                </a:solidFill>
                <a:latin typeface="Helvetica Neue"/>
                <a:ea typeface="Helvetica Neue"/>
                <a:cs typeface="Helvetica Neue"/>
              </a:defRPr>
            </a:defPPr>
          </a:lstStyle>
          <a:p>
            <a:pPr>
              <a:buNone/>
              <a:defRPr sz="1800" b="1">
                <a:solidFill>
                  <a:srgbClr val="102B46"/>
                </a:solidFill>
                <a:latin typeface="Helvetica Neue"/>
                <a:ea typeface="Helvetica Neue"/>
                <a:cs typeface="Helvetica Neue"/>
              </a:defRPr>
            </a:pPr>
            <a:r>
              <a:rPr sz="1800" b="1">
                <a:solidFill>
                  <a:srgbClr val="102B46"/>
                </a:solidFill>
                <a:latin typeface="Helvetica Neue"/>
                <a:ea typeface="Helvetica Neue"/>
                <a:cs typeface="Helvetica Neue"/>
              </a:rPr>
              <a:t>Concept V1 + system sketch + evidence + checkpoint summary</a:t>
            </a:r>
          </a:p>
        </p:txBody>
      </p:sp>
      <p:sp>
        <p:nvSpPr>
          <p:cNvPr id="16" name="page-number">
            <a:extLst>
              <a:ext uri="{FF2B5EF4-FFF2-40B4-BE49-F238E27FC236}">
                <a16:creationId xmlns:a16="http://schemas.microsoft.com/office/drawing/2014/main" id="{DCFB27F5-A95A-4D04-80FC-EE909E07B0F8}"/>
              </a:ext>
            </a:extLst>
          </p:cNvPr>
          <p:cNvSpPr>
            <a:spLocks noGrp="1"/>
          </p:cNvSpPr>
          <p:nvPr/>
        </p:nvSpPr>
        <p:spPr>
          <a:xfrm>
            <a:off x="10953750" y="6438900"/>
            <a:ext cx="619125" cy="238125"/>
          </a:xfrm>
          <a:prstGeom prst="rect">
            <a:avLst/>
          </a:prstGeom>
          <a:noFill/>
          <a:ln w="0">
            <a:noFill/>
          </a:ln>
        </p:spPr>
        <p:txBody>
          <a:bodyPr lIns="0" tIns="0" rIns="0" bIns="0">
            <a:noAutofit/>
          </a:bodyPr>
          <a:lstStyle>
            <a:defPPr>
              <a:defRPr sz="1125" b="0">
                <a:solidFill>
                  <a:srgbClr val="607482"/>
                </a:solidFill>
                <a:latin typeface="Helvetica Neue"/>
                <a:ea typeface="Helvetica Neue"/>
                <a:cs typeface="Helvetica Neue"/>
              </a:defRPr>
            </a:defPPr>
          </a:lstStyle>
          <a:p>
            <a:pPr>
              <a:buNone/>
              <a:defRPr sz="1125" b="0">
                <a:solidFill>
                  <a:srgbClr val="607482"/>
                </a:solidFill>
                <a:latin typeface="Helvetica Neue"/>
                <a:ea typeface="Helvetica Neue"/>
                <a:cs typeface="Helvetica Neue"/>
              </a:defRPr>
            </a:pPr>
            <a:r>
              <a:rPr sz="1125" b="0">
                <a:solidFill>
                  <a:srgbClr val="607482"/>
                </a:solidFill>
                <a:latin typeface="Helvetica Neue"/>
                <a:ea typeface="Helvetica Neue"/>
                <a:cs typeface="Helvetica Neue"/>
              </a:rPr>
              <a:t>15</a:t>
            </a:r>
          </a:p>
        </p:txBody>
      </p:sp>
    </p:spTree>
    <p:extLst>
      <p:ext uri="{BB962C8B-B14F-4D97-AF65-F5344CB8AC3E}">
        <p14:creationId xmlns:p14="http://schemas.microsoft.com/office/powerpoint/2010/main" val="3674025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87E83"/>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D24D93A-8E6B-4619-BD5D-AF55D775677F}"/>
              </a:ext>
            </a:extLst>
          </p:cNvPr>
          <p:cNvPicPr>
            <a:picLocks noChangeAspect="1"/>
          </p:cNvPicPr>
          <p:nvPr/>
        </p:nvPicPr>
        <p:blipFill>
          <a:blip r:embed="rId3"/>
          <a:stretch/>
        </p:blipFill>
        <p:spPr>
          <a:xfrm>
            <a:off x="10001250" y="666750"/>
            <a:ext cx="1219200" cy="1219200"/>
          </a:xfrm>
          <a:prstGeom prst="rect">
            <a:avLst/>
          </a:prstGeom>
        </p:spPr>
      </p:pic>
      <p:sp>
        <p:nvSpPr>
          <p:cNvPr id="2" name="slide-title">
            <a:extLst>
              <a:ext uri="{FF2B5EF4-FFF2-40B4-BE49-F238E27FC236}">
                <a16:creationId xmlns:a16="http://schemas.microsoft.com/office/drawing/2014/main" id="{04043BD7-3A3F-4CB3-9D82-412DD4800C7C}"/>
              </a:ext>
            </a:extLst>
          </p:cNvPr>
          <p:cNvSpPr>
            <a:spLocks noGrp="1"/>
          </p:cNvSpPr>
          <p:nvPr/>
        </p:nvSpPr>
        <p:spPr>
          <a:xfrm>
            <a:off x="609600" y="2400300"/>
            <a:ext cx="10668000" cy="1762125"/>
          </a:xfrm>
          <a:prstGeom prst="rect">
            <a:avLst/>
          </a:prstGeom>
          <a:noFill/>
          <a:ln w="0">
            <a:noFill/>
          </a:ln>
        </p:spPr>
        <p:txBody>
          <a:bodyPr lIns="0" tIns="0" rIns="0" bIns="0">
            <a:noAutofit/>
          </a:bodyPr>
          <a:lstStyle>
            <a:defPPr>
              <a:defRPr sz="4350" b="1">
                <a:solidFill>
                  <a:srgbClr val="FFFFFF"/>
                </a:solidFill>
                <a:latin typeface="Helvetica Neue"/>
                <a:ea typeface="Helvetica Neue"/>
                <a:cs typeface="Helvetica Neue"/>
              </a:defRPr>
            </a:defPPr>
          </a:lstStyle>
          <a:p>
            <a:pPr>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Session 2</a:t>
            </a:r>
          </a:p>
          <a:p>
            <a:pPr>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Integrated solution</a:t>
            </a:r>
          </a:p>
        </p:txBody>
      </p:sp>
      <p:sp>
        <p:nvSpPr>
          <p:cNvPr id="3" name="section-subtitle">
            <a:extLst>
              <a:ext uri="{FF2B5EF4-FFF2-40B4-BE49-F238E27FC236}">
                <a16:creationId xmlns:a16="http://schemas.microsoft.com/office/drawing/2014/main" id="{9F7E6B9F-9B08-41EF-8D1A-CCA909F29763}"/>
              </a:ext>
            </a:extLst>
          </p:cNvPr>
          <p:cNvSpPr>
            <a:spLocks noGrp="1"/>
          </p:cNvSpPr>
          <p:nvPr/>
        </p:nvSpPr>
        <p:spPr>
          <a:xfrm>
            <a:off x="609600" y="4905375"/>
            <a:ext cx="10668000" cy="762000"/>
          </a:xfrm>
          <a:prstGeom prst="rect">
            <a:avLst/>
          </a:prstGeom>
          <a:noFill/>
          <a:ln w="0">
            <a:noFill/>
          </a:ln>
        </p:spPr>
        <p:txBody>
          <a:bodyPr lIns="0" tIns="0" rIns="0" bIns="0">
            <a:noAutofit/>
          </a:bodyPr>
          <a:lstStyle>
            <a:defPPr>
              <a:defRPr sz="2175" b="0">
                <a:solidFill>
                  <a:srgbClr val="FFFFFF"/>
                </a:solidFill>
                <a:latin typeface="Helvetica Neue"/>
                <a:ea typeface="Helvetica Neue"/>
                <a:cs typeface="Helvetica Neue"/>
              </a:defRPr>
            </a:defPPr>
          </a:lstStyle>
          <a:p>
            <a:pPr>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3 hours. Solution V2, business model and regulatory approach</a:t>
            </a:r>
          </a:p>
        </p:txBody>
      </p:sp>
      <p:sp>
        <p:nvSpPr>
          <p:cNvPr id="4" name="page-number">
            <a:extLst>
              <a:ext uri="{FF2B5EF4-FFF2-40B4-BE49-F238E27FC236}">
                <a16:creationId xmlns:a16="http://schemas.microsoft.com/office/drawing/2014/main" id="{4B82AE74-87AA-4C05-A887-726252126553}"/>
              </a:ext>
            </a:extLst>
          </p:cNvPr>
          <p:cNvSpPr>
            <a:spLocks noGrp="1"/>
          </p:cNvSpPr>
          <p:nvPr/>
        </p:nvSpPr>
        <p:spPr>
          <a:xfrm>
            <a:off x="10953750" y="6438900"/>
            <a:ext cx="619125" cy="238125"/>
          </a:xfrm>
          <a:prstGeom prst="rect">
            <a:avLst/>
          </a:prstGeom>
          <a:noFill/>
          <a:ln w="0">
            <a:noFill/>
          </a:ln>
        </p:spPr>
        <p:txBody>
          <a:bodyPr lIns="0" tIns="0" rIns="0" bIns="0">
            <a:noAutofit/>
          </a:bodyPr>
          <a:lstStyle>
            <a:defPPr>
              <a:defRPr sz="1125" b="0">
                <a:solidFill>
                  <a:srgbClr val="FFFFFF"/>
                </a:solidFill>
                <a:latin typeface="Helvetica Neue"/>
                <a:ea typeface="Helvetica Neue"/>
                <a:cs typeface="Helvetica Neue"/>
              </a:defRPr>
            </a:defPPr>
          </a:lstStyle>
          <a:p>
            <a:pPr>
              <a:defRPr sz="1125" b="0">
                <a:solidFill>
                  <a:srgbClr val="FFFFFF"/>
                </a:solidFill>
                <a:latin typeface="Helvetica Neue"/>
                <a:ea typeface="Helvetica Neue"/>
                <a:cs typeface="Helvetica Neue"/>
              </a:defRPr>
            </a:pPr>
            <a:r>
              <a:rPr sz="1125" b="0">
                <a:solidFill>
                  <a:srgbClr val="FFFFFF"/>
                </a:solidFill>
                <a:latin typeface="Helvetica Neue"/>
                <a:ea typeface="Helvetica Neue"/>
                <a:cs typeface="Helvetica Neue"/>
              </a:rPr>
              <a:t>16</a:t>
            </a:r>
          </a:p>
        </p:txBody>
      </p:sp>
    </p:spTree>
    <p:extLst>
      <p:ext uri="{BB962C8B-B14F-4D97-AF65-F5344CB8AC3E}">
        <p14:creationId xmlns:p14="http://schemas.microsoft.com/office/powerpoint/2010/main" val="13010708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3" name="Straight Arrow Connector 22">
            <a:extLst>
              <a:ext uri="{FF2B5EF4-FFF2-40B4-BE49-F238E27FC236}">
                <a16:creationId xmlns:a16="http://schemas.microsoft.com/office/drawing/2014/main" id="{7461EBD3-8D17-4F5E-B23B-69946E39167A}"/>
              </a:ext>
            </a:extLst>
          </p:cNvPr>
          <p:cNvCxnSpPr>
            <a:stCxn id="16" idx="3"/>
            <a:endCxn id="20" idx="1"/>
          </p:cNvCxnSpPr>
          <p:nvPr/>
        </p:nvCxnSpPr>
        <p:spPr>
          <a:xfrm>
            <a:off x="9372600" y="3228975"/>
            <a:ext cx="228600" cy="0"/>
          </a:xfrm>
          <a:prstGeom prst="straightConnector1">
            <a:avLst/>
          </a:prstGeom>
          <a:ln w="19050">
            <a:solidFill>
              <a:srgbClr val="087E83"/>
            </a:solidFill>
            <a:prstDash val="solid"/>
            <a:tailEnd type="triangle" w="sm" len="sm"/>
          </a:ln>
        </p:spPr>
      </p:cxnSp>
      <p:cxnSp>
        <p:nvCxnSpPr>
          <p:cNvPr id="19" name="Straight Arrow Connector 18">
            <a:extLst>
              <a:ext uri="{FF2B5EF4-FFF2-40B4-BE49-F238E27FC236}">
                <a16:creationId xmlns:a16="http://schemas.microsoft.com/office/drawing/2014/main" id="{9BCD6FBF-5F95-4805-913F-AA18E041D935}"/>
              </a:ext>
            </a:extLst>
          </p:cNvPr>
          <p:cNvCxnSpPr>
            <a:stCxn id="12" idx="3"/>
            <a:endCxn id="16" idx="1"/>
          </p:cNvCxnSpPr>
          <p:nvPr/>
        </p:nvCxnSpPr>
        <p:spPr>
          <a:xfrm>
            <a:off x="7124700" y="3228975"/>
            <a:ext cx="228600" cy="0"/>
          </a:xfrm>
          <a:prstGeom prst="straightConnector1">
            <a:avLst/>
          </a:prstGeom>
          <a:ln w="19050">
            <a:solidFill>
              <a:srgbClr val="087E83"/>
            </a:solidFill>
            <a:prstDash val="solid"/>
            <a:tailEnd type="triangle" w="sm" len="sm"/>
          </a:ln>
        </p:spPr>
      </p:cxnSp>
      <p:cxnSp>
        <p:nvCxnSpPr>
          <p:cNvPr id="15" name="Straight Arrow Connector 14">
            <a:extLst>
              <a:ext uri="{FF2B5EF4-FFF2-40B4-BE49-F238E27FC236}">
                <a16:creationId xmlns:a16="http://schemas.microsoft.com/office/drawing/2014/main" id="{B389E2B8-9946-47E3-ADAB-062B75DED7D9}"/>
              </a:ext>
            </a:extLst>
          </p:cNvPr>
          <p:cNvCxnSpPr>
            <a:stCxn id="8" idx="3"/>
            <a:endCxn id="12" idx="1"/>
          </p:cNvCxnSpPr>
          <p:nvPr/>
        </p:nvCxnSpPr>
        <p:spPr>
          <a:xfrm>
            <a:off x="4876800" y="3228975"/>
            <a:ext cx="228600" cy="0"/>
          </a:xfrm>
          <a:prstGeom prst="straightConnector1">
            <a:avLst/>
          </a:prstGeom>
          <a:ln w="19050">
            <a:solidFill>
              <a:srgbClr val="087E83"/>
            </a:solidFill>
            <a:prstDash val="solid"/>
            <a:tailEnd type="triangle" w="sm" len="sm"/>
          </a:ln>
        </p:spPr>
      </p:cxnSp>
      <p:cxnSp>
        <p:nvCxnSpPr>
          <p:cNvPr id="11" name="Straight Arrow Connector 10">
            <a:extLst>
              <a:ext uri="{FF2B5EF4-FFF2-40B4-BE49-F238E27FC236}">
                <a16:creationId xmlns:a16="http://schemas.microsoft.com/office/drawing/2014/main" id="{EB8FDB61-09B7-4EF5-B2DF-0A7F833DC00B}"/>
              </a:ext>
            </a:extLst>
          </p:cNvPr>
          <p:cNvCxnSpPr>
            <a:stCxn id="5" idx="3"/>
            <a:endCxn id="8" idx="1"/>
          </p:cNvCxnSpPr>
          <p:nvPr/>
        </p:nvCxnSpPr>
        <p:spPr>
          <a:xfrm>
            <a:off x="2628900" y="3228975"/>
            <a:ext cx="228600" cy="0"/>
          </a:xfrm>
          <a:prstGeom prst="straightConnector1">
            <a:avLst/>
          </a:prstGeom>
          <a:ln w="19050">
            <a:solidFill>
              <a:srgbClr val="087E83"/>
            </a:solidFill>
            <a:prstDash val="solid"/>
            <a:tailEnd type="triangle" w="sm" len="sm"/>
          </a:ln>
        </p:spPr>
      </p:cxnSp>
      <p:sp>
        <p:nvSpPr>
          <p:cNvPr id="27" name="section-label">
            <a:extLst>
              <a:ext uri="{FF2B5EF4-FFF2-40B4-BE49-F238E27FC236}">
                <a16:creationId xmlns:a16="http://schemas.microsoft.com/office/drawing/2014/main" id="{EEA5CE37-B53B-4AF3-B5B9-C5070C99DF00}"/>
              </a:ext>
            </a:extLst>
          </p:cNvPr>
          <p:cNvSpPr>
            <a:spLocks noGrp="1"/>
          </p:cNvSpPr>
          <p:nvPr/>
        </p:nvSpPr>
        <p:spPr>
          <a:xfrm>
            <a:off x="609600" y="285750"/>
            <a:ext cx="10668000" cy="285750"/>
          </a:xfrm>
          <a:prstGeom prst="rect">
            <a:avLst/>
          </a:prstGeom>
          <a:noFill/>
          <a:ln w="0">
            <a:noFill/>
          </a:ln>
        </p:spPr>
        <p:txBody>
          <a:bodyPr lIns="0" tIns="0" rIns="0" bIns="0">
            <a:noAutofit/>
          </a:bodyPr>
          <a:lstStyle>
            <a:defPPr algn="l">
              <a:defRPr sz="1200" b="1">
                <a:solidFill>
                  <a:srgbClr val="087E83"/>
                </a:solidFill>
                <a:latin typeface="Helvetica Neue"/>
                <a:ea typeface="Helvetica Neue"/>
                <a:cs typeface="Helvetica Neue"/>
              </a:defRPr>
            </a:defPPr>
          </a:lstStyle>
          <a:p>
            <a:pPr algn="l">
              <a:buNone/>
              <a:defRPr sz="1200" b="1">
                <a:solidFill>
                  <a:srgbClr val="087E83"/>
                </a:solidFill>
                <a:latin typeface="Helvetica Neue"/>
                <a:ea typeface="Helvetica Neue"/>
                <a:cs typeface="Helvetica Neue"/>
              </a:defRPr>
            </a:pPr>
            <a:r>
              <a:rPr sz="1200" b="1">
                <a:solidFill>
                  <a:srgbClr val="087E83"/>
                </a:solidFill>
                <a:latin typeface="Helvetica Neue"/>
                <a:ea typeface="Helvetica Neue"/>
                <a:cs typeface="Helvetica Neue"/>
              </a:rPr>
              <a:t>SESSION 2: INTEGRATED SOLUTION</a:t>
            </a:r>
          </a:p>
        </p:txBody>
      </p:sp>
      <p:sp>
        <p:nvSpPr>
          <p:cNvPr id="2" name="slide-title">
            <a:extLst>
              <a:ext uri="{FF2B5EF4-FFF2-40B4-BE49-F238E27FC236}">
                <a16:creationId xmlns:a16="http://schemas.microsoft.com/office/drawing/2014/main" id="{2D54A57C-74BD-4A4C-B5B0-EF89B2900B3A}"/>
              </a:ext>
            </a:extLst>
          </p:cNvPr>
          <p:cNvSpPr>
            <a:spLocks noGrp="1"/>
          </p:cNvSpPr>
          <p:nvPr/>
        </p:nvSpPr>
        <p:spPr>
          <a:xfrm>
            <a:off x="609600" y="781050"/>
            <a:ext cx="10858500" cy="857250"/>
          </a:xfrm>
          <a:prstGeom prst="rect">
            <a:avLst/>
          </a:prstGeom>
          <a:noFill/>
          <a:ln w="0">
            <a:noFill/>
          </a:ln>
        </p:spPr>
        <p:txBody>
          <a:bodyPr lIns="0" tIns="0" rIns="0" bIns="0">
            <a:noAutofit/>
          </a:bodyPr>
          <a:lstStyle>
            <a:defPPr algn="l">
              <a:defRPr sz="3450" b="1">
                <a:solidFill>
                  <a:srgbClr val="102B46"/>
                </a:solidFill>
                <a:latin typeface="Helvetica Neue"/>
                <a:ea typeface="Helvetica Neue"/>
                <a:cs typeface="Helvetica Neue"/>
              </a:defRPr>
            </a:defPPr>
          </a:lstStyle>
          <a:p>
            <a:pPr algn="l">
              <a:buNone/>
              <a:defRPr sz="3450" b="1">
                <a:solidFill>
                  <a:srgbClr val="102B46"/>
                </a:solidFill>
                <a:latin typeface="Helvetica Neue"/>
                <a:ea typeface="Helvetica Neue"/>
                <a:cs typeface="Helvetica Neue"/>
              </a:defRPr>
            </a:pPr>
            <a:r>
              <a:rPr sz="3450" b="1">
                <a:solidFill>
                  <a:srgbClr val="102B46"/>
                </a:solidFill>
                <a:latin typeface="Helvetica Neue"/>
                <a:ea typeface="Helvetica Neue"/>
                <a:cs typeface="Helvetica Neue"/>
              </a:rPr>
              <a:t>Session 2 process</a:t>
            </a:r>
          </a:p>
        </p:txBody>
      </p:sp>
      <p:sp>
        <p:nvSpPr>
          <p:cNvPr id="3" name="subtitle">
            <a:extLst>
              <a:ext uri="{FF2B5EF4-FFF2-40B4-BE49-F238E27FC236}">
                <a16:creationId xmlns:a16="http://schemas.microsoft.com/office/drawing/2014/main" id="{36EFCBA1-E6AD-4223-9232-0B2020D90DE3}"/>
              </a:ext>
            </a:extLst>
          </p:cNvPr>
          <p:cNvSpPr>
            <a:spLocks noGrp="1"/>
          </p:cNvSpPr>
          <p:nvPr/>
        </p:nvSpPr>
        <p:spPr>
          <a:xfrm>
            <a:off x="609600" y="1524000"/>
            <a:ext cx="10858500" cy="428625"/>
          </a:xfrm>
          <a:prstGeom prst="rect">
            <a:avLst/>
          </a:prstGeom>
          <a:noFill/>
          <a:ln w="0">
            <a:noFill/>
          </a:ln>
        </p:spPr>
        <p:txBody>
          <a:bodyPr lIns="0" tIns="0" rIns="0" bIns="0">
            <a:noAutofit/>
          </a:bodyPr>
          <a:lstStyle>
            <a:defPPr algn="l">
              <a:defRPr sz="1800" b="0">
                <a:solidFill>
                  <a:srgbClr val="607482"/>
                </a:solidFill>
                <a:latin typeface="Helvetica Neue"/>
                <a:ea typeface="Helvetica Neue"/>
                <a:cs typeface="Helvetica Neue"/>
              </a:defRPr>
            </a:defPPr>
          </a:lstStyle>
          <a:p>
            <a:pPr algn="l">
              <a:buNone/>
              <a:defRPr sz="1800" b="0">
                <a:solidFill>
                  <a:srgbClr val="607482"/>
                </a:solidFill>
                <a:latin typeface="Helvetica Neue"/>
                <a:ea typeface="Helvetica Neue"/>
                <a:cs typeface="Helvetica Neue"/>
              </a:defRPr>
            </a:pPr>
            <a:r>
              <a:rPr sz="1800" b="0">
                <a:solidFill>
                  <a:srgbClr val="607482"/>
                </a:solidFill>
                <a:latin typeface="Helvetica Neue"/>
                <a:ea typeface="Helvetica Neue"/>
                <a:cs typeface="Helvetica Neue"/>
              </a:rPr>
              <a:t>3 hours. Knowledge Agent + Libraries + expert feedback</a:t>
            </a:r>
          </a:p>
        </p:txBody>
      </p:sp>
      <p:sp>
        <p:nvSpPr>
          <p:cNvPr id="4" name="page-number">
            <a:extLst>
              <a:ext uri="{FF2B5EF4-FFF2-40B4-BE49-F238E27FC236}">
                <a16:creationId xmlns:a16="http://schemas.microsoft.com/office/drawing/2014/main" id="{58135590-C5B7-4A1E-AFDF-5A3C5C68F13C}"/>
              </a:ext>
            </a:extLst>
          </p:cNvPr>
          <p:cNvSpPr>
            <a:spLocks noGrp="1"/>
          </p:cNvSpPr>
          <p:nvPr/>
        </p:nvSpPr>
        <p:spPr>
          <a:xfrm>
            <a:off x="10953750" y="6438900"/>
            <a:ext cx="666750" cy="228600"/>
          </a:xfrm>
          <a:prstGeom prst="rect">
            <a:avLst/>
          </a:prstGeom>
          <a:noFill/>
          <a:ln w="0">
            <a:noFill/>
          </a:ln>
        </p:spPr>
        <p:txBody>
          <a:bodyPr lIns="0" tIns="0" rIns="0" bIns="0">
            <a:noAutofit/>
          </a:bodyPr>
          <a:lstStyle>
            <a:defPPr algn="r">
              <a:defRPr sz="1125" b="0">
                <a:solidFill>
                  <a:srgbClr val="607482"/>
                </a:solidFill>
                <a:latin typeface="Helvetica Neue"/>
                <a:ea typeface="Helvetica Neue"/>
                <a:cs typeface="Helvetica Neue"/>
              </a:defRPr>
            </a:defPPr>
          </a:lstStyle>
          <a:p>
            <a:pPr algn="r">
              <a:buNone/>
              <a:defRPr sz="1125" b="0">
                <a:solidFill>
                  <a:srgbClr val="607482"/>
                </a:solidFill>
                <a:latin typeface="Helvetica Neue"/>
                <a:ea typeface="Helvetica Neue"/>
                <a:cs typeface="Helvetica Neue"/>
              </a:defRPr>
            </a:pPr>
            <a:r>
              <a:rPr sz="1125" b="0">
                <a:solidFill>
                  <a:srgbClr val="607482"/>
                </a:solidFill>
                <a:latin typeface="Helvetica Neue"/>
                <a:ea typeface="Helvetica Neue"/>
                <a:cs typeface="Helvetica Neue"/>
              </a:rPr>
              <a:t>17</a:t>
            </a:r>
          </a:p>
        </p:txBody>
      </p:sp>
      <p:sp>
        <p:nvSpPr>
          <p:cNvPr id="5" name="process-step-1">
            <a:extLst>
              <a:ext uri="{FF2B5EF4-FFF2-40B4-BE49-F238E27FC236}">
                <a16:creationId xmlns:a16="http://schemas.microsoft.com/office/drawing/2014/main" id="{D2DD3CD1-4BF5-4DC3-905B-AB1D1469B09F}"/>
              </a:ext>
            </a:extLst>
          </p:cNvPr>
          <p:cNvSpPr>
            <a:spLocks noGrp="1"/>
          </p:cNvSpPr>
          <p:nvPr/>
        </p:nvSpPr>
        <p:spPr>
          <a:xfrm>
            <a:off x="609600" y="2181225"/>
            <a:ext cx="2019300" cy="2095500"/>
          </a:xfrm>
          <a:prstGeom prst="rect">
            <a:avLst/>
          </a:prstGeom>
          <a:solidFill>
            <a:srgbClr val="F3F7FA"/>
          </a:solidFill>
          <a:ln w="9525">
            <a:solidFill>
              <a:srgbClr val="087E83"/>
            </a:solidFill>
            <a:prstDash val="solid"/>
          </a:ln>
        </p:spPr>
      </p:sp>
      <p:sp>
        <p:nvSpPr>
          <p:cNvPr id="6" name="step-index-1">
            <a:extLst>
              <a:ext uri="{FF2B5EF4-FFF2-40B4-BE49-F238E27FC236}">
                <a16:creationId xmlns:a16="http://schemas.microsoft.com/office/drawing/2014/main" id="{91A8BDED-623F-4034-9894-0326F8A24F20}"/>
              </a:ext>
            </a:extLst>
          </p:cNvPr>
          <p:cNvSpPr>
            <a:spLocks noGrp="1"/>
          </p:cNvSpPr>
          <p:nvPr/>
        </p:nvSpPr>
        <p:spPr>
          <a:xfrm>
            <a:off x="800100" y="2352675"/>
            <a:ext cx="1638300" cy="552450"/>
          </a:xfrm>
          <a:prstGeom prst="rect">
            <a:avLst/>
          </a:prstGeom>
          <a:noFill/>
          <a:ln w="0">
            <a:noFill/>
          </a:ln>
        </p:spPr>
        <p:txBody>
          <a:bodyPr lIns="0" tIns="0" rIns="0" bIns="0">
            <a:noAutofit/>
          </a:bodyPr>
          <a:lstStyle>
            <a:defPPr algn="l">
              <a:defRPr sz="3300" b="1">
                <a:solidFill>
                  <a:srgbClr val="087E83"/>
                </a:solidFill>
                <a:latin typeface="Helvetica Neue"/>
                <a:ea typeface="Helvetica Neue"/>
                <a:cs typeface="Helvetica Neue"/>
              </a:defRPr>
            </a:defPPr>
          </a:lstStyle>
          <a:p>
            <a:pPr algn="l">
              <a:buNone/>
              <a:defRPr sz="3300" b="1">
                <a:solidFill>
                  <a:srgbClr val="087E83"/>
                </a:solidFill>
                <a:latin typeface="Helvetica Neue"/>
                <a:ea typeface="Helvetica Neue"/>
                <a:cs typeface="Helvetica Neue"/>
              </a:defRPr>
            </a:pPr>
            <a:r>
              <a:rPr sz="3300" b="1">
                <a:solidFill>
                  <a:srgbClr val="087E83"/>
                </a:solidFill>
                <a:latin typeface="Helvetica Neue"/>
                <a:ea typeface="Helvetica Neue"/>
                <a:cs typeface="Helvetica Neue"/>
              </a:rPr>
              <a:t>2A</a:t>
            </a:r>
          </a:p>
        </p:txBody>
      </p:sp>
      <p:sp>
        <p:nvSpPr>
          <p:cNvPr id="7" name="step-label-1">
            <a:extLst>
              <a:ext uri="{FF2B5EF4-FFF2-40B4-BE49-F238E27FC236}">
                <a16:creationId xmlns:a16="http://schemas.microsoft.com/office/drawing/2014/main" id="{E36AD992-362D-431C-A716-A55B0925E0C9}"/>
              </a:ext>
            </a:extLst>
          </p:cNvPr>
          <p:cNvSpPr>
            <a:spLocks noGrp="1"/>
          </p:cNvSpPr>
          <p:nvPr/>
        </p:nvSpPr>
        <p:spPr>
          <a:xfrm>
            <a:off x="800100" y="3086100"/>
            <a:ext cx="1638300" cy="1028700"/>
          </a:xfrm>
          <a:prstGeom prst="rect">
            <a:avLst/>
          </a:prstGeom>
          <a:noFill/>
          <a:ln w="0">
            <a:noFill/>
          </a:ln>
        </p:spPr>
        <p:txBody>
          <a:bodyPr lIns="0" tIns="0" rIns="0" bIns="0">
            <a:noAutofit/>
          </a:bodyPr>
          <a:lstStyle>
            <a:defPPr algn="l">
              <a:defRPr sz="1875" b="1">
                <a:solidFill>
                  <a:srgbClr val="102B46"/>
                </a:solidFill>
                <a:latin typeface="Helvetica Neue"/>
                <a:ea typeface="Helvetica Neue"/>
                <a:cs typeface="Helvetica Neue"/>
              </a:defRPr>
            </a:defPPr>
          </a:lstStyle>
          <a:p>
            <a:pPr algn="l">
              <a:buNone/>
              <a:defRPr sz="1875" b="1">
                <a:solidFill>
                  <a:srgbClr val="102B46"/>
                </a:solidFill>
                <a:latin typeface="Helvetica Neue"/>
                <a:ea typeface="Helvetica Neue"/>
                <a:cs typeface="Helvetica Neue"/>
              </a:defRPr>
            </a:pPr>
            <a:r>
              <a:rPr sz="1875" b="1">
                <a:solidFill>
                  <a:srgbClr val="102B46"/>
                </a:solidFill>
                <a:latin typeface="Helvetica Neue"/>
                <a:ea typeface="Helvetica Neue"/>
                <a:cs typeface="Helvetica Neue"/>
              </a:rPr>
              <a:t>Feedback</a:t>
            </a:r>
          </a:p>
          <a:p>
            <a:pPr algn="l">
              <a:buNone/>
              <a:defRPr sz="1875" b="1">
                <a:solidFill>
                  <a:srgbClr val="102B46"/>
                </a:solidFill>
                <a:latin typeface="Helvetica Neue"/>
                <a:ea typeface="Helvetica Neue"/>
                <a:cs typeface="Helvetica Neue"/>
              </a:defRPr>
            </a:pPr>
            <a:r>
              <a:rPr sz="1875" b="1">
                <a:solidFill>
                  <a:srgbClr val="102B46"/>
                </a:solidFill>
                <a:latin typeface="Helvetica Neue"/>
                <a:ea typeface="Helvetica Neue"/>
                <a:cs typeface="Helvetica Neue"/>
              </a:rPr>
              <a:t>actions</a:t>
            </a:r>
          </a:p>
        </p:txBody>
      </p:sp>
      <p:sp>
        <p:nvSpPr>
          <p:cNvPr id="8" name="process-step-2">
            <a:extLst>
              <a:ext uri="{FF2B5EF4-FFF2-40B4-BE49-F238E27FC236}">
                <a16:creationId xmlns:a16="http://schemas.microsoft.com/office/drawing/2014/main" id="{7E054318-3F9E-4417-9E0A-AD323AECB94A}"/>
              </a:ext>
            </a:extLst>
          </p:cNvPr>
          <p:cNvSpPr>
            <a:spLocks noGrp="1"/>
          </p:cNvSpPr>
          <p:nvPr/>
        </p:nvSpPr>
        <p:spPr>
          <a:xfrm>
            <a:off x="2857500" y="2181225"/>
            <a:ext cx="2019300" cy="2095500"/>
          </a:xfrm>
          <a:prstGeom prst="rect">
            <a:avLst/>
          </a:prstGeom>
          <a:solidFill>
            <a:srgbClr val="F3F7FA"/>
          </a:solidFill>
          <a:ln w="9525">
            <a:solidFill>
              <a:srgbClr val="087E83"/>
            </a:solidFill>
            <a:prstDash val="solid"/>
          </a:ln>
        </p:spPr>
      </p:sp>
      <p:sp>
        <p:nvSpPr>
          <p:cNvPr id="9" name="step-index-2">
            <a:extLst>
              <a:ext uri="{FF2B5EF4-FFF2-40B4-BE49-F238E27FC236}">
                <a16:creationId xmlns:a16="http://schemas.microsoft.com/office/drawing/2014/main" id="{B39B0EE9-B68D-4ED2-A52C-AA5E5760134F}"/>
              </a:ext>
            </a:extLst>
          </p:cNvPr>
          <p:cNvSpPr>
            <a:spLocks noGrp="1"/>
          </p:cNvSpPr>
          <p:nvPr/>
        </p:nvSpPr>
        <p:spPr>
          <a:xfrm>
            <a:off x="3048000" y="2352675"/>
            <a:ext cx="1638300" cy="552450"/>
          </a:xfrm>
          <a:prstGeom prst="rect">
            <a:avLst/>
          </a:prstGeom>
          <a:noFill/>
          <a:ln w="0">
            <a:noFill/>
          </a:ln>
        </p:spPr>
        <p:txBody>
          <a:bodyPr lIns="0" tIns="0" rIns="0" bIns="0">
            <a:noAutofit/>
          </a:bodyPr>
          <a:lstStyle>
            <a:defPPr algn="l">
              <a:defRPr sz="3300" b="1">
                <a:solidFill>
                  <a:srgbClr val="087E83"/>
                </a:solidFill>
                <a:latin typeface="Helvetica Neue"/>
                <a:ea typeface="Helvetica Neue"/>
                <a:cs typeface="Helvetica Neue"/>
              </a:defRPr>
            </a:defPPr>
          </a:lstStyle>
          <a:p>
            <a:pPr algn="l">
              <a:buNone/>
              <a:defRPr sz="3300" b="1">
                <a:solidFill>
                  <a:srgbClr val="087E83"/>
                </a:solidFill>
                <a:latin typeface="Helvetica Neue"/>
                <a:ea typeface="Helvetica Neue"/>
                <a:cs typeface="Helvetica Neue"/>
              </a:defRPr>
            </a:pPr>
            <a:r>
              <a:rPr sz="3300" b="1">
                <a:solidFill>
                  <a:srgbClr val="087E83"/>
                </a:solidFill>
                <a:latin typeface="Helvetica Neue"/>
                <a:ea typeface="Helvetica Neue"/>
                <a:cs typeface="Helvetica Neue"/>
              </a:rPr>
              <a:t>2B</a:t>
            </a:r>
          </a:p>
        </p:txBody>
      </p:sp>
      <p:sp>
        <p:nvSpPr>
          <p:cNvPr id="10" name="step-label-2">
            <a:extLst>
              <a:ext uri="{FF2B5EF4-FFF2-40B4-BE49-F238E27FC236}">
                <a16:creationId xmlns:a16="http://schemas.microsoft.com/office/drawing/2014/main" id="{97BDBE65-E96D-4602-BE84-4FB43F1557BB}"/>
              </a:ext>
            </a:extLst>
          </p:cNvPr>
          <p:cNvSpPr>
            <a:spLocks noGrp="1"/>
          </p:cNvSpPr>
          <p:nvPr/>
        </p:nvSpPr>
        <p:spPr>
          <a:xfrm>
            <a:off x="3048000" y="3086100"/>
            <a:ext cx="1638300" cy="1028700"/>
          </a:xfrm>
          <a:prstGeom prst="rect">
            <a:avLst/>
          </a:prstGeom>
          <a:noFill/>
          <a:ln w="0">
            <a:noFill/>
          </a:ln>
        </p:spPr>
        <p:txBody>
          <a:bodyPr lIns="0" tIns="0" rIns="0" bIns="0">
            <a:noAutofit/>
          </a:bodyPr>
          <a:lstStyle>
            <a:defPPr algn="l">
              <a:defRPr sz="1875" b="1">
                <a:solidFill>
                  <a:srgbClr val="102B46"/>
                </a:solidFill>
                <a:latin typeface="Helvetica Neue"/>
                <a:ea typeface="Helvetica Neue"/>
                <a:cs typeface="Helvetica Neue"/>
              </a:defRPr>
            </a:defPPr>
          </a:lstStyle>
          <a:p>
            <a:pPr algn="l">
              <a:buNone/>
              <a:defRPr sz="1875" b="1">
                <a:solidFill>
                  <a:srgbClr val="102B46"/>
                </a:solidFill>
                <a:latin typeface="Helvetica Neue"/>
                <a:ea typeface="Helvetica Neue"/>
                <a:cs typeface="Helvetica Neue"/>
              </a:defRPr>
            </a:pPr>
            <a:r>
              <a:rPr sz="1875" b="1">
                <a:solidFill>
                  <a:srgbClr val="102B46"/>
                </a:solidFill>
                <a:latin typeface="Helvetica Neue"/>
                <a:ea typeface="Helvetica Neue"/>
                <a:cs typeface="Helvetica Neue"/>
              </a:rPr>
              <a:t>Product and</a:t>
            </a:r>
          </a:p>
          <a:p>
            <a:pPr algn="l">
              <a:buNone/>
              <a:defRPr sz="1875" b="1">
                <a:solidFill>
                  <a:srgbClr val="102B46"/>
                </a:solidFill>
                <a:latin typeface="Helvetica Neue"/>
                <a:ea typeface="Helvetica Neue"/>
                <a:cs typeface="Helvetica Neue"/>
              </a:defRPr>
            </a:pPr>
            <a:r>
              <a:rPr sz="1875" b="1">
                <a:solidFill>
                  <a:srgbClr val="102B46"/>
                </a:solidFill>
                <a:latin typeface="Helvetica Neue"/>
                <a:ea typeface="Helvetica Neue"/>
                <a:cs typeface="Helvetica Neue"/>
              </a:rPr>
              <a:t>architecture</a:t>
            </a:r>
          </a:p>
        </p:txBody>
      </p:sp>
      <p:sp>
        <p:nvSpPr>
          <p:cNvPr id="12" name="process-step-3">
            <a:extLst>
              <a:ext uri="{FF2B5EF4-FFF2-40B4-BE49-F238E27FC236}">
                <a16:creationId xmlns:a16="http://schemas.microsoft.com/office/drawing/2014/main" id="{B0D4CB53-981C-4A96-802A-4F93743CE3E1}"/>
              </a:ext>
            </a:extLst>
          </p:cNvPr>
          <p:cNvSpPr>
            <a:spLocks noGrp="1"/>
          </p:cNvSpPr>
          <p:nvPr/>
        </p:nvSpPr>
        <p:spPr>
          <a:xfrm>
            <a:off x="5105400" y="2181225"/>
            <a:ext cx="2019300" cy="2095500"/>
          </a:xfrm>
          <a:prstGeom prst="rect">
            <a:avLst/>
          </a:prstGeom>
          <a:solidFill>
            <a:srgbClr val="F3F7FA"/>
          </a:solidFill>
          <a:ln w="9525">
            <a:solidFill>
              <a:srgbClr val="087E83"/>
            </a:solidFill>
            <a:prstDash val="solid"/>
          </a:ln>
        </p:spPr>
      </p:sp>
      <p:sp>
        <p:nvSpPr>
          <p:cNvPr id="13" name="step-index-3">
            <a:extLst>
              <a:ext uri="{FF2B5EF4-FFF2-40B4-BE49-F238E27FC236}">
                <a16:creationId xmlns:a16="http://schemas.microsoft.com/office/drawing/2014/main" id="{A4682B03-546B-42B5-B256-65A0D7535625}"/>
              </a:ext>
            </a:extLst>
          </p:cNvPr>
          <p:cNvSpPr>
            <a:spLocks noGrp="1"/>
          </p:cNvSpPr>
          <p:nvPr/>
        </p:nvSpPr>
        <p:spPr>
          <a:xfrm>
            <a:off x="5295900" y="2352675"/>
            <a:ext cx="1638300" cy="552450"/>
          </a:xfrm>
          <a:prstGeom prst="rect">
            <a:avLst/>
          </a:prstGeom>
          <a:noFill/>
          <a:ln w="0">
            <a:noFill/>
          </a:ln>
        </p:spPr>
        <p:txBody>
          <a:bodyPr lIns="0" tIns="0" rIns="0" bIns="0">
            <a:noAutofit/>
          </a:bodyPr>
          <a:lstStyle>
            <a:defPPr algn="l">
              <a:defRPr sz="3300" b="1">
                <a:solidFill>
                  <a:srgbClr val="087E83"/>
                </a:solidFill>
                <a:latin typeface="Helvetica Neue"/>
                <a:ea typeface="Helvetica Neue"/>
                <a:cs typeface="Helvetica Neue"/>
              </a:defRPr>
            </a:defPPr>
          </a:lstStyle>
          <a:p>
            <a:pPr algn="l">
              <a:buNone/>
              <a:defRPr sz="3300" b="1">
                <a:solidFill>
                  <a:srgbClr val="087E83"/>
                </a:solidFill>
                <a:latin typeface="Helvetica Neue"/>
                <a:ea typeface="Helvetica Neue"/>
                <a:cs typeface="Helvetica Neue"/>
              </a:defRPr>
            </a:pPr>
            <a:r>
              <a:rPr sz="3300" b="1">
                <a:solidFill>
                  <a:srgbClr val="087E83"/>
                </a:solidFill>
                <a:latin typeface="Helvetica Neue"/>
                <a:ea typeface="Helvetica Neue"/>
                <a:cs typeface="Helvetica Neue"/>
              </a:rPr>
              <a:t>2C</a:t>
            </a:r>
          </a:p>
        </p:txBody>
      </p:sp>
      <p:sp>
        <p:nvSpPr>
          <p:cNvPr id="14" name="step-label-3">
            <a:extLst>
              <a:ext uri="{FF2B5EF4-FFF2-40B4-BE49-F238E27FC236}">
                <a16:creationId xmlns:a16="http://schemas.microsoft.com/office/drawing/2014/main" id="{71D3F090-9A8A-48B6-928B-E5CF7C3A9C9B}"/>
              </a:ext>
            </a:extLst>
          </p:cNvPr>
          <p:cNvSpPr>
            <a:spLocks noGrp="1"/>
          </p:cNvSpPr>
          <p:nvPr/>
        </p:nvSpPr>
        <p:spPr>
          <a:xfrm>
            <a:off x="5295900" y="3086100"/>
            <a:ext cx="1638300" cy="1028700"/>
          </a:xfrm>
          <a:prstGeom prst="rect">
            <a:avLst/>
          </a:prstGeom>
          <a:noFill/>
          <a:ln w="0">
            <a:noFill/>
          </a:ln>
        </p:spPr>
        <p:txBody>
          <a:bodyPr lIns="0" tIns="0" rIns="0" bIns="0">
            <a:noAutofit/>
          </a:bodyPr>
          <a:lstStyle>
            <a:defPPr algn="l">
              <a:defRPr sz="1875" b="1">
                <a:solidFill>
                  <a:srgbClr val="102B46"/>
                </a:solidFill>
                <a:latin typeface="Helvetica Neue"/>
                <a:ea typeface="Helvetica Neue"/>
                <a:cs typeface="Helvetica Neue"/>
              </a:defRPr>
            </a:defPPr>
          </a:lstStyle>
          <a:p>
            <a:pPr algn="l">
              <a:buNone/>
              <a:defRPr sz="1875" b="1">
                <a:solidFill>
                  <a:srgbClr val="102B46"/>
                </a:solidFill>
                <a:latin typeface="Helvetica Neue"/>
                <a:ea typeface="Helvetica Neue"/>
                <a:cs typeface="Helvetica Neue"/>
              </a:defRPr>
            </a:pPr>
            <a:r>
              <a:rPr sz="1875" b="1">
                <a:solidFill>
                  <a:srgbClr val="102B46"/>
                </a:solidFill>
                <a:latin typeface="Helvetica Neue"/>
                <a:ea typeface="Helvetica Neue"/>
                <a:cs typeface="Helvetica Neue"/>
              </a:rPr>
              <a:t>Requirements</a:t>
            </a:r>
          </a:p>
          <a:p>
            <a:pPr algn="l">
              <a:buNone/>
              <a:defRPr sz="1875" b="1">
                <a:solidFill>
                  <a:srgbClr val="102B46"/>
                </a:solidFill>
                <a:latin typeface="Helvetica Neue"/>
                <a:ea typeface="Helvetica Neue"/>
                <a:cs typeface="Helvetica Neue"/>
              </a:defRPr>
            </a:pPr>
            <a:r>
              <a:rPr sz="1875" b="1">
                <a:solidFill>
                  <a:srgbClr val="102B46"/>
                </a:solidFill>
                <a:latin typeface="Helvetica Neue"/>
                <a:ea typeface="Helvetica Neue"/>
                <a:cs typeface="Helvetica Neue"/>
              </a:rPr>
              <a:t>and IP</a:t>
            </a:r>
          </a:p>
        </p:txBody>
      </p:sp>
      <p:sp>
        <p:nvSpPr>
          <p:cNvPr id="16" name="process-step-4">
            <a:extLst>
              <a:ext uri="{FF2B5EF4-FFF2-40B4-BE49-F238E27FC236}">
                <a16:creationId xmlns:a16="http://schemas.microsoft.com/office/drawing/2014/main" id="{25344F77-5A7D-4A01-9098-CAAA97E89344}"/>
              </a:ext>
            </a:extLst>
          </p:cNvPr>
          <p:cNvSpPr>
            <a:spLocks noGrp="1"/>
          </p:cNvSpPr>
          <p:nvPr/>
        </p:nvSpPr>
        <p:spPr>
          <a:xfrm>
            <a:off x="7353300" y="2181225"/>
            <a:ext cx="2019300" cy="2095500"/>
          </a:xfrm>
          <a:prstGeom prst="rect">
            <a:avLst/>
          </a:prstGeom>
          <a:solidFill>
            <a:srgbClr val="F3F7FA"/>
          </a:solidFill>
          <a:ln w="9525">
            <a:solidFill>
              <a:srgbClr val="087E83"/>
            </a:solidFill>
            <a:prstDash val="solid"/>
          </a:ln>
        </p:spPr>
      </p:sp>
      <p:sp>
        <p:nvSpPr>
          <p:cNvPr id="17" name="step-index-4">
            <a:extLst>
              <a:ext uri="{FF2B5EF4-FFF2-40B4-BE49-F238E27FC236}">
                <a16:creationId xmlns:a16="http://schemas.microsoft.com/office/drawing/2014/main" id="{7A5A052D-3007-4B0B-874D-EF9019D2F7DB}"/>
              </a:ext>
            </a:extLst>
          </p:cNvPr>
          <p:cNvSpPr>
            <a:spLocks noGrp="1"/>
          </p:cNvSpPr>
          <p:nvPr/>
        </p:nvSpPr>
        <p:spPr>
          <a:xfrm>
            <a:off x="7543800" y="2352675"/>
            <a:ext cx="1638300" cy="552450"/>
          </a:xfrm>
          <a:prstGeom prst="rect">
            <a:avLst/>
          </a:prstGeom>
          <a:noFill/>
          <a:ln w="0">
            <a:noFill/>
          </a:ln>
        </p:spPr>
        <p:txBody>
          <a:bodyPr lIns="0" tIns="0" rIns="0" bIns="0">
            <a:noAutofit/>
          </a:bodyPr>
          <a:lstStyle>
            <a:defPPr algn="l">
              <a:defRPr sz="3300" b="1">
                <a:solidFill>
                  <a:srgbClr val="087E83"/>
                </a:solidFill>
                <a:latin typeface="Helvetica Neue"/>
                <a:ea typeface="Helvetica Neue"/>
                <a:cs typeface="Helvetica Neue"/>
              </a:defRPr>
            </a:defPPr>
          </a:lstStyle>
          <a:p>
            <a:pPr algn="l">
              <a:buNone/>
              <a:defRPr sz="3300" b="1">
                <a:solidFill>
                  <a:srgbClr val="087E83"/>
                </a:solidFill>
                <a:latin typeface="Helvetica Neue"/>
                <a:ea typeface="Helvetica Neue"/>
                <a:cs typeface="Helvetica Neue"/>
              </a:defRPr>
            </a:pPr>
            <a:r>
              <a:rPr sz="3300" b="1">
                <a:solidFill>
                  <a:srgbClr val="087E83"/>
                </a:solidFill>
                <a:latin typeface="Helvetica Neue"/>
                <a:ea typeface="Helvetica Neue"/>
                <a:cs typeface="Helvetica Neue"/>
              </a:rPr>
              <a:t>2D</a:t>
            </a:r>
          </a:p>
        </p:txBody>
      </p:sp>
      <p:sp>
        <p:nvSpPr>
          <p:cNvPr id="18" name="step-label-4">
            <a:extLst>
              <a:ext uri="{FF2B5EF4-FFF2-40B4-BE49-F238E27FC236}">
                <a16:creationId xmlns:a16="http://schemas.microsoft.com/office/drawing/2014/main" id="{E33E0E73-B860-4631-9388-35A6F466E389}"/>
              </a:ext>
            </a:extLst>
          </p:cNvPr>
          <p:cNvSpPr>
            <a:spLocks noGrp="1"/>
          </p:cNvSpPr>
          <p:nvPr/>
        </p:nvSpPr>
        <p:spPr>
          <a:xfrm>
            <a:off x="7543800" y="3086100"/>
            <a:ext cx="1638300" cy="1028700"/>
          </a:xfrm>
          <a:prstGeom prst="rect">
            <a:avLst/>
          </a:prstGeom>
          <a:noFill/>
          <a:ln w="0">
            <a:noFill/>
          </a:ln>
        </p:spPr>
        <p:txBody>
          <a:bodyPr lIns="0" tIns="0" rIns="0" bIns="0">
            <a:noAutofit/>
          </a:bodyPr>
          <a:lstStyle>
            <a:defPPr algn="l">
              <a:defRPr sz="1875" b="1">
                <a:solidFill>
                  <a:srgbClr val="102B46"/>
                </a:solidFill>
                <a:latin typeface="Helvetica Neue"/>
                <a:ea typeface="Helvetica Neue"/>
                <a:cs typeface="Helvetica Neue"/>
              </a:defRPr>
            </a:defPPr>
          </a:lstStyle>
          <a:p>
            <a:pPr algn="l">
              <a:buNone/>
              <a:defRPr sz="1875" b="1">
                <a:solidFill>
                  <a:srgbClr val="102B46"/>
                </a:solidFill>
                <a:latin typeface="Helvetica Neue"/>
                <a:ea typeface="Helvetica Neue"/>
                <a:cs typeface="Helvetica Neue"/>
              </a:defRPr>
            </a:pPr>
            <a:r>
              <a:rPr sz="1875" b="1">
                <a:solidFill>
                  <a:srgbClr val="102B46"/>
                </a:solidFill>
                <a:latin typeface="Helvetica Neue"/>
                <a:ea typeface="Helvetica Neue"/>
                <a:cs typeface="Helvetica Neue"/>
              </a:rPr>
              <a:t>Business and</a:t>
            </a:r>
          </a:p>
          <a:p>
            <a:pPr algn="l">
              <a:buNone/>
              <a:defRPr sz="1875" b="1">
                <a:solidFill>
                  <a:srgbClr val="102B46"/>
                </a:solidFill>
                <a:latin typeface="Helvetica Neue"/>
                <a:ea typeface="Helvetica Neue"/>
                <a:cs typeface="Helvetica Neue"/>
              </a:defRPr>
            </a:pPr>
            <a:r>
              <a:rPr sz="1875" b="1">
                <a:solidFill>
                  <a:srgbClr val="102B46"/>
                </a:solidFill>
                <a:latin typeface="Helvetica Neue"/>
                <a:ea typeface="Helvetica Neue"/>
                <a:cs typeface="Helvetica Neue"/>
              </a:rPr>
              <a:t>feasibility</a:t>
            </a:r>
          </a:p>
        </p:txBody>
      </p:sp>
      <p:sp>
        <p:nvSpPr>
          <p:cNvPr id="20" name="process-step-5">
            <a:extLst>
              <a:ext uri="{FF2B5EF4-FFF2-40B4-BE49-F238E27FC236}">
                <a16:creationId xmlns:a16="http://schemas.microsoft.com/office/drawing/2014/main" id="{16251667-4406-4CC8-B51A-78819EF3867F}"/>
              </a:ext>
            </a:extLst>
          </p:cNvPr>
          <p:cNvSpPr>
            <a:spLocks noGrp="1"/>
          </p:cNvSpPr>
          <p:nvPr/>
        </p:nvSpPr>
        <p:spPr>
          <a:xfrm>
            <a:off x="9601200" y="2181225"/>
            <a:ext cx="2019300" cy="2095500"/>
          </a:xfrm>
          <a:prstGeom prst="rect">
            <a:avLst/>
          </a:prstGeom>
          <a:solidFill>
            <a:srgbClr val="F3F7FA"/>
          </a:solidFill>
          <a:ln w="9525">
            <a:solidFill>
              <a:srgbClr val="087E83"/>
            </a:solidFill>
            <a:prstDash val="solid"/>
          </a:ln>
        </p:spPr>
      </p:sp>
      <p:sp>
        <p:nvSpPr>
          <p:cNvPr id="21" name="step-index-5">
            <a:extLst>
              <a:ext uri="{FF2B5EF4-FFF2-40B4-BE49-F238E27FC236}">
                <a16:creationId xmlns:a16="http://schemas.microsoft.com/office/drawing/2014/main" id="{FC81BE54-2A5B-48B8-905D-B902865E0225}"/>
              </a:ext>
            </a:extLst>
          </p:cNvPr>
          <p:cNvSpPr>
            <a:spLocks noGrp="1"/>
          </p:cNvSpPr>
          <p:nvPr/>
        </p:nvSpPr>
        <p:spPr>
          <a:xfrm>
            <a:off x="9791700" y="2352675"/>
            <a:ext cx="1638300" cy="552450"/>
          </a:xfrm>
          <a:prstGeom prst="rect">
            <a:avLst/>
          </a:prstGeom>
          <a:noFill/>
          <a:ln w="0">
            <a:noFill/>
          </a:ln>
        </p:spPr>
        <p:txBody>
          <a:bodyPr lIns="0" tIns="0" rIns="0" bIns="0">
            <a:noAutofit/>
          </a:bodyPr>
          <a:lstStyle>
            <a:defPPr algn="l">
              <a:defRPr sz="3300" b="1">
                <a:solidFill>
                  <a:srgbClr val="087E83"/>
                </a:solidFill>
                <a:latin typeface="Helvetica Neue"/>
                <a:ea typeface="Helvetica Neue"/>
                <a:cs typeface="Helvetica Neue"/>
              </a:defRPr>
            </a:defPPr>
          </a:lstStyle>
          <a:p>
            <a:pPr algn="l">
              <a:buNone/>
              <a:defRPr sz="3300" b="1">
                <a:solidFill>
                  <a:srgbClr val="087E83"/>
                </a:solidFill>
                <a:latin typeface="Helvetica Neue"/>
                <a:ea typeface="Helvetica Neue"/>
                <a:cs typeface="Helvetica Neue"/>
              </a:defRPr>
            </a:pPr>
            <a:r>
              <a:rPr sz="3300" b="1">
                <a:solidFill>
                  <a:srgbClr val="087E83"/>
                </a:solidFill>
                <a:latin typeface="Helvetica Neue"/>
                <a:ea typeface="Helvetica Neue"/>
                <a:cs typeface="Helvetica Neue"/>
              </a:rPr>
              <a:t>2E</a:t>
            </a:r>
          </a:p>
        </p:txBody>
      </p:sp>
      <p:sp>
        <p:nvSpPr>
          <p:cNvPr id="22" name="step-label-5">
            <a:extLst>
              <a:ext uri="{FF2B5EF4-FFF2-40B4-BE49-F238E27FC236}">
                <a16:creationId xmlns:a16="http://schemas.microsoft.com/office/drawing/2014/main" id="{334678F9-112B-4153-BDC5-43A5E0EA857A}"/>
              </a:ext>
            </a:extLst>
          </p:cNvPr>
          <p:cNvSpPr>
            <a:spLocks noGrp="1"/>
          </p:cNvSpPr>
          <p:nvPr/>
        </p:nvSpPr>
        <p:spPr>
          <a:xfrm>
            <a:off x="9791700" y="3086100"/>
            <a:ext cx="1638300" cy="1028700"/>
          </a:xfrm>
          <a:prstGeom prst="rect">
            <a:avLst/>
          </a:prstGeom>
          <a:noFill/>
          <a:ln w="0">
            <a:noFill/>
          </a:ln>
        </p:spPr>
        <p:txBody>
          <a:bodyPr lIns="0" tIns="0" rIns="0" bIns="0">
            <a:noAutofit/>
          </a:bodyPr>
          <a:lstStyle>
            <a:defPPr algn="l">
              <a:defRPr sz="1875" b="1">
                <a:solidFill>
                  <a:srgbClr val="102B46"/>
                </a:solidFill>
                <a:latin typeface="Helvetica Neue"/>
                <a:ea typeface="Helvetica Neue"/>
                <a:cs typeface="Helvetica Neue"/>
              </a:defRPr>
            </a:defPPr>
          </a:lstStyle>
          <a:p>
            <a:pPr algn="l">
              <a:buNone/>
              <a:defRPr sz="1875" b="1">
                <a:solidFill>
                  <a:srgbClr val="102B46"/>
                </a:solidFill>
                <a:latin typeface="Helvetica Neue"/>
                <a:ea typeface="Helvetica Neue"/>
                <a:cs typeface="Helvetica Neue"/>
              </a:defRPr>
            </a:pPr>
            <a:r>
              <a:rPr sz="1875" b="1">
                <a:solidFill>
                  <a:srgbClr val="102B46"/>
                </a:solidFill>
                <a:latin typeface="Helvetica Neue"/>
                <a:ea typeface="Helvetica Neue"/>
                <a:cs typeface="Helvetica Neue"/>
              </a:rPr>
              <a:t>Solution</a:t>
            </a:r>
          </a:p>
          <a:p>
            <a:pPr algn="l">
              <a:buNone/>
              <a:defRPr sz="1875" b="1">
                <a:solidFill>
                  <a:srgbClr val="102B46"/>
                </a:solidFill>
                <a:latin typeface="Helvetica Neue"/>
                <a:ea typeface="Helvetica Neue"/>
                <a:cs typeface="Helvetica Neue"/>
              </a:defRPr>
            </a:pPr>
            <a:r>
              <a:rPr sz="1875" b="1">
                <a:solidFill>
                  <a:srgbClr val="102B46"/>
                </a:solidFill>
                <a:latin typeface="Helvetica Neue"/>
                <a:ea typeface="Helvetica Neue"/>
                <a:cs typeface="Helvetica Neue"/>
              </a:rPr>
              <a:t>checkpoint</a:t>
            </a:r>
          </a:p>
        </p:txBody>
      </p:sp>
      <p:sp>
        <p:nvSpPr>
          <p:cNvPr id="24" name="bottom-label">
            <a:extLst>
              <a:ext uri="{FF2B5EF4-FFF2-40B4-BE49-F238E27FC236}">
                <a16:creationId xmlns:a16="http://schemas.microsoft.com/office/drawing/2014/main" id="{53DF43FC-2118-431B-ADE4-23B8306A8B9C}"/>
              </a:ext>
            </a:extLst>
          </p:cNvPr>
          <p:cNvSpPr>
            <a:spLocks noGrp="1"/>
          </p:cNvSpPr>
          <p:nvPr/>
        </p:nvSpPr>
        <p:spPr>
          <a:xfrm>
            <a:off x="609600" y="5229225"/>
            <a:ext cx="2095500" cy="285750"/>
          </a:xfrm>
          <a:prstGeom prst="rect">
            <a:avLst/>
          </a:prstGeom>
          <a:noFill/>
          <a:ln w="0">
            <a:noFill/>
          </a:ln>
        </p:spPr>
        <p:txBody>
          <a:bodyPr lIns="0" tIns="0" rIns="0" bIns="0">
            <a:noAutofit/>
          </a:bodyPr>
          <a:lstStyle>
            <a:defPPr algn="l">
              <a:defRPr sz="1350" b="1">
                <a:solidFill>
                  <a:srgbClr val="087E83"/>
                </a:solidFill>
                <a:latin typeface="Helvetica Neue"/>
                <a:ea typeface="Helvetica Neue"/>
                <a:cs typeface="Helvetica Neue"/>
              </a:defRPr>
            </a:defPPr>
          </a:lstStyle>
          <a:p>
            <a:pPr algn="l">
              <a:buNone/>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SESSION OUTPUT</a:t>
            </a:r>
          </a:p>
        </p:txBody>
      </p:sp>
      <p:sp>
        <p:nvSpPr>
          <p:cNvPr id="25" name="bottom-value">
            <a:extLst>
              <a:ext uri="{FF2B5EF4-FFF2-40B4-BE49-F238E27FC236}">
                <a16:creationId xmlns:a16="http://schemas.microsoft.com/office/drawing/2014/main" id="{1559714A-9F44-4DAB-B4BF-64E59E6B939B}"/>
              </a:ext>
            </a:extLst>
          </p:cNvPr>
          <p:cNvSpPr>
            <a:spLocks noGrp="1"/>
          </p:cNvSpPr>
          <p:nvPr/>
        </p:nvSpPr>
        <p:spPr>
          <a:xfrm>
            <a:off x="609600" y="5581650"/>
            <a:ext cx="10858500" cy="533400"/>
          </a:xfrm>
          <a:prstGeom prst="rect">
            <a:avLst/>
          </a:prstGeom>
          <a:noFill/>
          <a:ln w="0">
            <a:noFill/>
          </a:ln>
        </p:spPr>
        <p:txBody>
          <a:bodyPr lIns="0" tIns="0" rIns="0" bIns="0">
            <a:noAutofit/>
          </a:bodyPr>
          <a:lstStyle>
            <a:defPPr algn="l">
              <a:defRPr sz="2025" b="0">
                <a:solidFill>
                  <a:srgbClr val="607482"/>
                </a:solidFill>
                <a:latin typeface="Helvetica Neue"/>
                <a:ea typeface="Helvetica Neue"/>
                <a:cs typeface="Helvetica Neue"/>
              </a:defRPr>
            </a:defPPr>
          </a:lstStyle>
          <a:p>
            <a:pPr algn="l">
              <a:buNone/>
              <a:defRPr sz="2025" b="0">
                <a:solidFill>
                  <a:srgbClr val="607482"/>
                </a:solidFill>
                <a:latin typeface="Helvetica Neue"/>
                <a:ea typeface="Helvetica Neue"/>
                <a:cs typeface="Helvetica Neue"/>
              </a:defRPr>
            </a:pPr>
            <a:r>
              <a:rPr sz="2025" b="0">
                <a:solidFill>
                  <a:srgbClr val="607482"/>
                </a:solidFill>
                <a:latin typeface="Helvetica Neue"/>
                <a:ea typeface="Helvetica Neue"/>
                <a:cs typeface="Helvetica Neue"/>
              </a:rPr>
              <a:t>Hour 6: Solution V2 + business model + regulatory issues</a:t>
            </a:r>
          </a:p>
        </p:txBody>
      </p:sp>
      <p:sp>
        <p:nvSpPr>
          <p:cNvPr id="26" name="review-cue">
            <a:extLst>
              <a:ext uri="{FF2B5EF4-FFF2-40B4-BE49-F238E27FC236}">
                <a16:creationId xmlns:a16="http://schemas.microsoft.com/office/drawing/2014/main" id="{7F1F6B43-B459-4FE3-AEDF-F4556E978ECA}"/>
              </a:ext>
            </a:extLst>
          </p:cNvPr>
          <p:cNvSpPr>
            <a:spLocks noGrp="1"/>
          </p:cNvSpPr>
          <p:nvPr/>
        </p:nvSpPr>
        <p:spPr>
          <a:xfrm>
            <a:off x="609600" y="6153150"/>
            <a:ext cx="10668000" cy="266700"/>
          </a:xfrm>
          <a:prstGeom prst="rect">
            <a:avLst/>
          </a:prstGeom>
          <a:noFill/>
          <a:ln w="0">
            <a:noFill/>
          </a:ln>
        </p:spPr>
        <p:txBody>
          <a:bodyPr lIns="0" tIns="0" rIns="0" bIns="0">
            <a:noAutofit/>
          </a:bodyPr>
          <a:lstStyle>
            <a:defPPr algn="l">
              <a:defRPr sz="1650" b="0">
                <a:solidFill>
                  <a:srgbClr val="607482"/>
                </a:solidFill>
                <a:latin typeface="Helvetica Neue"/>
                <a:ea typeface="Helvetica Neue"/>
                <a:cs typeface="Helvetica Neue"/>
              </a:defRPr>
            </a:defPPr>
          </a:lstStyle>
          <a:p>
            <a:pPr algn="l">
              <a:buNone/>
              <a:defRPr sz="1650" b="0">
                <a:solidFill>
                  <a:srgbClr val="607482"/>
                </a:solidFill>
                <a:latin typeface="Helvetica Neue"/>
                <a:ea typeface="Helvetica Neue"/>
                <a:cs typeface="Helvetica Neue"/>
              </a:defRPr>
            </a:pPr>
            <a:r>
              <a:rPr sz="1650" b="0">
                <a:solidFill>
                  <a:srgbClr val="607482"/>
                </a:solidFill>
                <a:latin typeface="Helvetica Neue"/>
                <a:ea typeface="Helvetica Neue"/>
                <a:cs typeface="Helvetica Neue"/>
              </a:rPr>
              <a:t>Use the checkpoint questions to prepare for expert feedback.</a:t>
            </a:r>
          </a:p>
        </p:txBody>
      </p:sp>
      <p:pic>
        <p:nvPicPr>
          <p:cNvPr id="28" name="Picture 27">
            <a:extLst>
              <a:ext uri="{FF2B5EF4-FFF2-40B4-BE49-F238E27FC236}">
                <a16:creationId xmlns:a16="http://schemas.microsoft.com/office/drawing/2014/main" id="{5DF40AE0-35E2-453E-9AD5-9FA0824A61EC}"/>
              </a:ext>
            </a:extLst>
          </p:cNvPr>
          <p:cNvPicPr>
            <a:picLocks noChangeAspect="1"/>
          </p:cNvPicPr>
          <p:nvPr/>
        </p:nvPicPr>
        <p:blipFill>
          <a:blip r:embed="rId3"/>
          <a:stretch/>
        </p:blipFill>
        <p:spPr>
          <a:xfrm>
            <a:off x="2000250" y="2428875"/>
            <a:ext cx="400050" cy="400050"/>
          </a:xfrm>
          <a:prstGeom prst="rect">
            <a:avLst/>
          </a:prstGeom>
        </p:spPr>
      </p:pic>
      <p:pic>
        <p:nvPicPr>
          <p:cNvPr id="29" name="Picture 28">
            <a:extLst>
              <a:ext uri="{FF2B5EF4-FFF2-40B4-BE49-F238E27FC236}">
                <a16:creationId xmlns:a16="http://schemas.microsoft.com/office/drawing/2014/main" id="{29C5166D-CC85-444F-A202-835ADB32B399}"/>
              </a:ext>
            </a:extLst>
          </p:cNvPr>
          <p:cNvPicPr>
            <a:picLocks noChangeAspect="1"/>
          </p:cNvPicPr>
          <p:nvPr/>
        </p:nvPicPr>
        <p:blipFill>
          <a:blip r:embed="rId4"/>
          <a:stretch/>
        </p:blipFill>
        <p:spPr>
          <a:xfrm>
            <a:off x="4248150" y="2428875"/>
            <a:ext cx="400050" cy="400050"/>
          </a:xfrm>
          <a:prstGeom prst="rect">
            <a:avLst/>
          </a:prstGeom>
        </p:spPr>
      </p:pic>
      <p:pic>
        <p:nvPicPr>
          <p:cNvPr id="30" name="Picture 29">
            <a:extLst>
              <a:ext uri="{FF2B5EF4-FFF2-40B4-BE49-F238E27FC236}">
                <a16:creationId xmlns:a16="http://schemas.microsoft.com/office/drawing/2014/main" id="{E7EA1B62-2C0E-476A-A230-5EC67EBCC45A}"/>
              </a:ext>
            </a:extLst>
          </p:cNvPr>
          <p:cNvPicPr>
            <a:picLocks noChangeAspect="1"/>
          </p:cNvPicPr>
          <p:nvPr/>
        </p:nvPicPr>
        <p:blipFill>
          <a:blip r:embed="rId5"/>
          <a:stretch/>
        </p:blipFill>
        <p:spPr>
          <a:xfrm>
            <a:off x="6496050" y="2428875"/>
            <a:ext cx="400050" cy="400050"/>
          </a:xfrm>
          <a:prstGeom prst="rect">
            <a:avLst/>
          </a:prstGeom>
        </p:spPr>
      </p:pic>
      <p:pic>
        <p:nvPicPr>
          <p:cNvPr id="31" name="Picture 30">
            <a:extLst>
              <a:ext uri="{FF2B5EF4-FFF2-40B4-BE49-F238E27FC236}">
                <a16:creationId xmlns:a16="http://schemas.microsoft.com/office/drawing/2014/main" id="{C4291E09-D56F-4ACD-8985-9E2668C86191}"/>
              </a:ext>
            </a:extLst>
          </p:cNvPr>
          <p:cNvPicPr>
            <a:picLocks noChangeAspect="1"/>
          </p:cNvPicPr>
          <p:nvPr/>
        </p:nvPicPr>
        <p:blipFill>
          <a:blip r:embed="rId6"/>
          <a:stretch/>
        </p:blipFill>
        <p:spPr>
          <a:xfrm>
            <a:off x="8743950" y="2428875"/>
            <a:ext cx="400050" cy="400050"/>
          </a:xfrm>
          <a:prstGeom prst="rect">
            <a:avLst/>
          </a:prstGeom>
        </p:spPr>
      </p:pic>
      <p:pic>
        <p:nvPicPr>
          <p:cNvPr id="32" name="Picture 31">
            <a:extLst>
              <a:ext uri="{FF2B5EF4-FFF2-40B4-BE49-F238E27FC236}">
                <a16:creationId xmlns:a16="http://schemas.microsoft.com/office/drawing/2014/main" id="{CC904B0A-578E-4857-815C-DB8EE560680B}"/>
              </a:ext>
            </a:extLst>
          </p:cNvPr>
          <p:cNvPicPr>
            <a:picLocks noChangeAspect="1"/>
          </p:cNvPicPr>
          <p:nvPr/>
        </p:nvPicPr>
        <p:blipFill>
          <a:blip r:embed="rId7"/>
          <a:stretch/>
        </p:blipFill>
        <p:spPr>
          <a:xfrm>
            <a:off x="10991850" y="2428875"/>
            <a:ext cx="400050" cy="400050"/>
          </a:xfrm>
          <a:prstGeom prst="rect">
            <a:avLst/>
          </a:prstGeom>
        </p:spPr>
      </p:pic>
    </p:spTree>
    <p:extLst>
      <p:ext uri="{BB962C8B-B14F-4D97-AF65-F5344CB8AC3E}">
        <p14:creationId xmlns:p14="http://schemas.microsoft.com/office/powerpoint/2010/main" val="4787668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section-label">
            <a:extLst>
              <a:ext uri="{FF2B5EF4-FFF2-40B4-BE49-F238E27FC236}">
                <a16:creationId xmlns:a16="http://schemas.microsoft.com/office/drawing/2014/main" id="{B4C9DE20-A269-4C03-A821-39B6A9322E6C}"/>
              </a:ext>
            </a:extLst>
          </p:cNvPr>
          <p:cNvSpPr>
            <a:spLocks noGrp="1"/>
          </p:cNvSpPr>
          <p:nvPr/>
        </p:nvSpPr>
        <p:spPr>
          <a:xfrm>
            <a:off x="609600" y="285750"/>
            <a:ext cx="10668000" cy="285750"/>
          </a:xfrm>
          <a:prstGeom prst="rect">
            <a:avLst/>
          </a:prstGeom>
          <a:noFill/>
          <a:ln w="0">
            <a:noFill/>
          </a:ln>
        </p:spPr>
        <p:txBody>
          <a:bodyPr lIns="0" tIns="0" rIns="0" bIns="0">
            <a:noAutofit/>
          </a:bodyPr>
          <a:lstStyle>
            <a:defPPr>
              <a:defRPr sz="1200" b="1">
                <a:solidFill>
                  <a:srgbClr val="087E83"/>
                </a:solidFill>
                <a:latin typeface="Helvetica Neue"/>
                <a:ea typeface="Helvetica Neue"/>
                <a:cs typeface="Helvetica Neue"/>
              </a:defRPr>
            </a:defPPr>
          </a:lstStyle>
          <a:p>
            <a:pPr>
              <a:buNone/>
              <a:defRPr sz="1200" b="1">
                <a:solidFill>
                  <a:srgbClr val="087E83"/>
                </a:solidFill>
                <a:latin typeface="Helvetica Neue"/>
                <a:ea typeface="Helvetica Neue"/>
                <a:cs typeface="Helvetica Neue"/>
              </a:defRPr>
            </a:pPr>
            <a:r>
              <a:rPr sz="1200" b="1">
                <a:solidFill>
                  <a:srgbClr val="087E83"/>
                </a:solidFill>
                <a:latin typeface="Helvetica Neue"/>
                <a:ea typeface="Helvetica Neue"/>
                <a:cs typeface="Helvetica Neue"/>
              </a:rPr>
              <a:t>SESSION 2: INTEGRATED SOLUTION</a:t>
            </a:r>
          </a:p>
        </p:txBody>
      </p:sp>
      <p:sp>
        <p:nvSpPr>
          <p:cNvPr id="2" name="slide-title">
            <a:extLst>
              <a:ext uri="{FF2B5EF4-FFF2-40B4-BE49-F238E27FC236}">
                <a16:creationId xmlns:a16="http://schemas.microsoft.com/office/drawing/2014/main" id="{5CDD4471-F963-4435-AD41-B6875CC2747F}"/>
              </a:ext>
            </a:extLst>
          </p:cNvPr>
          <p:cNvSpPr>
            <a:spLocks noGrp="1"/>
          </p:cNvSpPr>
          <p:nvPr/>
        </p:nvSpPr>
        <p:spPr>
          <a:xfrm>
            <a:off x="609600" y="781050"/>
            <a:ext cx="10972800" cy="819150"/>
          </a:xfrm>
          <a:prstGeom prst="rect">
            <a:avLst/>
          </a:prstGeom>
          <a:noFill/>
          <a:ln w="0">
            <a:noFill/>
          </a:ln>
        </p:spPr>
        <p:txBody>
          <a:bodyPr lIns="0" tIns="0" rIns="0" bIns="0">
            <a:noAutofit/>
          </a:bodyPr>
          <a:lstStyle>
            <a:defPPr>
              <a:defRPr sz="3450" b="1">
                <a:solidFill>
                  <a:srgbClr val="102B46"/>
                </a:solidFill>
                <a:latin typeface="Helvetica Neue"/>
                <a:ea typeface="Helvetica Neue"/>
                <a:cs typeface="Helvetica Neue"/>
              </a:defRPr>
            </a:defPPr>
          </a:lstStyle>
          <a:p>
            <a:pPr>
              <a:buNone/>
              <a:defRPr sz="3450" b="1">
                <a:solidFill>
                  <a:srgbClr val="102B46"/>
                </a:solidFill>
                <a:latin typeface="Helvetica Neue"/>
                <a:ea typeface="Helvetica Neue"/>
                <a:cs typeface="Helvetica Neue"/>
              </a:defRPr>
            </a:pPr>
            <a:r>
              <a:rPr sz="3450" b="1" dirty="0">
                <a:solidFill>
                  <a:srgbClr val="102B46"/>
                </a:solidFill>
                <a:latin typeface="Helvetica Neue"/>
                <a:ea typeface="Helvetica Neue"/>
                <a:cs typeface="Helvetica Neue"/>
              </a:rPr>
              <a:t>Session 2 deliverables</a:t>
            </a:r>
          </a:p>
        </p:txBody>
      </p:sp>
      <p:sp>
        <p:nvSpPr>
          <p:cNvPr id="3" name="subtitle">
            <a:extLst>
              <a:ext uri="{FF2B5EF4-FFF2-40B4-BE49-F238E27FC236}">
                <a16:creationId xmlns:a16="http://schemas.microsoft.com/office/drawing/2014/main" id="{ABDDBBE2-6607-49B6-A958-EEA610266603}"/>
              </a:ext>
            </a:extLst>
          </p:cNvPr>
          <p:cNvSpPr>
            <a:spLocks noGrp="1"/>
          </p:cNvSpPr>
          <p:nvPr/>
        </p:nvSpPr>
        <p:spPr>
          <a:xfrm>
            <a:off x="609600" y="1581150"/>
            <a:ext cx="10972800" cy="419100"/>
          </a:xfrm>
          <a:prstGeom prst="rect">
            <a:avLst/>
          </a:prstGeom>
          <a:noFill/>
          <a:ln w="0">
            <a:noFill/>
          </a:ln>
        </p:spPr>
        <p:txBody>
          <a:bodyPr lIns="0" tIns="0" rIns="0" bIns="0">
            <a:noAutofit/>
          </a:bodyPr>
          <a:lstStyle>
            <a:defPPr>
              <a:defRPr sz="1800" b="0">
                <a:solidFill>
                  <a:srgbClr val="607482"/>
                </a:solidFill>
                <a:latin typeface="Helvetica Neue"/>
                <a:ea typeface="Helvetica Neue"/>
                <a:cs typeface="Helvetica Neue"/>
              </a:defRPr>
            </a:defPPr>
          </a:lstStyle>
          <a:p>
            <a:pPr>
              <a:buNone/>
              <a:defRPr sz="1800" b="0">
                <a:solidFill>
                  <a:srgbClr val="607482"/>
                </a:solidFill>
                <a:latin typeface="Helvetica Neue"/>
                <a:ea typeface="Helvetica Neue"/>
                <a:cs typeface="Helvetica Neue"/>
              </a:defRPr>
            </a:pPr>
            <a:r>
              <a:rPr sz="1800" b="0" dirty="0">
                <a:solidFill>
                  <a:srgbClr val="607482"/>
                </a:solidFill>
                <a:latin typeface="Helvetica Neue"/>
                <a:ea typeface="Helvetica Neue"/>
                <a:cs typeface="Helvetica Neue"/>
              </a:rPr>
              <a:t>Questions for the expert</a:t>
            </a:r>
          </a:p>
        </p:txBody>
      </p:sp>
      <p:sp>
        <p:nvSpPr>
          <p:cNvPr id="4" name="question-number">
            <a:extLst>
              <a:ext uri="{FF2B5EF4-FFF2-40B4-BE49-F238E27FC236}">
                <a16:creationId xmlns:a16="http://schemas.microsoft.com/office/drawing/2014/main" id="{B4C84188-837B-4B77-BB50-4D56F254B998}"/>
              </a:ext>
            </a:extLst>
          </p:cNvPr>
          <p:cNvSpPr>
            <a:spLocks noGrp="1"/>
          </p:cNvSpPr>
          <p:nvPr/>
        </p:nvSpPr>
        <p:spPr>
          <a:xfrm>
            <a:off x="609600" y="2228850"/>
            <a:ext cx="533400" cy="438150"/>
          </a:xfrm>
          <a:prstGeom prst="rect">
            <a:avLst/>
          </a:prstGeom>
          <a:noFill/>
          <a:ln w="0">
            <a:noFill/>
          </a:ln>
        </p:spPr>
        <p:txBody>
          <a:bodyPr lIns="0" tIns="0" rIns="0" bIns="0">
            <a:noAutofit/>
          </a:bodyPr>
          <a:lstStyle>
            <a:defPPr>
              <a:defRPr sz="1875" b="1">
                <a:solidFill>
                  <a:srgbClr val="087E83"/>
                </a:solidFill>
                <a:latin typeface="Helvetica Neue"/>
                <a:ea typeface="Helvetica Neue"/>
                <a:cs typeface="Helvetica Neue"/>
              </a:defRPr>
            </a:defPPr>
          </a:lstStyle>
          <a:p>
            <a:pPr>
              <a:buNone/>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Q1</a:t>
            </a:r>
          </a:p>
        </p:txBody>
      </p:sp>
      <p:sp>
        <p:nvSpPr>
          <p:cNvPr id="5" name="checkpoint-question">
            <a:extLst>
              <a:ext uri="{FF2B5EF4-FFF2-40B4-BE49-F238E27FC236}">
                <a16:creationId xmlns:a16="http://schemas.microsoft.com/office/drawing/2014/main" id="{EF92BC1D-66A0-4242-B161-87C57519E61F}"/>
              </a:ext>
            </a:extLst>
          </p:cNvPr>
          <p:cNvSpPr>
            <a:spLocks noGrp="1"/>
          </p:cNvSpPr>
          <p:nvPr/>
        </p:nvSpPr>
        <p:spPr>
          <a:xfrm>
            <a:off x="1352550" y="2228850"/>
            <a:ext cx="10229850" cy="552450"/>
          </a:xfrm>
          <a:prstGeom prst="rect">
            <a:avLst/>
          </a:prstGeom>
          <a:noFill/>
          <a:ln w="0">
            <a:noFill/>
          </a:ln>
        </p:spPr>
        <p:txBody>
          <a:bodyPr lIns="0" tIns="0" rIns="0" bIns="0">
            <a:noAutofit/>
          </a:bodyPr>
          <a:lstStyle>
            <a:defPPr>
              <a:defRPr sz="2025" b="0">
                <a:solidFill>
                  <a:srgbClr val="233A4B"/>
                </a:solidFill>
                <a:latin typeface="Helvetica Neue"/>
                <a:ea typeface="Helvetica Neue"/>
                <a:cs typeface="Helvetica Neue"/>
              </a:defRPr>
            </a:defPPr>
          </a:lstStyle>
          <a:p>
            <a:pPr>
              <a:buNone/>
              <a:defRPr sz="2025" b="0">
                <a:solidFill>
                  <a:srgbClr val="233A4B"/>
                </a:solidFill>
                <a:latin typeface="Helvetica Neue"/>
                <a:ea typeface="Helvetica Neue"/>
                <a:cs typeface="Helvetica Neue"/>
              </a:defRPr>
            </a:pPr>
            <a:r>
              <a:rPr sz="2025" b="0">
                <a:solidFill>
                  <a:srgbClr val="233A4B"/>
                </a:solidFill>
                <a:latin typeface="Helvetica Neue"/>
                <a:ea typeface="Helvetica Neue"/>
                <a:cs typeface="Helvetica Neue"/>
              </a:rPr>
              <a:t>How did feedback change the solution and its design?</a:t>
            </a:r>
          </a:p>
        </p:txBody>
      </p:sp>
      <p:sp>
        <p:nvSpPr>
          <p:cNvPr id="6" name="question-number">
            <a:extLst>
              <a:ext uri="{FF2B5EF4-FFF2-40B4-BE49-F238E27FC236}">
                <a16:creationId xmlns:a16="http://schemas.microsoft.com/office/drawing/2014/main" id="{9C02C300-D194-4A15-BA63-6122EA163604}"/>
              </a:ext>
            </a:extLst>
          </p:cNvPr>
          <p:cNvSpPr>
            <a:spLocks noGrp="1"/>
          </p:cNvSpPr>
          <p:nvPr/>
        </p:nvSpPr>
        <p:spPr>
          <a:xfrm>
            <a:off x="609600" y="2876550"/>
            <a:ext cx="533400" cy="438150"/>
          </a:xfrm>
          <a:prstGeom prst="rect">
            <a:avLst/>
          </a:prstGeom>
          <a:noFill/>
          <a:ln w="0">
            <a:noFill/>
          </a:ln>
        </p:spPr>
        <p:txBody>
          <a:bodyPr lIns="0" tIns="0" rIns="0" bIns="0">
            <a:noAutofit/>
          </a:bodyPr>
          <a:lstStyle>
            <a:defPPr>
              <a:defRPr sz="1875" b="1">
                <a:solidFill>
                  <a:srgbClr val="087E83"/>
                </a:solidFill>
                <a:latin typeface="Helvetica Neue"/>
                <a:ea typeface="Helvetica Neue"/>
                <a:cs typeface="Helvetica Neue"/>
              </a:defRPr>
            </a:defPPr>
          </a:lstStyle>
          <a:p>
            <a:pPr>
              <a:buNone/>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Q2</a:t>
            </a:r>
          </a:p>
        </p:txBody>
      </p:sp>
      <p:sp>
        <p:nvSpPr>
          <p:cNvPr id="7" name="checkpoint-question">
            <a:extLst>
              <a:ext uri="{FF2B5EF4-FFF2-40B4-BE49-F238E27FC236}">
                <a16:creationId xmlns:a16="http://schemas.microsoft.com/office/drawing/2014/main" id="{2B93B2B2-B991-43D6-A60C-7E072ABC770B}"/>
              </a:ext>
            </a:extLst>
          </p:cNvPr>
          <p:cNvSpPr>
            <a:spLocks noGrp="1"/>
          </p:cNvSpPr>
          <p:nvPr/>
        </p:nvSpPr>
        <p:spPr>
          <a:xfrm>
            <a:off x="1352550" y="2876550"/>
            <a:ext cx="10229850" cy="552450"/>
          </a:xfrm>
          <a:prstGeom prst="rect">
            <a:avLst/>
          </a:prstGeom>
          <a:noFill/>
          <a:ln w="0">
            <a:noFill/>
          </a:ln>
        </p:spPr>
        <p:txBody>
          <a:bodyPr lIns="0" tIns="0" rIns="0" bIns="0">
            <a:noAutofit/>
          </a:bodyPr>
          <a:lstStyle>
            <a:defPPr>
              <a:defRPr sz="2025" b="0">
                <a:solidFill>
                  <a:srgbClr val="233A4B"/>
                </a:solidFill>
                <a:latin typeface="Helvetica Neue"/>
                <a:ea typeface="Helvetica Neue"/>
                <a:cs typeface="Helvetica Neue"/>
              </a:defRPr>
            </a:defPPr>
          </a:lstStyle>
          <a:p>
            <a:pPr>
              <a:buNone/>
              <a:defRPr sz="2025" b="0">
                <a:solidFill>
                  <a:srgbClr val="233A4B"/>
                </a:solidFill>
                <a:latin typeface="Helvetica Neue"/>
                <a:ea typeface="Helvetica Neue"/>
                <a:cs typeface="Helvetica Neue"/>
              </a:defRPr>
            </a:pPr>
            <a:r>
              <a:rPr sz="2025" b="0">
                <a:solidFill>
                  <a:srgbClr val="233A4B"/>
                </a:solidFill>
                <a:latin typeface="Helvetica Neue"/>
                <a:ea typeface="Helvetica Neue"/>
                <a:cs typeface="Helvetica Neue"/>
              </a:rPr>
              <a:t>Which requirements affect the design and operations?</a:t>
            </a:r>
          </a:p>
        </p:txBody>
      </p:sp>
      <p:sp>
        <p:nvSpPr>
          <p:cNvPr id="8" name="question-number">
            <a:extLst>
              <a:ext uri="{FF2B5EF4-FFF2-40B4-BE49-F238E27FC236}">
                <a16:creationId xmlns:a16="http://schemas.microsoft.com/office/drawing/2014/main" id="{18AF2259-A7B5-4276-B9DE-F4EC6884DBD1}"/>
              </a:ext>
            </a:extLst>
          </p:cNvPr>
          <p:cNvSpPr>
            <a:spLocks noGrp="1"/>
          </p:cNvSpPr>
          <p:nvPr/>
        </p:nvSpPr>
        <p:spPr>
          <a:xfrm>
            <a:off x="609600" y="3524250"/>
            <a:ext cx="533400" cy="438150"/>
          </a:xfrm>
          <a:prstGeom prst="rect">
            <a:avLst/>
          </a:prstGeom>
          <a:noFill/>
          <a:ln w="0">
            <a:noFill/>
          </a:ln>
        </p:spPr>
        <p:txBody>
          <a:bodyPr lIns="0" tIns="0" rIns="0" bIns="0">
            <a:noAutofit/>
          </a:bodyPr>
          <a:lstStyle>
            <a:defPPr>
              <a:defRPr sz="1875" b="1">
                <a:solidFill>
                  <a:srgbClr val="087E83"/>
                </a:solidFill>
                <a:latin typeface="Helvetica Neue"/>
                <a:ea typeface="Helvetica Neue"/>
                <a:cs typeface="Helvetica Neue"/>
              </a:defRPr>
            </a:defPPr>
          </a:lstStyle>
          <a:p>
            <a:pPr>
              <a:buNone/>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Q3</a:t>
            </a:r>
          </a:p>
        </p:txBody>
      </p:sp>
      <p:sp>
        <p:nvSpPr>
          <p:cNvPr id="9" name="checkpoint-question">
            <a:extLst>
              <a:ext uri="{FF2B5EF4-FFF2-40B4-BE49-F238E27FC236}">
                <a16:creationId xmlns:a16="http://schemas.microsoft.com/office/drawing/2014/main" id="{1BFE981F-AAF0-4C48-BAEA-814E15C51440}"/>
              </a:ext>
            </a:extLst>
          </p:cNvPr>
          <p:cNvSpPr>
            <a:spLocks noGrp="1"/>
          </p:cNvSpPr>
          <p:nvPr/>
        </p:nvSpPr>
        <p:spPr>
          <a:xfrm>
            <a:off x="1352550" y="3524250"/>
            <a:ext cx="10229850" cy="552450"/>
          </a:xfrm>
          <a:prstGeom prst="rect">
            <a:avLst/>
          </a:prstGeom>
          <a:noFill/>
          <a:ln w="0">
            <a:noFill/>
          </a:ln>
        </p:spPr>
        <p:txBody>
          <a:bodyPr lIns="0" tIns="0" rIns="0" bIns="0">
            <a:noAutofit/>
          </a:bodyPr>
          <a:lstStyle>
            <a:defPPr>
              <a:defRPr sz="2025" b="0">
                <a:solidFill>
                  <a:srgbClr val="233A4B"/>
                </a:solidFill>
                <a:latin typeface="Helvetica Neue"/>
                <a:ea typeface="Helvetica Neue"/>
                <a:cs typeface="Helvetica Neue"/>
              </a:defRPr>
            </a:defPPr>
          </a:lstStyle>
          <a:p>
            <a:pPr>
              <a:buNone/>
              <a:defRPr sz="2025" b="0">
                <a:solidFill>
                  <a:srgbClr val="233A4B"/>
                </a:solidFill>
                <a:latin typeface="Helvetica Neue"/>
                <a:ea typeface="Helvetica Neue"/>
                <a:cs typeface="Helvetica Neue"/>
              </a:defRPr>
            </a:pPr>
            <a:r>
              <a:rPr sz="2025" b="0">
                <a:solidFill>
                  <a:srgbClr val="233A4B"/>
                </a:solidFill>
                <a:latin typeface="Helvetica Neue"/>
                <a:ea typeface="Helvetica Neue"/>
                <a:cs typeface="Helvetica Neue"/>
              </a:rPr>
              <a:t>How will you address them, and what remains uncertain?</a:t>
            </a:r>
          </a:p>
        </p:txBody>
      </p:sp>
      <p:sp>
        <p:nvSpPr>
          <p:cNvPr id="10" name="question-number">
            <a:extLst>
              <a:ext uri="{FF2B5EF4-FFF2-40B4-BE49-F238E27FC236}">
                <a16:creationId xmlns:a16="http://schemas.microsoft.com/office/drawing/2014/main" id="{EBCB44DC-5F7D-43E4-A5CC-BA2FC6292112}"/>
              </a:ext>
            </a:extLst>
          </p:cNvPr>
          <p:cNvSpPr>
            <a:spLocks noGrp="1"/>
          </p:cNvSpPr>
          <p:nvPr/>
        </p:nvSpPr>
        <p:spPr>
          <a:xfrm>
            <a:off x="609600" y="4171950"/>
            <a:ext cx="533400" cy="438150"/>
          </a:xfrm>
          <a:prstGeom prst="rect">
            <a:avLst/>
          </a:prstGeom>
          <a:noFill/>
          <a:ln w="0">
            <a:noFill/>
          </a:ln>
        </p:spPr>
        <p:txBody>
          <a:bodyPr lIns="0" tIns="0" rIns="0" bIns="0">
            <a:noAutofit/>
          </a:bodyPr>
          <a:lstStyle>
            <a:defPPr>
              <a:defRPr sz="1875" b="1">
                <a:solidFill>
                  <a:srgbClr val="087E83"/>
                </a:solidFill>
                <a:latin typeface="Helvetica Neue"/>
                <a:ea typeface="Helvetica Neue"/>
                <a:cs typeface="Helvetica Neue"/>
              </a:defRPr>
            </a:defPPr>
          </a:lstStyle>
          <a:p>
            <a:pPr>
              <a:buNone/>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Q4</a:t>
            </a:r>
          </a:p>
        </p:txBody>
      </p:sp>
      <p:sp>
        <p:nvSpPr>
          <p:cNvPr id="11" name="checkpoint-question">
            <a:extLst>
              <a:ext uri="{FF2B5EF4-FFF2-40B4-BE49-F238E27FC236}">
                <a16:creationId xmlns:a16="http://schemas.microsoft.com/office/drawing/2014/main" id="{67AA1E49-715B-4E7E-86C8-6D65258E7B1F}"/>
              </a:ext>
            </a:extLst>
          </p:cNvPr>
          <p:cNvSpPr>
            <a:spLocks noGrp="1"/>
          </p:cNvSpPr>
          <p:nvPr/>
        </p:nvSpPr>
        <p:spPr>
          <a:xfrm>
            <a:off x="1352550" y="4171950"/>
            <a:ext cx="10229850" cy="552450"/>
          </a:xfrm>
          <a:prstGeom prst="rect">
            <a:avLst/>
          </a:prstGeom>
          <a:noFill/>
          <a:ln w="0">
            <a:noFill/>
          </a:ln>
        </p:spPr>
        <p:txBody>
          <a:bodyPr lIns="0" tIns="0" rIns="0" bIns="0">
            <a:noAutofit/>
          </a:bodyPr>
          <a:lstStyle>
            <a:defPPr>
              <a:defRPr sz="2025" b="0">
                <a:solidFill>
                  <a:srgbClr val="233A4B"/>
                </a:solidFill>
                <a:latin typeface="Helvetica Neue"/>
                <a:ea typeface="Helvetica Neue"/>
                <a:cs typeface="Helvetica Neue"/>
              </a:defRPr>
            </a:defPPr>
          </a:lstStyle>
          <a:p>
            <a:pPr>
              <a:buNone/>
              <a:defRPr sz="2025" b="0">
                <a:solidFill>
                  <a:srgbClr val="233A4B"/>
                </a:solidFill>
                <a:latin typeface="Helvetica Neue"/>
                <a:ea typeface="Helvetica Neue"/>
                <a:cs typeface="Helvetica Neue"/>
              </a:defRPr>
            </a:pPr>
            <a:r>
              <a:rPr sz="2025" b="0">
                <a:solidFill>
                  <a:srgbClr val="233A4B"/>
                </a:solidFill>
                <a:latin typeface="Helvetica Neue"/>
                <a:ea typeface="Helvetica Neue"/>
                <a:cs typeface="Helvetica Neue"/>
              </a:rPr>
              <a:t>Who will buy it, why, and how will the business work?</a:t>
            </a:r>
          </a:p>
        </p:txBody>
      </p:sp>
      <p:sp>
        <p:nvSpPr>
          <p:cNvPr id="12" name="question-number">
            <a:extLst>
              <a:ext uri="{FF2B5EF4-FFF2-40B4-BE49-F238E27FC236}">
                <a16:creationId xmlns:a16="http://schemas.microsoft.com/office/drawing/2014/main" id="{0007EA46-8375-42A6-8FC8-BEA56A296FCC}"/>
              </a:ext>
            </a:extLst>
          </p:cNvPr>
          <p:cNvSpPr>
            <a:spLocks noGrp="1"/>
          </p:cNvSpPr>
          <p:nvPr/>
        </p:nvSpPr>
        <p:spPr>
          <a:xfrm>
            <a:off x="609600" y="4819650"/>
            <a:ext cx="533400" cy="438150"/>
          </a:xfrm>
          <a:prstGeom prst="rect">
            <a:avLst/>
          </a:prstGeom>
          <a:noFill/>
          <a:ln w="0">
            <a:noFill/>
          </a:ln>
        </p:spPr>
        <p:txBody>
          <a:bodyPr lIns="0" tIns="0" rIns="0" bIns="0">
            <a:noAutofit/>
          </a:bodyPr>
          <a:lstStyle>
            <a:defPPr>
              <a:defRPr sz="1875" b="1">
                <a:solidFill>
                  <a:srgbClr val="087E83"/>
                </a:solidFill>
                <a:latin typeface="Helvetica Neue"/>
                <a:ea typeface="Helvetica Neue"/>
                <a:cs typeface="Helvetica Neue"/>
              </a:defRPr>
            </a:defPPr>
          </a:lstStyle>
          <a:p>
            <a:pPr>
              <a:buNone/>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Q5</a:t>
            </a:r>
          </a:p>
        </p:txBody>
      </p:sp>
      <p:sp>
        <p:nvSpPr>
          <p:cNvPr id="13" name="checkpoint-question">
            <a:extLst>
              <a:ext uri="{FF2B5EF4-FFF2-40B4-BE49-F238E27FC236}">
                <a16:creationId xmlns:a16="http://schemas.microsoft.com/office/drawing/2014/main" id="{7DC73E0E-F0DF-492D-A01A-01A1B420FD2A}"/>
              </a:ext>
            </a:extLst>
          </p:cNvPr>
          <p:cNvSpPr>
            <a:spLocks noGrp="1"/>
          </p:cNvSpPr>
          <p:nvPr/>
        </p:nvSpPr>
        <p:spPr>
          <a:xfrm>
            <a:off x="1352550" y="4819650"/>
            <a:ext cx="10229850" cy="552450"/>
          </a:xfrm>
          <a:prstGeom prst="rect">
            <a:avLst/>
          </a:prstGeom>
          <a:noFill/>
          <a:ln w="0">
            <a:noFill/>
          </a:ln>
        </p:spPr>
        <p:txBody>
          <a:bodyPr lIns="0" tIns="0" rIns="0" bIns="0">
            <a:noAutofit/>
          </a:bodyPr>
          <a:lstStyle>
            <a:defPPr>
              <a:defRPr sz="2025" b="0">
                <a:solidFill>
                  <a:srgbClr val="233A4B"/>
                </a:solidFill>
                <a:latin typeface="Helvetica Neue"/>
                <a:ea typeface="Helvetica Neue"/>
                <a:cs typeface="Helvetica Neue"/>
              </a:defRPr>
            </a:defPPr>
          </a:lstStyle>
          <a:p>
            <a:pPr>
              <a:buNone/>
              <a:defRPr sz="2025" b="0">
                <a:solidFill>
                  <a:srgbClr val="233A4B"/>
                </a:solidFill>
                <a:latin typeface="Helvetica Neue"/>
                <a:ea typeface="Helvetica Neue"/>
                <a:cs typeface="Helvetica Neue"/>
              </a:defRPr>
            </a:pPr>
            <a:r>
              <a:rPr sz="2025" b="0">
                <a:solidFill>
                  <a:srgbClr val="233A4B"/>
                </a:solidFill>
                <a:latin typeface="Helvetica Neue"/>
                <a:ea typeface="Helvetica Neue"/>
                <a:cs typeface="Helvetica Neue"/>
              </a:rPr>
              <a:t>What costs, partners and feasibility tests are needed?</a:t>
            </a:r>
          </a:p>
        </p:txBody>
      </p:sp>
      <p:sp>
        <p:nvSpPr>
          <p:cNvPr id="14" name="deliverable-label">
            <a:extLst>
              <a:ext uri="{FF2B5EF4-FFF2-40B4-BE49-F238E27FC236}">
                <a16:creationId xmlns:a16="http://schemas.microsoft.com/office/drawing/2014/main" id="{DA8E2409-AF76-43BC-9732-CC1529DF6029}"/>
              </a:ext>
            </a:extLst>
          </p:cNvPr>
          <p:cNvSpPr>
            <a:spLocks noGrp="1"/>
          </p:cNvSpPr>
          <p:nvPr/>
        </p:nvSpPr>
        <p:spPr>
          <a:xfrm>
            <a:off x="609600" y="5657850"/>
            <a:ext cx="10972800" cy="266700"/>
          </a:xfrm>
          <a:prstGeom prst="rect">
            <a:avLst/>
          </a:prstGeom>
          <a:noFill/>
          <a:ln w="0">
            <a:noFill/>
          </a:ln>
        </p:spPr>
        <p:txBody>
          <a:bodyPr lIns="0" tIns="0" rIns="0" bIns="0">
            <a:noAutofit/>
          </a:bodyPr>
          <a:lstStyle>
            <a:defPPr>
              <a:defRPr sz="1275" b="1">
                <a:solidFill>
                  <a:srgbClr val="087E83"/>
                </a:solidFill>
                <a:latin typeface="Helvetica Neue"/>
                <a:ea typeface="Helvetica Neue"/>
                <a:cs typeface="Helvetica Neue"/>
              </a:defRPr>
            </a:defPPr>
          </a:lstStyle>
          <a:p>
            <a:pPr>
              <a:buNone/>
              <a:defRPr sz="1275" b="1">
                <a:solidFill>
                  <a:srgbClr val="087E83"/>
                </a:solidFill>
                <a:latin typeface="Helvetica Neue"/>
                <a:ea typeface="Helvetica Neue"/>
                <a:cs typeface="Helvetica Neue"/>
              </a:defRPr>
            </a:pPr>
            <a:r>
              <a:rPr sz="1275" b="1">
                <a:solidFill>
                  <a:srgbClr val="087E83"/>
                </a:solidFill>
                <a:latin typeface="Helvetica Neue"/>
                <a:ea typeface="Helvetica Neue"/>
                <a:cs typeface="Helvetica Neue"/>
              </a:rPr>
              <a:t>DELIVERABLES</a:t>
            </a:r>
          </a:p>
        </p:txBody>
      </p:sp>
      <p:sp>
        <p:nvSpPr>
          <p:cNvPr id="15" name="deliverable-content">
            <a:extLst>
              <a:ext uri="{FF2B5EF4-FFF2-40B4-BE49-F238E27FC236}">
                <a16:creationId xmlns:a16="http://schemas.microsoft.com/office/drawing/2014/main" id="{CC1C2869-6C75-439D-8C66-65DEA43A5753}"/>
              </a:ext>
            </a:extLst>
          </p:cNvPr>
          <p:cNvSpPr>
            <a:spLocks noGrp="1"/>
          </p:cNvSpPr>
          <p:nvPr/>
        </p:nvSpPr>
        <p:spPr>
          <a:xfrm>
            <a:off x="609600" y="5991225"/>
            <a:ext cx="10972800" cy="400050"/>
          </a:xfrm>
          <a:prstGeom prst="rect">
            <a:avLst/>
          </a:prstGeom>
          <a:noFill/>
          <a:ln w="0">
            <a:noFill/>
          </a:ln>
        </p:spPr>
        <p:txBody>
          <a:bodyPr lIns="0" tIns="0" rIns="0" bIns="0">
            <a:noAutofit/>
          </a:bodyPr>
          <a:lstStyle>
            <a:defPPr>
              <a:defRPr sz="1800" b="1">
                <a:solidFill>
                  <a:srgbClr val="102B46"/>
                </a:solidFill>
                <a:latin typeface="Helvetica Neue"/>
                <a:ea typeface="Helvetica Neue"/>
                <a:cs typeface="Helvetica Neue"/>
              </a:defRPr>
            </a:defPPr>
          </a:lstStyle>
          <a:p>
            <a:pPr>
              <a:buNone/>
              <a:defRPr sz="1800" b="1">
                <a:solidFill>
                  <a:srgbClr val="102B46"/>
                </a:solidFill>
                <a:latin typeface="Helvetica Neue"/>
                <a:ea typeface="Helvetica Neue"/>
                <a:cs typeface="Helvetica Neue"/>
              </a:defRPr>
            </a:pPr>
            <a:r>
              <a:rPr sz="1800" b="1">
                <a:solidFill>
                  <a:srgbClr val="102B46"/>
                </a:solidFill>
                <a:latin typeface="Helvetica Neue"/>
                <a:ea typeface="Helvetica Neue"/>
                <a:cs typeface="Helvetica Neue"/>
              </a:rPr>
              <a:t>Solution V2 + business model + regulatory approach + summary</a:t>
            </a:r>
          </a:p>
        </p:txBody>
      </p:sp>
      <p:sp>
        <p:nvSpPr>
          <p:cNvPr id="16" name="page-number">
            <a:extLst>
              <a:ext uri="{FF2B5EF4-FFF2-40B4-BE49-F238E27FC236}">
                <a16:creationId xmlns:a16="http://schemas.microsoft.com/office/drawing/2014/main" id="{0A53FE7E-3ECB-4B72-86CA-8BE9B190F0BA}"/>
              </a:ext>
            </a:extLst>
          </p:cNvPr>
          <p:cNvSpPr>
            <a:spLocks noGrp="1"/>
          </p:cNvSpPr>
          <p:nvPr/>
        </p:nvSpPr>
        <p:spPr>
          <a:xfrm>
            <a:off x="10953750" y="6438900"/>
            <a:ext cx="619125" cy="238125"/>
          </a:xfrm>
          <a:prstGeom prst="rect">
            <a:avLst/>
          </a:prstGeom>
          <a:noFill/>
          <a:ln w="0">
            <a:noFill/>
          </a:ln>
        </p:spPr>
        <p:txBody>
          <a:bodyPr lIns="0" tIns="0" rIns="0" bIns="0">
            <a:noAutofit/>
          </a:bodyPr>
          <a:lstStyle>
            <a:defPPr>
              <a:defRPr sz="1125" b="0">
                <a:solidFill>
                  <a:srgbClr val="607482"/>
                </a:solidFill>
                <a:latin typeface="Helvetica Neue"/>
                <a:ea typeface="Helvetica Neue"/>
                <a:cs typeface="Helvetica Neue"/>
              </a:defRPr>
            </a:defPPr>
          </a:lstStyle>
          <a:p>
            <a:pPr>
              <a:buNone/>
              <a:defRPr sz="1125" b="0">
                <a:solidFill>
                  <a:srgbClr val="607482"/>
                </a:solidFill>
                <a:latin typeface="Helvetica Neue"/>
                <a:ea typeface="Helvetica Neue"/>
                <a:cs typeface="Helvetica Neue"/>
              </a:defRPr>
            </a:pPr>
            <a:r>
              <a:rPr sz="1125" b="0">
                <a:solidFill>
                  <a:srgbClr val="607482"/>
                </a:solidFill>
                <a:latin typeface="Helvetica Neue"/>
                <a:ea typeface="Helvetica Neue"/>
                <a:cs typeface="Helvetica Neue"/>
              </a:rPr>
              <a:t>18</a:t>
            </a:r>
          </a:p>
        </p:txBody>
      </p:sp>
    </p:spTree>
    <p:extLst>
      <p:ext uri="{BB962C8B-B14F-4D97-AF65-F5344CB8AC3E}">
        <p14:creationId xmlns:p14="http://schemas.microsoft.com/office/powerpoint/2010/main" val="19495894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7455B4"/>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7A3C04A-5FAD-4C93-8C1D-B5A7DF4E7252}"/>
              </a:ext>
            </a:extLst>
          </p:cNvPr>
          <p:cNvPicPr>
            <a:picLocks noChangeAspect="1"/>
          </p:cNvPicPr>
          <p:nvPr/>
        </p:nvPicPr>
        <p:blipFill>
          <a:blip r:embed="rId3"/>
          <a:stretch/>
        </p:blipFill>
        <p:spPr>
          <a:xfrm>
            <a:off x="10001250" y="666750"/>
            <a:ext cx="1219200" cy="1219200"/>
          </a:xfrm>
          <a:prstGeom prst="rect">
            <a:avLst/>
          </a:prstGeom>
        </p:spPr>
      </p:pic>
      <p:sp>
        <p:nvSpPr>
          <p:cNvPr id="2" name="slide-title">
            <a:extLst>
              <a:ext uri="{FF2B5EF4-FFF2-40B4-BE49-F238E27FC236}">
                <a16:creationId xmlns:a16="http://schemas.microsoft.com/office/drawing/2014/main" id="{1AEEF520-E328-4D45-9DAE-89CBDF515543}"/>
              </a:ext>
            </a:extLst>
          </p:cNvPr>
          <p:cNvSpPr>
            <a:spLocks noGrp="1"/>
          </p:cNvSpPr>
          <p:nvPr/>
        </p:nvSpPr>
        <p:spPr>
          <a:xfrm>
            <a:off x="609600" y="2400300"/>
            <a:ext cx="10668000" cy="1762125"/>
          </a:xfrm>
          <a:prstGeom prst="rect">
            <a:avLst/>
          </a:prstGeom>
          <a:noFill/>
          <a:ln w="0">
            <a:noFill/>
          </a:ln>
        </p:spPr>
        <p:txBody>
          <a:bodyPr lIns="0" tIns="0" rIns="0" bIns="0">
            <a:noAutofit/>
          </a:bodyPr>
          <a:lstStyle>
            <a:defPPr>
              <a:defRPr sz="4350" b="1">
                <a:solidFill>
                  <a:srgbClr val="FFFFFF"/>
                </a:solidFill>
                <a:latin typeface="Helvetica Neue"/>
                <a:ea typeface="Helvetica Neue"/>
                <a:cs typeface="Helvetica Neue"/>
              </a:defRPr>
            </a:defPPr>
          </a:lstStyle>
          <a:p>
            <a:pPr>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Session 3</a:t>
            </a:r>
          </a:p>
          <a:p>
            <a:pPr>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Proposal and execution plan</a:t>
            </a:r>
          </a:p>
        </p:txBody>
      </p:sp>
      <p:sp>
        <p:nvSpPr>
          <p:cNvPr id="3" name="section-subtitle">
            <a:extLst>
              <a:ext uri="{FF2B5EF4-FFF2-40B4-BE49-F238E27FC236}">
                <a16:creationId xmlns:a16="http://schemas.microsoft.com/office/drawing/2014/main" id="{34264F00-E10C-4496-9B6C-83784129F65F}"/>
              </a:ext>
            </a:extLst>
          </p:cNvPr>
          <p:cNvSpPr>
            <a:spLocks noGrp="1"/>
          </p:cNvSpPr>
          <p:nvPr/>
        </p:nvSpPr>
        <p:spPr>
          <a:xfrm>
            <a:off x="609600" y="4905375"/>
            <a:ext cx="10668000" cy="762000"/>
          </a:xfrm>
          <a:prstGeom prst="rect">
            <a:avLst/>
          </a:prstGeom>
          <a:noFill/>
          <a:ln w="0">
            <a:noFill/>
          </a:ln>
        </p:spPr>
        <p:txBody>
          <a:bodyPr lIns="0" tIns="0" rIns="0" bIns="0">
            <a:noAutofit/>
          </a:bodyPr>
          <a:lstStyle>
            <a:defPPr>
              <a:defRPr sz="2175" b="0">
                <a:solidFill>
                  <a:srgbClr val="FFFFFF"/>
                </a:solidFill>
                <a:latin typeface="Helvetica Neue"/>
                <a:ea typeface="Helvetica Neue"/>
                <a:cs typeface="Helvetica Neue"/>
              </a:defRPr>
            </a:defPPr>
          </a:lstStyle>
          <a:p>
            <a:pPr>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3 hours. Refined solution, proposal, R&amp;D plan and budget</a:t>
            </a:r>
          </a:p>
        </p:txBody>
      </p:sp>
      <p:sp>
        <p:nvSpPr>
          <p:cNvPr id="4" name="page-number">
            <a:extLst>
              <a:ext uri="{FF2B5EF4-FFF2-40B4-BE49-F238E27FC236}">
                <a16:creationId xmlns:a16="http://schemas.microsoft.com/office/drawing/2014/main" id="{F3C08F54-5849-496B-BE10-266E8020CFF4}"/>
              </a:ext>
            </a:extLst>
          </p:cNvPr>
          <p:cNvSpPr>
            <a:spLocks noGrp="1"/>
          </p:cNvSpPr>
          <p:nvPr/>
        </p:nvSpPr>
        <p:spPr>
          <a:xfrm>
            <a:off x="10953750" y="6438900"/>
            <a:ext cx="619125" cy="238125"/>
          </a:xfrm>
          <a:prstGeom prst="rect">
            <a:avLst/>
          </a:prstGeom>
          <a:noFill/>
          <a:ln w="0">
            <a:noFill/>
          </a:ln>
        </p:spPr>
        <p:txBody>
          <a:bodyPr lIns="0" tIns="0" rIns="0" bIns="0">
            <a:noAutofit/>
          </a:bodyPr>
          <a:lstStyle>
            <a:defPPr>
              <a:defRPr sz="1125" b="0">
                <a:solidFill>
                  <a:srgbClr val="FFFFFF"/>
                </a:solidFill>
                <a:latin typeface="Helvetica Neue"/>
                <a:ea typeface="Helvetica Neue"/>
                <a:cs typeface="Helvetica Neue"/>
              </a:defRPr>
            </a:defPPr>
          </a:lstStyle>
          <a:p>
            <a:pPr>
              <a:defRPr sz="1125" b="0">
                <a:solidFill>
                  <a:srgbClr val="FFFFFF"/>
                </a:solidFill>
                <a:latin typeface="Helvetica Neue"/>
                <a:ea typeface="Helvetica Neue"/>
                <a:cs typeface="Helvetica Neue"/>
              </a:defRPr>
            </a:pPr>
            <a:r>
              <a:rPr sz="1125" b="0">
                <a:solidFill>
                  <a:srgbClr val="FFFFFF"/>
                </a:solidFill>
                <a:latin typeface="Helvetica Neue"/>
                <a:ea typeface="Helvetica Neue"/>
                <a:cs typeface="Helvetica Neue"/>
              </a:rPr>
              <a:t>19</a:t>
            </a:r>
          </a:p>
        </p:txBody>
      </p:sp>
    </p:spTree>
    <p:extLst>
      <p:ext uri="{BB962C8B-B14F-4D97-AF65-F5344CB8AC3E}">
        <p14:creationId xmlns:p14="http://schemas.microsoft.com/office/powerpoint/2010/main" val="15511804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3" name="Straight Arrow Connector 22">
            <a:extLst>
              <a:ext uri="{FF2B5EF4-FFF2-40B4-BE49-F238E27FC236}">
                <a16:creationId xmlns:a16="http://schemas.microsoft.com/office/drawing/2014/main" id="{62F41C97-953C-42B6-A81C-5B5A0C09FA12}"/>
              </a:ext>
            </a:extLst>
          </p:cNvPr>
          <p:cNvCxnSpPr>
            <a:stCxn id="16" idx="3"/>
            <a:endCxn id="20" idx="1"/>
          </p:cNvCxnSpPr>
          <p:nvPr/>
        </p:nvCxnSpPr>
        <p:spPr>
          <a:xfrm>
            <a:off x="9372600" y="3228975"/>
            <a:ext cx="228600" cy="0"/>
          </a:xfrm>
          <a:prstGeom prst="straightConnector1">
            <a:avLst/>
          </a:prstGeom>
          <a:ln w="19050">
            <a:solidFill>
              <a:srgbClr val="7455B4"/>
            </a:solidFill>
            <a:prstDash val="solid"/>
            <a:tailEnd type="triangle" w="sm" len="sm"/>
          </a:ln>
        </p:spPr>
      </p:cxnSp>
      <p:cxnSp>
        <p:nvCxnSpPr>
          <p:cNvPr id="19" name="Straight Arrow Connector 18">
            <a:extLst>
              <a:ext uri="{FF2B5EF4-FFF2-40B4-BE49-F238E27FC236}">
                <a16:creationId xmlns:a16="http://schemas.microsoft.com/office/drawing/2014/main" id="{0C534E11-B8EA-4D2D-BF3E-35B52F399C22}"/>
              </a:ext>
            </a:extLst>
          </p:cNvPr>
          <p:cNvCxnSpPr>
            <a:stCxn id="12" idx="3"/>
            <a:endCxn id="16" idx="1"/>
          </p:cNvCxnSpPr>
          <p:nvPr/>
        </p:nvCxnSpPr>
        <p:spPr>
          <a:xfrm>
            <a:off x="7124700" y="3228975"/>
            <a:ext cx="228600" cy="0"/>
          </a:xfrm>
          <a:prstGeom prst="straightConnector1">
            <a:avLst/>
          </a:prstGeom>
          <a:ln w="19050">
            <a:solidFill>
              <a:srgbClr val="7455B4"/>
            </a:solidFill>
            <a:prstDash val="solid"/>
            <a:tailEnd type="triangle" w="sm" len="sm"/>
          </a:ln>
        </p:spPr>
      </p:cxnSp>
      <p:cxnSp>
        <p:nvCxnSpPr>
          <p:cNvPr id="15" name="Straight Arrow Connector 14">
            <a:extLst>
              <a:ext uri="{FF2B5EF4-FFF2-40B4-BE49-F238E27FC236}">
                <a16:creationId xmlns:a16="http://schemas.microsoft.com/office/drawing/2014/main" id="{0E1076C1-FE8E-479F-AA7E-7D72F395E832}"/>
              </a:ext>
            </a:extLst>
          </p:cNvPr>
          <p:cNvCxnSpPr>
            <a:stCxn id="8" idx="3"/>
            <a:endCxn id="12" idx="1"/>
          </p:cNvCxnSpPr>
          <p:nvPr/>
        </p:nvCxnSpPr>
        <p:spPr>
          <a:xfrm>
            <a:off x="4876800" y="3228975"/>
            <a:ext cx="228600" cy="0"/>
          </a:xfrm>
          <a:prstGeom prst="straightConnector1">
            <a:avLst/>
          </a:prstGeom>
          <a:ln w="19050">
            <a:solidFill>
              <a:srgbClr val="7455B4"/>
            </a:solidFill>
            <a:prstDash val="solid"/>
            <a:tailEnd type="triangle" w="sm" len="sm"/>
          </a:ln>
        </p:spPr>
      </p:cxnSp>
      <p:cxnSp>
        <p:nvCxnSpPr>
          <p:cNvPr id="11" name="Straight Arrow Connector 10">
            <a:extLst>
              <a:ext uri="{FF2B5EF4-FFF2-40B4-BE49-F238E27FC236}">
                <a16:creationId xmlns:a16="http://schemas.microsoft.com/office/drawing/2014/main" id="{EF50F78C-9491-4434-830F-DD67F789EF01}"/>
              </a:ext>
            </a:extLst>
          </p:cNvPr>
          <p:cNvCxnSpPr>
            <a:stCxn id="5" idx="3"/>
            <a:endCxn id="8" idx="1"/>
          </p:cNvCxnSpPr>
          <p:nvPr/>
        </p:nvCxnSpPr>
        <p:spPr>
          <a:xfrm>
            <a:off x="2628900" y="3228975"/>
            <a:ext cx="228600" cy="0"/>
          </a:xfrm>
          <a:prstGeom prst="straightConnector1">
            <a:avLst/>
          </a:prstGeom>
          <a:ln w="19050">
            <a:solidFill>
              <a:srgbClr val="7455B4"/>
            </a:solidFill>
            <a:prstDash val="solid"/>
            <a:tailEnd type="triangle" w="sm" len="sm"/>
          </a:ln>
        </p:spPr>
      </p:cxnSp>
      <p:sp>
        <p:nvSpPr>
          <p:cNvPr id="27" name="section-label">
            <a:extLst>
              <a:ext uri="{FF2B5EF4-FFF2-40B4-BE49-F238E27FC236}">
                <a16:creationId xmlns:a16="http://schemas.microsoft.com/office/drawing/2014/main" id="{D87E5AFC-DC9F-4D8A-B713-94C6123F5FA0}"/>
              </a:ext>
            </a:extLst>
          </p:cNvPr>
          <p:cNvSpPr>
            <a:spLocks noGrp="1"/>
          </p:cNvSpPr>
          <p:nvPr/>
        </p:nvSpPr>
        <p:spPr>
          <a:xfrm>
            <a:off x="609600" y="285750"/>
            <a:ext cx="10668000" cy="285750"/>
          </a:xfrm>
          <a:prstGeom prst="rect">
            <a:avLst/>
          </a:prstGeom>
          <a:noFill/>
          <a:ln w="0">
            <a:noFill/>
          </a:ln>
        </p:spPr>
        <p:txBody>
          <a:bodyPr lIns="0" tIns="0" rIns="0" bIns="0">
            <a:noAutofit/>
          </a:bodyPr>
          <a:lstStyle>
            <a:defPPr algn="l">
              <a:defRPr sz="1200" b="1">
                <a:solidFill>
                  <a:srgbClr val="7455B4"/>
                </a:solidFill>
                <a:latin typeface="Helvetica Neue"/>
                <a:ea typeface="Helvetica Neue"/>
                <a:cs typeface="Helvetica Neue"/>
              </a:defRPr>
            </a:defPPr>
          </a:lstStyle>
          <a:p>
            <a:pPr algn="l">
              <a:buNone/>
              <a:defRPr sz="1200" b="1">
                <a:solidFill>
                  <a:srgbClr val="7455B4"/>
                </a:solidFill>
                <a:latin typeface="Helvetica Neue"/>
                <a:ea typeface="Helvetica Neue"/>
                <a:cs typeface="Helvetica Neue"/>
              </a:defRPr>
            </a:pPr>
            <a:r>
              <a:rPr sz="1200" b="1">
                <a:solidFill>
                  <a:srgbClr val="7455B4"/>
                </a:solidFill>
                <a:latin typeface="Helvetica Neue"/>
                <a:ea typeface="Helvetica Neue"/>
                <a:cs typeface="Helvetica Neue"/>
              </a:rPr>
              <a:t>SESSION 3: PROPOSAL AND EXECUTION PLAN</a:t>
            </a:r>
          </a:p>
        </p:txBody>
      </p:sp>
      <p:sp>
        <p:nvSpPr>
          <p:cNvPr id="2" name="slide-title">
            <a:extLst>
              <a:ext uri="{FF2B5EF4-FFF2-40B4-BE49-F238E27FC236}">
                <a16:creationId xmlns:a16="http://schemas.microsoft.com/office/drawing/2014/main" id="{8BE1B7EE-68BC-4850-B25C-913060926A14}"/>
              </a:ext>
            </a:extLst>
          </p:cNvPr>
          <p:cNvSpPr>
            <a:spLocks noGrp="1"/>
          </p:cNvSpPr>
          <p:nvPr/>
        </p:nvSpPr>
        <p:spPr>
          <a:xfrm>
            <a:off x="609600" y="781050"/>
            <a:ext cx="10858500" cy="857250"/>
          </a:xfrm>
          <a:prstGeom prst="rect">
            <a:avLst/>
          </a:prstGeom>
          <a:noFill/>
          <a:ln w="0">
            <a:noFill/>
          </a:ln>
        </p:spPr>
        <p:txBody>
          <a:bodyPr lIns="0" tIns="0" rIns="0" bIns="0">
            <a:noAutofit/>
          </a:bodyPr>
          <a:lstStyle>
            <a:defPPr algn="l">
              <a:defRPr sz="3450" b="1">
                <a:solidFill>
                  <a:srgbClr val="102B46"/>
                </a:solidFill>
                <a:latin typeface="Helvetica Neue"/>
                <a:ea typeface="Helvetica Neue"/>
                <a:cs typeface="Helvetica Neue"/>
              </a:defRPr>
            </a:defPPr>
          </a:lstStyle>
          <a:p>
            <a:pPr algn="l">
              <a:buNone/>
              <a:defRPr sz="3450" b="1">
                <a:solidFill>
                  <a:srgbClr val="102B46"/>
                </a:solidFill>
                <a:latin typeface="Helvetica Neue"/>
                <a:ea typeface="Helvetica Neue"/>
                <a:cs typeface="Helvetica Neue"/>
              </a:defRPr>
            </a:pPr>
            <a:r>
              <a:rPr sz="3450" b="1">
                <a:solidFill>
                  <a:srgbClr val="102B46"/>
                </a:solidFill>
                <a:latin typeface="Helvetica Neue"/>
                <a:ea typeface="Helvetica Neue"/>
                <a:cs typeface="Helvetica Neue"/>
              </a:rPr>
              <a:t>Session 3 process</a:t>
            </a:r>
          </a:p>
        </p:txBody>
      </p:sp>
      <p:sp>
        <p:nvSpPr>
          <p:cNvPr id="3" name="subtitle">
            <a:extLst>
              <a:ext uri="{FF2B5EF4-FFF2-40B4-BE49-F238E27FC236}">
                <a16:creationId xmlns:a16="http://schemas.microsoft.com/office/drawing/2014/main" id="{DA2FD3A0-98F8-4E1D-B773-8EF76E8D8D56}"/>
              </a:ext>
            </a:extLst>
          </p:cNvPr>
          <p:cNvSpPr>
            <a:spLocks noGrp="1"/>
          </p:cNvSpPr>
          <p:nvPr/>
        </p:nvSpPr>
        <p:spPr>
          <a:xfrm>
            <a:off x="609600" y="1524000"/>
            <a:ext cx="10858500" cy="428625"/>
          </a:xfrm>
          <a:prstGeom prst="rect">
            <a:avLst/>
          </a:prstGeom>
          <a:noFill/>
          <a:ln w="0">
            <a:noFill/>
          </a:ln>
        </p:spPr>
        <p:txBody>
          <a:bodyPr lIns="0" tIns="0" rIns="0" bIns="0">
            <a:noAutofit/>
          </a:bodyPr>
          <a:lstStyle>
            <a:defPPr algn="l">
              <a:defRPr sz="1800" b="0">
                <a:solidFill>
                  <a:srgbClr val="607482"/>
                </a:solidFill>
                <a:latin typeface="Helvetica Neue"/>
                <a:ea typeface="Helvetica Neue"/>
                <a:cs typeface="Helvetica Neue"/>
              </a:defRPr>
            </a:defPPr>
          </a:lstStyle>
          <a:p>
            <a:pPr algn="l">
              <a:buNone/>
              <a:defRPr sz="1800" b="0">
                <a:solidFill>
                  <a:srgbClr val="607482"/>
                </a:solidFill>
                <a:latin typeface="Helvetica Neue"/>
                <a:ea typeface="Helvetica Neue"/>
                <a:cs typeface="Helvetica Neue"/>
              </a:defRPr>
            </a:pPr>
            <a:r>
              <a:rPr sz="1800" b="0" dirty="0">
                <a:solidFill>
                  <a:srgbClr val="607482"/>
                </a:solidFill>
                <a:latin typeface="Helvetica Neue"/>
                <a:ea typeface="Helvetica Neue"/>
                <a:cs typeface="Helvetica Neue"/>
              </a:rPr>
              <a:t>Sagan + agreed evidence. Refine all three workstreams while drafting.</a:t>
            </a:r>
          </a:p>
        </p:txBody>
      </p:sp>
      <p:sp>
        <p:nvSpPr>
          <p:cNvPr id="4" name="page-number">
            <a:extLst>
              <a:ext uri="{FF2B5EF4-FFF2-40B4-BE49-F238E27FC236}">
                <a16:creationId xmlns:a16="http://schemas.microsoft.com/office/drawing/2014/main" id="{8794D84D-A815-46F2-A8A2-4F826D543A1F}"/>
              </a:ext>
            </a:extLst>
          </p:cNvPr>
          <p:cNvSpPr>
            <a:spLocks noGrp="1"/>
          </p:cNvSpPr>
          <p:nvPr/>
        </p:nvSpPr>
        <p:spPr>
          <a:xfrm>
            <a:off x="10953750" y="6438900"/>
            <a:ext cx="666750" cy="228600"/>
          </a:xfrm>
          <a:prstGeom prst="rect">
            <a:avLst/>
          </a:prstGeom>
          <a:noFill/>
          <a:ln w="0">
            <a:noFill/>
          </a:ln>
        </p:spPr>
        <p:txBody>
          <a:bodyPr lIns="0" tIns="0" rIns="0" bIns="0">
            <a:noAutofit/>
          </a:bodyPr>
          <a:lstStyle>
            <a:defPPr algn="r">
              <a:defRPr sz="1125" b="0">
                <a:solidFill>
                  <a:srgbClr val="607482"/>
                </a:solidFill>
                <a:latin typeface="Helvetica Neue"/>
                <a:ea typeface="Helvetica Neue"/>
                <a:cs typeface="Helvetica Neue"/>
              </a:defRPr>
            </a:defPPr>
          </a:lstStyle>
          <a:p>
            <a:pPr algn="r">
              <a:buNone/>
              <a:defRPr sz="1125" b="0">
                <a:solidFill>
                  <a:srgbClr val="607482"/>
                </a:solidFill>
                <a:latin typeface="Helvetica Neue"/>
                <a:ea typeface="Helvetica Neue"/>
                <a:cs typeface="Helvetica Neue"/>
              </a:defRPr>
            </a:pPr>
            <a:r>
              <a:rPr sz="1125" b="0">
                <a:solidFill>
                  <a:srgbClr val="607482"/>
                </a:solidFill>
                <a:latin typeface="Helvetica Neue"/>
                <a:ea typeface="Helvetica Neue"/>
                <a:cs typeface="Helvetica Neue"/>
              </a:rPr>
              <a:t>22</a:t>
            </a:r>
          </a:p>
        </p:txBody>
      </p:sp>
      <p:sp>
        <p:nvSpPr>
          <p:cNvPr id="5" name="process-step-1">
            <a:extLst>
              <a:ext uri="{FF2B5EF4-FFF2-40B4-BE49-F238E27FC236}">
                <a16:creationId xmlns:a16="http://schemas.microsoft.com/office/drawing/2014/main" id="{82AF40E6-4EBB-4684-A34C-676D1159745B}"/>
              </a:ext>
            </a:extLst>
          </p:cNvPr>
          <p:cNvSpPr>
            <a:spLocks noGrp="1"/>
          </p:cNvSpPr>
          <p:nvPr/>
        </p:nvSpPr>
        <p:spPr>
          <a:xfrm>
            <a:off x="609600" y="2181225"/>
            <a:ext cx="2019300" cy="2095500"/>
          </a:xfrm>
          <a:prstGeom prst="rect">
            <a:avLst/>
          </a:prstGeom>
          <a:solidFill>
            <a:srgbClr val="F3F7FA"/>
          </a:solidFill>
          <a:ln w="9525">
            <a:solidFill>
              <a:srgbClr val="7455B4"/>
            </a:solidFill>
            <a:prstDash val="solid"/>
          </a:ln>
        </p:spPr>
      </p:sp>
      <p:sp>
        <p:nvSpPr>
          <p:cNvPr id="6" name="step-index-1">
            <a:extLst>
              <a:ext uri="{FF2B5EF4-FFF2-40B4-BE49-F238E27FC236}">
                <a16:creationId xmlns:a16="http://schemas.microsoft.com/office/drawing/2014/main" id="{F1B0C04E-AD1C-4E95-872C-4C1D50131EE2}"/>
              </a:ext>
            </a:extLst>
          </p:cNvPr>
          <p:cNvSpPr>
            <a:spLocks noGrp="1"/>
          </p:cNvSpPr>
          <p:nvPr/>
        </p:nvSpPr>
        <p:spPr>
          <a:xfrm>
            <a:off x="800100" y="2352675"/>
            <a:ext cx="1638300" cy="552450"/>
          </a:xfrm>
          <a:prstGeom prst="rect">
            <a:avLst/>
          </a:prstGeom>
          <a:noFill/>
          <a:ln w="0">
            <a:noFill/>
          </a:ln>
        </p:spPr>
        <p:txBody>
          <a:bodyPr lIns="0" tIns="0" rIns="0" bIns="0">
            <a:noAutofit/>
          </a:bodyPr>
          <a:lstStyle>
            <a:defPPr algn="l">
              <a:defRPr sz="3300" b="1">
                <a:solidFill>
                  <a:srgbClr val="7455B4"/>
                </a:solidFill>
                <a:latin typeface="Helvetica Neue"/>
                <a:ea typeface="Helvetica Neue"/>
                <a:cs typeface="Helvetica Neue"/>
              </a:defRPr>
            </a:defPPr>
          </a:lstStyle>
          <a:p>
            <a:pPr algn="l">
              <a:buNone/>
              <a:defRPr sz="3300" b="1">
                <a:solidFill>
                  <a:srgbClr val="7455B4"/>
                </a:solidFill>
                <a:latin typeface="Helvetica Neue"/>
                <a:ea typeface="Helvetica Neue"/>
                <a:cs typeface="Helvetica Neue"/>
              </a:defRPr>
            </a:pPr>
            <a:r>
              <a:rPr sz="3300" b="1">
                <a:solidFill>
                  <a:srgbClr val="7455B4"/>
                </a:solidFill>
                <a:latin typeface="Helvetica Neue"/>
                <a:ea typeface="Helvetica Neue"/>
                <a:cs typeface="Helvetica Neue"/>
              </a:rPr>
              <a:t>3A</a:t>
            </a:r>
          </a:p>
        </p:txBody>
      </p:sp>
      <p:sp>
        <p:nvSpPr>
          <p:cNvPr id="7" name="step-label-1">
            <a:extLst>
              <a:ext uri="{FF2B5EF4-FFF2-40B4-BE49-F238E27FC236}">
                <a16:creationId xmlns:a16="http://schemas.microsoft.com/office/drawing/2014/main" id="{B2874270-9F2F-4281-ADB5-71EDB32EC9B7}"/>
              </a:ext>
            </a:extLst>
          </p:cNvPr>
          <p:cNvSpPr>
            <a:spLocks noGrp="1"/>
          </p:cNvSpPr>
          <p:nvPr/>
        </p:nvSpPr>
        <p:spPr>
          <a:xfrm>
            <a:off x="800100" y="3086100"/>
            <a:ext cx="1638300" cy="1028700"/>
          </a:xfrm>
          <a:prstGeom prst="rect">
            <a:avLst/>
          </a:prstGeom>
          <a:noFill/>
          <a:ln w="0">
            <a:noFill/>
          </a:ln>
        </p:spPr>
        <p:txBody>
          <a:bodyPr lIns="0" tIns="0" rIns="0" bIns="0">
            <a:noAutofit/>
          </a:bodyPr>
          <a:lstStyle>
            <a:defPPr algn="l">
              <a:defRPr sz="1875" b="1">
                <a:solidFill>
                  <a:srgbClr val="102B46"/>
                </a:solidFill>
                <a:latin typeface="Helvetica Neue"/>
                <a:ea typeface="Helvetica Neue"/>
                <a:cs typeface="Helvetica Neue"/>
              </a:defRPr>
            </a:defPPr>
          </a:lstStyle>
          <a:p>
            <a:pPr algn="l">
              <a:buNone/>
              <a:defRPr sz="1875" b="1">
                <a:solidFill>
                  <a:srgbClr val="102B46"/>
                </a:solidFill>
                <a:latin typeface="Helvetica Neue"/>
                <a:ea typeface="Helvetica Neue"/>
                <a:cs typeface="Helvetica Neue"/>
              </a:defRPr>
            </a:pPr>
            <a:r>
              <a:rPr sz="1875" b="1">
                <a:solidFill>
                  <a:srgbClr val="102B46"/>
                </a:solidFill>
                <a:latin typeface="Helvetica Neue"/>
                <a:ea typeface="Helvetica Neue"/>
                <a:cs typeface="Helvetica Neue"/>
              </a:rPr>
              <a:t>Grounding</a:t>
            </a:r>
          </a:p>
        </p:txBody>
      </p:sp>
      <p:sp>
        <p:nvSpPr>
          <p:cNvPr id="8" name="process-step-2">
            <a:extLst>
              <a:ext uri="{FF2B5EF4-FFF2-40B4-BE49-F238E27FC236}">
                <a16:creationId xmlns:a16="http://schemas.microsoft.com/office/drawing/2014/main" id="{502ED157-A937-4A4B-9354-72E49689EA07}"/>
              </a:ext>
            </a:extLst>
          </p:cNvPr>
          <p:cNvSpPr>
            <a:spLocks noGrp="1"/>
          </p:cNvSpPr>
          <p:nvPr/>
        </p:nvSpPr>
        <p:spPr>
          <a:xfrm>
            <a:off x="2857500" y="2181225"/>
            <a:ext cx="2019300" cy="2095500"/>
          </a:xfrm>
          <a:prstGeom prst="rect">
            <a:avLst/>
          </a:prstGeom>
          <a:solidFill>
            <a:srgbClr val="F3F7FA"/>
          </a:solidFill>
          <a:ln w="9525">
            <a:solidFill>
              <a:srgbClr val="7455B4"/>
            </a:solidFill>
            <a:prstDash val="solid"/>
          </a:ln>
        </p:spPr>
      </p:sp>
      <p:sp>
        <p:nvSpPr>
          <p:cNvPr id="9" name="step-index-2">
            <a:extLst>
              <a:ext uri="{FF2B5EF4-FFF2-40B4-BE49-F238E27FC236}">
                <a16:creationId xmlns:a16="http://schemas.microsoft.com/office/drawing/2014/main" id="{3668ED05-A763-4FD4-B619-94D408529E4F}"/>
              </a:ext>
            </a:extLst>
          </p:cNvPr>
          <p:cNvSpPr>
            <a:spLocks noGrp="1"/>
          </p:cNvSpPr>
          <p:nvPr/>
        </p:nvSpPr>
        <p:spPr>
          <a:xfrm>
            <a:off x="3048000" y="2352675"/>
            <a:ext cx="1638300" cy="552450"/>
          </a:xfrm>
          <a:prstGeom prst="rect">
            <a:avLst/>
          </a:prstGeom>
          <a:noFill/>
          <a:ln w="0">
            <a:noFill/>
          </a:ln>
        </p:spPr>
        <p:txBody>
          <a:bodyPr lIns="0" tIns="0" rIns="0" bIns="0">
            <a:noAutofit/>
          </a:bodyPr>
          <a:lstStyle>
            <a:defPPr algn="l">
              <a:defRPr sz="3300" b="1">
                <a:solidFill>
                  <a:srgbClr val="7455B4"/>
                </a:solidFill>
                <a:latin typeface="Helvetica Neue"/>
                <a:ea typeface="Helvetica Neue"/>
                <a:cs typeface="Helvetica Neue"/>
              </a:defRPr>
            </a:defPPr>
          </a:lstStyle>
          <a:p>
            <a:pPr algn="l">
              <a:buNone/>
              <a:defRPr sz="3300" b="1">
                <a:solidFill>
                  <a:srgbClr val="7455B4"/>
                </a:solidFill>
                <a:latin typeface="Helvetica Neue"/>
                <a:ea typeface="Helvetica Neue"/>
                <a:cs typeface="Helvetica Neue"/>
              </a:defRPr>
            </a:pPr>
            <a:r>
              <a:rPr sz="3300" b="1">
                <a:solidFill>
                  <a:srgbClr val="7455B4"/>
                </a:solidFill>
                <a:latin typeface="Helvetica Neue"/>
                <a:ea typeface="Helvetica Neue"/>
                <a:cs typeface="Helvetica Neue"/>
              </a:rPr>
              <a:t>3B</a:t>
            </a:r>
          </a:p>
        </p:txBody>
      </p:sp>
      <p:sp>
        <p:nvSpPr>
          <p:cNvPr id="10" name="step-label-2">
            <a:extLst>
              <a:ext uri="{FF2B5EF4-FFF2-40B4-BE49-F238E27FC236}">
                <a16:creationId xmlns:a16="http://schemas.microsoft.com/office/drawing/2014/main" id="{84AC785B-34DE-4BBC-B31D-EE6311EF74CA}"/>
              </a:ext>
            </a:extLst>
          </p:cNvPr>
          <p:cNvSpPr>
            <a:spLocks noGrp="1"/>
          </p:cNvSpPr>
          <p:nvPr/>
        </p:nvSpPr>
        <p:spPr>
          <a:xfrm>
            <a:off x="3048000" y="3086100"/>
            <a:ext cx="1638300" cy="1028700"/>
          </a:xfrm>
          <a:prstGeom prst="rect">
            <a:avLst/>
          </a:prstGeom>
          <a:noFill/>
          <a:ln w="0">
            <a:noFill/>
          </a:ln>
        </p:spPr>
        <p:txBody>
          <a:bodyPr lIns="0" tIns="0" rIns="0" bIns="0">
            <a:noAutofit/>
          </a:bodyPr>
          <a:lstStyle>
            <a:defPPr algn="l">
              <a:defRPr sz="1875" b="1">
                <a:solidFill>
                  <a:srgbClr val="102B46"/>
                </a:solidFill>
                <a:latin typeface="Helvetica Neue"/>
                <a:ea typeface="Helvetica Neue"/>
                <a:cs typeface="Helvetica Neue"/>
              </a:defRPr>
            </a:defPPr>
          </a:lstStyle>
          <a:p>
            <a:pPr algn="l">
              <a:buNone/>
              <a:defRPr sz="1875" b="1">
                <a:solidFill>
                  <a:srgbClr val="102B46"/>
                </a:solidFill>
                <a:latin typeface="Helvetica Neue"/>
                <a:ea typeface="Helvetica Neue"/>
                <a:cs typeface="Helvetica Neue"/>
              </a:defRPr>
            </a:pPr>
            <a:r>
              <a:rPr sz="1875" b="1">
                <a:solidFill>
                  <a:srgbClr val="102B46"/>
                </a:solidFill>
                <a:latin typeface="Helvetica Neue"/>
                <a:ea typeface="Helvetica Neue"/>
                <a:cs typeface="Helvetica Neue"/>
              </a:rPr>
              <a:t>Solution</a:t>
            </a:r>
          </a:p>
          <a:p>
            <a:pPr algn="l">
              <a:buNone/>
              <a:defRPr sz="1875" b="1">
                <a:solidFill>
                  <a:srgbClr val="102B46"/>
                </a:solidFill>
                <a:latin typeface="Helvetica Neue"/>
                <a:ea typeface="Helvetica Neue"/>
                <a:cs typeface="Helvetica Neue"/>
              </a:defRPr>
            </a:pPr>
            <a:r>
              <a:rPr sz="1875" b="1">
                <a:solidFill>
                  <a:srgbClr val="102B46"/>
                </a:solidFill>
                <a:latin typeface="Helvetica Neue"/>
                <a:ea typeface="Helvetica Neue"/>
                <a:cs typeface="Helvetica Neue"/>
              </a:rPr>
              <a:t>refinement</a:t>
            </a:r>
          </a:p>
        </p:txBody>
      </p:sp>
      <p:sp>
        <p:nvSpPr>
          <p:cNvPr id="12" name="process-step-3">
            <a:extLst>
              <a:ext uri="{FF2B5EF4-FFF2-40B4-BE49-F238E27FC236}">
                <a16:creationId xmlns:a16="http://schemas.microsoft.com/office/drawing/2014/main" id="{E2EA1FAA-C5B8-499B-B704-A94FA81A1D29}"/>
              </a:ext>
            </a:extLst>
          </p:cNvPr>
          <p:cNvSpPr>
            <a:spLocks noGrp="1"/>
          </p:cNvSpPr>
          <p:nvPr/>
        </p:nvSpPr>
        <p:spPr>
          <a:xfrm>
            <a:off x="5105400" y="2181225"/>
            <a:ext cx="2019300" cy="2095500"/>
          </a:xfrm>
          <a:prstGeom prst="rect">
            <a:avLst/>
          </a:prstGeom>
          <a:solidFill>
            <a:srgbClr val="F3F7FA"/>
          </a:solidFill>
          <a:ln w="9525">
            <a:solidFill>
              <a:srgbClr val="7455B4"/>
            </a:solidFill>
            <a:prstDash val="solid"/>
          </a:ln>
        </p:spPr>
      </p:sp>
      <p:sp>
        <p:nvSpPr>
          <p:cNvPr id="13" name="step-index-3">
            <a:extLst>
              <a:ext uri="{FF2B5EF4-FFF2-40B4-BE49-F238E27FC236}">
                <a16:creationId xmlns:a16="http://schemas.microsoft.com/office/drawing/2014/main" id="{A58631C5-69A2-484F-81BB-8747FCADF039}"/>
              </a:ext>
            </a:extLst>
          </p:cNvPr>
          <p:cNvSpPr>
            <a:spLocks noGrp="1"/>
          </p:cNvSpPr>
          <p:nvPr/>
        </p:nvSpPr>
        <p:spPr>
          <a:xfrm>
            <a:off x="5295900" y="2352675"/>
            <a:ext cx="1638300" cy="552450"/>
          </a:xfrm>
          <a:prstGeom prst="rect">
            <a:avLst/>
          </a:prstGeom>
          <a:noFill/>
          <a:ln w="0">
            <a:noFill/>
          </a:ln>
        </p:spPr>
        <p:txBody>
          <a:bodyPr lIns="0" tIns="0" rIns="0" bIns="0">
            <a:noAutofit/>
          </a:bodyPr>
          <a:lstStyle>
            <a:defPPr algn="l">
              <a:defRPr sz="3300" b="1">
                <a:solidFill>
                  <a:srgbClr val="7455B4"/>
                </a:solidFill>
                <a:latin typeface="Helvetica Neue"/>
                <a:ea typeface="Helvetica Neue"/>
                <a:cs typeface="Helvetica Neue"/>
              </a:defRPr>
            </a:defPPr>
          </a:lstStyle>
          <a:p>
            <a:pPr algn="l">
              <a:buNone/>
              <a:defRPr sz="3300" b="1">
                <a:solidFill>
                  <a:srgbClr val="7455B4"/>
                </a:solidFill>
                <a:latin typeface="Helvetica Neue"/>
                <a:ea typeface="Helvetica Neue"/>
                <a:cs typeface="Helvetica Neue"/>
              </a:defRPr>
            </a:pPr>
            <a:r>
              <a:rPr sz="3300" b="1">
                <a:solidFill>
                  <a:srgbClr val="7455B4"/>
                </a:solidFill>
                <a:latin typeface="Helvetica Neue"/>
                <a:ea typeface="Helvetica Neue"/>
                <a:cs typeface="Helvetica Neue"/>
              </a:rPr>
              <a:t>3C</a:t>
            </a:r>
          </a:p>
        </p:txBody>
      </p:sp>
      <p:sp>
        <p:nvSpPr>
          <p:cNvPr id="14" name="step-label-3">
            <a:extLst>
              <a:ext uri="{FF2B5EF4-FFF2-40B4-BE49-F238E27FC236}">
                <a16:creationId xmlns:a16="http://schemas.microsoft.com/office/drawing/2014/main" id="{90F08C2A-A73B-40A5-86DA-DE58AE4B53CB}"/>
              </a:ext>
            </a:extLst>
          </p:cNvPr>
          <p:cNvSpPr>
            <a:spLocks noGrp="1"/>
          </p:cNvSpPr>
          <p:nvPr/>
        </p:nvSpPr>
        <p:spPr>
          <a:xfrm>
            <a:off x="5295900" y="3086100"/>
            <a:ext cx="1638300" cy="1028700"/>
          </a:xfrm>
          <a:prstGeom prst="rect">
            <a:avLst/>
          </a:prstGeom>
          <a:noFill/>
          <a:ln w="0">
            <a:noFill/>
          </a:ln>
        </p:spPr>
        <p:txBody>
          <a:bodyPr lIns="0" tIns="0" rIns="0" bIns="0">
            <a:noAutofit/>
          </a:bodyPr>
          <a:lstStyle>
            <a:defPPr algn="l">
              <a:defRPr sz="1875" b="1">
                <a:solidFill>
                  <a:srgbClr val="102B46"/>
                </a:solidFill>
                <a:latin typeface="Helvetica Neue"/>
                <a:ea typeface="Helvetica Neue"/>
                <a:cs typeface="Helvetica Neue"/>
              </a:defRPr>
            </a:defPPr>
          </a:lstStyle>
          <a:p>
            <a:pPr algn="l">
              <a:buNone/>
              <a:defRPr sz="1875" b="1">
                <a:solidFill>
                  <a:srgbClr val="102B46"/>
                </a:solidFill>
                <a:latin typeface="Helvetica Neue"/>
                <a:ea typeface="Helvetica Neue"/>
                <a:cs typeface="Helvetica Neue"/>
              </a:defRPr>
            </a:pPr>
            <a:r>
              <a:rPr sz="1875" b="1">
                <a:solidFill>
                  <a:srgbClr val="102B46"/>
                </a:solidFill>
                <a:latin typeface="Helvetica Neue"/>
                <a:ea typeface="Helvetica Neue"/>
                <a:cs typeface="Helvetica Neue"/>
              </a:rPr>
              <a:t>Artifacts</a:t>
            </a:r>
          </a:p>
        </p:txBody>
      </p:sp>
      <p:sp>
        <p:nvSpPr>
          <p:cNvPr id="16" name="process-step-4">
            <a:extLst>
              <a:ext uri="{FF2B5EF4-FFF2-40B4-BE49-F238E27FC236}">
                <a16:creationId xmlns:a16="http://schemas.microsoft.com/office/drawing/2014/main" id="{78FE1C12-AF4B-471D-AC96-6DAEE5D56A81}"/>
              </a:ext>
            </a:extLst>
          </p:cNvPr>
          <p:cNvSpPr>
            <a:spLocks noGrp="1"/>
          </p:cNvSpPr>
          <p:nvPr/>
        </p:nvSpPr>
        <p:spPr>
          <a:xfrm>
            <a:off x="7353300" y="2181225"/>
            <a:ext cx="2019300" cy="2095500"/>
          </a:xfrm>
          <a:prstGeom prst="rect">
            <a:avLst/>
          </a:prstGeom>
          <a:solidFill>
            <a:srgbClr val="F3F7FA"/>
          </a:solidFill>
          <a:ln w="9525">
            <a:solidFill>
              <a:srgbClr val="7455B4"/>
            </a:solidFill>
            <a:prstDash val="solid"/>
          </a:ln>
        </p:spPr>
      </p:sp>
      <p:sp>
        <p:nvSpPr>
          <p:cNvPr id="17" name="step-index-4">
            <a:extLst>
              <a:ext uri="{FF2B5EF4-FFF2-40B4-BE49-F238E27FC236}">
                <a16:creationId xmlns:a16="http://schemas.microsoft.com/office/drawing/2014/main" id="{15791A12-B0E2-4C2C-9BAA-2DF3256DA949}"/>
              </a:ext>
            </a:extLst>
          </p:cNvPr>
          <p:cNvSpPr>
            <a:spLocks noGrp="1"/>
          </p:cNvSpPr>
          <p:nvPr/>
        </p:nvSpPr>
        <p:spPr>
          <a:xfrm>
            <a:off x="7543800" y="2352675"/>
            <a:ext cx="1638300" cy="552450"/>
          </a:xfrm>
          <a:prstGeom prst="rect">
            <a:avLst/>
          </a:prstGeom>
          <a:noFill/>
          <a:ln w="0">
            <a:noFill/>
          </a:ln>
        </p:spPr>
        <p:txBody>
          <a:bodyPr lIns="0" tIns="0" rIns="0" bIns="0">
            <a:noAutofit/>
          </a:bodyPr>
          <a:lstStyle>
            <a:defPPr algn="l">
              <a:defRPr sz="3300" b="1">
                <a:solidFill>
                  <a:srgbClr val="7455B4"/>
                </a:solidFill>
                <a:latin typeface="Helvetica Neue"/>
                <a:ea typeface="Helvetica Neue"/>
                <a:cs typeface="Helvetica Neue"/>
              </a:defRPr>
            </a:defPPr>
          </a:lstStyle>
          <a:p>
            <a:pPr algn="l">
              <a:buNone/>
              <a:defRPr sz="3300" b="1">
                <a:solidFill>
                  <a:srgbClr val="7455B4"/>
                </a:solidFill>
                <a:latin typeface="Helvetica Neue"/>
                <a:ea typeface="Helvetica Neue"/>
                <a:cs typeface="Helvetica Neue"/>
              </a:defRPr>
            </a:pPr>
            <a:r>
              <a:rPr sz="3300" b="1">
                <a:solidFill>
                  <a:srgbClr val="7455B4"/>
                </a:solidFill>
                <a:latin typeface="Helvetica Neue"/>
                <a:ea typeface="Helvetica Neue"/>
                <a:cs typeface="Helvetica Neue"/>
              </a:rPr>
              <a:t>3D</a:t>
            </a:r>
          </a:p>
        </p:txBody>
      </p:sp>
      <p:sp>
        <p:nvSpPr>
          <p:cNvPr id="18" name="step-label-4">
            <a:extLst>
              <a:ext uri="{FF2B5EF4-FFF2-40B4-BE49-F238E27FC236}">
                <a16:creationId xmlns:a16="http://schemas.microsoft.com/office/drawing/2014/main" id="{3E26AE9E-E648-40ED-A170-79F6DB5D899E}"/>
              </a:ext>
            </a:extLst>
          </p:cNvPr>
          <p:cNvSpPr>
            <a:spLocks noGrp="1"/>
          </p:cNvSpPr>
          <p:nvPr/>
        </p:nvSpPr>
        <p:spPr>
          <a:xfrm>
            <a:off x="7543800" y="3086100"/>
            <a:ext cx="1638300" cy="1028700"/>
          </a:xfrm>
          <a:prstGeom prst="rect">
            <a:avLst/>
          </a:prstGeom>
          <a:noFill/>
          <a:ln w="0">
            <a:noFill/>
          </a:ln>
        </p:spPr>
        <p:txBody>
          <a:bodyPr lIns="0" tIns="0" rIns="0" bIns="0">
            <a:noAutofit/>
          </a:bodyPr>
          <a:lstStyle>
            <a:defPPr algn="l">
              <a:defRPr sz="1875" b="1">
                <a:solidFill>
                  <a:srgbClr val="102B46"/>
                </a:solidFill>
                <a:latin typeface="Helvetica Neue"/>
                <a:ea typeface="Helvetica Neue"/>
                <a:cs typeface="Helvetica Neue"/>
              </a:defRPr>
            </a:defPPr>
          </a:lstStyle>
          <a:p>
            <a:pPr algn="l">
              <a:buNone/>
              <a:defRPr sz="1875" b="1">
                <a:solidFill>
                  <a:srgbClr val="102B46"/>
                </a:solidFill>
                <a:latin typeface="Helvetica Neue"/>
                <a:ea typeface="Helvetica Neue"/>
                <a:cs typeface="Helvetica Neue"/>
              </a:defRPr>
            </a:pPr>
            <a:r>
              <a:rPr sz="1875" b="1">
                <a:solidFill>
                  <a:srgbClr val="102B46"/>
                </a:solidFill>
                <a:latin typeface="Helvetica Neue"/>
                <a:ea typeface="Helvetica Neue"/>
                <a:cs typeface="Helvetica Neue"/>
              </a:rPr>
              <a:t>Drafting</a:t>
            </a:r>
          </a:p>
        </p:txBody>
      </p:sp>
      <p:sp>
        <p:nvSpPr>
          <p:cNvPr id="20" name="process-step-5">
            <a:extLst>
              <a:ext uri="{FF2B5EF4-FFF2-40B4-BE49-F238E27FC236}">
                <a16:creationId xmlns:a16="http://schemas.microsoft.com/office/drawing/2014/main" id="{91D2C596-7BC1-4E75-8422-5A777056A5AD}"/>
              </a:ext>
            </a:extLst>
          </p:cNvPr>
          <p:cNvSpPr>
            <a:spLocks noGrp="1"/>
          </p:cNvSpPr>
          <p:nvPr/>
        </p:nvSpPr>
        <p:spPr>
          <a:xfrm>
            <a:off x="9601200" y="2181225"/>
            <a:ext cx="2019300" cy="2095500"/>
          </a:xfrm>
          <a:prstGeom prst="rect">
            <a:avLst/>
          </a:prstGeom>
          <a:solidFill>
            <a:srgbClr val="F3F7FA"/>
          </a:solidFill>
          <a:ln w="9525">
            <a:solidFill>
              <a:srgbClr val="7455B4"/>
            </a:solidFill>
            <a:prstDash val="solid"/>
          </a:ln>
        </p:spPr>
      </p:sp>
      <p:sp>
        <p:nvSpPr>
          <p:cNvPr id="21" name="step-index-5">
            <a:extLst>
              <a:ext uri="{FF2B5EF4-FFF2-40B4-BE49-F238E27FC236}">
                <a16:creationId xmlns:a16="http://schemas.microsoft.com/office/drawing/2014/main" id="{4E643830-2BA4-45BA-A22C-4C9F54B1D141}"/>
              </a:ext>
            </a:extLst>
          </p:cNvPr>
          <p:cNvSpPr>
            <a:spLocks noGrp="1"/>
          </p:cNvSpPr>
          <p:nvPr/>
        </p:nvSpPr>
        <p:spPr>
          <a:xfrm>
            <a:off x="9791700" y="2352675"/>
            <a:ext cx="1638300" cy="552450"/>
          </a:xfrm>
          <a:prstGeom prst="rect">
            <a:avLst/>
          </a:prstGeom>
          <a:noFill/>
          <a:ln w="0">
            <a:noFill/>
          </a:ln>
        </p:spPr>
        <p:txBody>
          <a:bodyPr lIns="0" tIns="0" rIns="0" bIns="0">
            <a:noAutofit/>
          </a:bodyPr>
          <a:lstStyle>
            <a:defPPr algn="l">
              <a:defRPr sz="3300" b="1">
                <a:solidFill>
                  <a:srgbClr val="7455B4"/>
                </a:solidFill>
                <a:latin typeface="Helvetica Neue"/>
                <a:ea typeface="Helvetica Neue"/>
                <a:cs typeface="Helvetica Neue"/>
              </a:defRPr>
            </a:defPPr>
          </a:lstStyle>
          <a:p>
            <a:pPr algn="l">
              <a:buNone/>
              <a:defRPr sz="3300" b="1">
                <a:solidFill>
                  <a:srgbClr val="7455B4"/>
                </a:solidFill>
                <a:latin typeface="Helvetica Neue"/>
                <a:ea typeface="Helvetica Neue"/>
                <a:cs typeface="Helvetica Neue"/>
              </a:defRPr>
            </a:pPr>
            <a:r>
              <a:rPr sz="3300" b="1">
                <a:solidFill>
                  <a:srgbClr val="7455B4"/>
                </a:solidFill>
                <a:latin typeface="Helvetica Neue"/>
                <a:ea typeface="Helvetica Neue"/>
                <a:cs typeface="Helvetica Neue"/>
              </a:rPr>
              <a:t>3E</a:t>
            </a:r>
          </a:p>
        </p:txBody>
      </p:sp>
      <p:sp>
        <p:nvSpPr>
          <p:cNvPr id="22" name="step-label-5">
            <a:extLst>
              <a:ext uri="{FF2B5EF4-FFF2-40B4-BE49-F238E27FC236}">
                <a16:creationId xmlns:a16="http://schemas.microsoft.com/office/drawing/2014/main" id="{3D265ED7-C97A-4BBD-869D-3E9E6B976184}"/>
              </a:ext>
            </a:extLst>
          </p:cNvPr>
          <p:cNvSpPr>
            <a:spLocks noGrp="1"/>
          </p:cNvSpPr>
          <p:nvPr/>
        </p:nvSpPr>
        <p:spPr>
          <a:xfrm>
            <a:off x="9791700" y="3086100"/>
            <a:ext cx="1638300" cy="1028700"/>
          </a:xfrm>
          <a:prstGeom prst="rect">
            <a:avLst/>
          </a:prstGeom>
          <a:noFill/>
          <a:ln w="0">
            <a:noFill/>
          </a:ln>
        </p:spPr>
        <p:txBody>
          <a:bodyPr lIns="0" tIns="0" rIns="0" bIns="0">
            <a:noAutofit/>
          </a:bodyPr>
          <a:lstStyle>
            <a:defPPr algn="l">
              <a:defRPr sz="1875" b="1">
                <a:solidFill>
                  <a:srgbClr val="102B46"/>
                </a:solidFill>
                <a:latin typeface="Helvetica Neue"/>
                <a:ea typeface="Helvetica Neue"/>
                <a:cs typeface="Helvetica Neue"/>
              </a:defRPr>
            </a:defPPr>
          </a:lstStyle>
          <a:p>
            <a:pPr algn="l">
              <a:buNone/>
              <a:defRPr sz="1875" b="1">
                <a:solidFill>
                  <a:srgbClr val="102B46"/>
                </a:solidFill>
                <a:latin typeface="Helvetica Neue"/>
                <a:ea typeface="Helvetica Neue"/>
                <a:cs typeface="Helvetica Neue"/>
              </a:defRPr>
            </a:pPr>
            <a:r>
              <a:rPr sz="1875" b="1">
                <a:solidFill>
                  <a:srgbClr val="102B46"/>
                </a:solidFill>
                <a:latin typeface="Helvetica Neue"/>
                <a:ea typeface="Helvetica Neue"/>
                <a:cs typeface="Helvetica Neue"/>
              </a:rPr>
              <a:t>Finalization</a:t>
            </a:r>
          </a:p>
        </p:txBody>
      </p:sp>
      <p:sp>
        <p:nvSpPr>
          <p:cNvPr id="24" name="bottom-label">
            <a:extLst>
              <a:ext uri="{FF2B5EF4-FFF2-40B4-BE49-F238E27FC236}">
                <a16:creationId xmlns:a16="http://schemas.microsoft.com/office/drawing/2014/main" id="{F8B234A3-C642-4D9E-A3F4-FE65ECAA2FC2}"/>
              </a:ext>
            </a:extLst>
          </p:cNvPr>
          <p:cNvSpPr>
            <a:spLocks noGrp="1"/>
          </p:cNvSpPr>
          <p:nvPr/>
        </p:nvSpPr>
        <p:spPr>
          <a:xfrm>
            <a:off x="609600" y="5229225"/>
            <a:ext cx="2095500" cy="285750"/>
          </a:xfrm>
          <a:prstGeom prst="rect">
            <a:avLst/>
          </a:prstGeom>
          <a:noFill/>
          <a:ln w="0">
            <a:noFill/>
          </a:ln>
        </p:spPr>
        <p:txBody>
          <a:bodyPr lIns="0" tIns="0" rIns="0" bIns="0">
            <a:noAutofit/>
          </a:bodyPr>
          <a:lstStyle>
            <a:defPPr algn="l">
              <a:defRPr sz="1350" b="1">
                <a:solidFill>
                  <a:srgbClr val="7455B4"/>
                </a:solidFill>
                <a:latin typeface="Helvetica Neue"/>
                <a:ea typeface="Helvetica Neue"/>
                <a:cs typeface="Helvetica Neue"/>
              </a:defRPr>
            </a:defPPr>
          </a:lstStyle>
          <a:p>
            <a:pPr algn="l">
              <a:buNone/>
              <a:defRPr sz="1350" b="1">
                <a:solidFill>
                  <a:srgbClr val="7455B4"/>
                </a:solidFill>
                <a:latin typeface="Helvetica Neue"/>
                <a:ea typeface="Helvetica Neue"/>
                <a:cs typeface="Helvetica Neue"/>
              </a:defRPr>
            </a:pPr>
            <a:r>
              <a:rPr sz="1350" b="1">
                <a:solidFill>
                  <a:srgbClr val="7455B4"/>
                </a:solidFill>
                <a:latin typeface="Helvetica Neue"/>
                <a:ea typeface="Helvetica Neue"/>
                <a:cs typeface="Helvetica Neue"/>
              </a:rPr>
              <a:t>SESSION OUTPUT</a:t>
            </a:r>
          </a:p>
        </p:txBody>
      </p:sp>
      <p:sp>
        <p:nvSpPr>
          <p:cNvPr id="25" name="bottom-value">
            <a:extLst>
              <a:ext uri="{FF2B5EF4-FFF2-40B4-BE49-F238E27FC236}">
                <a16:creationId xmlns:a16="http://schemas.microsoft.com/office/drawing/2014/main" id="{5CE70777-F1D9-4CBC-8E21-C7FB865E86F5}"/>
              </a:ext>
            </a:extLst>
          </p:cNvPr>
          <p:cNvSpPr>
            <a:spLocks noGrp="1"/>
          </p:cNvSpPr>
          <p:nvPr/>
        </p:nvSpPr>
        <p:spPr>
          <a:xfrm>
            <a:off x="609600" y="5581650"/>
            <a:ext cx="10858500" cy="533400"/>
          </a:xfrm>
          <a:prstGeom prst="rect">
            <a:avLst/>
          </a:prstGeom>
          <a:noFill/>
          <a:ln w="0">
            <a:noFill/>
          </a:ln>
        </p:spPr>
        <p:txBody>
          <a:bodyPr lIns="0" tIns="0" rIns="0" bIns="0">
            <a:noAutofit/>
          </a:bodyPr>
          <a:lstStyle>
            <a:defPPr algn="l">
              <a:defRPr sz="2100" b="0">
                <a:solidFill>
                  <a:srgbClr val="607482"/>
                </a:solidFill>
                <a:latin typeface="Helvetica Neue"/>
                <a:ea typeface="Helvetica Neue"/>
                <a:cs typeface="Helvetica Neue"/>
              </a:defRPr>
            </a:defPPr>
          </a:lstStyle>
          <a:p>
            <a:pPr algn="l">
              <a:buNone/>
              <a:defRPr sz="2100" b="0">
                <a:solidFill>
                  <a:srgbClr val="607482"/>
                </a:solidFill>
                <a:latin typeface="Helvetica Neue"/>
                <a:ea typeface="Helvetica Neue"/>
                <a:cs typeface="Helvetica Neue"/>
              </a:defRPr>
            </a:pPr>
            <a:r>
              <a:rPr sz="2100" b="0">
                <a:solidFill>
                  <a:srgbClr val="607482"/>
                </a:solidFill>
                <a:latin typeface="Helvetica Neue"/>
                <a:ea typeface="Helvetica Neue"/>
                <a:cs typeface="Helvetica Neue"/>
              </a:rPr>
              <a:t>Refined solution + 10–15-page proposal + pitch</a:t>
            </a:r>
          </a:p>
        </p:txBody>
      </p:sp>
      <p:sp>
        <p:nvSpPr>
          <p:cNvPr id="26" name="review-cue">
            <a:extLst>
              <a:ext uri="{FF2B5EF4-FFF2-40B4-BE49-F238E27FC236}">
                <a16:creationId xmlns:a16="http://schemas.microsoft.com/office/drawing/2014/main" id="{503D08ED-96C9-433A-A42A-67C0A4AAA5BC}"/>
              </a:ext>
            </a:extLst>
          </p:cNvPr>
          <p:cNvSpPr>
            <a:spLocks noGrp="1"/>
          </p:cNvSpPr>
          <p:nvPr/>
        </p:nvSpPr>
        <p:spPr>
          <a:xfrm>
            <a:off x="609600" y="6153150"/>
            <a:ext cx="10668000" cy="266700"/>
          </a:xfrm>
          <a:prstGeom prst="rect">
            <a:avLst/>
          </a:prstGeom>
          <a:noFill/>
          <a:ln w="0">
            <a:noFill/>
          </a:ln>
        </p:spPr>
        <p:txBody>
          <a:bodyPr lIns="0" tIns="0" rIns="0" bIns="0">
            <a:noAutofit/>
          </a:bodyPr>
          <a:lstStyle>
            <a:defPPr algn="l">
              <a:defRPr sz="1650" b="0">
                <a:solidFill>
                  <a:srgbClr val="607482"/>
                </a:solidFill>
                <a:latin typeface="Helvetica Neue"/>
                <a:ea typeface="Helvetica Neue"/>
                <a:cs typeface="Helvetica Neue"/>
              </a:defRPr>
            </a:defPPr>
          </a:lstStyle>
          <a:p>
            <a:pPr algn="l">
              <a:buNone/>
              <a:defRPr sz="1650" b="0">
                <a:solidFill>
                  <a:srgbClr val="607482"/>
                </a:solidFill>
                <a:latin typeface="Helvetica Neue"/>
                <a:ea typeface="Helvetica Neue"/>
                <a:cs typeface="Helvetica Neue"/>
              </a:defRPr>
            </a:pPr>
            <a:r>
              <a:rPr sz="1650" b="0">
                <a:solidFill>
                  <a:srgbClr val="607482"/>
                </a:solidFill>
                <a:latin typeface="Helvetica Neue"/>
                <a:ea typeface="Helvetica Neue"/>
                <a:cs typeface="Helvetica Neue"/>
              </a:rPr>
              <a:t>Use the checkpoint questions to prepare for expert feedback.</a:t>
            </a:r>
          </a:p>
        </p:txBody>
      </p:sp>
      <p:pic>
        <p:nvPicPr>
          <p:cNvPr id="28" name="Picture 27">
            <a:extLst>
              <a:ext uri="{FF2B5EF4-FFF2-40B4-BE49-F238E27FC236}">
                <a16:creationId xmlns:a16="http://schemas.microsoft.com/office/drawing/2014/main" id="{568125C1-EA36-4EC4-BCE7-6916054E7BB6}"/>
              </a:ext>
            </a:extLst>
          </p:cNvPr>
          <p:cNvPicPr>
            <a:picLocks noChangeAspect="1"/>
          </p:cNvPicPr>
          <p:nvPr/>
        </p:nvPicPr>
        <p:blipFill>
          <a:blip r:embed="rId3"/>
          <a:stretch/>
        </p:blipFill>
        <p:spPr>
          <a:xfrm>
            <a:off x="2000250" y="2428875"/>
            <a:ext cx="400050" cy="400050"/>
          </a:xfrm>
          <a:prstGeom prst="rect">
            <a:avLst/>
          </a:prstGeom>
        </p:spPr>
      </p:pic>
      <p:pic>
        <p:nvPicPr>
          <p:cNvPr id="29" name="Picture 28">
            <a:extLst>
              <a:ext uri="{FF2B5EF4-FFF2-40B4-BE49-F238E27FC236}">
                <a16:creationId xmlns:a16="http://schemas.microsoft.com/office/drawing/2014/main" id="{D88E84C0-C6A4-499C-8DD5-AC5DA28AA40C}"/>
              </a:ext>
            </a:extLst>
          </p:cNvPr>
          <p:cNvPicPr>
            <a:picLocks noChangeAspect="1"/>
          </p:cNvPicPr>
          <p:nvPr/>
        </p:nvPicPr>
        <p:blipFill>
          <a:blip r:embed="rId4"/>
          <a:stretch/>
        </p:blipFill>
        <p:spPr>
          <a:xfrm>
            <a:off x="4248150" y="2428875"/>
            <a:ext cx="400050" cy="400050"/>
          </a:xfrm>
          <a:prstGeom prst="rect">
            <a:avLst/>
          </a:prstGeom>
        </p:spPr>
      </p:pic>
      <p:pic>
        <p:nvPicPr>
          <p:cNvPr id="30" name="Picture 29">
            <a:extLst>
              <a:ext uri="{FF2B5EF4-FFF2-40B4-BE49-F238E27FC236}">
                <a16:creationId xmlns:a16="http://schemas.microsoft.com/office/drawing/2014/main" id="{BFEA24B9-6A6C-4581-BE94-9191A1D5B429}"/>
              </a:ext>
            </a:extLst>
          </p:cNvPr>
          <p:cNvPicPr>
            <a:picLocks noChangeAspect="1"/>
          </p:cNvPicPr>
          <p:nvPr/>
        </p:nvPicPr>
        <p:blipFill>
          <a:blip r:embed="rId5"/>
          <a:stretch/>
        </p:blipFill>
        <p:spPr>
          <a:xfrm>
            <a:off x="6496050" y="2428875"/>
            <a:ext cx="400050" cy="400050"/>
          </a:xfrm>
          <a:prstGeom prst="rect">
            <a:avLst/>
          </a:prstGeom>
        </p:spPr>
      </p:pic>
      <p:pic>
        <p:nvPicPr>
          <p:cNvPr id="31" name="Picture 30">
            <a:extLst>
              <a:ext uri="{FF2B5EF4-FFF2-40B4-BE49-F238E27FC236}">
                <a16:creationId xmlns:a16="http://schemas.microsoft.com/office/drawing/2014/main" id="{93F06008-F6E7-4FC4-91AA-D40492E0EABF}"/>
              </a:ext>
            </a:extLst>
          </p:cNvPr>
          <p:cNvPicPr>
            <a:picLocks noChangeAspect="1"/>
          </p:cNvPicPr>
          <p:nvPr/>
        </p:nvPicPr>
        <p:blipFill>
          <a:blip r:embed="rId6"/>
          <a:stretch/>
        </p:blipFill>
        <p:spPr>
          <a:xfrm>
            <a:off x="8743950" y="2428875"/>
            <a:ext cx="400050" cy="400050"/>
          </a:xfrm>
          <a:prstGeom prst="rect">
            <a:avLst/>
          </a:prstGeom>
        </p:spPr>
      </p:pic>
      <p:pic>
        <p:nvPicPr>
          <p:cNvPr id="32" name="Picture 31">
            <a:extLst>
              <a:ext uri="{FF2B5EF4-FFF2-40B4-BE49-F238E27FC236}">
                <a16:creationId xmlns:a16="http://schemas.microsoft.com/office/drawing/2014/main" id="{01BBDF67-377B-440B-A923-F9415AD0CDD8}"/>
              </a:ext>
            </a:extLst>
          </p:cNvPr>
          <p:cNvPicPr>
            <a:picLocks noChangeAspect="1"/>
          </p:cNvPicPr>
          <p:nvPr/>
        </p:nvPicPr>
        <p:blipFill>
          <a:blip r:embed="rId7"/>
          <a:stretch/>
        </p:blipFill>
        <p:spPr>
          <a:xfrm>
            <a:off x="10991850" y="2428875"/>
            <a:ext cx="400050" cy="400050"/>
          </a:xfrm>
          <a:prstGeom prst="rect">
            <a:avLst/>
          </a:prstGeom>
        </p:spPr>
      </p:pic>
    </p:spTree>
    <p:extLst>
      <p:ext uri="{BB962C8B-B14F-4D97-AF65-F5344CB8AC3E}">
        <p14:creationId xmlns:p14="http://schemas.microsoft.com/office/powerpoint/2010/main" val="13676686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section-label">
            <a:extLst>
              <a:ext uri="{FF2B5EF4-FFF2-40B4-BE49-F238E27FC236}">
                <a16:creationId xmlns:a16="http://schemas.microsoft.com/office/drawing/2014/main" id="{F4705B0A-4564-474E-BB0C-46D52C1359D3}"/>
              </a:ext>
            </a:extLst>
          </p:cNvPr>
          <p:cNvSpPr>
            <a:spLocks noGrp="1"/>
          </p:cNvSpPr>
          <p:nvPr/>
        </p:nvSpPr>
        <p:spPr>
          <a:xfrm>
            <a:off x="609600" y="285750"/>
            <a:ext cx="10668000" cy="285750"/>
          </a:xfrm>
          <a:prstGeom prst="rect">
            <a:avLst/>
          </a:prstGeom>
          <a:noFill/>
          <a:ln w="0">
            <a:noFill/>
          </a:ln>
        </p:spPr>
        <p:txBody>
          <a:bodyPr lIns="0" tIns="0" rIns="0" bIns="0">
            <a:noAutofit/>
          </a:bodyPr>
          <a:lstStyle>
            <a:defPPr algn="l">
              <a:defRPr sz="1200" b="1">
                <a:solidFill>
                  <a:srgbClr val="226FBB"/>
                </a:solidFill>
                <a:latin typeface="Helvetica Neue"/>
                <a:ea typeface="Helvetica Neue"/>
                <a:cs typeface="Helvetica Neue"/>
              </a:defRPr>
            </a:defPPr>
          </a:lstStyle>
          <a:p>
            <a:pPr algn="l">
              <a:buNone/>
              <a:defRPr sz="1200" b="1">
                <a:solidFill>
                  <a:srgbClr val="226FBB"/>
                </a:solidFill>
                <a:latin typeface="Helvetica Neue"/>
                <a:ea typeface="Helvetica Neue"/>
                <a:cs typeface="Helvetica Neue"/>
              </a:defRPr>
            </a:pPr>
            <a:r>
              <a:rPr sz="1200" b="1">
                <a:solidFill>
                  <a:srgbClr val="226FBB"/>
                </a:solidFill>
                <a:latin typeface="Helvetica Neue"/>
                <a:ea typeface="Helvetica Neue"/>
                <a:cs typeface="Helvetica Neue"/>
              </a:rPr>
              <a:t>SESSION 3: PROPOSAL AND EXECUTION PLAN</a:t>
            </a:r>
          </a:p>
        </p:txBody>
      </p:sp>
      <p:sp>
        <p:nvSpPr>
          <p:cNvPr id="2" name="slide-title">
            <a:extLst>
              <a:ext uri="{FF2B5EF4-FFF2-40B4-BE49-F238E27FC236}">
                <a16:creationId xmlns:a16="http://schemas.microsoft.com/office/drawing/2014/main" id="{6F420517-4ACB-425D-A4EF-BCCE79AD20B9}"/>
              </a:ext>
            </a:extLst>
          </p:cNvPr>
          <p:cNvSpPr>
            <a:spLocks noGrp="1"/>
          </p:cNvSpPr>
          <p:nvPr/>
        </p:nvSpPr>
        <p:spPr>
          <a:xfrm>
            <a:off x="609600" y="781050"/>
            <a:ext cx="10858500" cy="857250"/>
          </a:xfrm>
          <a:prstGeom prst="rect">
            <a:avLst/>
          </a:prstGeom>
          <a:noFill/>
          <a:ln w="0">
            <a:noFill/>
          </a:ln>
        </p:spPr>
        <p:txBody>
          <a:bodyPr lIns="0" tIns="0" rIns="0" bIns="0">
            <a:noAutofit/>
          </a:bodyPr>
          <a:lstStyle>
            <a:defPPr algn="l">
              <a:defRPr sz="3450" b="1">
                <a:solidFill>
                  <a:srgbClr val="102B46"/>
                </a:solidFill>
                <a:latin typeface="Helvetica Neue"/>
                <a:ea typeface="Helvetica Neue"/>
                <a:cs typeface="Helvetica Neue"/>
              </a:defRPr>
            </a:defPPr>
          </a:lstStyle>
          <a:p>
            <a:pPr algn="l">
              <a:buNone/>
              <a:defRPr sz="3450" b="1">
                <a:solidFill>
                  <a:srgbClr val="102B46"/>
                </a:solidFill>
                <a:latin typeface="Helvetica Neue"/>
                <a:ea typeface="Helvetica Neue"/>
                <a:cs typeface="Helvetica Neue"/>
              </a:defRPr>
            </a:pPr>
            <a:r>
              <a:rPr sz="3450" b="1">
                <a:solidFill>
                  <a:srgbClr val="102B46"/>
                </a:solidFill>
                <a:latin typeface="Helvetica Neue"/>
                <a:ea typeface="Helvetica Neue"/>
                <a:cs typeface="Helvetica Neue"/>
              </a:rPr>
              <a:t>Sagan</a:t>
            </a:r>
          </a:p>
        </p:txBody>
      </p:sp>
      <p:sp>
        <p:nvSpPr>
          <p:cNvPr id="3" name="subtitle">
            <a:extLst>
              <a:ext uri="{FF2B5EF4-FFF2-40B4-BE49-F238E27FC236}">
                <a16:creationId xmlns:a16="http://schemas.microsoft.com/office/drawing/2014/main" id="{84D94B01-7371-466E-9BEC-B5A142630E56}"/>
              </a:ext>
            </a:extLst>
          </p:cNvPr>
          <p:cNvSpPr>
            <a:spLocks noGrp="1"/>
          </p:cNvSpPr>
          <p:nvPr/>
        </p:nvSpPr>
        <p:spPr>
          <a:xfrm>
            <a:off x="609600" y="1524000"/>
            <a:ext cx="10858500" cy="428625"/>
          </a:xfrm>
          <a:prstGeom prst="rect">
            <a:avLst/>
          </a:prstGeom>
          <a:noFill/>
          <a:ln w="0">
            <a:noFill/>
          </a:ln>
        </p:spPr>
        <p:txBody>
          <a:bodyPr lIns="0" tIns="0" rIns="0" bIns="0">
            <a:noAutofit/>
          </a:bodyPr>
          <a:lstStyle>
            <a:defPPr algn="l">
              <a:defRPr sz="1800" b="0">
                <a:solidFill>
                  <a:srgbClr val="607482"/>
                </a:solidFill>
                <a:latin typeface="Helvetica Neue"/>
                <a:ea typeface="Helvetica Neue"/>
                <a:cs typeface="Helvetica Neue"/>
              </a:defRPr>
            </a:defPPr>
          </a:lstStyle>
          <a:p>
            <a:pPr algn="l">
              <a:buNone/>
              <a:defRPr sz="1800" b="0">
                <a:solidFill>
                  <a:srgbClr val="607482"/>
                </a:solidFill>
                <a:latin typeface="Helvetica Neue"/>
                <a:ea typeface="Helvetica Neue"/>
                <a:cs typeface="Helvetica Neue"/>
              </a:defRPr>
            </a:pPr>
            <a:r>
              <a:rPr sz="1800" b="0">
                <a:solidFill>
                  <a:srgbClr val="607482"/>
                </a:solidFill>
                <a:latin typeface="Helvetica Neue"/>
                <a:ea typeface="Helvetica Neue"/>
                <a:cs typeface="Helvetica Neue"/>
              </a:rPr>
              <a:t>Proposal engineering in Session 3</a:t>
            </a:r>
          </a:p>
        </p:txBody>
      </p:sp>
      <p:sp>
        <p:nvSpPr>
          <p:cNvPr id="4" name="page-number">
            <a:extLst>
              <a:ext uri="{FF2B5EF4-FFF2-40B4-BE49-F238E27FC236}">
                <a16:creationId xmlns:a16="http://schemas.microsoft.com/office/drawing/2014/main" id="{CB0D3AE8-DA7B-4E2B-8B33-D103F11BEC34}"/>
              </a:ext>
            </a:extLst>
          </p:cNvPr>
          <p:cNvSpPr>
            <a:spLocks noGrp="1"/>
          </p:cNvSpPr>
          <p:nvPr/>
        </p:nvSpPr>
        <p:spPr>
          <a:xfrm>
            <a:off x="10953750" y="6438900"/>
            <a:ext cx="666750" cy="228600"/>
          </a:xfrm>
          <a:prstGeom prst="rect">
            <a:avLst/>
          </a:prstGeom>
          <a:noFill/>
          <a:ln w="0">
            <a:noFill/>
          </a:ln>
        </p:spPr>
        <p:txBody>
          <a:bodyPr lIns="0" tIns="0" rIns="0" bIns="0">
            <a:noAutofit/>
          </a:bodyPr>
          <a:lstStyle>
            <a:defPPr algn="r">
              <a:defRPr sz="1125" b="0">
                <a:solidFill>
                  <a:srgbClr val="607482"/>
                </a:solidFill>
                <a:latin typeface="Helvetica Neue"/>
                <a:ea typeface="Helvetica Neue"/>
                <a:cs typeface="Helvetica Neue"/>
              </a:defRPr>
            </a:defPPr>
          </a:lstStyle>
          <a:p>
            <a:pPr algn="r">
              <a:buNone/>
              <a:defRPr sz="1125" b="0">
                <a:solidFill>
                  <a:srgbClr val="607482"/>
                </a:solidFill>
                <a:latin typeface="Helvetica Neue"/>
                <a:ea typeface="Helvetica Neue"/>
                <a:cs typeface="Helvetica Neue"/>
              </a:defRPr>
            </a:pPr>
            <a:r>
              <a:rPr sz="1125" b="0">
                <a:solidFill>
                  <a:srgbClr val="607482"/>
                </a:solidFill>
                <a:latin typeface="Helvetica Neue"/>
                <a:ea typeface="Helvetica Neue"/>
                <a:cs typeface="Helvetica Neue"/>
              </a:rPr>
              <a:t>20</a:t>
            </a:r>
          </a:p>
        </p:txBody>
      </p:sp>
      <p:sp>
        <p:nvSpPr>
          <p:cNvPr id="5" name="action-list">
            <a:extLst>
              <a:ext uri="{FF2B5EF4-FFF2-40B4-BE49-F238E27FC236}">
                <a16:creationId xmlns:a16="http://schemas.microsoft.com/office/drawing/2014/main" id="{24F8B62B-212E-45F8-9A15-8E45EA95A3E9}"/>
              </a:ext>
            </a:extLst>
          </p:cNvPr>
          <p:cNvSpPr>
            <a:spLocks noGrp="1"/>
          </p:cNvSpPr>
          <p:nvPr/>
        </p:nvSpPr>
        <p:spPr>
          <a:xfrm>
            <a:off x="609600" y="2228850"/>
            <a:ext cx="6715125" cy="3238500"/>
          </a:xfrm>
          <a:prstGeom prst="rect">
            <a:avLst/>
          </a:prstGeom>
          <a:noFill/>
          <a:ln w="0">
            <a:noFill/>
          </a:ln>
        </p:spPr>
        <p:txBody>
          <a:bodyPr lIns="0" tIns="0" rIns="0" bIns="0">
            <a:noAutofit/>
          </a:bodyPr>
          <a:lstStyle>
            <a:defPPr algn="l">
              <a:defRPr sz="2100" b="0">
                <a:solidFill>
                  <a:srgbClr val="233A4B"/>
                </a:solidFill>
                <a:latin typeface="Helvetica Neue"/>
                <a:ea typeface="Helvetica Neue"/>
                <a:cs typeface="Helvetica Neue"/>
              </a:defRPr>
            </a:defPPr>
          </a:lstStyle>
          <a:p>
            <a:pPr marL="228600" indent="-114300" algn="l">
              <a:spcAft>
                <a:spcPts val="1800"/>
              </a:spcAft>
              <a:buChar char="•"/>
              <a:defRPr sz="2100" b="0">
                <a:solidFill>
                  <a:srgbClr val="233A4B"/>
                </a:solidFill>
                <a:latin typeface="Helvetica Neue"/>
                <a:ea typeface="Helvetica Neue"/>
                <a:cs typeface="Helvetica Neue"/>
              </a:defRPr>
            </a:pPr>
            <a:endParaRPr/>
          </a:p>
        </p:txBody>
      </p:sp>
      <p:sp>
        <p:nvSpPr>
          <p:cNvPr id="7" name="sagan-final">
            <a:extLst>
              <a:ext uri="{FF2B5EF4-FFF2-40B4-BE49-F238E27FC236}">
                <a16:creationId xmlns:a16="http://schemas.microsoft.com/office/drawing/2014/main" id="{9C65AA21-6186-4025-AFB4-BB8DDB8A8B80}"/>
              </a:ext>
            </a:extLst>
          </p:cNvPr>
          <p:cNvSpPr>
            <a:spLocks noGrp="1"/>
          </p:cNvSpPr>
          <p:nvPr/>
        </p:nvSpPr>
        <p:spPr>
          <a:xfrm>
            <a:off x="609600" y="5800725"/>
            <a:ext cx="10668000" cy="428625"/>
          </a:xfrm>
          <a:prstGeom prst="rect">
            <a:avLst/>
          </a:prstGeom>
          <a:noFill/>
          <a:ln w="0">
            <a:noFill/>
          </a:ln>
        </p:spPr>
        <p:txBody>
          <a:bodyPr lIns="0" tIns="0" rIns="0" bIns="0">
            <a:noAutofit/>
          </a:bodyPr>
          <a:lstStyle>
            <a:defPPr algn="l">
              <a:defRPr sz="1650" b="1">
                <a:solidFill>
                  <a:srgbClr val="607482"/>
                </a:solidFill>
                <a:latin typeface="Helvetica Neue"/>
                <a:ea typeface="Helvetica Neue"/>
                <a:cs typeface="Helvetica Neue"/>
              </a:defRPr>
            </a:defPPr>
          </a:lstStyle>
          <a:p>
            <a:pPr algn="l">
              <a:buNone/>
              <a:defRPr sz="1650" b="1">
                <a:solidFill>
                  <a:srgbClr val="607482"/>
                </a:solidFill>
                <a:latin typeface="Helvetica Neue"/>
                <a:ea typeface="Helvetica Neue"/>
                <a:cs typeface="Helvetica Neue"/>
              </a:defRPr>
            </a:pPr>
            <a:r>
              <a:rPr sz="1650" b="1">
                <a:solidFill>
                  <a:srgbClr val="607482"/>
                </a:solidFill>
                <a:latin typeface="Helvetica Neue"/>
                <a:ea typeface="Helvetica Neue"/>
                <a:cs typeface="Helvetica Neue"/>
              </a:rPr>
              <a:t>Output: 10–15-page proposal + pitch</a:t>
            </a:r>
          </a:p>
        </p:txBody>
      </p:sp>
      <p:pic>
        <p:nvPicPr>
          <p:cNvPr id="9" name="Picture 8">
            <a:extLst>
              <a:ext uri="{FF2B5EF4-FFF2-40B4-BE49-F238E27FC236}">
                <a16:creationId xmlns:a16="http://schemas.microsoft.com/office/drawing/2014/main" id="{0C95862A-50B8-4D2A-80D0-88D7D3F5643E}"/>
              </a:ext>
            </a:extLst>
          </p:cNvPr>
          <p:cNvPicPr>
            <a:picLocks noChangeAspect="1"/>
          </p:cNvPicPr>
          <p:nvPr/>
        </p:nvPicPr>
        <p:blipFill>
          <a:blip r:embed="rId3"/>
          <a:stretch/>
        </p:blipFill>
        <p:spPr>
          <a:xfrm>
            <a:off x="638175" y="2238375"/>
            <a:ext cx="400050" cy="400050"/>
          </a:xfrm>
          <a:prstGeom prst="rect">
            <a:avLst/>
          </a:prstGeom>
        </p:spPr>
      </p:pic>
      <p:sp>
        <p:nvSpPr>
          <p:cNvPr id="10" name="action-1">
            <a:extLst>
              <a:ext uri="{FF2B5EF4-FFF2-40B4-BE49-F238E27FC236}">
                <a16:creationId xmlns:a16="http://schemas.microsoft.com/office/drawing/2014/main" id="{00D0FDE5-FD61-467F-B3B6-E24BFB6262EC}"/>
              </a:ext>
            </a:extLst>
          </p:cNvPr>
          <p:cNvSpPr>
            <a:spLocks noGrp="1"/>
          </p:cNvSpPr>
          <p:nvPr/>
        </p:nvSpPr>
        <p:spPr>
          <a:xfrm>
            <a:off x="1276350" y="2276475"/>
            <a:ext cx="619125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Ground the proposal</a:t>
            </a:r>
          </a:p>
        </p:txBody>
      </p:sp>
      <p:pic>
        <p:nvPicPr>
          <p:cNvPr id="11" name="Picture 10">
            <a:extLst>
              <a:ext uri="{FF2B5EF4-FFF2-40B4-BE49-F238E27FC236}">
                <a16:creationId xmlns:a16="http://schemas.microsoft.com/office/drawing/2014/main" id="{029EA05A-9F38-4594-9EA6-4DBBB72C1531}"/>
              </a:ext>
            </a:extLst>
          </p:cNvPr>
          <p:cNvPicPr>
            <a:picLocks noChangeAspect="1"/>
          </p:cNvPicPr>
          <p:nvPr/>
        </p:nvPicPr>
        <p:blipFill>
          <a:blip r:embed="rId4"/>
          <a:stretch/>
        </p:blipFill>
        <p:spPr>
          <a:xfrm>
            <a:off x="638175" y="2847975"/>
            <a:ext cx="400050" cy="400050"/>
          </a:xfrm>
          <a:prstGeom prst="rect">
            <a:avLst/>
          </a:prstGeom>
        </p:spPr>
      </p:pic>
      <p:sp>
        <p:nvSpPr>
          <p:cNvPr id="12" name="action-2">
            <a:extLst>
              <a:ext uri="{FF2B5EF4-FFF2-40B4-BE49-F238E27FC236}">
                <a16:creationId xmlns:a16="http://schemas.microsoft.com/office/drawing/2014/main" id="{BF1FF5B2-69FC-4B5F-AE1F-E98062AD5217}"/>
              </a:ext>
            </a:extLst>
          </p:cNvPr>
          <p:cNvSpPr>
            <a:spLocks noGrp="1"/>
          </p:cNvSpPr>
          <p:nvPr/>
        </p:nvSpPr>
        <p:spPr>
          <a:xfrm>
            <a:off x="1276350" y="2886075"/>
            <a:ext cx="619125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Confirm solution and team</a:t>
            </a:r>
          </a:p>
        </p:txBody>
      </p:sp>
      <p:pic>
        <p:nvPicPr>
          <p:cNvPr id="13" name="Picture 12">
            <a:extLst>
              <a:ext uri="{FF2B5EF4-FFF2-40B4-BE49-F238E27FC236}">
                <a16:creationId xmlns:a16="http://schemas.microsoft.com/office/drawing/2014/main" id="{C123B91F-5CFB-46E4-A967-11B37586E5D9}"/>
              </a:ext>
            </a:extLst>
          </p:cNvPr>
          <p:cNvPicPr>
            <a:picLocks noChangeAspect="1"/>
          </p:cNvPicPr>
          <p:nvPr/>
        </p:nvPicPr>
        <p:blipFill>
          <a:blip r:embed="rId5"/>
          <a:stretch/>
        </p:blipFill>
        <p:spPr>
          <a:xfrm>
            <a:off x="638175" y="3457575"/>
            <a:ext cx="400050" cy="400050"/>
          </a:xfrm>
          <a:prstGeom prst="rect">
            <a:avLst/>
          </a:prstGeom>
        </p:spPr>
      </p:pic>
      <p:sp>
        <p:nvSpPr>
          <p:cNvPr id="14" name="action-3">
            <a:extLst>
              <a:ext uri="{FF2B5EF4-FFF2-40B4-BE49-F238E27FC236}">
                <a16:creationId xmlns:a16="http://schemas.microsoft.com/office/drawing/2014/main" id="{5CF8A17A-EDC4-471B-9616-DC08EE305E99}"/>
              </a:ext>
            </a:extLst>
          </p:cNvPr>
          <p:cNvSpPr>
            <a:spLocks noGrp="1"/>
          </p:cNvSpPr>
          <p:nvPr/>
        </p:nvSpPr>
        <p:spPr>
          <a:xfrm>
            <a:off x="1276350" y="3495675"/>
            <a:ext cx="619125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Plan work, schedule and funds</a:t>
            </a:r>
          </a:p>
        </p:txBody>
      </p:sp>
      <p:pic>
        <p:nvPicPr>
          <p:cNvPr id="15" name="Picture 14">
            <a:extLst>
              <a:ext uri="{FF2B5EF4-FFF2-40B4-BE49-F238E27FC236}">
                <a16:creationId xmlns:a16="http://schemas.microsoft.com/office/drawing/2014/main" id="{1A705F24-902F-4BAB-9D6B-F521FF502ED8}"/>
              </a:ext>
            </a:extLst>
          </p:cNvPr>
          <p:cNvPicPr>
            <a:picLocks noChangeAspect="1"/>
          </p:cNvPicPr>
          <p:nvPr/>
        </p:nvPicPr>
        <p:blipFill>
          <a:blip r:embed="rId6"/>
          <a:stretch/>
        </p:blipFill>
        <p:spPr>
          <a:xfrm>
            <a:off x="638175" y="4067175"/>
            <a:ext cx="400050" cy="400050"/>
          </a:xfrm>
          <a:prstGeom prst="rect">
            <a:avLst/>
          </a:prstGeom>
        </p:spPr>
      </p:pic>
      <p:sp>
        <p:nvSpPr>
          <p:cNvPr id="16" name="action-4">
            <a:extLst>
              <a:ext uri="{FF2B5EF4-FFF2-40B4-BE49-F238E27FC236}">
                <a16:creationId xmlns:a16="http://schemas.microsoft.com/office/drawing/2014/main" id="{5D11D877-144D-4C55-B55A-A721DD94C1AB}"/>
              </a:ext>
            </a:extLst>
          </p:cNvPr>
          <p:cNvSpPr>
            <a:spLocks noGrp="1"/>
          </p:cNvSpPr>
          <p:nvPr/>
        </p:nvSpPr>
        <p:spPr>
          <a:xfrm>
            <a:off x="1276350" y="4105275"/>
            <a:ext cx="619125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Draft and assemble sections</a:t>
            </a:r>
          </a:p>
        </p:txBody>
      </p:sp>
      <p:pic>
        <p:nvPicPr>
          <p:cNvPr id="17" name="Picture 16">
            <a:extLst>
              <a:ext uri="{FF2B5EF4-FFF2-40B4-BE49-F238E27FC236}">
                <a16:creationId xmlns:a16="http://schemas.microsoft.com/office/drawing/2014/main" id="{2AD43480-C7CD-40D8-A7CC-402AF221D6E9}"/>
              </a:ext>
            </a:extLst>
          </p:cNvPr>
          <p:cNvPicPr>
            <a:picLocks noChangeAspect="1"/>
          </p:cNvPicPr>
          <p:nvPr/>
        </p:nvPicPr>
        <p:blipFill>
          <a:blip r:embed="rId7"/>
          <a:stretch>
            <a:fillRect/>
          </a:stretch>
        </p:blipFill>
        <p:spPr>
          <a:xfrm>
            <a:off x="5922591" y="2135271"/>
            <a:ext cx="6191251" cy="2352325"/>
          </a:xfrm>
          <a:prstGeom prst="rect">
            <a:avLst/>
          </a:prstGeom>
        </p:spPr>
      </p:pic>
    </p:spTree>
    <p:extLst>
      <p:ext uri="{BB962C8B-B14F-4D97-AF65-F5344CB8AC3E}">
        <p14:creationId xmlns:p14="http://schemas.microsoft.com/office/powerpoint/2010/main" val="19196468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title">
            <a:extLst>
              <a:ext uri="{FF2B5EF4-FFF2-40B4-BE49-F238E27FC236}">
                <a16:creationId xmlns:a16="http://schemas.microsoft.com/office/drawing/2014/main" id="{820E362D-F147-44AD-8100-A684B447C01C}"/>
              </a:ext>
            </a:extLst>
          </p:cNvPr>
          <p:cNvSpPr>
            <a:spLocks noGrp="1"/>
          </p:cNvSpPr>
          <p:nvPr/>
        </p:nvSpPr>
        <p:spPr>
          <a:xfrm>
            <a:off x="609600" y="781050"/>
            <a:ext cx="10972800" cy="819150"/>
          </a:xfrm>
          <a:prstGeom prst="rect">
            <a:avLst/>
          </a:prstGeom>
          <a:noFill/>
          <a:ln w="0">
            <a:noFill/>
          </a:ln>
        </p:spPr>
        <p:txBody>
          <a:bodyPr lIns="0" tIns="0" rIns="0" bIns="0">
            <a:noAutofit/>
          </a:bodyPr>
          <a:lstStyle>
            <a:defPPr>
              <a:defRPr sz="3450" b="1">
                <a:solidFill>
                  <a:srgbClr val="102B46"/>
                </a:solidFill>
                <a:latin typeface="Helvetica Neue"/>
                <a:ea typeface="Helvetica Neue"/>
                <a:cs typeface="Helvetica Neue"/>
              </a:defRPr>
            </a:defPPr>
          </a:lstStyle>
          <a:p>
            <a:pPr>
              <a:defRPr sz="3450" b="1">
                <a:solidFill>
                  <a:srgbClr val="102B46"/>
                </a:solidFill>
                <a:latin typeface="Helvetica Neue"/>
                <a:ea typeface="Helvetica Neue"/>
                <a:cs typeface="Helvetica Neue"/>
              </a:defRPr>
            </a:pPr>
            <a:r>
              <a:rPr sz="3450" b="1">
                <a:solidFill>
                  <a:srgbClr val="102B46"/>
                </a:solidFill>
                <a:latin typeface="Helvetica Neue"/>
                <a:ea typeface="Helvetica Neue"/>
                <a:cs typeface="Helvetica Neue"/>
              </a:rPr>
              <a:t>Getting started with Sagan</a:t>
            </a:r>
          </a:p>
        </p:txBody>
      </p:sp>
      <p:pic>
        <p:nvPicPr>
          <p:cNvPr id="3" name="Picture 2">
            <a:extLst>
              <a:ext uri="{FF2B5EF4-FFF2-40B4-BE49-F238E27FC236}">
                <a16:creationId xmlns:a16="http://schemas.microsoft.com/office/drawing/2014/main" id="{5D61FD48-D6B3-F080-DD57-7804AB292443}"/>
              </a:ext>
            </a:extLst>
          </p:cNvPr>
          <p:cNvPicPr>
            <a:picLocks noChangeAspect="1"/>
          </p:cNvPicPr>
          <p:nvPr/>
        </p:nvPicPr>
        <p:blipFill>
          <a:blip r:embed="rId3"/>
          <a:stretch>
            <a:fillRect/>
          </a:stretch>
        </p:blipFill>
        <p:spPr>
          <a:xfrm>
            <a:off x="297347" y="1795549"/>
            <a:ext cx="5613187" cy="4444571"/>
          </a:xfrm>
          <a:prstGeom prst="rect">
            <a:avLst/>
          </a:prstGeom>
        </p:spPr>
      </p:pic>
      <p:pic>
        <p:nvPicPr>
          <p:cNvPr id="4" name="Picture 3">
            <a:extLst>
              <a:ext uri="{FF2B5EF4-FFF2-40B4-BE49-F238E27FC236}">
                <a16:creationId xmlns:a16="http://schemas.microsoft.com/office/drawing/2014/main" id="{BC561B5B-78FE-CD99-4B61-3B88236B6BF7}"/>
              </a:ext>
            </a:extLst>
          </p:cNvPr>
          <p:cNvPicPr>
            <a:picLocks noChangeAspect="1"/>
          </p:cNvPicPr>
          <p:nvPr/>
        </p:nvPicPr>
        <p:blipFill>
          <a:blip r:embed="rId4"/>
          <a:stretch>
            <a:fillRect/>
          </a:stretch>
        </p:blipFill>
        <p:spPr>
          <a:xfrm>
            <a:off x="6401474" y="1795549"/>
            <a:ext cx="5613187" cy="4444571"/>
          </a:xfrm>
          <a:prstGeom prst="rect">
            <a:avLst/>
          </a:prstGeom>
        </p:spPr>
      </p:pic>
      <p:sp>
        <p:nvSpPr>
          <p:cNvPr id="5" name="subtitle">
            <a:extLst>
              <a:ext uri="{FF2B5EF4-FFF2-40B4-BE49-F238E27FC236}">
                <a16:creationId xmlns:a16="http://schemas.microsoft.com/office/drawing/2014/main" id="{4543D21B-9EFE-94F6-224D-38454BC2464E}"/>
              </a:ext>
            </a:extLst>
          </p:cNvPr>
          <p:cNvSpPr>
            <a:spLocks noGrp="1"/>
          </p:cNvSpPr>
          <p:nvPr/>
        </p:nvSpPr>
        <p:spPr>
          <a:xfrm>
            <a:off x="1197033" y="6306620"/>
            <a:ext cx="4379082" cy="419100"/>
          </a:xfrm>
          <a:prstGeom prst="rect">
            <a:avLst/>
          </a:prstGeom>
          <a:noFill/>
          <a:ln w="0">
            <a:noFill/>
          </a:ln>
        </p:spPr>
        <p:txBody>
          <a:bodyPr lIns="0" tIns="0" rIns="0" bIns="0">
            <a:noAutofit/>
          </a:bodyPr>
          <a:lstStyle>
            <a:defPPr>
              <a:defRPr sz="1800" b="0">
                <a:solidFill>
                  <a:srgbClr val="607482"/>
                </a:solidFill>
                <a:latin typeface="Helvetica Neue"/>
                <a:ea typeface="Helvetica Neue"/>
                <a:cs typeface="Helvetica Neue"/>
              </a:defRPr>
            </a:defPPr>
          </a:lstStyle>
          <a:p>
            <a:pPr>
              <a:buNone/>
              <a:defRPr sz="1800" b="0">
                <a:solidFill>
                  <a:srgbClr val="607482"/>
                </a:solidFill>
                <a:latin typeface="Helvetica Neue"/>
                <a:ea typeface="Helvetica Neue"/>
                <a:cs typeface="Helvetica Neue"/>
              </a:defRPr>
            </a:pPr>
            <a:r>
              <a:rPr lang="en-US" sz="1800" b="0" dirty="0">
                <a:solidFill>
                  <a:srgbClr val="607482"/>
                </a:solidFill>
                <a:latin typeface="Helvetica Neue"/>
                <a:ea typeface="Helvetica Neue"/>
                <a:cs typeface="Helvetica Neue"/>
              </a:rPr>
              <a:t>Select existing libraries</a:t>
            </a:r>
            <a:endParaRPr sz="1800" b="0" dirty="0">
              <a:solidFill>
                <a:srgbClr val="607482"/>
              </a:solidFill>
              <a:latin typeface="Helvetica Neue"/>
              <a:ea typeface="Helvetica Neue"/>
              <a:cs typeface="Helvetica Neue"/>
            </a:endParaRPr>
          </a:p>
        </p:txBody>
      </p:sp>
      <p:sp>
        <p:nvSpPr>
          <p:cNvPr id="6" name="subtitle">
            <a:extLst>
              <a:ext uri="{FF2B5EF4-FFF2-40B4-BE49-F238E27FC236}">
                <a16:creationId xmlns:a16="http://schemas.microsoft.com/office/drawing/2014/main" id="{24F96589-5EDA-FBE1-9F68-282604682C7C}"/>
              </a:ext>
            </a:extLst>
          </p:cNvPr>
          <p:cNvSpPr>
            <a:spLocks noGrp="1"/>
          </p:cNvSpPr>
          <p:nvPr/>
        </p:nvSpPr>
        <p:spPr>
          <a:xfrm>
            <a:off x="6401473" y="6289994"/>
            <a:ext cx="5613187" cy="419100"/>
          </a:xfrm>
          <a:prstGeom prst="rect">
            <a:avLst/>
          </a:prstGeom>
          <a:noFill/>
          <a:ln w="0">
            <a:noFill/>
          </a:ln>
        </p:spPr>
        <p:txBody>
          <a:bodyPr lIns="0" tIns="0" rIns="0" bIns="0">
            <a:noAutofit/>
          </a:bodyPr>
          <a:lstStyle>
            <a:defPPr>
              <a:defRPr sz="1800" b="0">
                <a:solidFill>
                  <a:srgbClr val="607482"/>
                </a:solidFill>
                <a:latin typeface="Helvetica Neue"/>
                <a:ea typeface="Helvetica Neue"/>
                <a:cs typeface="Helvetica Neue"/>
              </a:defRPr>
            </a:defPPr>
          </a:lstStyle>
          <a:p>
            <a:pPr>
              <a:buNone/>
              <a:defRPr sz="1800" b="0">
                <a:solidFill>
                  <a:srgbClr val="607482"/>
                </a:solidFill>
                <a:latin typeface="Helvetica Neue"/>
                <a:ea typeface="Helvetica Neue"/>
                <a:cs typeface="Helvetica Neue"/>
              </a:defRPr>
            </a:pPr>
            <a:r>
              <a:rPr lang="en-US" sz="1800" b="0" dirty="0">
                <a:solidFill>
                  <a:srgbClr val="607482"/>
                </a:solidFill>
                <a:latin typeface="Helvetica Neue"/>
                <a:ea typeface="Helvetica Neue"/>
                <a:cs typeface="Helvetica Neue"/>
              </a:rPr>
              <a:t>Start drafting proposal with your teammates and Sagan</a:t>
            </a:r>
            <a:endParaRPr sz="1800" b="0" dirty="0">
              <a:solidFill>
                <a:srgbClr val="607482"/>
              </a:solidFill>
              <a:latin typeface="Helvetica Neue"/>
              <a:ea typeface="Helvetica Neue"/>
              <a:cs typeface="Helvetica Neue"/>
            </a:endParaRPr>
          </a:p>
        </p:txBody>
      </p:sp>
    </p:spTree>
    <p:extLst>
      <p:ext uri="{BB962C8B-B14F-4D97-AF65-F5344CB8AC3E}">
        <p14:creationId xmlns:p14="http://schemas.microsoft.com/office/powerpoint/2010/main" val="13158510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section-label">
            <a:extLst>
              <a:ext uri="{FF2B5EF4-FFF2-40B4-BE49-F238E27FC236}">
                <a16:creationId xmlns:a16="http://schemas.microsoft.com/office/drawing/2014/main" id="{40DF8E85-CD5B-401C-A5E8-9A222CB276A7}"/>
              </a:ext>
            </a:extLst>
          </p:cNvPr>
          <p:cNvSpPr>
            <a:spLocks noGrp="1"/>
          </p:cNvSpPr>
          <p:nvPr/>
        </p:nvSpPr>
        <p:spPr>
          <a:xfrm>
            <a:off x="609600" y="285750"/>
            <a:ext cx="10668000" cy="285750"/>
          </a:xfrm>
          <a:prstGeom prst="rect">
            <a:avLst/>
          </a:prstGeom>
          <a:noFill/>
          <a:ln w="0">
            <a:noFill/>
          </a:ln>
        </p:spPr>
        <p:txBody>
          <a:bodyPr lIns="0" tIns="0" rIns="0" bIns="0">
            <a:noAutofit/>
          </a:bodyPr>
          <a:lstStyle>
            <a:defPPr>
              <a:defRPr sz="1200" b="1">
                <a:solidFill>
                  <a:srgbClr val="7455B4"/>
                </a:solidFill>
                <a:latin typeface="Helvetica Neue"/>
                <a:ea typeface="Helvetica Neue"/>
                <a:cs typeface="Helvetica Neue"/>
              </a:defRPr>
            </a:defPPr>
          </a:lstStyle>
          <a:p>
            <a:pPr>
              <a:buNone/>
              <a:defRPr sz="1200" b="1">
                <a:solidFill>
                  <a:srgbClr val="7455B4"/>
                </a:solidFill>
                <a:latin typeface="Helvetica Neue"/>
                <a:ea typeface="Helvetica Neue"/>
                <a:cs typeface="Helvetica Neue"/>
              </a:defRPr>
            </a:pPr>
            <a:r>
              <a:rPr sz="1200" b="1">
                <a:solidFill>
                  <a:srgbClr val="7455B4"/>
                </a:solidFill>
                <a:latin typeface="Helvetica Neue"/>
                <a:ea typeface="Helvetica Neue"/>
                <a:cs typeface="Helvetica Neue"/>
              </a:rPr>
              <a:t>SESSION 3: PROPOSAL AND EXECUTION PLAN</a:t>
            </a:r>
          </a:p>
        </p:txBody>
      </p:sp>
      <p:sp>
        <p:nvSpPr>
          <p:cNvPr id="2" name="slide-title">
            <a:extLst>
              <a:ext uri="{FF2B5EF4-FFF2-40B4-BE49-F238E27FC236}">
                <a16:creationId xmlns:a16="http://schemas.microsoft.com/office/drawing/2014/main" id="{78A30E1C-2C84-4C0A-8EBC-B061EFDE96B4}"/>
              </a:ext>
            </a:extLst>
          </p:cNvPr>
          <p:cNvSpPr>
            <a:spLocks noGrp="1"/>
          </p:cNvSpPr>
          <p:nvPr/>
        </p:nvSpPr>
        <p:spPr>
          <a:xfrm>
            <a:off x="609600" y="781050"/>
            <a:ext cx="10972800" cy="819150"/>
          </a:xfrm>
          <a:prstGeom prst="rect">
            <a:avLst/>
          </a:prstGeom>
          <a:noFill/>
          <a:ln w="0">
            <a:noFill/>
          </a:ln>
        </p:spPr>
        <p:txBody>
          <a:bodyPr lIns="0" tIns="0" rIns="0" bIns="0">
            <a:noAutofit/>
          </a:bodyPr>
          <a:lstStyle>
            <a:defPPr>
              <a:defRPr sz="3450" b="1">
                <a:solidFill>
                  <a:srgbClr val="102B46"/>
                </a:solidFill>
                <a:latin typeface="Helvetica Neue"/>
                <a:ea typeface="Helvetica Neue"/>
                <a:cs typeface="Helvetica Neue"/>
              </a:defRPr>
            </a:defPPr>
          </a:lstStyle>
          <a:p>
            <a:pPr>
              <a:buNone/>
              <a:defRPr sz="3450" b="1">
                <a:solidFill>
                  <a:srgbClr val="102B46"/>
                </a:solidFill>
                <a:latin typeface="Helvetica Neue"/>
                <a:ea typeface="Helvetica Neue"/>
                <a:cs typeface="Helvetica Neue"/>
              </a:defRPr>
            </a:pPr>
            <a:r>
              <a:rPr sz="3450" b="1">
                <a:solidFill>
                  <a:srgbClr val="102B46"/>
                </a:solidFill>
                <a:latin typeface="Helvetica Neue"/>
                <a:ea typeface="Helvetica Neue"/>
                <a:cs typeface="Helvetica Neue"/>
              </a:rPr>
              <a:t>Session 3 deliverables</a:t>
            </a:r>
          </a:p>
        </p:txBody>
      </p:sp>
      <p:sp>
        <p:nvSpPr>
          <p:cNvPr id="3" name="subtitle">
            <a:extLst>
              <a:ext uri="{FF2B5EF4-FFF2-40B4-BE49-F238E27FC236}">
                <a16:creationId xmlns:a16="http://schemas.microsoft.com/office/drawing/2014/main" id="{1595E775-B5F8-4CF4-A5F2-6BB411D5933F}"/>
              </a:ext>
            </a:extLst>
          </p:cNvPr>
          <p:cNvSpPr>
            <a:spLocks noGrp="1"/>
          </p:cNvSpPr>
          <p:nvPr/>
        </p:nvSpPr>
        <p:spPr>
          <a:xfrm>
            <a:off x="609600" y="1581150"/>
            <a:ext cx="10972800" cy="419100"/>
          </a:xfrm>
          <a:prstGeom prst="rect">
            <a:avLst/>
          </a:prstGeom>
          <a:noFill/>
          <a:ln w="0">
            <a:noFill/>
          </a:ln>
        </p:spPr>
        <p:txBody>
          <a:bodyPr lIns="0" tIns="0" rIns="0" bIns="0">
            <a:noAutofit/>
          </a:bodyPr>
          <a:lstStyle>
            <a:defPPr>
              <a:defRPr sz="1800" b="0">
                <a:solidFill>
                  <a:srgbClr val="607482"/>
                </a:solidFill>
                <a:latin typeface="Helvetica Neue"/>
                <a:ea typeface="Helvetica Neue"/>
                <a:cs typeface="Helvetica Neue"/>
              </a:defRPr>
            </a:defPPr>
          </a:lstStyle>
          <a:p>
            <a:pPr>
              <a:buNone/>
              <a:defRPr sz="1800" b="0">
                <a:solidFill>
                  <a:srgbClr val="607482"/>
                </a:solidFill>
                <a:latin typeface="Helvetica Neue"/>
                <a:ea typeface="Helvetica Neue"/>
                <a:cs typeface="Helvetica Neue"/>
              </a:defRPr>
            </a:pPr>
            <a:r>
              <a:rPr sz="1800" b="0">
                <a:solidFill>
                  <a:srgbClr val="607482"/>
                </a:solidFill>
                <a:latin typeface="Helvetica Neue"/>
                <a:ea typeface="Helvetica Neue"/>
                <a:cs typeface="Helvetica Neue"/>
              </a:rPr>
              <a:t>Questions for the expert checkpoint</a:t>
            </a:r>
          </a:p>
        </p:txBody>
      </p:sp>
      <p:sp>
        <p:nvSpPr>
          <p:cNvPr id="4" name="question-number">
            <a:extLst>
              <a:ext uri="{FF2B5EF4-FFF2-40B4-BE49-F238E27FC236}">
                <a16:creationId xmlns:a16="http://schemas.microsoft.com/office/drawing/2014/main" id="{D1644CA0-6037-4F6B-A5C2-9E2105DC0603}"/>
              </a:ext>
            </a:extLst>
          </p:cNvPr>
          <p:cNvSpPr>
            <a:spLocks noGrp="1"/>
          </p:cNvSpPr>
          <p:nvPr/>
        </p:nvSpPr>
        <p:spPr>
          <a:xfrm>
            <a:off x="609600" y="2228850"/>
            <a:ext cx="533400" cy="438150"/>
          </a:xfrm>
          <a:prstGeom prst="rect">
            <a:avLst/>
          </a:prstGeom>
          <a:noFill/>
          <a:ln w="0">
            <a:noFill/>
          </a:ln>
        </p:spPr>
        <p:txBody>
          <a:bodyPr lIns="0" tIns="0" rIns="0" bIns="0">
            <a:noAutofit/>
          </a:bodyPr>
          <a:lstStyle>
            <a:defPPr>
              <a:defRPr sz="1875" b="1">
                <a:solidFill>
                  <a:srgbClr val="7455B4"/>
                </a:solidFill>
                <a:latin typeface="Helvetica Neue"/>
                <a:ea typeface="Helvetica Neue"/>
                <a:cs typeface="Helvetica Neue"/>
              </a:defRPr>
            </a:defPPr>
          </a:lstStyle>
          <a:p>
            <a:pPr>
              <a:buNone/>
              <a:defRPr sz="1875" b="1">
                <a:solidFill>
                  <a:srgbClr val="7455B4"/>
                </a:solidFill>
                <a:latin typeface="Helvetica Neue"/>
                <a:ea typeface="Helvetica Neue"/>
                <a:cs typeface="Helvetica Neue"/>
              </a:defRPr>
            </a:pPr>
            <a:r>
              <a:rPr sz="1875" b="1">
                <a:solidFill>
                  <a:srgbClr val="7455B4"/>
                </a:solidFill>
                <a:latin typeface="Helvetica Neue"/>
                <a:ea typeface="Helvetica Neue"/>
                <a:cs typeface="Helvetica Neue"/>
              </a:rPr>
              <a:t>Q1</a:t>
            </a:r>
          </a:p>
        </p:txBody>
      </p:sp>
      <p:sp>
        <p:nvSpPr>
          <p:cNvPr id="5" name="checkpoint-question">
            <a:extLst>
              <a:ext uri="{FF2B5EF4-FFF2-40B4-BE49-F238E27FC236}">
                <a16:creationId xmlns:a16="http://schemas.microsoft.com/office/drawing/2014/main" id="{450BB882-B1D9-4F2E-B0A1-345CB9811123}"/>
              </a:ext>
            </a:extLst>
          </p:cNvPr>
          <p:cNvSpPr>
            <a:spLocks noGrp="1"/>
          </p:cNvSpPr>
          <p:nvPr/>
        </p:nvSpPr>
        <p:spPr>
          <a:xfrm>
            <a:off x="1352550" y="2228850"/>
            <a:ext cx="10229850" cy="552450"/>
          </a:xfrm>
          <a:prstGeom prst="rect">
            <a:avLst/>
          </a:prstGeom>
          <a:noFill/>
          <a:ln w="0">
            <a:noFill/>
          </a:ln>
        </p:spPr>
        <p:txBody>
          <a:bodyPr lIns="0" tIns="0" rIns="0" bIns="0">
            <a:noAutofit/>
          </a:bodyPr>
          <a:lstStyle>
            <a:defPPr>
              <a:defRPr sz="2025" b="0">
                <a:solidFill>
                  <a:srgbClr val="233A4B"/>
                </a:solidFill>
                <a:latin typeface="Helvetica Neue"/>
                <a:ea typeface="Helvetica Neue"/>
                <a:cs typeface="Helvetica Neue"/>
              </a:defRPr>
            </a:defPPr>
          </a:lstStyle>
          <a:p>
            <a:pPr>
              <a:buNone/>
              <a:defRPr sz="2025" b="0">
                <a:solidFill>
                  <a:srgbClr val="233A4B"/>
                </a:solidFill>
                <a:latin typeface="Helvetica Neue"/>
                <a:ea typeface="Helvetica Neue"/>
                <a:cs typeface="Helvetica Neue"/>
              </a:defRPr>
            </a:pPr>
            <a:r>
              <a:rPr sz="2025" b="0">
                <a:solidFill>
                  <a:srgbClr val="233A4B"/>
                </a:solidFill>
                <a:latin typeface="Helvetica Neue"/>
                <a:ea typeface="Helvetica Neue"/>
                <a:cs typeface="Helvetica Neue"/>
              </a:rPr>
              <a:t>What changed across technology, regulation and business?</a:t>
            </a:r>
          </a:p>
        </p:txBody>
      </p:sp>
      <p:sp>
        <p:nvSpPr>
          <p:cNvPr id="6" name="question-number">
            <a:extLst>
              <a:ext uri="{FF2B5EF4-FFF2-40B4-BE49-F238E27FC236}">
                <a16:creationId xmlns:a16="http://schemas.microsoft.com/office/drawing/2014/main" id="{4D892AC7-1749-4B48-B6DD-0025A6C92DCD}"/>
              </a:ext>
            </a:extLst>
          </p:cNvPr>
          <p:cNvSpPr>
            <a:spLocks noGrp="1"/>
          </p:cNvSpPr>
          <p:nvPr/>
        </p:nvSpPr>
        <p:spPr>
          <a:xfrm>
            <a:off x="609600" y="2876550"/>
            <a:ext cx="533400" cy="438150"/>
          </a:xfrm>
          <a:prstGeom prst="rect">
            <a:avLst/>
          </a:prstGeom>
          <a:noFill/>
          <a:ln w="0">
            <a:noFill/>
          </a:ln>
        </p:spPr>
        <p:txBody>
          <a:bodyPr lIns="0" tIns="0" rIns="0" bIns="0">
            <a:noAutofit/>
          </a:bodyPr>
          <a:lstStyle>
            <a:defPPr>
              <a:defRPr sz="1875" b="1">
                <a:solidFill>
                  <a:srgbClr val="7455B4"/>
                </a:solidFill>
                <a:latin typeface="Helvetica Neue"/>
                <a:ea typeface="Helvetica Neue"/>
                <a:cs typeface="Helvetica Neue"/>
              </a:defRPr>
            </a:defPPr>
          </a:lstStyle>
          <a:p>
            <a:pPr>
              <a:buNone/>
              <a:defRPr sz="1875" b="1">
                <a:solidFill>
                  <a:srgbClr val="7455B4"/>
                </a:solidFill>
                <a:latin typeface="Helvetica Neue"/>
                <a:ea typeface="Helvetica Neue"/>
                <a:cs typeface="Helvetica Neue"/>
              </a:defRPr>
            </a:pPr>
            <a:r>
              <a:rPr sz="1875" b="1">
                <a:solidFill>
                  <a:srgbClr val="7455B4"/>
                </a:solidFill>
                <a:latin typeface="Helvetica Neue"/>
                <a:ea typeface="Helvetica Neue"/>
                <a:cs typeface="Helvetica Neue"/>
              </a:rPr>
              <a:t>Q2</a:t>
            </a:r>
          </a:p>
        </p:txBody>
      </p:sp>
      <p:sp>
        <p:nvSpPr>
          <p:cNvPr id="7" name="checkpoint-question">
            <a:extLst>
              <a:ext uri="{FF2B5EF4-FFF2-40B4-BE49-F238E27FC236}">
                <a16:creationId xmlns:a16="http://schemas.microsoft.com/office/drawing/2014/main" id="{F14611A4-F1E3-4970-BB65-9ABBB7D41EED}"/>
              </a:ext>
            </a:extLst>
          </p:cNvPr>
          <p:cNvSpPr>
            <a:spLocks noGrp="1"/>
          </p:cNvSpPr>
          <p:nvPr/>
        </p:nvSpPr>
        <p:spPr>
          <a:xfrm>
            <a:off x="1352550" y="2876550"/>
            <a:ext cx="10229850" cy="552450"/>
          </a:xfrm>
          <a:prstGeom prst="rect">
            <a:avLst/>
          </a:prstGeom>
          <a:noFill/>
          <a:ln w="0">
            <a:noFill/>
          </a:ln>
        </p:spPr>
        <p:txBody>
          <a:bodyPr lIns="0" tIns="0" rIns="0" bIns="0">
            <a:noAutofit/>
          </a:bodyPr>
          <a:lstStyle>
            <a:defPPr>
              <a:defRPr sz="2025" b="0">
                <a:solidFill>
                  <a:srgbClr val="233A4B"/>
                </a:solidFill>
                <a:latin typeface="Helvetica Neue"/>
                <a:ea typeface="Helvetica Neue"/>
                <a:cs typeface="Helvetica Neue"/>
              </a:defRPr>
            </a:defPPr>
          </a:lstStyle>
          <a:p>
            <a:pPr>
              <a:buNone/>
              <a:defRPr sz="2025" b="0">
                <a:solidFill>
                  <a:srgbClr val="233A4B"/>
                </a:solidFill>
                <a:latin typeface="Helvetica Neue"/>
                <a:ea typeface="Helvetica Neue"/>
                <a:cs typeface="Helvetica Neue"/>
              </a:defRPr>
            </a:pPr>
            <a:r>
              <a:rPr sz="2025" b="0">
                <a:solidFill>
                  <a:srgbClr val="233A4B"/>
                </a:solidFill>
                <a:latin typeface="Helvetica Neue"/>
                <a:ea typeface="Helvetica Neue"/>
                <a:cs typeface="Helvetica Neue"/>
              </a:rPr>
              <a:t>How will you reach customers, deliver the offer and earn revenue?</a:t>
            </a:r>
          </a:p>
        </p:txBody>
      </p:sp>
      <p:sp>
        <p:nvSpPr>
          <p:cNvPr id="8" name="question-number">
            <a:extLst>
              <a:ext uri="{FF2B5EF4-FFF2-40B4-BE49-F238E27FC236}">
                <a16:creationId xmlns:a16="http://schemas.microsoft.com/office/drawing/2014/main" id="{75AE2A7D-C379-4D14-A57D-57ED6AB00015}"/>
              </a:ext>
            </a:extLst>
          </p:cNvPr>
          <p:cNvSpPr>
            <a:spLocks noGrp="1"/>
          </p:cNvSpPr>
          <p:nvPr/>
        </p:nvSpPr>
        <p:spPr>
          <a:xfrm>
            <a:off x="609600" y="3524250"/>
            <a:ext cx="533400" cy="438150"/>
          </a:xfrm>
          <a:prstGeom prst="rect">
            <a:avLst/>
          </a:prstGeom>
          <a:noFill/>
          <a:ln w="0">
            <a:noFill/>
          </a:ln>
        </p:spPr>
        <p:txBody>
          <a:bodyPr lIns="0" tIns="0" rIns="0" bIns="0">
            <a:noAutofit/>
          </a:bodyPr>
          <a:lstStyle>
            <a:defPPr>
              <a:defRPr sz="1875" b="1">
                <a:solidFill>
                  <a:srgbClr val="7455B4"/>
                </a:solidFill>
                <a:latin typeface="Helvetica Neue"/>
                <a:ea typeface="Helvetica Neue"/>
                <a:cs typeface="Helvetica Neue"/>
              </a:defRPr>
            </a:defPPr>
          </a:lstStyle>
          <a:p>
            <a:pPr>
              <a:buNone/>
              <a:defRPr sz="1875" b="1">
                <a:solidFill>
                  <a:srgbClr val="7455B4"/>
                </a:solidFill>
                <a:latin typeface="Helvetica Neue"/>
                <a:ea typeface="Helvetica Neue"/>
                <a:cs typeface="Helvetica Neue"/>
              </a:defRPr>
            </a:pPr>
            <a:r>
              <a:rPr sz="1875" b="1">
                <a:solidFill>
                  <a:srgbClr val="7455B4"/>
                </a:solidFill>
                <a:latin typeface="Helvetica Neue"/>
                <a:ea typeface="Helvetica Neue"/>
                <a:cs typeface="Helvetica Neue"/>
              </a:rPr>
              <a:t>Q3</a:t>
            </a:r>
          </a:p>
        </p:txBody>
      </p:sp>
      <p:sp>
        <p:nvSpPr>
          <p:cNvPr id="9" name="checkpoint-question">
            <a:extLst>
              <a:ext uri="{FF2B5EF4-FFF2-40B4-BE49-F238E27FC236}">
                <a16:creationId xmlns:a16="http://schemas.microsoft.com/office/drawing/2014/main" id="{EB205702-0237-4469-9B57-98439DC89D92}"/>
              </a:ext>
            </a:extLst>
          </p:cNvPr>
          <p:cNvSpPr>
            <a:spLocks noGrp="1"/>
          </p:cNvSpPr>
          <p:nvPr/>
        </p:nvSpPr>
        <p:spPr>
          <a:xfrm>
            <a:off x="1352550" y="3524250"/>
            <a:ext cx="10229850" cy="552450"/>
          </a:xfrm>
          <a:prstGeom prst="rect">
            <a:avLst/>
          </a:prstGeom>
          <a:noFill/>
          <a:ln w="0">
            <a:noFill/>
          </a:ln>
        </p:spPr>
        <p:txBody>
          <a:bodyPr lIns="0" tIns="0" rIns="0" bIns="0">
            <a:noAutofit/>
          </a:bodyPr>
          <a:lstStyle>
            <a:defPPr>
              <a:defRPr sz="2025" b="0">
                <a:solidFill>
                  <a:srgbClr val="233A4B"/>
                </a:solidFill>
                <a:latin typeface="Helvetica Neue"/>
                <a:ea typeface="Helvetica Neue"/>
                <a:cs typeface="Helvetica Neue"/>
              </a:defRPr>
            </a:defPPr>
          </a:lstStyle>
          <a:p>
            <a:pPr>
              <a:buNone/>
              <a:defRPr sz="2025" b="0">
                <a:solidFill>
                  <a:srgbClr val="233A4B"/>
                </a:solidFill>
                <a:latin typeface="Helvetica Neue"/>
                <a:ea typeface="Helvetica Neue"/>
                <a:cs typeface="Helvetica Neue"/>
              </a:defRPr>
            </a:pPr>
            <a:r>
              <a:rPr sz="2025" b="0">
                <a:solidFill>
                  <a:srgbClr val="233A4B"/>
                </a:solidFill>
                <a:latin typeface="Helvetica Neue"/>
                <a:ea typeface="Helvetica Neue"/>
                <a:cs typeface="Helvetica Neue"/>
              </a:rPr>
              <a:t>What R&amp;D steps, milestones and partners will deliver the solution?</a:t>
            </a:r>
          </a:p>
        </p:txBody>
      </p:sp>
      <p:sp>
        <p:nvSpPr>
          <p:cNvPr id="10" name="question-number">
            <a:extLst>
              <a:ext uri="{FF2B5EF4-FFF2-40B4-BE49-F238E27FC236}">
                <a16:creationId xmlns:a16="http://schemas.microsoft.com/office/drawing/2014/main" id="{0BBB88E4-9470-4109-858C-B9962181B373}"/>
              </a:ext>
            </a:extLst>
          </p:cNvPr>
          <p:cNvSpPr>
            <a:spLocks noGrp="1"/>
          </p:cNvSpPr>
          <p:nvPr/>
        </p:nvSpPr>
        <p:spPr>
          <a:xfrm>
            <a:off x="609600" y="4171950"/>
            <a:ext cx="533400" cy="438150"/>
          </a:xfrm>
          <a:prstGeom prst="rect">
            <a:avLst/>
          </a:prstGeom>
          <a:noFill/>
          <a:ln w="0">
            <a:noFill/>
          </a:ln>
        </p:spPr>
        <p:txBody>
          <a:bodyPr lIns="0" tIns="0" rIns="0" bIns="0">
            <a:noAutofit/>
          </a:bodyPr>
          <a:lstStyle>
            <a:defPPr>
              <a:defRPr sz="1875" b="1">
                <a:solidFill>
                  <a:srgbClr val="7455B4"/>
                </a:solidFill>
                <a:latin typeface="Helvetica Neue"/>
                <a:ea typeface="Helvetica Neue"/>
                <a:cs typeface="Helvetica Neue"/>
              </a:defRPr>
            </a:defPPr>
          </a:lstStyle>
          <a:p>
            <a:pPr>
              <a:buNone/>
              <a:defRPr sz="1875" b="1">
                <a:solidFill>
                  <a:srgbClr val="7455B4"/>
                </a:solidFill>
                <a:latin typeface="Helvetica Neue"/>
                <a:ea typeface="Helvetica Neue"/>
                <a:cs typeface="Helvetica Neue"/>
              </a:defRPr>
            </a:pPr>
            <a:r>
              <a:rPr sz="1875" b="1">
                <a:solidFill>
                  <a:srgbClr val="7455B4"/>
                </a:solidFill>
                <a:latin typeface="Helvetica Neue"/>
                <a:ea typeface="Helvetica Neue"/>
                <a:cs typeface="Helvetica Neue"/>
              </a:rPr>
              <a:t>Q4</a:t>
            </a:r>
          </a:p>
        </p:txBody>
      </p:sp>
      <p:sp>
        <p:nvSpPr>
          <p:cNvPr id="11" name="checkpoint-question">
            <a:extLst>
              <a:ext uri="{FF2B5EF4-FFF2-40B4-BE49-F238E27FC236}">
                <a16:creationId xmlns:a16="http://schemas.microsoft.com/office/drawing/2014/main" id="{596C3540-9110-468B-B50B-F5FAC618829F}"/>
              </a:ext>
            </a:extLst>
          </p:cNvPr>
          <p:cNvSpPr>
            <a:spLocks noGrp="1"/>
          </p:cNvSpPr>
          <p:nvPr/>
        </p:nvSpPr>
        <p:spPr>
          <a:xfrm>
            <a:off x="1352550" y="4171950"/>
            <a:ext cx="10229850" cy="552450"/>
          </a:xfrm>
          <a:prstGeom prst="rect">
            <a:avLst/>
          </a:prstGeom>
          <a:noFill/>
          <a:ln w="0">
            <a:noFill/>
          </a:ln>
        </p:spPr>
        <p:txBody>
          <a:bodyPr lIns="0" tIns="0" rIns="0" bIns="0">
            <a:noAutofit/>
          </a:bodyPr>
          <a:lstStyle>
            <a:defPPr>
              <a:defRPr sz="2025" b="0">
                <a:solidFill>
                  <a:srgbClr val="233A4B"/>
                </a:solidFill>
                <a:latin typeface="Helvetica Neue"/>
                <a:ea typeface="Helvetica Neue"/>
                <a:cs typeface="Helvetica Neue"/>
              </a:defRPr>
            </a:defPPr>
          </a:lstStyle>
          <a:p>
            <a:pPr>
              <a:buNone/>
              <a:defRPr sz="2025" b="0">
                <a:solidFill>
                  <a:srgbClr val="233A4B"/>
                </a:solidFill>
                <a:latin typeface="Helvetica Neue"/>
                <a:ea typeface="Helvetica Neue"/>
                <a:cs typeface="Helvetica Neue"/>
              </a:defRPr>
            </a:pPr>
            <a:r>
              <a:rPr sz="2025" b="0">
                <a:solidFill>
                  <a:srgbClr val="233A4B"/>
                </a:solidFill>
                <a:latin typeface="Helvetica Neue"/>
                <a:ea typeface="Helvetica Neue"/>
                <a:cs typeface="Helvetica Neue"/>
              </a:rPr>
              <a:t>What funds are needed, and how will you use them?</a:t>
            </a:r>
          </a:p>
        </p:txBody>
      </p:sp>
      <p:sp>
        <p:nvSpPr>
          <p:cNvPr id="12" name="question-number">
            <a:extLst>
              <a:ext uri="{FF2B5EF4-FFF2-40B4-BE49-F238E27FC236}">
                <a16:creationId xmlns:a16="http://schemas.microsoft.com/office/drawing/2014/main" id="{D534A1BE-6372-4B91-9307-58441FCC6169}"/>
              </a:ext>
            </a:extLst>
          </p:cNvPr>
          <p:cNvSpPr>
            <a:spLocks noGrp="1"/>
          </p:cNvSpPr>
          <p:nvPr/>
        </p:nvSpPr>
        <p:spPr>
          <a:xfrm>
            <a:off x="609600" y="4819650"/>
            <a:ext cx="533400" cy="438150"/>
          </a:xfrm>
          <a:prstGeom prst="rect">
            <a:avLst/>
          </a:prstGeom>
          <a:noFill/>
          <a:ln w="0">
            <a:noFill/>
          </a:ln>
        </p:spPr>
        <p:txBody>
          <a:bodyPr lIns="0" tIns="0" rIns="0" bIns="0">
            <a:noAutofit/>
          </a:bodyPr>
          <a:lstStyle>
            <a:defPPr>
              <a:defRPr sz="1875" b="1">
                <a:solidFill>
                  <a:srgbClr val="7455B4"/>
                </a:solidFill>
                <a:latin typeface="Helvetica Neue"/>
                <a:ea typeface="Helvetica Neue"/>
                <a:cs typeface="Helvetica Neue"/>
              </a:defRPr>
            </a:defPPr>
          </a:lstStyle>
          <a:p>
            <a:pPr>
              <a:buNone/>
              <a:defRPr sz="1875" b="1">
                <a:solidFill>
                  <a:srgbClr val="7455B4"/>
                </a:solidFill>
                <a:latin typeface="Helvetica Neue"/>
                <a:ea typeface="Helvetica Neue"/>
                <a:cs typeface="Helvetica Neue"/>
              </a:defRPr>
            </a:pPr>
            <a:r>
              <a:rPr sz="1875" b="1">
                <a:solidFill>
                  <a:srgbClr val="7455B4"/>
                </a:solidFill>
                <a:latin typeface="Helvetica Neue"/>
                <a:ea typeface="Helvetica Neue"/>
                <a:cs typeface="Helvetica Neue"/>
              </a:rPr>
              <a:t>Q5</a:t>
            </a:r>
          </a:p>
        </p:txBody>
      </p:sp>
      <p:sp>
        <p:nvSpPr>
          <p:cNvPr id="13" name="checkpoint-question">
            <a:extLst>
              <a:ext uri="{FF2B5EF4-FFF2-40B4-BE49-F238E27FC236}">
                <a16:creationId xmlns:a16="http://schemas.microsoft.com/office/drawing/2014/main" id="{19C5037A-DB29-41A0-AF78-D67AAC8A3A8D}"/>
              </a:ext>
            </a:extLst>
          </p:cNvPr>
          <p:cNvSpPr>
            <a:spLocks noGrp="1"/>
          </p:cNvSpPr>
          <p:nvPr/>
        </p:nvSpPr>
        <p:spPr>
          <a:xfrm>
            <a:off x="1352550" y="4819650"/>
            <a:ext cx="10229850" cy="552450"/>
          </a:xfrm>
          <a:prstGeom prst="rect">
            <a:avLst/>
          </a:prstGeom>
          <a:noFill/>
          <a:ln w="0">
            <a:noFill/>
          </a:ln>
        </p:spPr>
        <p:txBody>
          <a:bodyPr lIns="0" tIns="0" rIns="0" bIns="0">
            <a:noAutofit/>
          </a:bodyPr>
          <a:lstStyle>
            <a:defPPr>
              <a:defRPr sz="2025" b="0">
                <a:solidFill>
                  <a:srgbClr val="233A4B"/>
                </a:solidFill>
                <a:latin typeface="Helvetica Neue"/>
                <a:ea typeface="Helvetica Neue"/>
                <a:cs typeface="Helvetica Neue"/>
              </a:defRPr>
            </a:defPPr>
          </a:lstStyle>
          <a:p>
            <a:pPr>
              <a:buNone/>
              <a:defRPr sz="2025" b="0">
                <a:solidFill>
                  <a:srgbClr val="233A4B"/>
                </a:solidFill>
                <a:latin typeface="Helvetica Neue"/>
                <a:ea typeface="Helvetica Neue"/>
                <a:cs typeface="Helvetica Neue"/>
              </a:defRPr>
            </a:pPr>
            <a:r>
              <a:rPr sz="2025" b="0">
                <a:solidFill>
                  <a:srgbClr val="233A4B"/>
                </a:solidFill>
                <a:latin typeface="Helvetica Neue"/>
                <a:ea typeface="Helvetica Neue"/>
                <a:cs typeface="Helvetica Neue"/>
              </a:rPr>
              <a:t>What evidence, risks and next steps support the proposal?</a:t>
            </a:r>
          </a:p>
        </p:txBody>
      </p:sp>
      <p:sp>
        <p:nvSpPr>
          <p:cNvPr id="14" name="deliverable-label">
            <a:extLst>
              <a:ext uri="{FF2B5EF4-FFF2-40B4-BE49-F238E27FC236}">
                <a16:creationId xmlns:a16="http://schemas.microsoft.com/office/drawing/2014/main" id="{78247FA1-27A2-4047-B9F1-46E6FF00CB4B}"/>
              </a:ext>
            </a:extLst>
          </p:cNvPr>
          <p:cNvSpPr>
            <a:spLocks noGrp="1"/>
          </p:cNvSpPr>
          <p:nvPr/>
        </p:nvSpPr>
        <p:spPr>
          <a:xfrm>
            <a:off x="609600" y="5657850"/>
            <a:ext cx="10972800" cy="266700"/>
          </a:xfrm>
          <a:prstGeom prst="rect">
            <a:avLst/>
          </a:prstGeom>
          <a:noFill/>
          <a:ln w="0">
            <a:noFill/>
          </a:ln>
        </p:spPr>
        <p:txBody>
          <a:bodyPr lIns="0" tIns="0" rIns="0" bIns="0">
            <a:noAutofit/>
          </a:bodyPr>
          <a:lstStyle>
            <a:defPPr>
              <a:defRPr sz="1275" b="1">
                <a:solidFill>
                  <a:srgbClr val="7455B4"/>
                </a:solidFill>
                <a:latin typeface="Helvetica Neue"/>
                <a:ea typeface="Helvetica Neue"/>
                <a:cs typeface="Helvetica Neue"/>
              </a:defRPr>
            </a:defPPr>
          </a:lstStyle>
          <a:p>
            <a:pPr>
              <a:buNone/>
              <a:defRPr sz="1275" b="1">
                <a:solidFill>
                  <a:srgbClr val="7455B4"/>
                </a:solidFill>
                <a:latin typeface="Helvetica Neue"/>
                <a:ea typeface="Helvetica Neue"/>
                <a:cs typeface="Helvetica Neue"/>
              </a:defRPr>
            </a:pPr>
            <a:r>
              <a:rPr sz="1275" b="1">
                <a:solidFill>
                  <a:srgbClr val="7455B4"/>
                </a:solidFill>
                <a:latin typeface="Helvetica Neue"/>
                <a:ea typeface="Helvetica Neue"/>
                <a:cs typeface="Helvetica Neue"/>
              </a:rPr>
              <a:t>DELIVERABLES</a:t>
            </a:r>
          </a:p>
        </p:txBody>
      </p:sp>
      <p:sp>
        <p:nvSpPr>
          <p:cNvPr id="15" name="deliverable-content">
            <a:extLst>
              <a:ext uri="{FF2B5EF4-FFF2-40B4-BE49-F238E27FC236}">
                <a16:creationId xmlns:a16="http://schemas.microsoft.com/office/drawing/2014/main" id="{DBD0DF92-ECEB-49E4-9CEF-55E700708DA5}"/>
              </a:ext>
            </a:extLst>
          </p:cNvPr>
          <p:cNvSpPr>
            <a:spLocks noGrp="1"/>
          </p:cNvSpPr>
          <p:nvPr/>
        </p:nvSpPr>
        <p:spPr>
          <a:xfrm>
            <a:off x="609600" y="5991225"/>
            <a:ext cx="10972800" cy="400050"/>
          </a:xfrm>
          <a:prstGeom prst="rect">
            <a:avLst/>
          </a:prstGeom>
          <a:noFill/>
          <a:ln w="0">
            <a:noFill/>
          </a:ln>
        </p:spPr>
        <p:txBody>
          <a:bodyPr lIns="0" tIns="0" rIns="0" bIns="0">
            <a:noAutofit/>
          </a:bodyPr>
          <a:lstStyle>
            <a:defPPr>
              <a:defRPr sz="1800" b="1">
                <a:solidFill>
                  <a:srgbClr val="102B46"/>
                </a:solidFill>
                <a:latin typeface="Helvetica Neue"/>
                <a:ea typeface="Helvetica Neue"/>
                <a:cs typeface="Helvetica Neue"/>
              </a:defRPr>
            </a:defPPr>
          </a:lstStyle>
          <a:p>
            <a:pPr>
              <a:buNone/>
              <a:defRPr sz="1800" b="1">
                <a:solidFill>
                  <a:srgbClr val="102B46"/>
                </a:solidFill>
                <a:latin typeface="Helvetica Neue"/>
                <a:ea typeface="Helvetica Neue"/>
                <a:cs typeface="Helvetica Neue"/>
              </a:defRPr>
            </a:pPr>
            <a:r>
              <a:rPr sz="1800" b="1">
                <a:solidFill>
                  <a:srgbClr val="102B46"/>
                </a:solidFill>
                <a:latin typeface="Helvetica Neue"/>
                <a:ea typeface="Helvetica Neue"/>
                <a:cs typeface="Helvetica Neue"/>
              </a:rPr>
              <a:t>10–15-page proposal + pitch draft + feedback actions</a:t>
            </a:r>
          </a:p>
        </p:txBody>
      </p:sp>
      <p:sp>
        <p:nvSpPr>
          <p:cNvPr id="16" name="page-number">
            <a:extLst>
              <a:ext uri="{FF2B5EF4-FFF2-40B4-BE49-F238E27FC236}">
                <a16:creationId xmlns:a16="http://schemas.microsoft.com/office/drawing/2014/main" id="{CF96CF18-9DE7-4325-9FEB-739240445994}"/>
              </a:ext>
            </a:extLst>
          </p:cNvPr>
          <p:cNvSpPr>
            <a:spLocks noGrp="1"/>
          </p:cNvSpPr>
          <p:nvPr/>
        </p:nvSpPr>
        <p:spPr>
          <a:xfrm>
            <a:off x="10953750" y="6438900"/>
            <a:ext cx="619125" cy="238125"/>
          </a:xfrm>
          <a:prstGeom prst="rect">
            <a:avLst/>
          </a:prstGeom>
          <a:noFill/>
          <a:ln w="0">
            <a:noFill/>
          </a:ln>
        </p:spPr>
        <p:txBody>
          <a:bodyPr lIns="0" tIns="0" rIns="0" bIns="0">
            <a:noAutofit/>
          </a:bodyPr>
          <a:lstStyle>
            <a:defPPr>
              <a:defRPr sz="1125" b="0">
                <a:solidFill>
                  <a:srgbClr val="607482"/>
                </a:solidFill>
                <a:latin typeface="Helvetica Neue"/>
                <a:ea typeface="Helvetica Neue"/>
                <a:cs typeface="Helvetica Neue"/>
              </a:defRPr>
            </a:defPPr>
          </a:lstStyle>
          <a:p>
            <a:pPr>
              <a:buNone/>
              <a:defRPr sz="1125" b="0">
                <a:solidFill>
                  <a:srgbClr val="607482"/>
                </a:solidFill>
                <a:latin typeface="Helvetica Neue"/>
                <a:ea typeface="Helvetica Neue"/>
                <a:cs typeface="Helvetica Neue"/>
              </a:defRPr>
            </a:pPr>
            <a:r>
              <a:rPr sz="1125" b="0">
                <a:solidFill>
                  <a:srgbClr val="607482"/>
                </a:solidFill>
                <a:latin typeface="Helvetica Neue"/>
                <a:ea typeface="Helvetica Neue"/>
                <a:cs typeface="Helvetica Neue"/>
              </a:rPr>
              <a:t>23</a:t>
            </a:r>
          </a:p>
        </p:txBody>
      </p:sp>
    </p:spTree>
    <p:extLst>
      <p:ext uri="{BB962C8B-B14F-4D97-AF65-F5344CB8AC3E}">
        <p14:creationId xmlns:p14="http://schemas.microsoft.com/office/powerpoint/2010/main" val="11172565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8C5D20"/>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52CAC30-102C-4DCF-B546-D71F81E8B180}"/>
              </a:ext>
            </a:extLst>
          </p:cNvPr>
          <p:cNvPicPr>
            <a:picLocks noChangeAspect="1"/>
          </p:cNvPicPr>
          <p:nvPr/>
        </p:nvPicPr>
        <p:blipFill>
          <a:blip r:embed="rId3"/>
          <a:stretch/>
        </p:blipFill>
        <p:spPr>
          <a:xfrm>
            <a:off x="10001250" y="666750"/>
            <a:ext cx="1219200" cy="1219200"/>
          </a:xfrm>
          <a:prstGeom prst="rect">
            <a:avLst/>
          </a:prstGeom>
        </p:spPr>
      </p:pic>
      <p:sp>
        <p:nvSpPr>
          <p:cNvPr id="2" name="slide-title">
            <a:extLst>
              <a:ext uri="{FF2B5EF4-FFF2-40B4-BE49-F238E27FC236}">
                <a16:creationId xmlns:a16="http://schemas.microsoft.com/office/drawing/2014/main" id="{AC7935A9-4127-4AA1-997A-3C83F8CA7631}"/>
              </a:ext>
            </a:extLst>
          </p:cNvPr>
          <p:cNvSpPr>
            <a:spLocks noGrp="1"/>
          </p:cNvSpPr>
          <p:nvPr/>
        </p:nvSpPr>
        <p:spPr>
          <a:xfrm>
            <a:off x="609600" y="2400300"/>
            <a:ext cx="10668000" cy="1762125"/>
          </a:xfrm>
          <a:prstGeom prst="rect">
            <a:avLst/>
          </a:prstGeom>
          <a:noFill/>
          <a:ln w="0">
            <a:noFill/>
          </a:ln>
        </p:spPr>
        <p:txBody>
          <a:bodyPr lIns="0" tIns="0" rIns="0" bIns="0">
            <a:noAutofit/>
          </a:bodyPr>
          <a:lstStyle>
            <a:defPPr>
              <a:defRPr sz="4350" b="1">
                <a:solidFill>
                  <a:srgbClr val="FFFFFF"/>
                </a:solidFill>
                <a:latin typeface="Helvetica Neue"/>
                <a:ea typeface="Helvetica Neue"/>
                <a:cs typeface="Helvetica Neue"/>
              </a:defRPr>
            </a:defPPr>
          </a:lstStyle>
          <a:p>
            <a:pPr>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Proposal and delivery</a:t>
            </a:r>
          </a:p>
        </p:txBody>
      </p:sp>
      <p:sp>
        <p:nvSpPr>
          <p:cNvPr id="3" name="section-subtitle">
            <a:extLst>
              <a:ext uri="{FF2B5EF4-FFF2-40B4-BE49-F238E27FC236}">
                <a16:creationId xmlns:a16="http://schemas.microsoft.com/office/drawing/2014/main" id="{2EFAE9F8-F3FF-4A57-BF7C-48AB7406F13D}"/>
              </a:ext>
            </a:extLst>
          </p:cNvPr>
          <p:cNvSpPr>
            <a:spLocks noGrp="1"/>
          </p:cNvSpPr>
          <p:nvPr/>
        </p:nvSpPr>
        <p:spPr>
          <a:xfrm>
            <a:off x="609600" y="4905375"/>
            <a:ext cx="10668000" cy="762000"/>
          </a:xfrm>
          <a:prstGeom prst="rect">
            <a:avLst/>
          </a:prstGeom>
          <a:noFill/>
          <a:ln w="0">
            <a:noFill/>
          </a:ln>
        </p:spPr>
        <p:txBody>
          <a:bodyPr lIns="0" tIns="0" rIns="0" bIns="0">
            <a:noAutofit/>
          </a:bodyPr>
          <a:lstStyle>
            <a:defPPr>
              <a:defRPr sz="2175" b="0">
                <a:solidFill>
                  <a:srgbClr val="FFFFFF"/>
                </a:solidFill>
                <a:latin typeface="Helvetica Neue"/>
                <a:ea typeface="Helvetica Neue"/>
                <a:cs typeface="Helvetica Neue"/>
              </a:defRPr>
            </a:defPPr>
          </a:lstStyle>
          <a:p>
            <a:pPr>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Proposal contents, expert feedback and final outputs</a:t>
            </a:r>
          </a:p>
        </p:txBody>
      </p:sp>
      <p:sp>
        <p:nvSpPr>
          <p:cNvPr id="4" name="page-number">
            <a:extLst>
              <a:ext uri="{FF2B5EF4-FFF2-40B4-BE49-F238E27FC236}">
                <a16:creationId xmlns:a16="http://schemas.microsoft.com/office/drawing/2014/main" id="{BD10AC68-3759-49C5-B496-0D0771E34CE9}"/>
              </a:ext>
            </a:extLst>
          </p:cNvPr>
          <p:cNvSpPr>
            <a:spLocks noGrp="1"/>
          </p:cNvSpPr>
          <p:nvPr/>
        </p:nvSpPr>
        <p:spPr>
          <a:xfrm>
            <a:off x="10953750" y="6438900"/>
            <a:ext cx="619125" cy="238125"/>
          </a:xfrm>
          <a:prstGeom prst="rect">
            <a:avLst/>
          </a:prstGeom>
          <a:noFill/>
          <a:ln w="0">
            <a:noFill/>
          </a:ln>
        </p:spPr>
        <p:txBody>
          <a:bodyPr lIns="0" tIns="0" rIns="0" bIns="0">
            <a:noAutofit/>
          </a:bodyPr>
          <a:lstStyle>
            <a:defPPr>
              <a:defRPr sz="1125" b="0">
                <a:solidFill>
                  <a:srgbClr val="FFFFFF"/>
                </a:solidFill>
                <a:latin typeface="Helvetica Neue"/>
                <a:ea typeface="Helvetica Neue"/>
                <a:cs typeface="Helvetica Neue"/>
              </a:defRPr>
            </a:defPPr>
          </a:lstStyle>
          <a:p>
            <a:pPr>
              <a:defRPr sz="1125" b="0">
                <a:solidFill>
                  <a:srgbClr val="FFFFFF"/>
                </a:solidFill>
                <a:latin typeface="Helvetica Neue"/>
                <a:ea typeface="Helvetica Neue"/>
                <a:cs typeface="Helvetica Neue"/>
              </a:defRPr>
            </a:pPr>
            <a:r>
              <a:rPr sz="1125" b="0">
                <a:solidFill>
                  <a:srgbClr val="FFFFFF"/>
                </a:solidFill>
                <a:latin typeface="Helvetica Neue"/>
                <a:ea typeface="Helvetica Neue"/>
                <a:cs typeface="Helvetica Neue"/>
              </a:rPr>
              <a:t>24</a:t>
            </a:r>
          </a:p>
        </p:txBody>
      </p:sp>
    </p:spTree>
    <p:extLst>
      <p:ext uri="{BB962C8B-B14F-4D97-AF65-F5344CB8AC3E}">
        <p14:creationId xmlns:p14="http://schemas.microsoft.com/office/powerpoint/2010/main" val="16444251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section-label">
            <a:extLst>
              <a:ext uri="{FF2B5EF4-FFF2-40B4-BE49-F238E27FC236}">
                <a16:creationId xmlns:a16="http://schemas.microsoft.com/office/drawing/2014/main" id="{B292A540-3029-490A-82E0-93284473D25D}"/>
              </a:ext>
            </a:extLst>
          </p:cNvPr>
          <p:cNvSpPr>
            <a:spLocks noGrp="1"/>
          </p:cNvSpPr>
          <p:nvPr/>
        </p:nvSpPr>
        <p:spPr>
          <a:xfrm>
            <a:off x="609600" y="285750"/>
            <a:ext cx="10668000" cy="285750"/>
          </a:xfrm>
          <a:prstGeom prst="rect">
            <a:avLst/>
          </a:prstGeom>
          <a:noFill/>
          <a:ln w="0">
            <a:noFill/>
          </a:ln>
        </p:spPr>
        <p:txBody>
          <a:bodyPr lIns="0" tIns="0" rIns="0" bIns="0">
            <a:noAutofit/>
          </a:bodyPr>
          <a:lstStyle>
            <a:defPPr>
              <a:defRPr sz="1200" b="1">
                <a:solidFill>
                  <a:srgbClr val="A16C27"/>
                </a:solidFill>
                <a:latin typeface="Helvetica Neue"/>
                <a:ea typeface="Helvetica Neue"/>
                <a:cs typeface="Helvetica Neue"/>
              </a:defRPr>
            </a:defPPr>
          </a:lstStyle>
          <a:p>
            <a:pPr>
              <a:defRPr sz="1200" b="1">
                <a:solidFill>
                  <a:srgbClr val="A16C27"/>
                </a:solidFill>
                <a:latin typeface="Helvetica Neue"/>
                <a:ea typeface="Helvetica Neue"/>
                <a:cs typeface="Helvetica Neue"/>
              </a:defRPr>
            </a:pPr>
            <a:r>
              <a:rPr sz="1200" b="1">
                <a:solidFill>
                  <a:srgbClr val="A16C27"/>
                </a:solidFill>
                <a:latin typeface="Helvetica Neue"/>
                <a:ea typeface="Helvetica Neue"/>
                <a:cs typeface="Helvetica Neue"/>
              </a:rPr>
              <a:t>PROPOSAL AND DELIVERY</a:t>
            </a:r>
          </a:p>
        </p:txBody>
      </p:sp>
      <p:sp>
        <p:nvSpPr>
          <p:cNvPr id="2" name="slide-title">
            <a:extLst>
              <a:ext uri="{FF2B5EF4-FFF2-40B4-BE49-F238E27FC236}">
                <a16:creationId xmlns:a16="http://schemas.microsoft.com/office/drawing/2014/main" id="{F94C334D-5BE7-47C0-9D61-7DA2D407F47A}"/>
              </a:ext>
            </a:extLst>
          </p:cNvPr>
          <p:cNvSpPr>
            <a:spLocks noGrp="1"/>
          </p:cNvSpPr>
          <p:nvPr/>
        </p:nvSpPr>
        <p:spPr>
          <a:xfrm>
            <a:off x="609600" y="781050"/>
            <a:ext cx="10972800" cy="819150"/>
          </a:xfrm>
          <a:prstGeom prst="rect">
            <a:avLst/>
          </a:prstGeom>
          <a:noFill/>
          <a:ln w="0">
            <a:noFill/>
          </a:ln>
        </p:spPr>
        <p:txBody>
          <a:bodyPr lIns="0" tIns="0" rIns="0" bIns="0">
            <a:noAutofit/>
          </a:bodyPr>
          <a:lstStyle>
            <a:defPPr>
              <a:defRPr sz="3450" b="1">
                <a:solidFill>
                  <a:srgbClr val="102B46"/>
                </a:solidFill>
                <a:latin typeface="Helvetica Neue"/>
                <a:ea typeface="Helvetica Neue"/>
                <a:cs typeface="Helvetica Neue"/>
              </a:defRPr>
            </a:defPPr>
          </a:lstStyle>
          <a:p>
            <a:pPr>
              <a:defRPr sz="3450" b="1">
                <a:solidFill>
                  <a:srgbClr val="102B46"/>
                </a:solidFill>
                <a:latin typeface="Helvetica Neue"/>
                <a:ea typeface="Helvetica Neue"/>
                <a:cs typeface="Helvetica Neue"/>
              </a:defRPr>
            </a:pPr>
            <a:r>
              <a:rPr sz="3450" b="1">
                <a:solidFill>
                  <a:srgbClr val="102B46"/>
                </a:solidFill>
                <a:latin typeface="Helvetica Neue"/>
                <a:ea typeface="Helvetica Neue"/>
                <a:cs typeface="Helvetica Neue"/>
              </a:rPr>
              <a:t>Proposal contents</a:t>
            </a:r>
          </a:p>
        </p:txBody>
      </p:sp>
      <p:sp>
        <p:nvSpPr>
          <p:cNvPr id="3" name="subtitle">
            <a:extLst>
              <a:ext uri="{FF2B5EF4-FFF2-40B4-BE49-F238E27FC236}">
                <a16:creationId xmlns:a16="http://schemas.microsoft.com/office/drawing/2014/main" id="{20732D7A-4A97-4FED-B6EB-7D3A6483529E}"/>
              </a:ext>
            </a:extLst>
          </p:cNvPr>
          <p:cNvSpPr>
            <a:spLocks noGrp="1"/>
          </p:cNvSpPr>
          <p:nvPr/>
        </p:nvSpPr>
        <p:spPr>
          <a:xfrm>
            <a:off x="609600" y="1581150"/>
            <a:ext cx="10972800" cy="419100"/>
          </a:xfrm>
          <a:prstGeom prst="rect">
            <a:avLst/>
          </a:prstGeom>
          <a:noFill/>
          <a:ln w="0">
            <a:noFill/>
          </a:ln>
        </p:spPr>
        <p:txBody>
          <a:bodyPr lIns="0" tIns="0" rIns="0" bIns="0">
            <a:noAutofit/>
          </a:bodyPr>
          <a:lstStyle>
            <a:defPPr>
              <a:defRPr sz="1800" b="0">
                <a:solidFill>
                  <a:srgbClr val="607482"/>
                </a:solidFill>
                <a:latin typeface="Helvetica Neue"/>
                <a:ea typeface="Helvetica Neue"/>
                <a:cs typeface="Helvetica Neue"/>
              </a:defRPr>
            </a:defPPr>
          </a:lstStyle>
          <a:p>
            <a:pPr>
              <a:defRPr sz="1800" b="0">
                <a:solidFill>
                  <a:srgbClr val="607482"/>
                </a:solidFill>
                <a:latin typeface="Helvetica Neue"/>
                <a:ea typeface="Helvetica Neue"/>
                <a:cs typeface="Helvetica Neue"/>
              </a:defRPr>
            </a:pPr>
            <a:r>
              <a:rPr sz="1800" b="0" dirty="0">
                <a:solidFill>
                  <a:srgbClr val="607482"/>
                </a:solidFill>
                <a:latin typeface="Helvetica Neue"/>
                <a:ea typeface="Helvetica Neue"/>
                <a:cs typeface="Helvetica Neue"/>
              </a:rPr>
              <a:t>Suggested allocation: </a:t>
            </a:r>
            <a:r>
              <a:rPr lang="en-GB" dirty="0">
                <a:solidFill>
                  <a:srgbClr val="607482"/>
                </a:solidFill>
                <a:latin typeface="Helvetica Neue"/>
                <a:ea typeface="Helvetica Neue"/>
                <a:cs typeface="Helvetica Neue"/>
              </a:rPr>
              <a:t>10–15 pages</a:t>
            </a:r>
            <a:r>
              <a:rPr sz="1800" b="0" dirty="0">
                <a:solidFill>
                  <a:srgbClr val="607482"/>
                </a:solidFill>
                <a:latin typeface="Helvetica Neue"/>
                <a:ea typeface="Helvetica Neue"/>
                <a:cs typeface="Helvetica Neue"/>
              </a:rPr>
              <a:t>.</a:t>
            </a:r>
          </a:p>
        </p:txBody>
      </p:sp>
      <p:sp>
        <p:nvSpPr>
          <p:cNvPr id="4" name="proposal-block">
            <a:extLst>
              <a:ext uri="{FF2B5EF4-FFF2-40B4-BE49-F238E27FC236}">
                <a16:creationId xmlns:a16="http://schemas.microsoft.com/office/drawing/2014/main" id="{150189F3-1F7A-4473-8F6B-38C4CD0B9A82}"/>
              </a:ext>
            </a:extLst>
          </p:cNvPr>
          <p:cNvSpPr>
            <a:spLocks noGrp="1"/>
          </p:cNvSpPr>
          <p:nvPr/>
        </p:nvSpPr>
        <p:spPr>
          <a:xfrm>
            <a:off x="609600" y="2209800"/>
            <a:ext cx="3505200" cy="3876675"/>
          </a:xfrm>
          <a:prstGeom prst="rect">
            <a:avLst/>
          </a:prstGeom>
          <a:solidFill>
            <a:srgbClr val="F1F6FB"/>
          </a:solidFill>
          <a:ln w="9525">
            <a:solidFill>
              <a:srgbClr val="DCE5EB"/>
            </a:solidFill>
          </a:ln>
        </p:spPr>
      </p:sp>
      <p:sp>
        <p:nvSpPr>
          <p:cNvPr id="5" name="proposal-heading">
            <a:extLst>
              <a:ext uri="{FF2B5EF4-FFF2-40B4-BE49-F238E27FC236}">
                <a16:creationId xmlns:a16="http://schemas.microsoft.com/office/drawing/2014/main" id="{D4C66B54-5617-4ABF-8FF3-7A327A433DA2}"/>
              </a:ext>
            </a:extLst>
          </p:cNvPr>
          <p:cNvSpPr>
            <a:spLocks noGrp="1"/>
          </p:cNvSpPr>
          <p:nvPr/>
        </p:nvSpPr>
        <p:spPr>
          <a:xfrm>
            <a:off x="800100" y="2400300"/>
            <a:ext cx="3124200" cy="381000"/>
          </a:xfrm>
          <a:prstGeom prst="rect">
            <a:avLst/>
          </a:prstGeom>
          <a:noFill/>
          <a:ln w="0">
            <a:noFill/>
          </a:ln>
        </p:spPr>
        <p:txBody>
          <a:bodyPr lIns="0" tIns="0" rIns="0" bIns="0">
            <a:noAutofit/>
          </a:bodyPr>
          <a:lstStyle>
            <a:defPPr>
              <a:defRPr sz="2100" b="1">
                <a:solidFill>
                  <a:srgbClr val="226FBB"/>
                </a:solidFill>
                <a:latin typeface="Helvetica Neue"/>
                <a:ea typeface="Helvetica Neue"/>
                <a:cs typeface="Helvetica Neue"/>
              </a:defRPr>
            </a:defPPr>
          </a:lstStyle>
          <a:p>
            <a:pPr>
              <a:defRPr sz="2100" b="1">
                <a:solidFill>
                  <a:srgbClr val="226FBB"/>
                </a:solidFill>
                <a:latin typeface="Helvetica Neue"/>
                <a:ea typeface="Helvetica Neue"/>
                <a:cs typeface="Helvetica Neue"/>
              </a:defRPr>
            </a:pPr>
            <a:r>
              <a:rPr sz="2100" b="1">
                <a:solidFill>
                  <a:srgbClr val="226FBB"/>
                </a:solidFill>
                <a:latin typeface="Helvetica Neue"/>
                <a:ea typeface="Helvetica Neue"/>
                <a:cs typeface="Helvetica Neue"/>
              </a:rPr>
              <a:t>Technology</a:t>
            </a:r>
          </a:p>
        </p:txBody>
      </p:sp>
      <p:sp>
        <p:nvSpPr>
          <p:cNvPr id="6" name="proposal-pages">
            <a:extLst>
              <a:ext uri="{FF2B5EF4-FFF2-40B4-BE49-F238E27FC236}">
                <a16:creationId xmlns:a16="http://schemas.microsoft.com/office/drawing/2014/main" id="{47213DE0-295C-4406-A83E-E86A15CD73C6}"/>
              </a:ext>
            </a:extLst>
          </p:cNvPr>
          <p:cNvSpPr>
            <a:spLocks noGrp="1"/>
          </p:cNvSpPr>
          <p:nvPr/>
        </p:nvSpPr>
        <p:spPr>
          <a:xfrm>
            <a:off x="800100" y="2857500"/>
            <a:ext cx="3124200" cy="304800"/>
          </a:xfrm>
          <a:prstGeom prst="rect">
            <a:avLst/>
          </a:prstGeom>
          <a:noFill/>
          <a:ln w="0">
            <a:noFill/>
          </a:ln>
        </p:spPr>
        <p:txBody>
          <a:bodyPr lIns="0" tIns="0" rIns="0" bIns="0">
            <a:noAutofit/>
          </a:bodyPr>
          <a:lstStyle>
            <a:defPPr>
              <a:defRPr sz="1575" b="1">
                <a:solidFill>
                  <a:srgbClr val="226FBB"/>
                </a:solidFill>
                <a:latin typeface="Helvetica Neue"/>
                <a:ea typeface="Helvetica Neue"/>
                <a:cs typeface="Helvetica Neue"/>
              </a:defRPr>
            </a:defPPr>
          </a:lstStyle>
          <a:p>
            <a:pPr>
              <a:defRPr sz="1575" b="1">
                <a:solidFill>
                  <a:srgbClr val="226FBB"/>
                </a:solidFill>
                <a:latin typeface="Helvetica Neue"/>
                <a:ea typeface="Helvetica Neue"/>
                <a:cs typeface="Helvetica Neue"/>
              </a:defRPr>
            </a:pPr>
            <a:r>
              <a:rPr sz="1575" b="1">
                <a:solidFill>
                  <a:srgbClr val="226FBB"/>
                </a:solidFill>
                <a:latin typeface="Helvetica Neue"/>
                <a:ea typeface="Helvetica Neue"/>
                <a:cs typeface="Helvetica Neue"/>
              </a:rPr>
              <a:t>5 pages</a:t>
            </a:r>
          </a:p>
        </p:txBody>
      </p:sp>
      <p:sp>
        <p:nvSpPr>
          <p:cNvPr id="7" name="proposal-topic">
            <a:extLst>
              <a:ext uri="{FF2B5EF4-FFF2-40B4-BE49-F238E27FC236}">
                <a16:creationId xmlns:a16="http://schemas.microsoft.com/office/drawing/2014/main" id="{8563C7BD-0512-4293-A434-C3006A3EB734}"/>
              </a:ext>
            </a:extLst>
          </p:cNvPr>
          <p:cNvSpPr>
            <a:spLocks noGrp="1"/>
          </p:cNvSpPr>
          <p:nvPr/>
        </p:nvSpPr>
        <p:spPr>
          <a:xfrm>
            <a:off x="800100" y="3333750"/>
            <a:ext cx="3124200" cy="495300"/>
          </a:xfrm>
          <a:prstGeom prst="rect">
            <a:avLst/>
          </a:prstGeom>
          <a:noFill/>
          <a:ln w="0">
            <a:noFill/>
          </a:ln>
        </p:spPr>
        <p:txBody>
          <a:bodyPr lIns="0" tIns="0" rIns="0" bIns="0">
            <a:noAutofit/>
          </a:bodyPr>
          <a:lstStyle>
            <a:defPPr>
              <a:defRPr sz="1725" b="0">
                <a:solidFill>
                  <a:srgbClr val="233A4B"/>
                </a:solidFill>
                <a:latin typeface="Helvetica Neue"/>
                <a:ea typeface="Helvetica Neue"/>
                <a:cs typeface="Helvetica Neue"/>
              </a:defRPr>
            </a:defPPr>
          </a:lstStyle>
          <a:p>
            <a:pPr>
              <a:defRPr sz="1725" b="0">
                <a:solidFill>
                  <a:srgbClr val="233A4B"/>
                </a:solidFill>
                <a:latin typeface="Helvetica Neue"/>
                <a:ea typeface="Helvetica Neue"/>
                <a:cs typeface="Helvetica Neue"/>
              </a:defRPr>
            </a:pPr>
            <a:r>
              <a:rPr sz="1725" b="0">
                <a:solidFill>
                  <a:srgbClr val="233A4B"/>
                </a:solidFill>
                <a:latin typeface="Helvetica Neue"/>
                <a:ea typeface="Helvetica Neue"/>
                <a:cs typeface="Helvetica Neue"/>
              </a:rPr>
              <a:t>Concept, problem and users</a:t>
            </a:r>
          </a:p>
        </p:txBody>
      </p:sp>
      <p:sp>
        <p:nvSpPr>
          <p:cNvPr id="8" name="proposal-topic">
            <a:extLst>
              <a:ext uri="{FF2B5EF4-FFF2-40B4-BE49-F238E27FC236}">
                <a16:creationId xmlns:a16="http://schemas.microsoft.com/office/drawing/2014/main" id="{8D574A65-D7B5-4E6D-A5D7-442C39B8A603}"/>
              </a:ext>
            </a:extLst>
          </p:cNvPr>
          <p:cNvSpPr>
            <a:spLocks noGrp="1"/>
          </p:cNvSpPr>
          <p:nvPr/>
        </p:nvSpPr>
        <p:spPr>
          <a:xfrm>
            <a:off x="800100" y="3857625"/>
            <a:ext cx="3124200" cy="495300"/>
          </a:xfrm>
          <a:prstGeom prst="rect">
            <a:avLst/>
          </a:prstGeom>
          <a:noFill/>
          <a:ln w="0">
            <a:noFill/>
          </a:ln>
        </p:spPr>
        <p:txBody>
          <a:bodyPr lIns="0" tIns="0" rIns="0" bIns="0">
            <a:noAutofit/>
          </a:bodyPr>
          <a:lstStyle>
            <a:defPPr>
              <a:defRPr sz="1725" b="0">
                <a:solidFill>
                  <a:srgbClr val="233A4B"/>
                </a:solidFill>
                <a:latin typeface="Helvetica Neue"/>
                <a:ea typeface="Helvetica Neue"/>
                <a:cs typeface="Helvetica Neue"/>
              </a:defRPr>
            </a:defPPr>
          </a:lstStyle>
          <a:p>
            <a:pPr>
              <a:defRPr sz="1725" b="0">
                <a:solidFill>
                  <a:srgbClr val="233A4B"/>
                </a:solidFill>
                <a:latin typeface="Helvetica Neue"/>
                <a:ea typeface="Helvetica Neue"/>
                <a:cs typeface="Helvetica Neue"/>
              </a:defRPr>
            </a:pPr>
            <a:r>
              <a:rPr sz="1725" b="0">
                <a:solidFill>
                  <a:srgbClr val="233A4B"/>
                </a:solidFill>
                <a:latin typeface="Helvetica Neue"/>
                <a:ea typeface="Helvetica Neue"/>
                <a:cs typeface="Helvetica Neue"/>
              </a:rPr>
              <a:t>Operating scenarios and scope</a:t>
            </a:r>
          </a:p>
        </p:txBody>
      </p:sp>
      <p:sp>
        <p:nvSpPr>
          <p:cNvPr id="9" name="proposal-topic">
            <a:extLst>
              <a:ext uri="{FF2B5EF4-FFF2-40B4-BE49-F238E27FC236}">
                <a16:creationId xmlns:a16="http://schemas.microsoft.com/office/drawing/2014/main" id="{96CD7138-E043-45F2-B7BA-06EC95E8D712}"/>
              </a:ext>
            </a:extLst>
          </p:cNvPr>
          <p:cNvSpPr>
            <a:spLocks noGrp="1"/>
          </p:cNvSpPr>
          <p:nvPr/>
        </p:nvSpPr>
        <p:spPr>
          <a:xfrm>
            <a:off x="800100" y="4381500"/>
            <a:ext cx="3124200" cy="495300"/>
          </a:xfrm>
          <a:prstGeom prst="rect">
            <a:avLst/>
          </a:prstGeom>
          <a:noFill/>
          <a:ln w="0">
            <a:noFill/>
          </a:ln>
        </p:spPr>
        <p:txBody>
          <a:bodyPr lIns="0" tIns="0" rIns="0" bIns="0">
            <a:noAutofit/>
          </a:bodyPr>
          <a:lstStyle>
            <a:defPPr>
              <a:defRPr sz="1725" b="0">
                <a:solidFill>
                  <a:srgbClr val="233A4B"/>
                </a:solidFill>
                <a:latin typeface="Helvetica Neue"/>
                <a:ea typeface="Helvetica Neue"/>
                <a:cs typeface="Helvetica Neue"/>
              </a:defRPr>
            </a:defPPr>
          </a:lstStyle>
          <a:p>
            <a:pPr>
              <a:defRPr sz="1725" b="0">
                <a:solidFill>
                  <a:srgbClr val="233A4B"/>
                </a:solidFill>
                <a:latin typeface="Helvetica Neue"/>
                <a:ea typeface="Helvetica Neue"/>
                <a:cs typeface="Helvetica Neue"/>
              </a:defRPr>
            </a:pPr>
            <a:r>
              <a:rPr sz="1725" b="0">
                <a:solidFill>
                  <a:srgbClr val="233A4B"/>
                </a:solidFill>
                <a:latin typeface="Helvetica Neue"/>
                <a:ea typeface="Helvetica Neue"/>
                <a:cs typeface="Helvetica Neue"/>
              </a:rPr>
              <a:t>Technical architecture</a:t>
            </a:r>
          </a:p>
        </p:txBody>
      </p:sp>
      <p:sp>
        <p:nvSpPr>
          <p:cNvPr id="10" name="proposal-topic">
            <a:extLst>
              <a:ext uri="{FF2B5EF4-FFF2-40B4-BE49-F238E27FC236}">
                <a16:creationId xmlns:a16="http://schemas.microsoft.com/office/drawing/2014/main" id="{0DB8BF76-33F1-4823-93CC-A7496A4F7CE0}"/>
              </a:ext>
            </a:extLst>
          </p:cNvPr>
          <p:cNvSpPr>
            <a:spLocks noGrp="1"/>
          </p:cNvSpPr>
          <p:nvPr/>
        </p:nvSpPr>
        <p:spPr>
          <a:xfrm>
            <a:off x="800100" y="4905375"/>
            <a:ext cx="3124200" cy="495300"/>
          </a:xfrm>
          <a:prstGeom prst="rect">
            <a:avLst/>
          </a:prstGeom>
          <a:noFill/>
          <a:ln w="0">
            <a:noFill/>
          </a:ln>
        </p:spPr>
        <p:txBody>
          <a:bodyPr lIns="0" tIns="0" rIns="0" bIns="0">
            <a:noAutofit/>
          </a:bodyPr>
          <a:lstStyle>
            <a:defPPr>
              <a:defRPr sz="1725" b="0">
                <a:solidFill>
                  <a:srgbClr val="233A4B"/>
                </a:solidFill>
                <a:latin typeface="Helvetica Neue"/>
                <a:ea typeface="Helvetica Neue"/>
                <a:cs typeface="Helvetica Neue"/>
              </a:defRPr>
            </a:defPPr>
          </a:lstStyle>
          <a:p>
            <a:pPr>
              <a:defRPr sz="1725" b="0">
                <a:solidFill>
                  <a:srgbClr val="233A4B"/>
                </a:solidFill>
                <a:latin typeface="Helvetica Neue"/>
                <a:ea typeface="Helvetica Neue"/>
                <a:cs typeface="Helvetica Neue"/>
              </a:defRPr>
            </a:pPr>
            <a:r>
              <a:rPr sz="1725" b="0">
                <a:solidFill>
                  <a:srgbClr val="233A4B"/>
                </a:solidFill>
                <a:latin typeface="Helvetica Neue"/>
                <a:ea typeface="Helvetica Neue"/>
                <a:cs typeface="Helvetica Neue"/>
              </a:rPr>
              <a:t>Feasibility, maturity and prior art</a:t>
            </a:r>
          </a:p>
        </p:txBody>
      </p:sp>
      <p:sp>
        <p:nvSpPr>
          <p:cNvPr id="11" name="proposal-topic">
            <a:extLst>
              <a:ext uri="{FF2B5EF4-FFF2-40B4-BE49-F238E27FC236}">
                <a16:creationId xmlns:a16="http://schemas.microsoft.com/office/drawing/2014/main" id="{0C9B1D68-A710-493F-BD90-C66C2B67256F}"/>
              </a:ext>
            </a:extLst>
          </p:cNvPr>
          <p:cNvSpPr>
            <a:spLocks noGrp="1"/>
          </p:cNvSpPr>
          <p:nvPr/>
        </p:nvSpPr>
        <p:spPr>
          <a:xfrm>
            <a:off x="800100" y="5572125"/>
            <a:ext cx="3124200" cy="495300"/>
          </a:xfrm>
          <a:prstGeom prst="rect">
            <a:avLst/>
          </a:prstGeom>
          <a:noFill/>
          <a:ln w="0">
            <a:noFill/>
          </a:ln>
        </p:spPr>
        <p:txBody>
          <a:bodyPr lIns="0" tIns="0" rIns="0" bIns="0">
            <a:noAutofit/>
          </a:bodyPr>
          <a:lstStyle>
            <a:defPPr>
              <a:defRPr sz="1725" b="0">
                <a:solidFill>
                  <a:srgbClr val="233A4B"/>
                </a:solidFill>
                <a:latin typeface="Helvetica Neue"/>
                <a:ea typeface="Helvetica Neue"/>
                <a:cs typeface="Helvetica Neue"/>
              </a:defRPr>
            </a:defPPr>
          </a:lstStyle>
          <a:p>
            <a:pPr>
              <a:defRPr sz="1725" b="0">
                <a:solidFill>
                  <a:srgbClr val="233A4B"/>
                </a:solidFill>
                <a:latin typeface="Helvetica Neue"/>
                <a:ea typeface="Helvetica Neue"/>
                <a:cs typeface="Helvetica Neue"/>
              </a:defRPr>
            </a:pPr>
            <a:r>
              <a:rPr sz="1725" b="0">
                <a:solidFill>
                  <a:srgbClr val="233A4B"/>
                </a:solidFill>
                <a:latin typeface="Helvetica Neue"/>
                <a:ea typeface="Helvetica Neue"/>
                <a:cs typeface="Helvetica Neue"/>
              </a:rPr>
              <a:t>Regulation and standards</a:t>
            </a:r>
          </a:p>
        </p:txBody>
      </p:sp>
      <p:sp>
        <p:nvSpPr>
          <p:cNvPr id="12" name="proposal-block">
            <a:extLst>
              <a:ext uri="{FF2B5EF4-FFF2-40B4-BE49-F238E27FC236}">
                <a16:creationId xmlns:a16="http://schemas.microsoft.com/office/drawing/2014/main" id="{05AD89F1-184C-4412-8568-90BCDA6D1143}"/>
              </a:ext>
            </a:extLst>
          </p:cNvPr>
          <p:cNvSpPr>
            <a:spLocks noGrp="1"/>
          </p:cNvSpPr>
          <p:nvPr/>
        </p:nvSpPr>
        <p:spPr>
          <a:xfrm>
            <a:off x="4343400" y="2209800"/>
            <a:ext cx="3505200" cy="3876675"/>
          </a:xfrm>
          <a:prstGeom prst="rect">
            <a:avLst/>
          </a:prstGeom>
          <a:solidFill>
            <a:srgbClr val="F0F8F7"/>
          </a:solidFill>
          <a:ln w="9525">
            <a:solidFill>
              <a:srgbClr val="DCE5EB"/>
            </a:solidFill>
          </a:ln>
        </p:spPr>
      </p:sp>
      <p:sp>
        <p:nvSpPr>
          <p:cNvPr id="13" name="proposal-heading">
            <a:extLst>
              <a:ext uri="{FF2B5EF4-FFF2-40B4-BE49-F238E27FC236}">
                <a16:creationId xmlns:a16="http://schemas.microsoft.com/office/drawing/2014/main" id="{4DEA42B6-3057-49FB-8F7D-F5C28BB55238}"/>
              </a:ext>
            </a:extLst>
          </p:cNvPr>
          <p:cNvSpPr>
            <a:spLocks noGrp="1"/>
          </p:cNvSpPr>
          <p:nvPr/>
        </p:nvSpPr>
        <p:spPr>
          <a:xfrm>
            <a:off x="4533900" y="2400300"/>
            <a:ext cx="3124200" cy="381000"/>
          </a:xfrm>
          <a:prstGeom prst="rect">
            <a:avLst/>
          </a:prstGeom>
          <a:noFill/>
          <a:ln w="0">
            <a:noFill/>
          </a:ln>
        </p:spPr>
        <p:txBody>
          <a:bodyPr lIns="0" tIns="0" rIns="0" bIns="0">
            <a:noAutofit/>
          </a:bodyPr>
          <a:lstStyle>
            <a:defPPr>
              <a:defRPr sz="2100" b="1">
                <a:solidFill>
                  <a:srgbClr val="087E83"/>
                </a:solidFill>
                <a:latin typeface="Helvetica Neue"/>
                <a:ea typeface="Helvetica Neue"/>
                <a:cs typeface="Helvetica Neue"/>
              </a:defRPr>
            </a:defPPr>
          </a:lstStyle>
          <a:p>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Business Model</a:t>
            </a:r>
          </a:p>
        </p:txBody>
      </p:sp>
      <p:sp>
        <p:nvSpPr>
          <p:cNvPr id="14" name="proposal-pages">
            <a:extLst>
              <a:ext uri="{FF2B5EF4-FFF2-40B4-BE49-F238E27FC236}">
                <a16:creationId xmlns:a16="http://schemas.microsoft.com/office/drawing/2014/main" id="{176E956F-A1C5-4E31-81E1-FB7A30CDBD27}"/>
              </a:ext>
            </a:extLst>
          </p:cNvPr>
          <p:cNvSpPr>
            <a:spLocks noGrp="1"/>
          </p:cNvSpPr>
          <p:nvPr/>
        </p:nvSpPr>
        <p:spPr>
          <a:xfrm>
            <a:off x="4533900" y="2857500"/>
            <a:ext cx="3124200" cy="304800"/>
          </a:xfrm>
          <a:prstGeom prst="rect">
            <a:avLst/>
          </a:prstGeom>
          <a:noFill/>
          <a:ln w="0">
            <a:noFill/>
          </a:ln>
        </p:spPr>
        <p:txBody>
          <a:bodyPr lIns="0" tIns="0" rIns="0" bIns="0">
            <a:noAutofit/>
          </a:bodyPr>
          <a:lstStyle>
            <a:defPPr>
              <a:defRPr sz="1575" b="1">
                <a:solidFill>
                  <a:srgbClr val="087E83"/>
                </a:solidFill>
                <a:latin typeface="Helvetica Neue"/>
                <a:ea typeface="Helvetica Neue"/>
                <a:cs typeface="Helvetica Neue"/>
              </a:defRPr>
            </a:defPPr>
          </a:lstStyle>
          <a:p>
            <a:pPr>
              <a:defRPr sz="1575" b="1">
                <a:solidFill>
                  <a:srgbClr val="087E83"/>
                </a:solidFill>
                <a:latin typeface="Helvetica Neue"/>
                <a:ea typeface="Helvetica Neue"/>
                <a:cs typeface="Helvetica Neue"/>
              </a:defRPr>
            </a:pPr>
            <a:r>
              <a:rPr sz="1575" b="1">
                <a:solidFill>
                  <a:srgbClr val="087E83"/>
                </a:solidFill>
                <a:latin typeface="Helvetica Neue"/>
                <a:ea typeface="Helvetica Neue"/>
                <a:cs typeface="Helvetica Neue"/>
              </a:rPr>
              <a:t>3 pages</a:t>
            </a:r>
          </a:p>
        </p:txBody>
      </p:sp>
      <p:sp>
        <p:nvSpPr>
          <p:cNvPr id="15" name="proposal-topic">
            <a:extLst>
              <a:ext uri="{FF2B5EF4-FFF2-40B4-BE49-F238E27FC236}">
                <a16:creationId xmlns:a16="http://schemas.microsoft.com/office/drawing/2014/main" id="{DA5F103A-5559-44F2-8E5C-6F2C8B850AC0}"/>
              </a:ext>
            </a:extLst>
          </p:cNvPr>
          <p:cNvSpPr>
            <a:spLocks noGrp="1"/>
          </p:cNvSpPr>
          <p:nvPr/>
        </p:nvSpPr>
        <p:spPr>
          <a:xfrm>
            <a:off x="4533900" y="3333750"/>
            <a:ext cx="3124200" cy="495300"/>
          </a:xfrm>
          <a:prstGeom prst="rect">
            <a:avLst/>
          </a:prstGeom>
          <a:noFill/>
          <a:ln w="0">
            <a:noFill/>
          </a:ln>
        </p:spPr>
        <p:txBody>
          <a:bodyPr lIns="0" tIns="0" rIns="0" bIns="0">
            <a:noAutofit/>
          </a:bodyPr>
          <a:lstStyle>
            <a:defPPr>
              <a:defRPr sz="1725" b="0">
                <a:solidFill>
                  <a:srgbClr val="233A4B"/>
                </a:solidFill>
                <a:latin typeface="Helvetica Neue"/>
                <a:ea typeface="Helvetica Neue"/>
                <a:cs typeface="Helvetica Neue"/>
              </a:defRPr>
            </a:defPPr>
          </a:lstStyle>
          <a:p>
            <a:pPr>
              <a:defRPr sz="1725" b="0">
                <a:solidFill>
                  <a:srgbClr val="233A4B"/>
                </a:solidFill>
                <a:latin typeface="Helvetica Neue"/>
                <a:ea typeface="Helvetica Neue"/>
                <a:cs typeface="Helvetica Neue"/>
              </a:defRPr>
            </a:pPr>
            <a:r>
              <a:rPr sz="1725" b="0">
                <a:solidFill>
                  <a:srgbClr val="233A4B"/>
                </a:solidFill>
                <a:latin typeface="Helvetica Neue"/>
                <a:ea typeface="Helvetica Neue"/>
                <a:cs typeface="Helvetica Neue"/>
              </a:rPr>
              <a:t>Market, customers and alternatives</a:t>
            </a:r>
          </a:p>
        </p:txBody>
      </p:sp>
      <p:sp>
        <p:nvSpPr>
          <p:cNvPr id="16" name="proposal-topic">
            <a:extLst>
              <a:ext uri="{FF2B5EF4-FFF2-40B4-BE49-F238E27FC236}">
                <a16:creationId xmlns:a16="http://schemas.microsoft.com/office/drawing/2014/main" id="{205FD5FC-83ED-4D96-A9C3-739A559A8187}"/>
              </a:ext>
            </a:extLst>
          </p:cNvPr>
          <p:cNvSpPr>
            <a:spLocks noGrp="1"/>
          </p:cNvSpPr>
          <p:nvPr/>
        </p:nvSpPr>
        <p:spPr>
          <a:xfrm>
            <a:off x="4533900" y="4191000"/>
            <a:ext cx="3124200" cy="495300"/>
          </a:xfrm>
          <a:prstGeom prst="rect">
            <a:avLst/>
          </a:prstGeom>
          <a:noFill/>
          <a:ln w="0">
            <a:noFill/>
          </a:ln>
        </p:spPr>
        <p:txBody>
          <a:bodyPr lIns="0" tIns="0" rIns="0" bIns="0">
            <a:noAutofit/>
          </a:bodyPr>
          <a:lstStyle>
            <a:defPPr>
              <a:defRPr sz="1725" b="0">
                <a:solidFill>
                  <a:srgbClr val="233A4B"/>
                </a:solidFill>
                <a:latin typeface="Helvetica Neue"/>
                <a:ea typeface="Helvetica Neue"/>
                <a:cs typeface="Helvetica Neue"/>
              </a:defRPr>
            </a:defPPr>
          </a:lstStyle>
          <a:p>
            <a:pPr>
              <a:defRPr sz="1725" b="0">
                <a:solidFill>
                  <a:srgbClr val="233A4B"/>
                </a:solidFill>
                <a:latin typeface="Helvetica Neue"/>
                <a:ea typeface="Helvetica Neue"/>
                <a:cs typeface="Helvetica Neue"/>
              </a:defRPr>
            </a:pPr>
            <a:r>
              <a:rPr sz="1725" b="0">
                <a:solidFill>
                  <a:srgbClr val="233A4B"/>
                </a:solidFill>
                <a:latin typeface="Helvetica Neue"/>
                <a:ea typeface="Helvetica Neue"/>
                <a:cs typeface="Helvetica Neue"/>
              </a:rPr>
              <a:t>Value proposition, offer and revenue</a:t>
            </a:r>
          </a:p>
        </p:txBody>
      </p:sp>
      <p:sp>
        <p:nvSpPr>
          <p:cNvPr id="17" name="proposal-topic">
            <a:extLst>
              <a:ext uri="{FF2B5EF4-FFF2-40B4-BE49-F238E27FC236}">
                <a16:creationId xmlns:a16="http://schemas.microsoft.com/office/drawing/2014/main" id="{A807EA48-7B5E-410A-9AF1-70BBA9C8A65C}"/>
              </a:ext>
            </a:extLst>
          </p:cNvPr>
          <p:cNvSpPr>
            <a:spLocks noGrp="1"/>
          </p:cNvSpPr>
          <p:nvPr/>
        </p:nvSpPr>
        <p:spPr>
          <a:xfrm>
            <a:off x="4533900" y="5048250"/>
            <a:ext cx="3124200" cy="495300"/>
          </a:xfrm>
          <a:prstGeom prst="rect">
            <a:avLst/>
          </a:prstGeom>
          <a:noFill/>
          <a:ln w="0">
            <a:noFill/>
          </a:ln>
        </p:spPr>
        <p:txBody>
          <a:bodyPr lIns="0" tIns="0" rIns="0" bIns="0">
            <a:noAutofit/>
          </a:bodyPr>
          <a:lstStyle>
            <a:defPPr>
              <a:defRPr sz="1725" b="0">
                <a:solidFill>
                  <a:srgbClr val="233A4B"/>
                </a:solidFill>
                <a:latin typeface="Helvetica Neue"/>
                <a:ea typeface="Helvetica Neue"/>
                <a:cs typeface="Helvetica Neue"/>
              </a:defRPr>
            </a:defPPr>
          </a:lstStyle>
          <a:p>
            <a:pPr>
              <a:defRPr sz="1725" b="0">
                <a:solidFill>
                  <a:srgbClr val="233A4B"/>
                </a:solidFill>
                <a:latin typeface="Helvetica Neue"/>
                <a:ea typeface="Helvetica Neue"/>
                <a:cs typeface="Helvetica Neue"/>
              </a:defRPr>
            </a:pPr>
            <a:r>
              <a:rPr sz="1725" b="0">
                <a:solidFill>
                  <a:srgbClr val="233A4B"/>
                </a:solidFill>
                <a:latin typeface="Helvetica Neue"/>
                <a:ea typeface="Helvetica Neue"/>
                <a:cs typeface="Helvetica Neue"/>
              </a:rPr>
              <a:t>Economics, costs and assumptions</a:t>
            </a:r>
          </a:p>
        </p:txBody>
      </p:sp>
      <p:sp>
        <p:nvSpPr>
          <p:cNvPr id="18" name="proposal-block">
            <a:extLst>
              <a:ext uri="{FF2B5EF4-FFF2-40B4-BE49-F238E27FC236}">
                <a16:creationId xmlns:a16="http://schemas.microsoft.com/office/drawing/2014/main" id="{2D013F53-8731-4D04-A0F3-F9F377776479}"/>
              </a:ext>
            </a:extLst>
          </p:cNvPr>
          <p:cNvSpPr>
            <a:spLocks noGrp="1"/>
          </p:cNvSpPr>
          <p:nvPr/>
        </p:nvSpPr>
        <p:spPr>
          <a:xfrm>
            <a:off x="8077200" y="2209800"/>
            <a:ext cx="3505200" cy="3876675"/>
          </a:xfrm>
          <a:prstGeom prst="rect">
            <a:avLst/>
          </a:prstGeom>
          <a:solidFill>
            <a:srgbClr val="F6F3FA"/>
          </a:solidFill>
          <a:ln w="9525">
            <a:solidFill>
              <a:srgbClr val="DCE5EB"/>
            </a:solidFill>
          </a:ln>
        </p:spPr>
      </p:sp>
      <p:sp>
        <p:nvSpPr>
          <p:cNvPr id="19" name="proposal-heading">
            <a:extLst>
              <a:ext uri="{FF2B5EF4-FFF2-40B4-BE49-F238E27FC236}">
                <a16:creationId xmlns:a16="http://schemas.microsoft.com/office/drawing/2014/main" id="{80EAA49D-4FD9-46E9-9DC6-6D8CAA610644}"/>
              </a:ext>
            </a:extLst>
          </p:cNvPr>
          <p:cNvSpPr>
            <a:spLocks noGrp="1"/>
          </p:cNvSpPr>
          <p:nvPr/>
        </p:nvSpPr>
        <p:spPr>
          <a:xfrm>
            <a:off x="8267700" y="2400300"/>
            <a:ext cx="3124200" cy="381000"/>
          </a:xfrm>
          <a:prstGeom prst="rect">
            <a:avLst/>
          </a:prstGeom>
          <a:noFill/>
          <a:ln w="0">
            <a:noFill/>
          </a:ln>
        </p:spPr>
        <p:txBody>
          <a:bodyPr lIns="0" tIns="0" rIns="0" bIns="0">
            <a:noAutofit/>
          </a:bodyPr>
          <a:lstStyle>
            <a:defPPr>
              <a:defRPr sz="2100" b="1">
                <a:solidFill>
                  <a:srgbClr val="7455B4"/>
                </a:solidFill>
                <a:latin typeface="Helvetica Neue"/>
                <a:ea typeface="Helvetica Neue"/>
                <a:cs typeface="Helvetica Neue"/>
              </a:defRPr>
            </a:defPPr>
          </a:lstStyle>
          <a:p>
            <a:pPr>
              <a:defRPr sz="2100" b="1">
                <a:solidFill>
                  <a:srgbClr val="7455B4"/>
                </a:solidFill>
                <a:latin typeface="Helvetica Neue"/>
                <a:ea typeface="Helvetica Neue"/>
                <a:cs typeface="Helvetica Neue"/>
              </a:defRPr>
            </a:pPr>
            <a:r>
              <a:rPr sz="2100" b="1">
                <a:solidFill>
                  <a:srgbClr val="7455B4"/>
                </a:solidFill>
                <a:latin typeface="Helvetica Neue"/>
                <a:ea typeface="Helvetica Neue"/>
                <a:cs typeface="Helvetica Neue"/>
              </a:rPr>
              <a:t>Implementation Plan</a:t>
            </a:r>
          </a:p>
        </p:txBody>
      </p:sp>
      <p:sp>
        <p:nvSpPr>
          <p:cNvPr id="20" name="proposal-pages">
            <a:extLst>
              <a:ext uri="{FF2B5EF4-FFF2-40B4-BE49-F238E27FC236}">
                <a16:creationId xmlns:a16="http://schemas.microsoft.com/office/drawing/2014/main" id="{8A25BFDC-397D-4F8B-BC41-EBD79D8B4C1F}"/>
              </a:ext>
            </a:extLst>
          </p:cNvPr>
          <p:cNvSpPr>
            <a:spLocks noGrp="1"/>
          </p:cNvSpPr>
          <p:nvPr/>
        </p:nvSpPr>
        <p:spPr>
          <a:xfrm>
            <a:off x="8267700" y="2857500"/>
            <a:ext cx="3124200" cy="304800"/>
          </a:xfrm>
          <a:prstGeom prst="rect">
            <a:avLst/>
          </a:prstGeom>
          <a:noFill/>
          <a:ln w="0">
            <a:noFill/>
          </a:ln>
        </p:spPr>
        <p:txBody>
          <a:bodyPr lIns="0" tIns="0" rIns="0" bIns="0">
            <a:noAutofit/>
          </a:bodyPr>
          <a:lstStyle>
            <a:defPPr>
              <a:defRPr sz="1575" b="1">
                <a:solidFill>
                  <a:srgbClr val="7455B4"/>
                </a:solidFill>
                <a:latin typeface="Helvetica Neue"/>
                <a:ea typeface="Helvetica Neue"/>
                <a:cs typeface="Helvetica Neue"/>
              </a:defRPr>
            </a:defPPr>
          </a:lstStyle>
          <a:p>
            <a:pPr>
              <a:defRPr sz="1575" b="1">
                <a:solidFill>
                  <a:srgbClr val="7455B4"/>
                </a:solidFill>
                <a:latin typeface="Helvetica Neue"/>
                <a:ea typeface="Helvetica Neue"/>
                <a:cs typeface="Helvetica Neue"/>
              </a:defRPr>
            </a:pPr>
            <a:r>
              <a:rPr sz="1575" b="1">
                <a:solidFill>
                  <a:srgbClr val="7455B4"/>
                </a:solidFill>
                <a:latin typeface="Helvetica Neue"/>
                <a:ea typeface="Helvetica Neue"/>
                <a:cs typeface="Helvetica Neue"/>
              </a:rPr>
              <a:t>4 pages</a:t>
            </a:r>
          </a:p>
        </p:txBody>
      </p:sp>
      <p:sp>
        <p:nvSpPr>
          <p:cNvPr id="21" name="proposal-topic">
            <a:extLst>
              <a:ext uri="{FF2B5EF4-FFF2-40B4-BE49-F238E27FC236}">
                <a16:creationId xmlns:a16="http://schemas.microsoft.com/office/drawing/2014/main" id="{BFDACA58-19C7-4085-9791-5D5109B7227C}"/>
              </a:ext>
            </a:extLst>
          </p:cNvPr>
          <p:cNvSpPr>
            <a:spLocks noGrp="1"/>
          </p:cNvSpPr>
          <p:nvPr/>
        </p:nvSpPr>
        <p:spPr>
          <a:xfrm>
            <a:off x="8267700" y="3333750"/>
            <a:ext cx="3124200" cy="495300"/>
          </a:xfrm>
          <a:prstGeom prst="rect">
            <a:avLst/>
          </a:prstGeom>
          <a:noFill/>
          <a:ln w="0">
            <a:noFill/>
          </a:ln>
        </p:spPr>
        <p:txBody>
          <a:bodyPr lIns="0" tIns="0" rIns="0" bIns="0">
            <a:noAutofit/>
          </a:bodyPr>
          <a:lstStyle>
            <a:defPPr>
              <a:defRPr sz="1725" b="0">
                <a:solidFill>
                  <a:srgbClr val="233A4B"/>
                </a:solidFill>
                <a:latin typeface="Helvetica Neue"/>
                <a:ea typeface="Helvetica Neue"/>
                <a:cs typeface="Helvetica Neue"/>
              </a:defRPr>
            </a:defPPr>
          </a:lstStyle>
          <a:p>
            <a:pPr>
              <a:defRPr sz="1725" b="0">
                <a:solidFill>
                  <a:srgbClr val="233A4B"/>
                </a:solidFill>
                <a:latin typeface="Helvetica Neue"/>
                <a:ea typeface="Helvetica Neue"/>
                <a:cs typeface="Helvetica Neue"/>
              </a:defRPr>
            </a:pPr>
            <a:r>
              <a:rPr sz="1725" b="0">
                <a:solidFill>
                  <a:srgbClr val="233A4B"/>
                </a:solidFill>
                <a:latin typeface="Helvetica Neue"/>
                <a:ea typeface="Helvetica Neue"/>
                <a:cs typeface="Helvetica Neue"/>
              </a:rPr>
              <a:t>R&amp;D work, milestones and validation</a:t>
            </a:r>
          </a:p>
        </p:txBody>
      </p:sp>
      <p:sp>
        <p:nvSpPr>
          <p:cNvPr id="22" name="proposal-topic">
            <a:extLst>
              <a:ext uri="{FF2B5EF4-FFF2-40B4-BE49-F238E27FC236}">
                <a16:creationId xmlns:a16="http://schemas.microsoft.com/office/drawing/2014/main" id="{D231B616-DA59-4C85-9F0C-7AF8675D9007}"/>
              </a:ext>
            </a:extLst>
          </p:cNvPr>
          <p:cNvSpPr>
            <a:spLocks noGrp="1"/>
          </p:cNvSpPr>
          <p:nvPr/>
        </p:nvSpPr>
        <p:spPr>
          <a:xfrm>
            <a:off x="8267700" y="4019550"/>
            <a:ext cx="3124200" cy="495300"/>
          </a:xfrm>
          <a:prstGeom prst="rect">
            <a:avLst/>
          </a:prstGeom>
          <a:noFill/>
          <a:ln w="0">
            <a:noFill/>
          </a:ln>
        </p:spPr>
        <p:txBody>
          <a:bodyPr lIns="0" tIns="0" rIns="0" bIns="0">
            <a:noAutofit/>
          </a:bodyPr>
          <a:lstStyle>
            <a:defPPr>
              <a:defRPr sz="1725" b="0">
                <a:solidFill>
                  <a:srgbClr val="233A4B"/>
                </a:solidFill>
                <a:latin typeface="Helvetica Neue"/>
                <a:ea typeface="Helvetica Neue"/>
                <a:cs typeface="Helvetica Neue"/>
              </a:defRPr>
            </a:defPPr>
          </a:lstStyle>
          <a:p>
            <a:pPr>
              <a:defRPr sz="1725" b="0">
                <a:solidFill>
                  <a:srgbClr val="233A4B"/>
                </a:solidFill>
                <a:latin typeface="Helvetica Neue"/>
                <a:ea typeface="Helvetica Neue"/>
                <a:cs typeface="Helvetica Neue"/>
              </a:defRPr>
            </a:pPr>
            <a:r>
              <a:rPr sz="1725" b="0">
                <a:solidFill>
                  <a:srgbClr val="233A4B"/>
                </a:solidFill>
                <a:latin typeface="Helvetica Neue"/>
                <a:ea typeface="Helvetica Neue"/>
                <a:cs typeface="Helvetica Neue"/>
              </a:rPr>
              <a:t>Resources, budget and use of funds</a:t>
            </a:r>
          </a:p>
        </p:txBody>
      </p:sp>
      <p:sp>
        <p:nvSpPr>
          <p:cNvPr id="23" name="proposal-topic">
            <a:extLst>
              <a:ext uri="{FF2B5EF4-FFF2-40B4-BE49-F238E27FC236}">
                <a16:creationId xmlns:a16="http://schemas.microsoft.com/office/drawing/2014/main" id="{B465AD19-3557-4A10-A1D8-27C8D5A21AF0}"/>
              </a:ext>
            </a:extLst>
          </p:cNvPr>
          <p:cNvSpPr>
            <a:spLocks noGrp="1"/>
          </p:cNvSpPr>
          <p:nvPr/>
        </p:nvSpPr>
        <p:spPr>
          <a:xfrm>
            <a:off x="8267700" y="4705350"/>
            <a:ext cx="3124200" cy="495300"/>
          </a:xfrm>
          <a:prstGeom prst="rect">
            <a:avLst/>
          </a:prstGeom>
          <a:noFill/>
          <a:ln w="0">
            <a:noFill/>
          </a:ln>
        </p:spPr>
        <p:txBody>
          <a:bodyPr lIns="0" tIns="0" rIns="0" bIns="0">
            <a:noAutofit/>
          </a:bodyPr>
          <a:lstStyle>
            <a:defPPr>
              <a:defRPr sz="1725" b="0">
                <a:solidFill>
                  <a:srgbClr val="233A4B"/>
                </a:solidFill>
                <a:latin typeface="Helvetica Neue"/>
                <a:ea typeface="Helvetica Neue"/>
                <a:cs typeface="Helvetica Neue"/>
              </a:defRPr>
            </a:defPPr>
          </a:lstStyle>
          <a:p>
            <a:pPr>
              <a:defRPr sz="1725" b="0">
                <a:solidFill>
                  <a:srgbClr val="233A4B"/>
                </a:solidFill>
                <a:latin typeface="Helvetica Neue"/>
                <a:ea typeface="Helvetica Neue"/>
                <a:cs typeface="Helvetica Neue"/>
              </a:defRPr>
            </a:pPr>
            <a:r>
              <a:rPr sz="1725" b="0">
                <a:solidFill>
                  <a:srgbClr val="233A4B"/>
                </a:solidFill>
                <a:latin typeface="Helvetica Neue"/>
                <a:ea typeface="Helvetica Neue"/>
                <a:cs typeface="Helvetica Neue"/>
              </a:rPr>
              <a:t>Team, partners and delivery risks</a:t>
            </a:r>
          </a:p>
        </p:txBody>
      </p:sp>
      <p:sp>
        <p:nvSpPr>
          <p:cNvPr id="24" name="proposal-topic">
            <a:extLst>
              <a:ext uri="{FF2B5EF4-FFF2-40B4-BE49-F238E27FC236}">
                <a16:creationId xmlns:a16="http://schemas.microsoft.com/office/drawing/2014/main" id="{0033CB6C-02D9-430B-8BAD-DDBA913F4630}"/>
              </a:ext>
            </a:extLst>
          </p:cNvPr>
          <p:cNvSpPr>
            <a:spLocks noGrp="1"/>
          </p:cNvSpPr>
          <p:nvPr/>
        </p:nvSpPr>
        <p:spPr>
          <a:xfrm>
            <a:off x="8267700" y="5391150"/>
            <a:ext cx="3124200" cy="495300"/>
          </a:xfrm>
          <a:prstGeom prst="rect">
            <a:avLst/>
          </a:prstGeom>
          <a:noFill/>
          <a:ln w="0">
            <a:noFill/>
          </a:ln>
        </p:spPr>
        <p:txBody>
          <a:bodyPr lIns="0" tIns="0" rIns="0" bIns="0">
            <a:noAutofit/>
          </a:bodyPr>
          <a:lstStyle>
            <a:defPPr>
              <a:defRPr sz="1725" b="0">
                <a:solidFill>
                  <a:srgbClr val="233A4B"/>
                </a:solidFill>
                <a:latin typeface="Helvetica Neue"/>
                <a:ea typeface="Helvetica Neue"/>
                <a:cs typeface="Helvetica Neue"/>
              </a:defRPr>
            </a:defPPr>
          </a:lstStyle>
          <a:p>
            <a:pPr>
              <a:defRPr sz="1725" b="0">
                <a:solidFill>
                  <a:srgbClr val="233A4B"/>
                </a:solidFill>
                <a:latin typeface="Helvetica Neue"/>
                <a:ea typeface="Helvetica Neue"/>
                <a:cs typeface="Helvetica Neue"/>
              </a:defRPr>
            </a:pPr>
            <a:r>
              <a:rPr sz="1725" b="0">
                <a:solidFill>
                  <a:srgbClr val="233A4B"/>
                </a:solidFill>
                <a:latin typeface="Helvetica Neue"/>
                <a:ea typeface="Helvetica Neue"/>
                <a:cs typeface="Helvetica Neue"/>
              </a:rPr>
              <a:t>Next steps, feedback and references</a:t>
            </a:r>
          </a:p>
        </p:txBody>
      </p:sp>
      <p:sp>
        <p:nvSpPr>
          <p:cNvPr id="25" name="page-number">
            <a:extLst>
              <a:ext uri="{FF2B5EF4-FFF2-40B4-BE49-F238E27FC236}">
                <a16:creationId xmlns:a16="http://schemas.microsoft.com/office/drawing/2014/main" id="{03B3016A-CB94-4230-A94C-8E5E9C10DA21}"/>
              </a:ext>
            </a:extLst>
          </p:cNvPr>
          <p:cNvSpPr>
            <a:spLocks noGrp="1"/>
          </p:cNvSpPr>
          <p:nvPr/>
        </p:nvSpPr>
        <p:spPr>
          <a:xfrm>
            <a:off x="10953750" y="6438900"/>
            <a:ext cx="619125" cy="238125"/>
          </a:xfrm>
          <a:prstGeom prst="rect">
            <a:avLst/>
          </a:prstGeom>
          <a:noFill/>
          <a:ln w="0">
            <a:noFill/>
          </a:ln>
        </p:spPr>
        <p:txBody>
          <a:bodyPr lIns="0" tIns="0" rIns="0" bIns="0">
            <a:noAutofit/>
          </a:bodyPr>
          <a:lstStyle>
            <a:defPPr>
              <a:defRPr sz="1125" b="0">
                <a:solidFill>
                  <a:srgbClr val="607482"/>
                </a:solidFill>
                <a:latin typeface="Helvetica Neue"/>
                <a:ea typeface="Helvetica Neue"/>
                <a:cs typeface="Helvetica Neue"/>
              </a:defRPr>
            </a:defPPr>
          </a:lstStyle>
          <a:p>
            <a:pPr>
              <a:defRPr sz="1125" b="0">
                <a:solidFill>
                  <a:srgbClr val="607482"/>
                </a:solidFill>
                <a:latin typeface="Helvetica Neue"/>
                <a:ea typeface="Helvetica Neue"/>
                <a:cs typeface="Helvetica Neue"/>
              </a:defRPr>
            </a:pPr>
            <a:r>
              <a:rPr sz="1125" b="0">
                <a:solidFill>
                  <a:srgbClr val="607482"/>
                </a:solidFill>
                <a:latin typeface="Helvetica Neue"/>
                <a:ea typeface="Helvetica Neue"/>
                <a:cs typeface="Helvetica Neue"/>
              </a:rPr>
              <a:t>25</a:t>
            </a:r>
          </a:p>
        </p:txBody>
      </p:sp>
    </p:spTree>
    <p:extLst>
      <p:ext uri="{BB962C8B-B14F-4D97-AF65-F5344CB8AC3E}">
        <p14:creationId xmlns:p14="http://schemas.microsoft.com/office/powerpoint/2010/main" val="226266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0DD41634-D241-4AEF-805E-9BBEFE37C89A}"/>
              </a:ext>
            </a:extLst>
          </p:cNvPr>
          <p:cNvCxnSpPr>
            <a:stCxn id="8" idx="3"/>
            <a:endCxn id="11" idx="1"/>
          </p:cNvCxnSpPr>
          <p:nvPr/>
        </p:nvCxnSpPr>
        <p:spPr>
          <a:xfrm>
            <a:off x="7829550" y="5019675"/>
            <a:ext cx="285750" cy="0"/>
          </a:xfrm>
          <a:prstGeom prst="straightConnector1">
            <a:avLst/>
          </a:prstGeom>
          <a:ln w="19050">
            <a:solidFill>
              <a:srgbClr val="226FBB"/>
            </a:solidFill>
            <a:prstDash val="solid"/>
            <a:tailEnd type="triangle" w="sm" len="sm"/>
          </a:ln>
        </p:spPr>
      </p:cxnSp>
      <p:cxnSp>
        <p:nvCxnSpPr>
          <p:cNvPr id="10" name="Straight Arrow Connector 9">
            <a:extLst>
              <a:ext uri="{FF2B5EF4-FFF2-40B4-BE49-F238E27FC236}">
                <a16:creationId xmlns:a16="http://schemas.microsoft.com/office/drawing/2014/main" id="{0E8773F4-C5B4-462A-9AA4-F07C5326CA70}"/>
              </a:ext>
            </a:extLst>
          </p:cNvPr>
          <p:cNvCxnSpPr>
            <a:stCxn id="6" idx="3"/>
            <a:endCxn id="8" idx="1"/>
          </p:cNvCxnSpPr>
          <p:nvPr/>
        </p:nvCxnSpPr>
        <p:spPr>
          <a:xfrm>
            <a:off x="4076700" y="5019675"/>
            <a:ext cx="285750" cy="0"/>
          </a:xfrm>
          <a:prstGeom prst="straightConnector1">
            <a:avLst/>
          </a:prstGeom>
          <a:ln w="19050">
            <a:solidFill>
              <a:srgbClr val="226FBB"/>
            </a:solidFill>
            <a:prstDash val="solid"/>
            <a:tailEnd type="triangle" w="sm" len="sm"/>
          </a:ln>
        </p:spPr>
      </p:cxnSp>
      <p:sp>
        <p:nvSpPr>
          <p:cNvPr id="15" name="section-label">
            <a:extLst>
              <a:ext uri="{FF2B5EF4-FFF2-40B4-BE49-F238E27FC236}">
                <a16:creationId xmlns:a16="http://schemas.microsoft.com/office/drawing/2014/main" id="{68EE73CB-0C3D-4252-B3FF-E5A46D801753}"/>
              </a:ext>
            </a:extLst>
          </p:cNvPr>
          <p:cNvSpPr>
            <a:spLocks noGrp="1"/>
          </p:cNvSpPr>
          <p:nvPr/>
        </p:nvSpPr>
        <p:spPr>
          <a:xfrm>
            <a:off x="609600" y="285750"/>
            <a:ext cx="10668000" cy="285750"/>
          </a:xfrm>
          <a:prstGeom prst="rect">
            <a:avLst/>
          </a:prstGeom>
          <a:noFill/>
          <a:ln w="0">
            <a:noFill/>
          </a:ln>
        </p:spPr>
        <p:txBody>
          <a:bodyPr lIns="0" tIns="0" rIns="0" bIns="0">
            <a:noAutofit/>
          </a:bodyPr>
          <a:lstStyle>
            <a:defPPr algn="l">
              <a:defRPr sz="1200" b="1">
                <a:solidFill>
                  <a:srgbClr val="226FBB"/>
                </a:solidFill>
                <a:latin typeface="Helvetica Neue"/>
                <a:ea typeface="Helvetica Neue"/>
                <a:cs typeface="Helvetica Neue"/>
              </a:defRPr>
            </a:defPPr>
          </a:lstStyle>
          <a:p>
            <a:pPr algn="l">
              <a:buNone/>
              <a:defRPr sz="1200" b="1">
                <a:solidFill>
                  <a:srgbClr val="226FBB"/>
                </a:solidFill>
                <a:latin typeface="Helvetica Neue"/>
                <a:ea typeface="Helvetica Neue"/>
                <a:cs typeface="Helvetica Neue"/>
              </a:defRPr>
            </a:pPr>
            <a:r>
              <a:rPr sz="1200" b="1">
                <a:solidFill>
                  <a:srgbClr val="226FBB"/>
                </a:solidFill>
                <a:latin typeface="Helvetica Neue"/>
                <a:ea typeface="Helvetica Neue"/>
                <a:cs typeface="Helvetica Neue"/>
              </a:rPr>
              <a:t>EXPERT FEEDBACK</a:t>
            </a:r>
          </a:p>
        </p:txBody>
      </p:sp>
      <p:sp>
        <p:nvSpPr>
          <p:cNvPr id="2" name="slide-title">
            <a:extLst>
              <a:ext uri="{FF2B5EF4-FFF2-40B4-BE49-F238E27FC236}">
                <a16:creationId xmlns:a16="http://schemas.microsoft.com/office/drawing/2014/main" id="{864AC7BF-7612-4530-8A21-9D9AAC42165C}"/>
              </a:ext>
            </a:extLst>
          </p:cNvPr>
          <p:cNvSpPr>
            <a:spLocks noGrp="1"/>
          </p:cNvSpPr>
          <p:nvPr/>
        </p:nvSpPr>
        <p:spPr>
          <a:xfrm>
            <a:off x="609600" y="781050"/>
            <a:ext cx="10858500" cy="857250"/>
          </a:xfrm>
          <a:prstGeom prst="rect">
            <a:avLst/>
          </a:prstGeom>
          <a:noFill/>
          <a:ln w="0">
            <a:noFill/>
          </a:ln>
        </p:spPr>
        <p:txBody>
          <a:bodyPr lIns="0" tIns="0" rIns="0" bIns="0">
            <a:noAutofit/>
          </a:bodyPr>
          <a:lstStyle>
            <a:defPPr algn="l">
              <a:defRPr sz="3450" b="1">
                <a:solidFill>
                  <a:srgbClr val="102B46"/>
                </a:solidFill>
                <a:latin typeface="Helvetica Neue"/>
                <a:ea typeface="Helvetica Neue"/>
                <a:cs typeface="Helvetica Neue"/>
              </a:defRPr>
            </a:defPPr>
          </a:lstStyle>
          <a:p>
            <a:pPr algn="l">
              <a:buNone/>
              <a:defRPr sz="3450" b="1">
                <a:solidFill>
                  <a:srgbClr val="102B46"/>
                </a:solidFill>
                <a:latin typeface="Helvetica Neue"/>
                <a:ea typeface="Helvetica Neue"/>
                <a:cs typeface="Helvetica Neue"/>
              </a:defRPr>
            </a:pPr>
            <a:r>
              <a:rPr sz="3450" b="1">
                <a:solidFill>
                  <a:srgbClr val="102B46"/>
                </a:solidFill>
                <a:latin typeface="Helvetica Neue"/>
                <a:ea typeface="Helvetica Neue"/>
                <a:cs typeface="Helvetica Neue"/>
              </a:rPr>
              <a:t>Expert feedback and revision</a:t>
            </a:r>
          </a:p>
        </p:txBody>
      </p:sp>
      <p:sp>
        <p:nvSpPr>
          <p:cNvPr id="3" name="subtitle">
            <a:extLst>
              <a:ext uri="{FF2B5EF4-FFF2-40B4-BE49-F238E27FC236}">
                <a16:creationId xmlns:a16="http://schemas.microsoft.com/office/drawing/2014/main" id="{B5A5D8AE-561E-4BD6-8D6C-ACD3A9E2A175}"/>
              </a:ext>
            </a:extLst>
          </p:cNvPr>
          <p:cNvSpPr>
            <a:spLocks noGrp="1"/>
          </p:cNvSpPr>
          <p:nvPr/>
        </p:nvSpPr>
        <p:spPr>
          <a:xfrm>
            <a:off x="609600" y="1524000"/>
            <a:ext cx="10858500" cy="428625"/>
          </a:xfrm>
          <a:prstGeom prst="rect">
            <a:avLst/>
          </a:prstGeom>
          <a:noFill/>
          <a:ln w="0">
            <a:noFill/>
          </a:ln>
        </p:spPr>
        <p:txBody>
          <a:bodyPr lIns="0" tIns="0" rIns="0" bIns="0">
            <a:noAutofit/>
          </a:bodyPr>
          <a:lstStyle>
            <a:defPPr algn="l">
              <a:defRPr sz="1800" b="0">
                <a:solidFill>
                  <a:srgbClr val="607482"/>
                </a:solidFill>
                <a:latin typeface="Helvetica Neue"/>
                <a:ea typeface="Helvetica Neue"/>
                <a:cs typeface="Helvetica Neue"/>
              </a:defRPr>
            </a:defPPr>
          </a:lstStyle>
          <a:p>
            <a:pPr algn="l">
              <a:buNone/>
              <a:defRPr sz="1800" b="0">
                <a:solidFill>
                  <a:srgbClr val="607482"/>
                </a:solidFill>
                <a:latin typeface="Helvetica Neue"/>
                <a:ea typeface="Helvetica Neue"/>
                <a:cs typeface="Helvetica Neue"/>
              </a:defRPr>
            </a:pPr>
            <a:r>
              <a:rPr sz="1800" b="0">
                <a:solidFill>
                  <a:srgbClr val="607482"/>
                </a:solidFill>
                <a:latin typeface="Helvetica Neue"/>
                <a:ea typeface="Helvetica Neue"/>
                <a:cs typeface="Helvetica Neue"/>
              </a:rPr>
              <a:t>Use the checkpoint questions after each working session</a:t>
            </a:r>
          </a:p>
        </p:txBody>
      </p:sp>
      <p:sp>
        <p:nvSpPr>
          <p:cNvPr id="4" name="page-number">
            <a:extLst>
              <a:ext uri="{FF2B5EF4-FFF2-40B4-BE49-F238E27FC236}">
                <a16:creationId xmlns:a16="http://schemas.microsoft.com/office/drawing/2014/main" id="{942BB254-D420-4823-AC11-C940B5A80F6B}"/>
              </a:ext>
            </a:extLst>
          </p:cNvPr>
          <p:cNvSpPr>
            <a:spLocks noGrp="1"/>
          </p:cNvSpPr>
          <p:nvPr/>
        </p:nvSpPr>
        <p:spPr>
          <a:xfrm>
            <a:off x="10953750" y="6438900"/>
            <a:ext cx="666750" cy="228600"/>
          </a:xfrm>
          <a:prstGeom prst="rect">
            <a:avLst/>
          </a:prstGeom>
          <a:noFill/>
          <a:ln w="0">
            <a:noFill/>
          </a:ln>
        </p:spPr>
        <p:txBody>
          <a:bodyPr lIns="0" tIns="0" rIns="0" bIns="0">
            <a:noAutofit/>
          </a:bodyPr>
          <a:lstStyle>
            <a:defPPr algn="r">
              <a:defRPr sz="1125" b="0">
                <a:solidFill>
                  <a:srgbClr val="607482"/>
                </a:solidFill>
                <a:latin typeface="Helvetica Neue"/>
                <a:ea typeface="Helvetica Neue"/>
                <a:cs typeface="Helvetica Neue"/>
              </a:defRPr>
            </a:defPPr>
          </a:lstStyle>
          <a:p>
            <a:pPr algn="r">
              <a:buNone/>
              <a:defRPr sz="1125" b="0">
                <a:solidFill>
                  <a:srgbClr val="607482"/>
                </a:solidFill>
                <a:latin typeface="Helvetica Neue"/>
                <a:ea typeface="Helvetica Neue"/>
                <a:cs typeface="Helvetica Neue"/>
              </a:defRPr>
            </a:pPr>
            <a:r>
              <a:rPr sz="1125" b="0">
                <a:solidFill>
                  <a:srgbClr val="607482"/>
                </a:solidFill>
                <a:latin typeface="Helvetica Neue"/>
                <a:ea typeface="Helvetica Neue"/>
                <a:cs typeface="Helvetica Neue"/>
              </a:rPr>
              <a:t>26</a:t>
            </a:r>
          </a:p>
        </p:txBody>
      </p:sp>
      <p:sp>
        <p:nvSpPr>
          <p:cNvPr id="5" name="action-list">
            <a:extLst>
              <a:ext uri="{FF2B5EF4-FFF2-40B4-BE49-F238E27FC236}">
                <a16:creationId xmlns:a16="http://schemas.microsoft.com/office/drawing/2014/main" id="{F6A2EB87-F7A4-4A51-BA12-1FE8770B1549}"/>
              </a:ext>
            </a:extLst>
          </p:cNvPr>
          <p:cNvSpPr>
            <a:spLocks noGrp="1"/>
          </p:cNvSpPr>
          <p:nvPr/>
        </p:nvSpPr>
        <p:spPr>
          <a:xfrm>
            <a:off x="609600" y="2143125"/>
            <a:ext cx="10972800" cy="1952625"/>
          </a:xfrm>
          <a:prstGeom prst="rect">
            <a:avLst/>
          </a:prstGeom>
          <a:noFill/>
          <a:ln w="0">
            <a:noFill/>
          </a:ln>
        </p:spPr>
        <p:txBody>
          <a:bodyPr lIns="0" tIns="0" rIns="0" bIns="0">
            <a:noAutofit/>
          </a:bodyPr>
          <a:lstStyle>
            <a:defPPr algn="l">
              <a:defRPr sz="2250" b="0">
                <a:solidFill>
                  <a:srgbClr val="233A4B"/>
                </a:solidFill>
                <a:latin typeface="Helvetica Neue"/>
                <a:ea typeface="Helvetica Neue"/>
                <a:cs typeface="Helvetica Neue"/>
              </a:defRPr>
            </a:defPPr>
          </a:lstStyle>
          <a:p>
            <a:pPr marL="228600" indent="-114300" algn="l">
              <a:spcAft>
                <a:spcPts val="1600"/>
              </a:spcAft>
              <a:buChar char="•"/>
              <a:defRPr sz="2250" b="0">
                <a:solidFill>
                  <a:srgbClr val="233A4B"/>
                </a:solidFill>
                <a:latin typeface="Helvetica Neue"/>
                <a:ea typeface="Helvetica Neue"/>
                <a:cs typeface="Helvetica Neue"/>
              </a:defRPr>
            </a:pPr>
            <a:endParaRPr/>
          </a:p>
        </p:txBody>
      </p:sp>
      <p:sp>
        <p:nvSpPr>
          <p:cNvPr id="6" name="feedback-record">
            <a:extLst>
              <a:ext uri="{FF2B5EF4-FFF2-40B4-BE49-F238E27FC236}">
                <a16:creationId xmlns:a16="http://schemas.microsoft.com/office/drawing/2014/main" id="{7883B3FF-0B38-4692-9612-F918BF157D5C}"/>
              </a:ext>
            </a:extLst>
          </p:cNvPr>
          <p:cNvSpPr>
            <a:spLocks noGrp="1"/>
          </p:cNvSpPr>
          <p:nvPr/>
        </p:nvSpPr>
        <p:spPr>
          <a:xfrm>
            <a:off x="609600" y="4524375"/>
            <a:ext cx="3467100" cy="990600"/>
          </a:xfrm>
          <a:prstGeom prst="rect">
            <a:avLst/>
          </a:prstGeom>
          <a:solidFill>
            <a:srgbClr val="F3F7FA"/>
          </a:solidFill>
          <a:ln w="9525">
            <a:solidFill>
              <a:srgbClr val="226FBB"/>
            </a:solidFill>
            <a:prstDash val="solid"/>
          </a:ln>
        </p:spPr>
      </p:sp>
      <p:sp>
        <p:nvSpPr>
          <p:cNvPr id="7" name="feedback-field">
            <a:extLst>
              <a:ext uri="{FF2B5EF4-FFF2-40B4-BE49-F238E27FC236}">
                <a16:creationId xmlns:a16="http://schemas.microsoft.com/office/drawing/2014/main" id="{502EDE73-B134-4546-95B8-B0D7B649CD48}"/>
              </a:ext>
            </a:extLst>
          </p:cNvPr>
          <p:cNvSpPr>
            <a:spLocks noGrp="1"/>
          </p:cNvSpPr>
          <p:nvPr/>
        </p:nvSpPr>
        <p:spPr>
          <a:xfrm>
            <a:off x="1162050" y="4800600"/>
            <a:ext cx="2714625" cy="523875"/>
          </a:xfrm>
          <a:prstGeom prst="rect">
            <a:avLst/>
          </a:prstGeom>
          <a:noFill/>
          <a:ln w="0">
            <a:noFill/>
          </a:ln>
        </p:spPr>
        <p:txBody>
          <a:bodyPr lIns="0" tIns="0" rIns="0" bIns="0">
            <a:noAutofit/>
          </a:bodyPr>
          <a:lstStyle>
            <a:defPPr algn="l">
              <a:defRPr sz="1725" b="1">
                <a:solidFill>
                  <a:srgbClr val="102B46"/>
                </a:solidFill>
                <a:latin typeface="Helvetica Neue"/>
                <a:ea typeface="Helvetica Neue"/>
                <a:cs typeface="Helvetica Neue"/>
              </a:defRPr>
            </a:defPPr>
          </a:lstStyle>
          <a:p>
            <a:pPr algn="l">
              <a:buNone/>
              <a:defRPr sz="1725" b="1">
                <a:solidFill>
                  <a:srgbClr val="102B46"/>
                </a:solidFill>
                <a:latin typeface="Helvetica Neue"/>
                <a:ea typeface="Helvetica Neue"/>
                <a:cs typeface="Helvetica Neue"/>
              </a:defRPr>
            </a:pPr>
            <a:r>
              <a:rPr sz="1725" b="1">
                <a:solidFill>
                  <a:srgbClr val="102B46"/>
                </a:solidFill>
                <a:latin typeface="Helvetica Neue"/>
                <a:ea typeface="Helvetica Neue"/>
                <a:cs typeface="Helvetica Neue"/>
              </a:rPr>
              <a:t>Expert comment</a:t>
            </a:r>
          </a:p>
        </p:txBody>
      </p:sp>
      <p:sp>
        <p:nvSpPr>
          <p:cNvPr id="8" name="feedback-record">
            <a:extLst>
              <a:ext uri="{FF2B5EF4-FFF2-40B4-BE49-F238E27FC236}">
                <a16:creationId xmlns:a16="http://schemas.microsoft.com/office/drawing/2014/main" id="{A667C574-F0F8-4498-B9A6-6335565B67F4}"/>
              </a:ext>
            </a:extLst>
          </p:cNvPr>
          <p:cNvSpPr>
            <a:spLocks noGrp="1"/>
          </p:cNvSpPr>
          <p:nvPr/>
        </p:nvSpPr>
        <p:spPr>
          <a:xfrm>
            <a:off x="4362450" y="4524375"/>
            <a:ext cx="3467100" cy="990600"/>
          </a:xfrm>
          <a:prstGeom prst="rect">
            <a:avLst/>
          </a:prstGeom>
          <a:solidFill>
            <a:srgbClr val="F3F7FA"/>
          </a:solidFill>
          <a:ln w="9525">
            <a:solidFill>
              <a:srgbClr val="226FBB"/>
            </a:solidFill>
            <a:prstDash val="solid"/>
          </a:ln>
        </p:spPr>
      </p:sp>
      <p:sp>
        <p:nvSpPr>
          <p:cNvPr id="9" name="feedback-field">
            <a:extLst>
              <a:ext uri="{FF2B5EF4-FFF2-40B4-BE49-F238E27FC236}">
                <a16:creationId xmlns:a16="http://schemas.microsoft.com/office/drawing/2014/main" id="{19BE2758-07CF-4ADF-8B39-C06B572C0BC9}"/>
              </a:ext>
            </a:extLst>
          </p:cNvPr>
          <p:cNvSpPr>
            <a:spLocks noGrp="1"/>
          </p:cNvSpPr>
          <p:nvPr/>
        </p:nvSpPr>
        <p:spPr>
          <a:xfrm>
            <a:off x="4914900" y="4800600"/>
            <a:ext cx="2714625" cy="523875"/>
          </a:xfrm>
          <a:prstGeom prst="rect">
            <a:avLst/>
          </a:prstGeom>
          <a:noFill/>
          <a:ln w="0">
            <a:noFill/>
          </a:ln>
        </p:spPr>
        <p:txBody>
          <a:bodyPr lIns="0" tIns="0" rIns="0" bIns="0">
            <a:noAutofit/>
          </a:bodyPr>
          <a:lstStyle>
            <a:defPPr algn="l">
              <a:defRPr sz="1725" b="1">
                <a:solidFill>
                  <a:srgbClr val="102B46"/>
                </a:solidFill>
                <a:latin typeface="Helvetica Neue"/>
                <a:ea typeface="Helvetica Neue"/>
                <a:cs typeface="Helvetica Neue"/>
              </a:defRPr>
            </a:defPPr>
          </a:lstStyle>
          <a:p>
            <a:pPr algn="l">
              <a:buNone/>
              <a:defRPr sz="1725" b="1">
                <a:solidFill>
                  <a:srgbClr val="102B46"/>
                </a:solidFill>
                <a:latin typeface="Helvetica Neue"/>
                <a:ea typeface="Helvetica Neue"/>
                <a:cs typeface="Helvetica Neue"/>
              </a:defRPr>
            </a:pPr>
            <a:r>
              <a:rPr sz="1725" b="1">
                <a:solidFill>
                  <a:srgbClr val="102B46"/>
                </a:solidFill>
                <a:latin typeface="Helvetica Neue"/>
                <a:ea typeface="Helvetica Neue"/>
                <a:cs typeface="Helvetica Neue"/>
              </a:rPr>
              <a:t>Team response</a:t>
            </a:r>
          </a:p>
        </p:txBody>
      </p:sp>
      <p:sp>
        <p:nvSpPr>
          <p:cNvPr id="11" name="feedback-record">
            <a:extLst>
              <a:ext uri="{FF2B5EF4-FFF2-40B4-BE49-F238E27FC236}">
                <a16:creationId xmlns:a16="http://schemas.microsoft.com/office/drawing/2014/main" id="{AAF09DBB-860F-40E6-B212-B642E9085106}"/>
              </a:ext>
            </a:extLst>
          </p:cNvPr>
          <p:cNvSpPr>
            <a:spLocks noGrp="1"/>
          </p:cNvSpPr>
          <p:nvPr/>
        </p:nvSpPr>
        <p:spPr>
          <a:xfrm>
            <a:off x="8115300" y="4524375"/>
            <a:ext cx="3467100" cy="990600"/>
          </a:xfrm>
          <a:prstGeom prst="rect">
            <a:avLst/>
          </a:prstGeom>
          <a:solidFill>
            <a:srgbClr val="F3F7FA"/>
          </a:solidFill>
          <a:ln w="9525">
            <a:solidFill>
              <a:srgbClr val="226FBB"/>
            </a:solidFill>
            <a:prstDash val="solid"/>
          </a:ln>
        </p:spPr>
      </p:sp>
      <p:sp>
        <p:nvSpPr>
          <p:cNvPr id="12" name="feedback-field">
            <a:extLst>
              <a:ext uri="{FF2B5EF4-FFF2-40B4-BE49-F238E27FC236}">
                <a16:creationId xmlns:a16="http://schemas.microsoft.com/office/drawing/2014/main" id="{09BE0AC2-5BFD-4F63-A8B9-330C6ACF94E8}"/>
              </a:ext>
            </a:extLst>
          </p:cNvPr>
          <p:cNvSpPr>
            <a:spLocks noGrp="1"/>
          </p:cNvSpPr>
          <p:nvPr/>
        </p:nvSpPr>
        <p:spPr>
          <a:xfrm>
            <a:off x="8667750" y="4800600"/>
            <a:ext cx="2714625" cy="523875"/>
          </a:xfrm>
          <a:prstGeom prst="rect">
            <a:avLst/>
          </a:prstGeom>
          <a:noFill/>
          <a:ln w="0">
            <a:noFill/>
          </a:ln>
        </p:spPr>
        <p:txBody>
          <a:bodyPr lIns="0" tIns="0" rIns="0" bIns="0">
            <a:noAutofit/>
          </a:bodyPr>
          <a:lstStyle>
            <a:defPPr algn="l">
              <a:defRPr sz="1725" b="1">
                <a:solidFill>
                  <a:srgbClr val="102B46"/>
                </a:solidFill>
                <a:latin typeface="Helvetica Neue"/>
                <a:ea typeface="Helvetica Neue"/>
                <a:cs typeface="Helvetica Neue"/>
              </a:defRPr>
            </a:defPPr>
          </a:lstStyle>
          <a:p>
            <a:pPr algn="l">
              <a:buNone/>
              <a:defRPr sz="1725" b="1">
                <a:solidFill>
                  <a:srgbClr val="102B46"/>
                </a:solidFill>
                <a:latin typeface="Helvetica Neue"/>
                <a:ea typeface="Helvetica Neue"/>
                <a:cs typeface="Helvetica Neue"/>
              </a:defRPr>
            </a:pPr>
            <a:r>
              <a:rPr sz="1725" b="1">
                <a:solidFill>
                  <a:srgbClr val="102B46"/>
                </a:solidFill>
                <a:latin typeface="Helvetica Neue"/>
                <a:ea typeface="Helvetica Neue"/>
                <a:cs typeface="Helvetica Neue"/>
              </a:rPr>
              <a:t>Owner and next action</a:t>
            </a:r>
          </a:p>
        </p:txBody>
      </p:sp>
      <p:sp>
        <p:nvSpPr>
          <p:cNvPr id="14" name="review-next">
            <a:extLst>
              <a:ext uri="{FF2B5EF4-FFF2-40B4-BE49-F238E27FC236}">
                <a16:creationId xmlns:a16="http://schemas.microsoft.com/office/drawing/2014/main" id="{455AA740-AF72-4505-8C02-2E4EE4DB32E0}"/>
              </a:ext>
            </a:extLst>
          </p:cNvPr>
          <p:cNvSpPr>
            <a:spLocks noGrp="1"/>
          </p:cNvSpPr>
          <p:nvPr/>
        </p:nvSpPr>
        <p:spPr>
          <a:xfrm>
            <a:off x="609600" y="5857875"/>
            <a:ext cx="10668000" cy="400050"/>
          </a:xfrm>
          <a:prstGeom prst="rect">
            <a:avLst/>
          </a:prstGeom>
          <a:noFill/>
          <a:ln w="0">
            <a:noFill/>
          </a:ln>
        </p:spPr>
        <p:txBody>
          <a:bodyPr lIns="0" tIns="0" rIns="0" bIns="0">
            <a:noAutofit/>
          </a:bodyPr>
          <a:lstStyle>
            <a:defPPr algn="l">
              <a:defRPr sz="1650" b="0">
                <a:solidFill>
                  <a:srgbClr val="607482"/>
                </a:solidFill>
                <a:latin typeface="Helvetica Neue"/>
                <a:ea typeface="Helvetica Neue"/>
                <a:cs typeface="Helvetica Neue"/>
              </a:defRPr>
            </a:defPPr>
          </a:lstStyle>
          <a:p>
            <a:pPr algn="l">
              <a:buNone/>
              <a:defRPr sz="1650" b="0">
                <a:solidFill>
                  <a:srgbClr val="607482"/>
                </a:solidFill>
                <a:latin typeface="Helvetica Neue"/>
                <a:ea typeface="Helvetica Neue"/>
                <a:cs typeface="Helvetica Neue"/>
              </a:defRPr>
            </a:pPr>
            <a:r>
              <a:rPr sz="1650" b="0">
                <a:solidFill>
                  <a:srgbClr val="607482"/>
                </a:solidFill>
                <a:latin typeface="Helvetica Neue"/>
                <a:ea typeface="Helvetica Neue"/>
                <a:cs typeface="Helvetica Neue"/>
              </a:rPr>
              <a:t>Record feedback in the Project. Agree changes and next actions.</a:t>
            </a:r>
          </a:p>
        </p:txBody>
      </p:sp>
      <p:pic>
        <p:nvPicPr>
          <p:cNvPr id="16" name="Picture 15">
            <a:extLst>
              <a:ext uri="{FF2B5EF4-FFF2-40B4-BE49-F238E27FC236}">
                <a16:creationId xmlns:a16="http://schemas.microsoft.com/office/drawing/2014/main" id="{D6A42E86-F83A-4AAB-906B-66902728E485}"/>
              </a:ext>
            </a:extLst>
          </p:cNvPr>
          <p:cNvPicPr>
            <a:picLocks noChangeAspect="1"/>
          </p:cNvPicPr>
          <p:nvPr/>
        </p:nvPicPr>
        <p:blipFill>
          <a:blip r:embed="rId3"/>
          <a:stretch/>
        </p:blipFill>
        <p:spPr>
          <a:xfrm>
            <a:off x="638175" y="2171700"/>
            <a:ext cx="400050" cy="400050"/>
          </a:xfrm>
          <a:prstGeom prst="rect">
            <a:avLst/>
          </a:prstGeom>
        </p:spPr>
      </p:pic>
      <p:sp>
        <p:nvSpPr>
          <p:cNvPr id="17" name="action-1">
            <a:extLst>
              <a:ext uri="{FF2B5EF4-FFF2-40B4-BE49-F238E27FC236}">
                <a16:creationId xmlns:a16="http://schemas.microsoft.com/office/drawing/2014/main" id="{0ADE5505-F700-4488-94A9-0EF7B4C7A993}"/>
              </a:ext>
            </a:extLst>
          </p:cNvPr>
          <p:cNvSpPr>
            <a:spLocks noGrp="1"/>
          </p:cNvSpPr>
          <p:nvPr/>
        </p:nvSpPr>
        <p:spPr>
          <a:xfrm>
            <a:off x="1276350" y="2209800"/>
            <a:ext cx="9906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Share the checkpoint summary</a:t>
            </a:r>
          </a:p>
        </p:txBody>
      </p:sp>
      <p:pic>
        <p:nvPicPr>
          <p:cNvPr id="18" name="Picture 17">
            <a:extLst>
              <a:ext uri="{FF2B5EF4-FFF2-40B4-BE49-F238E27FC236}">
                <a16:creationId xmlns:a16="http://schemas.microsoft.com/office/drawing/2014/main" id="{5EAE3EA5-1393-4540-B80D-69FFABF2875A}"/>
              </a:ext>
            </a:extLst>
          </p:cNvPr>
          <p:cNvPicPr>
            <a:picLocks noChangeAspect="1"/>
          </p:cNvPicPr>
          <p:nvPr/>
        </p:nvPicPr>
        <p:blipFill>
          <a:blip r:embed="rId4"/>
          <a:stretch/>
        </p:blipFill>
        <p:spPr>
          <a:xfrm>
            <a:off x="638175" y="2752725"/>
            <a:ext cx="400050" cy="400050"/>
          </a:xfrm>
          <a:prstGeom prst="rect">
            <a:avLst/>
          </a:prstGeom>
        </p:spPr>
      </p:pic>
      <p:sp>
        <p:nvSpPr>
          <p:cNvPr id="19" name="action-2">
            <a:extLst>
              <a:ext uri="{FF2B5EF4-FFF2-40B4-BE49-F238E27FC236}">
                <a16:creationId xmlns:a16="http://schemas.microsoft.com/office/drawing/2014/main" id="{44525FD0-646F-4CE4-81DE-E00A586514B8}"/>
              </a:ext>
            </a:extLst>
          </p:cNvPr>
          <p:cNvSpPr>
            <a:spLocks noGrp="1"/>
          </p:cNvSpPr>
          <p:nvPr/>
        </p:nvSpPr>
        <p:spPr>
          <a:xfrm>
            <a:off x="1276350" y="2790825"/>
            <a:ext cx="9906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Ask for feedback on open decisions</a:t>
            </a:r>
          </a:p>
        </p:txBody>
      </p:sp>
      <p:pic>
        <p:nvPicPr>
          <p:cNvPr id="20" name="Picture 19">
            <a:extLst>
              <a:ext uri="{FF2B5EF4-FFF2-40B4-BE49-F238E27FC236}">
                <a16:creationId xmlns:a16="http://schemas.microsoft.com/office/drawing/2014/main" id="{4540F74B-5ABB-4967-87CC-55A83BBEA427}"/>
              </a:ext>
            </a:extLst>
          </p:cNvPr>
          <p:cNvPicPr>
            <a:picLocks noChangeAspect="1"/>
          </p:cNvPicPr>
          <p:nvPr/>
        </p:nvPicPr>
        <p:blipFill>
          <a:blip r:embed="rId5"/>
          <a:stretch/>
        </p:blipFill>
        <p:spPr>
          <a:xfrm>
            <a:off x="638175" y="3333750"/>
            <a:ext cx="400050" cy="400050"/>
          </a:xfrm>
          <a:prstGeom prst="rect">
            <a:avLst/>
          </a:prstGeom>
        </p:spPr>
      </p:pic>
      <p:sp>
        <p:nvSpPr>
          <p:cNvPr id="21" name="action-3">
            <a:extLst>
              <a:ext uri="{FF2B5EF4-FFF2-40B4-BE49-F238E27FC236}">
                <a16:creationId xmlns:a16="http://schemas.microsoft.com/office/drawing/2014/main" id="{40693A82-E5FF-41CF-8315-8E3C3131531B}"/>
              </a:ext>
            </a:extLst>
          </p:cNvPr>
          <p:cNvSpPr>
            <a:spLocks noGrp="1"/>
          </p:cNvSpPr>
          <p:nvPr/>
        </p:nvSpPr>
        <p:spPr>
          <a:xfrm>
            <a:off x="1276350" y="3371850"/>
            <a:ext cx="9906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Record changes and next actions</a:t>
            </a:r>
          </a:p>
        </p:txBody>
      </p:sp>
      <p:pic>
        <p:nvPicPr>
          <p:cNvPr id="22" name="Picture 21">
            <a:extLst>
              <a:ext uri="{FF2B5EF4-FFF2-40B4-BE49-F238E27FC236}">
                <a16:creationId xmlns:a16="http://schemas.microsoft.com/office/drawing/2014/main" id="{7828F7A7-0CCF-490F-8EBC-6DC64308E6C0}"/>
              </a:ext>
            </a:extLst>
          </p:cNvPr>
          <p:cNvPicPr>
            <a:picLocks noChangeAspect="1"/>
          </p:cNvPicPr>
          <p:nvPr/>
        </p:nvPicPr>
        <p:blipFill>
          <a:blip r:embed="rId6"/>
          <a:stretch/>
        </p:blipFill>
        <p:spPr>
          <a:xfrm>
            <a:off x="781050" y="4838700"/>
            <a:ext cx="323850" cy="323850"/>
          </a:xfrm>
          <a:prstGeom prst="rect">
            <a:avLst/>
          </a:prstGeom>
        </p:spPr>
      </p:pic>
      <p:pic>
        <p:nvPicPr>
          <p:cNvPr id="23" name="Picture 22">
            <a:extLst>
              <a:ext uri="{FF2B5EF4-FFF2-40B4-BE49-F238E27FC236}">
                <a16:creationId xmlns:a16="http://schemas.microsoft.com/office/drawing/2014/main" id="{F58EF361-DD9A-4242-8BEA-0B558D69E74C}"/>
              </a:ext>
            </a:extLst>
          </p:cNvPr>
          <p:cNvPicPr>
            <a:picLocks noChangeAspect="1"/>
          </p:cNvPicPr>
          <p:nvPr/>
        </p:nvPicPr>
        <p:blipFill>
          <a:blip r:embed="rId7"/>
          <a:stretch/>
        </p:blipFill>
        <p:spPr>
          <a:xfrm>
            <a:off x="4533900" y="4838700"/>
            <a:ext cx="323850" cy="323850"/>
          </a:xfrm>
          <a:prstGeom prst="rect">
            <a:avLst/>
          </a:prstGeom>
        </p:spPr>
      </p:pic>
      <p:pic>
        <p:nvPicPr>
          <p:cNvPr id="24" name="Picture 23">
            <a:extLst>
              <a:ext uri="{FF2B5EF4-FFF2-40B4-BE49-F238E27FC236}">
                <a16:creationId xmlns:a16="http://schemas.microsoft.com/office/drawing/2014/main" id="{2EDE2644-4787-4D77-AD5A-F50D281EDC80}"/>
              </a:ext>
            </a:extLst>
          </p:cNvPr>
          <p:cNvPicPr>
            <a:picLocks noChangeAspect="1"/>
          </p:cNvPicPr>
          <p:nvPr/>
        </p:nvPicPr>
        <p:blipFill>
          <a:blip r:embed="rId3"/>
          <a:stretch/>
        </p:blipFill>
        <p:spPr>
          <a:xfrm>
            <a:off x="8286750" y="4838700"/>
            <a:ext cx="323850" cy="323850"/>
          </a:xfrm>
          <a:prstGeom prst="rect">
            <a:avLst/>
          </a:prstGeom>
        </p:spPr>
      </p:pic>
    </p:spTree>
    <p:extLst>
      <p:ext uri="{BB962C8B-B14F-4D97-AF65-F5344CB8AC3E}">
        <p14:creationId xmlns:p14="http://schemas.microsoft.com/office/powerpoint/2010/main" val="14084818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section-label">
            <a:extLst>
              <a:ext uri="{FF2B5EF4-FFF2-40B4-BE49-F238E27FC236}">
                <a16:creationId xmlns:a16="http://schemas.microsoft.com/office/drawing/2014/main" id="{59F19C1B-AC9A-462D-AE53-190A24E6444E}"/>
              </a:ext>
            </a:extLst>
          </p:cNvPr>
          <p:cNvSpPr>
            <a:spLocks noGrp="1"/>
          </p:cNvSpPr>
          <p:nvPr/>
        </p:nvSpPr>
        <p:spPr>
          <a:xfrm>
            <a:off x="609600" y="285750"/>
            <a:ext cx="10668000" cy="285750"/>
          </a:xfrm>
          <a:prstGeom prst="rect">
            <a:avLst/>
          </a:prstGeom>
          <a:noFill/>
          <a:ln w="0">
            <a:noFill/>
          </a:ln>
        </p:spPr>
        <p:txBody>
          <a:bodyPr lIns="0" tIns="0" rIns="0" bIns="0">
            <a:noAutofit/>
          </a:bodyPr>
          <a:lstStyle>
            <a:defPPr>
              <a:defRPr sz="1200" b="1">
                <a:solidFill>
                  <a:srgbClr val="244653"/>
                </a:solidFill>
                <a:latin typeface="Helvetica Neue"/>
                <a:ea typeface="Helvetica Neue"/>
                <a:cs typeface="Helvetica Neue"/>
              </a:defRPr>
            </a:defPPr>
          </a:lstStyle>
          <a:p>
            <a:pPr>
              <a:buNone/>
              <a:defRPr sz="1200" b="1">
                <a:solidFill>
                  <a:srgbClr val="244653"/>
                </a:solidFill>
                <a:latin typeface="Helvetica Neue"/>
                <a:ea typeface="Helvetica Neue"/>
                <a:cs typeface="Helvetica Neue"/>
              </a:defRPr>
            </a:pPr>
            <a:r>
              <a:rPr sz="1200" b="1">
                <a:solidFill>
                  <a:srgbClr val="244653"/>
                </a:solidFill>
                <a:latin typeface="Helvetica Neue"/>
                <a:ea typeface="Helvetica Neue"/>
                <a:cs typeface="Helvetica Neue"/>
              </a:rPr>
              <a:t>DELIVERY</a:t>
            </a:r>
          </a:p>
        </p:txBody>
      </p:sp>
      <p:sp>
        <p:nvSpPr>
          <p:cNvPr id="2" name="slide-title">
            <a:extLst>
              <a:ext uri="{FF2B5EF4-FFF2-40B4-BE49-F238E27FC236}">
                <a16:creationId xmlns:a16="http://schemas.microsoft.com/office/drawing/2014/main" id="{AC359112-F1ED-4452-B1B1-966DF5106A01}"/>
              </a:ext>
            </a:extLst>
          </p:cNvPr>
          <p:cNvSpPr>
            <a:spLocks noGrp="1"/>
          </p:cNvSpPr>
          <p:nvPr/>
        </p:nvSpPr>
        <p:spPr>
          <a:xfrm>
            <a:off x="609600" y="781050"/>
            <a:ext cx="10972800" cy="819150"/>
          </a:xfrm>
          <a:prstGeom prst="rect">
            <a:avLst/>
          </a:prstGeom>
          <a:noFill/>
          <a:ln w="0">
            <a:noFill/>
          </a:ln>
        </p:spPr>
        <p:txBody>
          <a:bodyPr lIns="0" tIns="0" rIns="0" bIns="0">
            <a:noAutofit/>
          </a:bodyPr>
          <a:lstStyle>
            <a:defPPr>
              <a:defRPr sz="3450" b="1">
                <a:solidFill>
                  <a:srgbClr val="102B46"/>
                </a:solidFill>
                <a:latin typeface="Helvetica Neue"/>
                <a:ea typeface="Helvetica Neue"/>
                <a:cs typeface="Helvetica Neue"/>
              </a:defRPr>
            </a:defPPr>
          </a:lstStyle>
          <a:p>
            <a:pPr>
              <a:buNone/>
              <a:defRPr sz="3450" b="1">
                <a:solidFill>
                  <a:srgbClr val="102B46"/>
                </a:solidFill>
                <a:latin typeface="Helvetica Neue"/>
                <a:ea typeface="Helvetica Neue"/>
                <a:cs typeface="Helvetica Neue"/>
              </a:defRPr>
            </a:pPr>
            <a:r>
              <a:rPr sz="3450" b="1" dirty="0">
                <a:solidFill>
                  <a:srgbClr val="102B46"/>
                </a:solidFill>
                <a:latin typeface="Helvetica Neue"/>
                <a:ea typeface="Helvetica Neue"/>
                <a:cs typeface="Helvetica Neue"/>
              </a:rPr>
              <a:t>Final proposal and pitch</a:t>
            </a:r>
          </a:p>
        </p:txBody>
      </p:sp>
      <p:sp>
        <p:nvSpPr>
          <p:cNvPr id="3" name="subtitle">
            <a:extLst>
              <a:ext uri="{FF2B5EF4-FFF2-40B4-BE49-F238E27FC236}">
                <a16:creationId xmlns:a16="http://schemas.microsoft.com/office/drawing/2014/main" id="{EE99C965-8D11-4F84-BF04-91BB6B7F8A68}"/>
              </a:ext>
            </a:extLst>
          </p:cNvPr>
          <p:cNvSpPr>
            <a:spLocks noGrp="1"/>
          </p:cNvSpPr>
          <p:nvPr/>
        </p:nvSpPr>
        <p:spPr>
          <a:xfrm>
            <a:off x="609600" y="1581150"/>
            <a:ext cx="10972800" cy="419100"/>
          </a:xfrm>
          <a:prstGeom prst="rect">
            <a:avLst/>
          </a:prstGeom>
          <a:noFill/>
          <a:ln w="0">
            <a:noFill/>
          </a:ln>
        </p:spPr>
        <p:txBody>
          <a:bodyPr lIns="0" tIns="0" rIns="0" bIns="0">
            <a:noAutofit/>
          </a:bodyPr>
          <a:lstStyle>
            <a:defPPr>
              <a:defRPr sz="1800" b="0">
                <a:solidFill>
                  <a:srgbClr val="607482"/>
                </a:solidFill>
                <a:latin typeface="Helvetica Neue"/>
                <a:ea typeface="Helvetica Neue"/>
                <a:cs typeface="Helvetica Neue"/>
              </a:defRPr>
            </a:defPPr>
          </a:lstStyle>
          <a:p>
            <a:pPr>
              <a:buNone/>
              <a:defRPr sz="1800" b="0">
                <a:solidFill>
                  <a:srgbClr val="607482"/>
                </a:solidFill>
                <a:latin typeface="Helvetica Neue"/>
                <a:ea typeface="Helvetica Neue"/>
                <a:cs typeface="Helvetica Neue"/>
              </a:defRPr>
            </a:pPr>
            <a:r>
              <a:rPr sz="1800" b="0">
                <a:solidFill>
                  <a:srgbClr val="607482"/>
                </a:solidFill>
                <a:latin typeface="Helvetica Neue"/>
                <a:ea typeface="Helvetica Neue"/>
                <a:cs typeface="Helvetica Neue"/>
              </a:rPr>
              <a:t>One agreed solution, two outputs</a:t>
            </a:r>
          </a:p>
        </p:txBody>
      </p:sp>
      <p:sp>
        <p:nvSpPr>
          <p:cNvPr id="4" name="proposal-output">
            <a:extLst>
              <a:ext uri="{FF2B5EF4-FFF2-40B4-BE49-F238E27FC236}">
                <a16:creationId xmlns:a16="http://schemas.microsoft.com/office/drawing/2014/main" id="{78A157A2-C97A-4CC3-A6FF-11CC74B16100}"/>
              </a:ext>
            </a:extLst>
          </p:cNvPr>
          <p:cNvSpPr>
            <a:spLocks noGrp="1"/>
          </p:cNvSpPr>
          <p:nvPr/>
        </p:nvSpPr>
        <p:spPr>
          <a:xfrm>
            <a:off x="609600" y="2228850"/>
            <a:ext cx="5334000" cy="3095625"/>
          </a:xfrm>
          <a:prstGeom prst="rect">
            <a:avLst/>
          </a:prstGeom>
          <a:solidFill>
            <a:srgbClr val="F2F6FA"/>
          </a:solidFill>
          <a:ln w="9525">
            <a:solidFill>
              <a:srgbClr val="226FBB"/>
            </a:solidFill>
          </a:ln>
        </p:spPr>
      </p:sp>
      <p:sp>
        <p:nvSpPr>
          <p:cNvPr id="5" name="pitch-output">
            <a:extLst>
              <a:ext uri="{FF2B5EF4-FFF2-40B4-BE49-F238E27FC236}">
                <a16:creationId xmlns:a16="http://schemas.microsoft.com/office/drawing/2014/main" id="{F9255990-6E4D-4C28-B035-5AB8F52F2C57}"/>
              </a:ext>
            </a:extLst>
          </p:cNvPr>
          <p:cNvSpPr>
            <a:spLocks noGrp="1"/>
          </p:cNvSpPr>
          <p:nvPr/>
        </p:nvSpPr>
        <p:spPr>
          <a:xfrm>
            <a:off x="6248400" y="2228850"/>
            <a:ext cx="5334000" cy="3095625"/>
          </a:xfrm>
          <a:prstGeom prst="rect">
            <a:avLst/>
          </a:prstGeom>
          <a:solidFill>
            <a:srgbClr val="F1F7F6"/>
          </a:solidFill>
          <a:ln w="9525">
            <a:solidFill>
              <a:srgbClr val="087E83"/>
            </a:solidFill>
          </a:ln>
        </p:spPr>
      </p:sp>
      <p:pic>
        <p:nvPicPr>
          <p:cNvPr id="6" name="Picture 5">
            <a:extLst>
              <a:ext uri="{FF2B5EF4-FFF2-40B4-BE49-F238E27FC236}">
                <a16:creationId xmlns:a16="http://schemas.microsoft.com/office/drawing/2014/main" id="{BCC4FBAF-0B4A-4C9A-B194-E3D64B6C641C}"/>
              </a:ext>
            </a:extLst>
          </p:cNvPr>
          <p:cNvPicPr>
            <a:picLocks noChangeAspect="1"/>
          </p:cNvPicPr>
          <p:nvPr/>
        </p:nvPicPr>
        <p:blipFill>
          <a:blip r:embed="rId3"/>
          <a:stretch/>
        </p:blipFill>
        <p:spPr>
          <a:xfrm>
            <a:off x="819150" y="2457450"/>
            <a:ext cx="457200" cy="457200"/>
          </a:xfrm>
          <a:prstGeom prst="rect">
            <a:avLst/>
          </a:prstGeom>
        </p:spPr>
      </p:pic>
      <p:pic>
        <p:nvPicPr>
          <p:cNvPr id="7" name="Picture 6">
            <a:extLst>
              <a:ext uri="{FF2B5EF4-FFF2-40B4-BE49-F238E27FC236}">
                <a16:creationId xmlns:a16="http://schemas.microsoft.com/office/drawing/2014/main" id="{5DAA7130-BC6C-4625-95C8-847078D486FD}"/>
              </a:ext>
            </a:extLst>
          </p:cNvPr>
          <p:cNvPicPr>
            <a:picLocks noChangeAspect="1"/>
          </p:cNvPicPr>
          <p:nvPr/>
        </p:nvPicPr>
        <p:blipFill>
          <a:blip r:embed="rId4"/>
          <a:stretch/>
        </p:blipFill>
        <p:spPr>
          <a:xfrm>
            <a:off x="6457950" y="2457450"/>
            <a:ext cx="457200" cy="457200"/>
          </a:xfrm>
          <a:prstGeom prst="rect">
            <a:avLst/>
          </a:prstGeom>
        </p:spPr>
      </p:pic>
      <p:sp>
        <p:nvSpPr>
          <p:cNvPr id="8" name="proposal-heading">
            <a:extLst>
              <a:ext uri="{FF2B5EF4-FFF2-40B4-BE49-F238E27FC236}">
                <a16:creationId xmlns:a16="http://schemas.microsoft.com/office/drawing/2014/main" id="{3B738E78-A211-4C8C-962F-72DB0FC8C74F}"/>
              </a:ext>
            </a:extLst>
          </p:cNvPr>
          <p:cNvSpPr>
            <a:spLocks noGrp="1"/>
          </p:cNvSpPr>
          <p:nvPr/>
        </p:nvSpPr>
        <p:spPr>
          <a:xfrm>
            <a:off x="1466850" y="2524125"/>
            <a:ext cx="4210050" cy="438150"/>
          </a:xfrm>
          <a:prstGeom prst="rect">
            <a:avLst/>
          </a:prstGeom>
          <a:noFill/>
          <a:ln w="0">
            <a:noFill/>
          </a:ln>
        </p:spPr>
        <p:txBody>
          <a:bodyPr lIns="0" tIns="0" rIns="0" bIns="0">
            <a:noAutofit/>
          </a:bodyPr>
          <a:lstStyle>
            <a:defPPr>
              <a:defRPr sz="2400" b="1">
                <a:solidFill>
                  <a:srgbClr val="226FBB"/>
                </a:solidFill>
                <a:latin typeface="Helvetica Neue"/>
                <a:ea typeface="Helvetica Neue"/>
                <a:cs typeface="Helvetica Neue"/>
              </a:defRPr>
            </a:defPPr>
          </a:lstStyle>
          <a:p>
            <a:pPr>
              <a:buNone/>
              <a:defRPr sz="2400" b="1">
                <a:solidFill>
                  <a:srgbClr val="226FBB"/>
                </a:solidFill>
                <a:latin typeface="Helvetica Neue"/>
                <a:ea typeface="Helvetica Neue"/>
                <a:cs typeface="Helvetica Neue"/>
              </a:defRPr>
            </a:pPr>
            <a:r>
              <a:rPr sz="2400" b="1">
                <a:solidFill>
                  <a:srgbClr val="226FBB"/>
                </a:solidFill>
                <a:latin typeface="Helvetica Neue"/>
                <a:ea typeface="Helvetica Neue"/>
                <a:cs typeface="Helvetica Neue"/>
              </a:rPr>
              <a:t>Proposal</a:t>
            </a:r>
          </a:p>
        </p:txBody>
      </p:sp>
      <p:sp>
        <p:nvSpPr>
          <p:cNvPr id="9" name="pitch-heading">
            <a:extLst>
              <a:ext uri="{FF2B5EF4-FFF2-40B4-BE49-F238E27FC236}">
                <a16:creationId xmlns:a16="http://schemas.microsoft.com/office/drawing/2014/main" id="{481F3B34-98B3-4D0D-A66D-B512451137D2}"/>
              </a:ext>
            </a:extLst>
          </p:cNvPr>
          <p:cNvSpPr>
            <a:spLocks noGrp="1"/>
          </p:cNvSpPr>
          <p:nvPr/>
        </p:nvSpPr>
        <p:spPr>
          <a:xfrm>
            <a:off x="7105650" y="2524125"/>
            <a:ext cx="4210050" cy="438150"/>
          </a:xfrm>
          <a:prstGeom prst="rect">
            <a:avLst/>
          </a:prstGeom>
          <a:noFill/>
          <a:ln w="0">
            <a:noFill/>
          </a:ln>
        </p:spPr>
        <p:txBody>
          <a:bodyPr lIns="0" tIns="0" rIns="0" bIns="0">
            <a:noAutofit/>
          </a:bodyPr>
          <a:lstStyle>
            <a:defPPr>
              <a:defRPr sz="2400" b="1">
                <a:solidFill>
                  <a:srgbClr val="087E83"/>
                </a:solidFill>
                <a:latin typeface="Helvetica Neue"/>
                <a:ea typeface="Helvetica Neue"/>
                <a:cs typeface="Helvetica Neue"/>
              </a:defRPr>
            </a:defPPr>
          </a:lstStyle>
          <a:p>
            <a:pPr>
              <a:buNone/>
              <a:defRPr sz="2400" b="1">
                <a:solidFill>
                  <a:srgbClr val="087E83"/>
                </a:solidFill>
                <a:latin typeface="Helvetica Neue"/>
                <a:ea typeface="Helvetica Neue"/>
                <a:cs typeface="Helvetica Neue"/>
              </a:defRPr>
            </a:pPr>
            <a:r>
              <a:rPr sz="2400" b="1">
                <a:solidFill>
                  <a:srgbClr val="087E83"/>
                </a:solidFill>
                <a:latin typeface="Helvetica Neue"/>
                <a:ea typeface="Helvetica Neue"/>
                <a:cs typeface="Helvetica Neue"/>
              </a:rPr>
              <a:t>Pitch</a:t>
            </a:r>
          </a:p>
        </p:txBody>
      </p:sp>
      <p:sp>
        <p:nvSpPr>
          <p:cNvPr id="10" name="proposal-item">
            <a:extLst>
              <a:ext uri="{FF2B5EF4-FFF2-40B4-BE49-F238E27FC236}">
                <a16:creationId xmlns:a16="http://schemas.microsoft.com/office/drawing/2014/main" id="{5150BA39-4A76-4BD7-AF38-B18B95536C66}"/>
              </a:ext>
            </a:extLst>
          </p:cNvPr>
          <p:cNvSpPr>
            <a:spLocks noGrp="1"/>
          </p:cNvSpPr>
          <p:nvPr/>
        </p:nvSpPr>
        <p:spPr>
          <a:xfrm>
            <a:off x="819150" y="3276600"/>
            <a:ext cx="4876800" cy="419100"/>
          </a:xfrm>
          <a:prstGeom prst="rect">
            <a:avLst/>
          </a:prstGeom>
          <a:noFill/>
          <a:ln w="0">
            <a:noFill/>
          </a:ln>
        </p:spPr>
        <p:txBody>
          <a:bodyPr lIns="0" tIns="0" rIns="0" bIns="0">
            <a:noAutofit/>
          </a:bodyPr>
          <a:lstStyle>
            <a:defPPr>
              <a:defRPr sz="1875" b="1">
                <a:solidFill>
                  <a:srgbClr val="233A4B"/>
                </a:solidFill>
                <a:latin typeface="Helvetica Neue"/>
                <a:ea typeface="Helvetica Neue"/>
                <a:cs typeface="Helvetica Neue"/>
              </a:defRPr>
            </a:defPPr>
          </a:lstStyle>
          <a:p>
            <a:pPr>
              <a:buNone/>
              <a:defRPr sz="1875" b="1">
                <a:solidFill>
                  <a:srgbClr val="233A4B"/>
                </a:solidFill>
                <a:latin typeface="Helvetica Neue"/>
                <a:ea typeface="Helvetica Neue"/>
                <a:cs typeface="Helvetica Neue"/>
              </a:defRPr>
            </a:pPr>
            <a:r>
              <a:rPr sz="1875" b="1">
                <a:solidFill>
                  <a:srgbClr val="233A4B"/>
                </a:solidFill>
                <a:latin typeface="Helvetica Neue"/>
                <a:ea typeface="Helvetica Neue"/>
                <a:cs typeface="Helvetica Neue"/>
              </a:rPr>
              <a:t>10–15 pages</a:t>
            </a:r>
          </a:p>
        </p:txBody>
      </p:sp>
      <p:sp>
        <p:nvSpPr>
          <p:cNvPr id="11" name="proposal-item">
            <a:extLst>
              <a:ext uri="{FF2B5EF4-FFF2-40B4-BE49-F238E27FC236}">
                <a16:creationId xmlns:a16="http://schemas.microsoft.com/office/drawing/2014/main" id="{B7D49028-B836-46F8-82F5-18B2F1CAF8D1}"/>
              </a:ext>
            </a:extLst>
          </p:cNvPr>
          <p:cNvSpPr>
            <a:spLocks noGrp="1"/>
          </p:cNvSpPr>
          <p:nvPr/>
        </p:nvSpPr>
        <p:spPr>
          <a:xfrm>
            <a:off x="819150" y="3733800"/>
            <a:ext cx="4876800" cy="419100"/>
          </a:xfrm>
          <a:prstGeom prst="rect">
            <a:avLst/>
          </a:prstGeom>
          <a:noFill/>
          <a:ln w="0">
            <a:noFill/>
          </a:ln>
        </p:spPr>
        <p:txBody>
          <a:bodyPr lIns="0" tIns="0" rIns="0" bIns="0">
            <a:noAutofit/>
          </a:bodyPr>
          <a:lstStyle>
            <a:defPPr>
              <a:defRPr sz="1875" b="0">
                <a:solidFill>
                  <a:srgbClr val="233A4B"/>
                </a:solidFill>
                <a:latin typeface="Helvetica Neue"/>
                <a:ea typeface="Helvetica Neue"/>
                <a:cs typeface="Helvetica Neue"/>
              </a:defRPr>
            </a:defPPr>
          </a:lstStyle>
          <a:p>
            <a:pPr>
              <a:buNone/>
              <a:defRPr sz="1875" b="0">
                <a:solidFill>
                  <a:srgbClr val="233A4B"/>
                </a:solidFill>
                <a:latin typeface="Helvetica Neue"/>
                <a:ea typeface="Helvetica Neue"/>
                <a:cs typeface="Helvetica Neue"/>
              </a:defRPr>
            </a:pPr>
            <a:r>
              <a:rPr sz="1875" b="0" dirty="0">
                <a:solidFill>
                  <a:srgbClr val="233A4B"/>
                </a:solidFill>
                <a:latin typeface="Helvetica Neue"/>
                <a:ea typeface="Helvetica Neue"/>
                <a:cs typeface="Helvetica Neue"/>
              </a:rPr>
              <a:t>Technical and regulatory approach</a:t>
            </a:r>
          </a:p>
        </p:txBody>
      </p:sp>
      <p:sp>
        <p:nvSpPr>
          <p:cNvPr id="12" name="proposal-item">
            <a:extLst>
              <a:ext uri="{FF2B5EF4-FFF2-40B4-BE49-F238E27FC236}">
                <a16:creationId xmlns:a16="http://schemas.microsoft.com/office/drawing/2014/main" id="{26CCA052-11F8-4891-BBFD-1730C3BC18AB}"/>
              </a:ext>
            </a:extLst>
          </p:cNvPr>
          <p:cNvSpPr>
            <a:spLocks noGrp="1"/>
          </p:cNvSpPr>
          <p:nvPr/>
        </p:nvSpPr>
        <p:spPr>
          <a:xfrm>
            <a:off x="819150" y="4191000"/>
            <a:ext cx="4876800" cy="419100"/>
          </a:xfrm>
          <a:prstGeom prst="rect">
            <a:avLst/>
          </a:prstGeom>
          <a:noFill/>
          <a:ln w="0">
            <a:noFill/>
          </a:ln>
        </p:spPr>
        <p:txBody>
          <a:bodyPr lIns="0" tIns="0" rIns="0" bIns="0">
            <a:noAutofit/>
          </a:bodyPr>
          <a:lstStyle>
            <a:defPPr>
              <a:defRPr sz="1875" b="0">
                <a:solidFill>
                  <a:srgbClr val="233A4B"/>
                </a:solidFill>
                <a:latin typeface="Helvetica Neue"/>
                <a:ea typeface="Helvetica Neue"/>
                <a:cs typeface="Helvetica Neue"/>
              </a:defRPr>
            </a:defPPr>
          </a:lstStyle>
          <a:p>
            <a:pPr>
              <a:buNone/>
              <a:defRPr sz="1875" b="0">
                <a:solidFill>
                  <a:srgbClr val="233A4B"/>
                </a:solidFill>
                <a:latin typeface="Helvetica Neue"/>
                <a:ea typeface="Helvetica Neue"/>
                <a:cs typeface="Helvetica Neue"/>
              </a:defRPr>
            </a:pPr>
            <a:r>
              <a:rPr sz="1875" b="0">
                <a:solidFill>
                  <a:srgbClr val="233A4B"/>
                </a:solidFill>
                <a:latin typeface="Helvetica Neue"/>
                <a:ea typeface="Helvetica Neue"/>
                <a:cs typeface="Helvetica Neue"/>
              </a:rPr>
              <a:t>Business model and R&amp;D plan</a:t>
            </a:r>
          </a:p>
        </p:txBody>
      </p:sp>
      <p:sp>
        <p:nvSpPr>
          <p:cNvPr id="13" name="proposal-item">
            <a:extLst>
              <a:ext uri="{FF2B5EF4-FFF2-40B4-BE49-F238E27FC236}">
                <a16:creationId xmlns:a16="http://schemas.microsoft.com/office/drawing/2014/main" id="{AD5CF366-8993-48E1-917A-2332A1A8DC97}"/>
              </a:ext>
            </a:extLst>
          </p:cNvPr>
          <p:cNvSpPr>
            <a:spLocks noGrp="1"/>
          </p:cNvSpPr>
          <p:nvPr/>
        </p:nvSpPr>
        <p:spPr>
          <a:xfrm>
            <a:off x="819150" y="4648200"/>
            <a:ext cx="4876800" cy="419100"/>
          </a:xfrm>
          <a:prstGeom prst="rect">
            <a:avLst/>
          </a:prstGeom>
          <a:noFill/>
          <a:ln w="0">
            <a:noFill/>
          </a:ln>
        </p:spPr>
        <p:txBody>
          <a:bodyPr lIns="0" tIns="0" rIns="0" bIns="0">
            <a:noAutofit/>
          </a:bodyPr>
          <a:lstStyle>
            <a:defPPr>
              <a:defRPr sz="1875" b="0">
                <a:solidFill>
                  <a:srgbClr val="233A4B"/>
                </a:solidFill>
                <a:latin typeface="Helvetica Neue"/>
                <a:ea typeface="Helvetica Neue"/>
                <a:cs typeface="Helvetica Neue"/>
              </a:defRPr>
            </a:defPPr>
          </a:lstStyle>
          <a:p>
            <a:pPr>
              <a:buNone/>
              <a:defRPr sz="1875" b="0">
                <a:solidFill>
                  <a:srgbClr val="233A4B"/>
                </a:solidFill>
                <a:latin typeface="Helvetica Neue"/>
                <a:ea typeface="Helvetica Neue"/>
                <a:cs typeface="Helvetica Neue"/>
              </a:defRPr>
            </a:pPr>
            <a:r>
              <a:rPr sz="1875" b="0">
                <a:solidFill>
                  <a:srgbClr val="233A4B"/>
                </a:solidFill>
                <a:latin typeface="Helvetica Neue"/>
                <a:ea typeface="Helvetica Neue"/>
                <a:cs typeface="Helvetica Neue"/>
              </a:rPr>
              <a:t>Budget, evidence and next steps</a:t>
            </a:r>
          </a:p>
        </p:txBody>
      </p:sp>
      <p:sp>
        <p:nvSpPr>
          <p:cNvPr id="14" name="pitch-item">
            <a:extLst>
              <a:ext uri="{FF2B5EF4-FFF2-40B4-BE49-F238E27FC236}">
                <a16:creationId xmlns:a16="http://schemas.microsoft.com/office/drawing/2014/main" id="{3BBF8493-3216-4C83-B12C-EF2AFA370349}"/>
              </a:ext>
            </a:extLst>
          </p:cNvPr>
          <p:cNvSpPr>
            <a:spLocks noGrp="1"/>
          </p:cNvSpPr>
          <p:nvPr/>
        </p:nvSpPr>
        <p:spPr>
          <a:xfrm>
            <a:off x="6457950" y="3276600"/>
            <a:ext cx="4876800" cy="419100"/>
          </a:xfrm>
          <a:prstGeom prst="rect">
            <a:avLst/>
          </a:prstGeom>
          <a:noFill/>
          <a:ln w="0">
            <a:noFill/>
          </a:ln>
        </p:spPr>
        <p:txBody>
          <a:bodyPr lIns="0" tIns="0" rIns="0" bIns="0">
            <a:noAutofit/>
          </a:bodyPr>
          <a:lstStyle>
            <a:defPPr>
              <a:defRPr sz="1875" b="1">
                <a:solidFill>
                  <a:srgbClr val="233A4B"/>
                </a:solidFill>
                <a:latin typeface="Helvetica Neue"/>
                <a:ea typeface="Helvetica Neue"/>
                <a:cs typeface="Helvetica Neue"/>
              </a:defRPr>
            </a:defPPr>
          </a:lstStyle>
          <a:p>
            <a:pPr>
              <a:buNone/>
              <a:defRPr sz="1875" b="1">
                <a:solidFill>
                  <a:srgbClr val="233A4B"/>
                </a:solidFill>
                <a:latin typeface="Helvetica Neue"/>
                <a:ea typeface="Helvetica Neue"/>
                <a:cs typeface="Helvetica Neue"/>
              </a:defRPr>
            </a:pPr>
            <a:r>
              <a:rPr sz="1875" b="1">
                <a:solidFill>
                  <a:srgbClr val="233A4B"/>
                </a:solidFill>
                <a:latin typeface="Helvetica Neue"/>
                <a:ea typeface="Helvetica Neue"/>
                <a:cs typeface="Helvetica Neue"/>
              </a:rPr>
              <a:t>5-minute pitch + 5-minute Q&amp;A</a:t>
            </a:r>
          </a:p>
        </p:txBody>
      </p:sp>
      <p:sp>
        <p:nvSpPr>
          <p:cNvPr id="15" name="pitch-item">
            <a:extLst>
              <a:ext uri="{FF2B5EF4-FFF2-40B4-BE49-F238E27FC236}">
                <a16:creationId xmlns:a16="http://schemas.microsoft.com/office/drawing/2014/main" id="{16956519-D632-433A-81F4-41E8F3D9E1A0}"/>
              </a:ext>
            </a:extLst>
          </p:cNvPr>
          <p:cNvSpPr>
            <a:spLocks noGrp="1"/>
          </p:cNvSpPr>
          <p:nvPr/>
        </p:nvSpPr>
        <p:spPr>
          <a:xfrm>
            <a:off x="6457950" y="3733800"/>
            <a:ext cx="4876800" cy="419100"/>
          </a:xfrm>
          <a:prstGeom prst="rect">
            <a:avLst/>
          </a:prstGeom>
          <a:noFill/>
          <a:ln w="0">
            <a:noFill/>
          </a:ln>
        </p:spPr>
        <p:txBody>
          <a:bodyPr lIns="0" tIns="0" rIns="0" bIns="0">
            <a:noAutofit/>
          </a:bodyPr>
          <a:lstStyle>
            <a:defPPr>
              <a:defRPr sz="1875" b="0">
                <a:solidFill>
                  <a:srgbClr val="233A4B"/>
                </a:solidFill>
                <a:latin typeface="Helvetica Neue"/>
                <a:ea typeface="Helvetica Neue"/>
                <a:cs typeface="Helvetica Neue"/>
              </a:defRPr>
            </a:defPPr>
          </a:lstStyle>
          <a:p>
            <a:pPr>
              <a:buNone/>
              <a:defRPr sz="1875" b="0">
                <a:solidFill>
                  <a:srgbClr val="233A4B"/>
                </a:solidFill>
                <a:latin typeface="Helvetica Neue"/>
                <a:ea typeface="Helvetica Neue"/>
                <a:cs typeface="Helvetica Neue"/>
              </a:defRPr>
            </a:pPr>
            <a:r>
              <a:rPr sz="1875" b="0">
                <a:solidFill>
                  <a:srgbClr val="233A4B"/>
                </a:solidFill>
                <a:latin typeface="Helvetica Neue"/>
                <a:ea typeface="Helvetica Neue"/>
                <a:cs typeface="Helvetica Neue"/>
              </a:rPr>
              <a:t>Select the strongest evidence</a:t>
            </a:r>
          </a:p>
        </p:txBody>
      </p:sp>
      <p:sp>
        <p:nvSpPr>
          <p:cNvPr id="16" name="pitch-item">
            <a:extLst>
              <a:ext uri="{FF2B5EF4-FFF2-40B4-BE49-F238E27FC236}">
                <a16:creationId xmlns:a16="http://schemas.microsoft.com/office/drawing/2014/main" id="{60C8F5C7-CDEE-48C0-8703-9B3ED0C0B48A}"/>
              </a:ext>
            </a:extLst>
          </p:cNvPr>
          <p:cNvSpPr>
            <a:spLocks noGrp="1"/>
          </p:cNvSpPr>
          <p:nvPr/>
        </p:nvSpPr>
        <p:spPr>
          <a:xfrm>
            <a:off x="6457950" y="4191000"/>
            <a:ext cx="4876800" cy="419100"/>
          </a:xfrm>
          <a:prstGeom prst="rect">
            <a:avLst/>
          </a:prstGeom>
          <a:noFill/>
          <a:ln w="0">
            <a:noFill/>
          </a:ln>
        </p:spPr>
        <p:txBody>
          <a:bodyPr lIns="0" tIns="0" rIns="0" bIns="0">
            <a:noAutofit/>
          </a:bodyPr>
          <a:lstStyle>
            <a:defPPr>
              <a:defRPr sz="1875" b="0">
                <a:solidFill>
                  <a:srgbClr val="233A4B"/>
                </a:solidFill>
                <a:latin typeface="Helvetica Neue"/>
                <a:ea typeface="Helvetica Neue"/>
                <a:cs typeface="Helvetica Neue"/>
              </a:defRPr>
            </a:defPPr>
          </a:lstStyle>
          <a:p>
            <a:pPr>
              <a:buNone/>
              <a:defRPr sz="1875" b="0">
                <a:solidFill>
                  <a:srgbClr val="233A4B"/>
                </a:solidFill>
                <a:latin typeface="Helvetica Neue"/>
                <a:ea typeface="Helvetica Neue"/>
                <a:cs typeface="Helvetica Neue"/>
              </a:defRPr>
            </a:pPr>
            <a:r>
              <a:rPr sz="1875" b="0">
                <a:solidFill>
                  <a:srgbClr val="233A4B"/>
                </a:solidFill>
                <a:latin typeface="Helvetica Neue"/>
                <a:ea typeface="Helvetica Neue"/>
                <a:cs typeface="Helvetica Neue"/>
              </a:rPr>
              <a:t>Explain the solution and its value</a:t>
            </a:r>
          </a:p>
        </p:txBody>
      </p:sp>
      <p:sp>
        <p:nvSpPr>
          <p:cNvPr id="17" name="pitch-item">
            <a:extLst>
              <a:ext uri="{FF2B5EF4-FFF2-40B4-BE49-F238E27FC236}">
                <a16:creationId xmlns:a16="http://schemas.microsoft.com/office/drawing/2014/main" id="{F89E1C38-4056-465C-9FF8-B788ADB5DA1D}"/>
              </a:ext>
            </a:extLst>
          </p:cNvPr>
          <p:cNvSpPr>
            <a:spLocks noGrp="1"/>
          </p:cNvSpPr>
          <p:nvPr/>
        </p:nvSpPr>
        <p:spPr>
          <a:xfrm>
            <a:off x="6457950" y="4648200"/>
            <a:ext cx="4876800" cy="419100"/>
          </a:xfrm>
          <a:prstGeom prst="rect">
            <a:avLst/>
          </a:prstGeom>
          <a:noFill/>
          <a:ln w="0">
            <a:noFill/>
          </a:ln>
        </p:spPr>
        <p:txBody>
          <a:bodyPr lIns="0" tIns="0" rIns="0" bIns="0">
            <a:noAutofit/>
          </a:bodyPr>
          <a:lstStyle>
            <a:defPPr>
              <a:defRPr sz="1875" b="0">
                <a:solidFill>
                  <a:srgbClr val="233A4B"/>
                </a:solidFill>
                <a:latin typeface="Helvetica Neue"/>
                <a:ea typeface="Helvetica Neue"/>
                <a:cs typeface="Helvetica Neue"/>
              </a:defRPr>
            </a:defPPr>
          </a:lstStyle>
          <a:p>
            <a:pPr>
              <a:buNone/>
              <a:defRPr sz="1875" b="0">
                <a:solidFill>
                  <a:srgbClr val="233A4B"/>
                </a:solidFill>
                <a:latin typeface="Helvetica Neue"/>
                <a:ea typeface="Helvetica Neue"/>
                <a:cs typeface="Helvetica Neue"/>
              </a:defRPr>
            </a:pPr>
            <a:r>
              <a:rPr sz="1875" b="0">
                <a:solidFill>
                  <a:srgbClr val="233A4B"/>
                </a:solidFill>
                <a:latin typeface="Helvetica Neue"/>
                <a:ea typeface="Helvetica Neue"/>
                <a:cs typeface="Helvetica Neue"/>
              </a:rPr>
              <a:t>Show the plan and funding needs</a:t>
            </a:r>
          </a:p>
        </p:txBody>
      </p:sp>
      <p:sp>
        <p:nvSpPr>
          <p:cNvPr id="18" name="handoff-footer">
            <a:extLst>
              <a:ext uri="{FF2B5EF4-FFF2-40B4-BE49-F238E27FC236}">
                <a16:creationId xmlns:a16="http://schemas.microsoft.com/office/drawing/2014/main" id="{17B6AF45-A9CD-4217-BC50-4F80C442F570}"/>
              </a:ext>
            </a:extLst>
          </p:cNvPr>
          <p:cNvSpPr>
            <a:spLocks noGrp="1"/>
          </p:cNvSpPr>
          <p:nvPr/>
        </p:nvSpPr>
        <p:spPr>
          <a:xfrm>
            <a:off x="609600" y="5829300"/>
            <a:ext cx="10972800" cy="409575"/>
          </a:xfrm>
          <a:prstGeom prst="rect">
            <a:avLst/>
          </a:prstGeom>
          <a:noFill/>
          <a:ln w="0">
            <a:noFill/>
          </a:ln>
        </p:spPr>
        <p:txBody>
          <a:bodyPr lIns="0" tIns="0" rIns="0" bIns="0">
            <a:noAutofit/>
          </a:bodyPr>
          <a:lstStyle>
            <a:defPPr>
              <a:defRPr sz="1950" b="0">
                <a:solidFill>
                  <a:srgbClr val="607482"/>
                </a:solidFill>
                <a:latin typeface="Helvetica Neue"/>
                <a:ea typeface="Helvetica Neue"/>
                <a:cs typeface="Helvetica Neue"/>
              </a:defRPr>
            </a:defPPr>
          </a:lstStyle>
          <a:p>
            <a:pPr>
              <a:buNone/>
              <a:defRPr sz="1950" b="0">
                <a:solidFill>
                  <a:srgbClr val="607482"/>
                </a:solidFill>
                <a:latin typeface="Helvetica Neue"/>
                <a:ea typeface="Helvetica Neue"/>
                <a:cs typeface="Helvetica Neue"/>
              </a:defRPr>
            </a:pPr>
            <a:r>
              <a:rPr sz="1950" b="0">
                <a:solidFill>
                  <a:srgbClr val="607482"/>
                </a:solidFill>
                <a:latin typeface="Helvetica Neue"/>
                <a:ea typeface="Helvetica Neue"/>
                <a:cs typeface="Helvetica Neue"/>
              </a:rPr>
              <a:t>Review both outputs together before submission.</a:t>
            </a:r>
          </a:p>
        </p:txBody>
      </p:sp>
      <p:sp>
        <p:nvSpPr>
          <p:cNvPr id="19" name="page-number">
            <a:extLst>
              <a:ext uri="{FF2B5EF4-FFF2-40B4-BE49-F238E27FC236}">
                <a16:creationId xmlns:a16="http://schemas.microsoft.com/office/drawing/2014/main" id="{305F0EE8-D1F8-41C2-8E99-A4EF14391C62}"/>
              </a:ext>
            </a:extLst>
          </p:cNvPr>
          <p:cNvSpPr>
            <a:spLocks noGrp="1"/>
          </p:cNvSpPr>
          <p:nvPr/>
        </p:nvSpPr>
        <p:spPr>
          <a:xfrm>
            <a:off x="10953750" y="6438900"/>
            <a:ext cx="619125" cy="238125"/>
          </a:xfrm>
          <a:prstGeom prst="rect">
            <a:avLst/>
          </a:prstGeom>
          <a:noFill/>
          <a:ln w="0">
            <a:noFill/>
          </a:ln>
        </p:spPr>
        <p:txBody>
          <a:bodyPr lIns="0" tIns="0" rIns="0" bIns="0">
            <a:noAutofit/>
          </a:bodyPr>
          <a:lstStyle>
            <a:defPPr>
              <a:defRPr sz="1125" b="0">
                <a:solidFill>
                  <a:srgbClr val="607482"/>
                </a:solidFill>
                <a:latin typeface="Helvetica Neue"/>
                <a:ea typeface="Helvetica Neue"/>
                <a:cs typeface="Helvetica Neue"/>
              </a:defRPr>
            </a:defPPr>
          </a:lstStyle>
          <a:p>
            <a:pPr>
              <a:buNone/>
              <a:defRPr sz="1125" b="0">
                <a:solidFill>
                  <a:srgbClr val="607482"/>
                </a:solidFill>
                <a:latin typeface="Helvetica Neue"/>
                <a:ea typeface="Helvetica Neue"/>
                <a:cs typeface="Helvetica Neue"/>
              </a:defRPr>
            </a:pPr>
            <a:r>
              <a:rPr sz="1125" b="0">
                <a:solidFill>
                  <a:srgbClr val="607482"/>
                </a:solidFill>
                <a:latin typeface="Helvetica Neue"/>
                <a:ea typeface="Helvetica Neue"/>
                <a:cs typeface="Helvetica Neue"/>
              </a:rPr>
              <a:t>27</a:t>
            </a:r>
          </a:p>
        </p:txBody>
      </p:sp>
    </p:spTree>
    <p:extLst>
      <p:ext uri="{BB962C8B-B14F-4D97-AF65-F5344CB8AC3E}">
        <p14:creationId xmlns:p14="http://schemas.microsoft.com/office/powerpoint/2010/main" val="4666178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B63EB2-0D43-13C3-1980-322ECA5766E6}"/>
              </a:ext>
            </a:extLst>
          </p:cNvPr>
          <p:cNvSpPr txBox="1"/>
          <p:nvPr/>
        </p:nvSpPr>
        <p:spPr>
          <a:xfrm>
            <a:off x="848138" y="735298"/>
            <a:ext cx="10455965" cy="623248"/>
          </a:xfrm>
          <a:prstGeom prst="rect">
            <a:avLst/>
          </a:prstGeom>
          <a:noFill/>
        </p:spPr>
        <p:txBody>
          <a:bodyPr wrap="square">
            <a:spAutoFit/>
          </a:bodyPr>
          <a:lstStyle/>
          <a:p>
            <a:pPr>
              <a:buNone/>
              <a:defRPr sz="3450" b="1">
                <a:solidFill>
                  <a:srgbClr val="102B46"/>
                </a:solidFill>
                <a:latin typeface="Helvetica Neue"/>
                <a:ea typeface="Helvetica Neue"/>
                <a:cs typeface="Helvetica Neue"/>
              </a:defRPr>
            </a:pPr>
            <a:r>
              <a:rPr lang="en-GB" sz="3450" b="1" dirty="0">
                <a:solidFill>
                  <a:srgbClr val="102B46"/>
                </a:solidFill>
                <a:latin typeface="Helvetica Neue"/>
                <a:ea typeface="Helvetica Neue"/>
                <a:cs typeface="Helvetica Neue"/>
              </a:rPr>
              <a:t>Next Steps</a:t>
            </a:r>
          </a:p>
        </p:txBody>
      </p:sp>
      <p:sp>
        <p:nvSpPr>
          <p:cNvPr id="4" name="action-2">
            <a:extLst>
              <a:ext uri="{FF2B5EF4-FFF2-40B4-BE49-F238E27FC236}">
                <a16:creationId xmlns:a16="http://schemas.microsoft.com/office/drawing/2014/main" id="{24C1BAE9-7F6F-54AE-E91B-6F0DFA89253A}"/>
              </a:ext>
            </a:extLst>
          </p:cNvPr>
          <p:cNvSpPr>
            <a:spLocks noGrp="1"/>
          </p:cNvSpPr>
          <p:nvPr/>
        </p:nvSpPr>
        <p:spPr>
          <a:xfrm>
            <a:off x="1563755" y="2075673"/>
            <a:ext cx="8464827" cy="360951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marL="457200" indent="-457200">
              <a:lnSpc>
                <a:spcPct val="150000"/>
              </a:lnSpc>
              <a:buFont typeface="+mj-lt"/>
              <a:buAutoNum type="arabicPeriod"/>
              <a:defRPr sz="2175" b="0">
                <a:solidFill>
                  <a:srgbClr val="233A4B"/>
                </a:solidFill>
                <a:latin typeface="Helvetica Neue"/>
                <a:ea typeface="Helvetica Neue"/>
                <a:cs typeface="Helvetica Neue"/>
              </a:defRPr>
            </a:pPr>
            <a:r>
              <a:rPr lang="en-US" sz="2175" b="0" dirty="0">
                <a:solidFill>
                  <a:srgbClr val="233A4B"/>
                </a:solidFill>
                <a:latin typeface="Helvetica Neue"/>
                <a:ea typeface="Helvetica Neue"/>
                <a:cs typeface="Helvetica Neue"/>
              </a:rPr>
              <a:t>Allocate one team leader / representative</a:t>
            </a:r>
          </a:p>
          <a:p>
            <a:pPr marL="457200" indent="-457200">
              <a:lnSpc>
                <a:spcPct val="150000"/>
              </a:lnSpc>
              <a:buFont typeface="+mj-lt"/>
              <a:buAutoNum type="arabicPeriod"/>
              <a:defRPr sz="2175" b="0">
                <a:solidFill>
                  <a:srgbClr val="233A4B"/>
                </a:solidFill>
                <a:latin typeface="Helvetica Neue"/>
                <a:ea typeface="Helvetica Neue"/>
                <a:cs typeface="Helvetica Neue"/>
              </a:defRPr>
            </a:pPr>
            <a:r>
              <a:rPr lang="en-US" sz="2175" dirty="0">
                <a:solidFill>
                  <a:srgbClr val="233A4B"/>
                </a:solidFill>
                <a:latin typeface="Helvetica Neue"/>
                <a:ea typeface="Helvetica Neue"/>
                <a:cs typeface="Helvetica Neue"/>
              </a:rPr>
              <a:t>Signup on SPAIDER Space Platform</a:t>
            </a:r>
            <a:br>
              <a:rPr lang="en-US" sz="2175" dirty="0">
                <a:solidFill>
                  <a:srgbClr val="233A4B"/>
                </a:solidFill>
                <a:latin typeface="Helvetica Neue"/>
                <a:ea typeface="Helvetica Neue"/>
                <a:cs typeface="Helvetica Neue"/>
              </a:rPr>
            </a:br>
            <a:r>
              <a:rPr lang="en-US" sz="2175" dirty="0">
                <a:solidFill>
                  <a:srgbClr val="233A4B"/>
                </a:solidFill>
                <a:latin typeface="Helvetica Neue"/>
                <a:ea typeface="Helvetica Neue"/>
                <a:cs typeface="Helvetica Neue"/>
              </a:rPr>
              <a:t>https://</a:t>
            </a:r>
            <a:r>
              <a:rPr lang="en-US" sz="2175" dirty="0" err="1">
                <a:solidFill>
                  <a:srgbClr val="233A4B"/>
                </a:solidFill>
                <a:latin typeface="Helvetica Neue"/>
                <a:ea typeface="Helvetica Neue"/>
                <a:cs typeface="Helvetica Neue"/>
              </a:rPr>
              <a:t>neospace.spaiderspace.com</a:t>
            </a:r>
            <a:endParaRPr lang="en-US" sz="2175" dirty="0">
              <a:solidFill>
                <a:srgbClr val="233A4B"/>
              </a:solidFill>
              <a:latin typeface="Helvetica Neue"/>
              <a:ea typeface="Helvetica Neue"/>
              <a:cs typeface="Helvetica Neue"/>
            </a:endParaRPr>
          </a:p>
          <a:p>
            <a:pPr marL="457200" indent="-457200">
              <a:lnSpc>
                <a:spcPct val="150000"/>
              </a:lnSpc>
              <a:buFont typeface="+mj-lt"/>
              <a:buAutoNum type="arabicPeriod"/>
              <a:defRPr sz="2175" b="0">
                <a:solidFill>
                  <a:srgbClr val="233A4B"/>
                </a:solidFill>
                <a:latin typeface="Helvetica Neue"/>
                <a:ea typeface="Helvetica Neue"/>
                <a:cs typeface="Helvetica Neue"/>
              </a:defRPr>
            </a:pPr>
            <a:r>
              <a:rPr lang="en-US" sz="2175" b="0" dirty="0">
                <a:solidFill>
                  <a:srgbClr val="233A4B"/>
                </a:solidFill>
                <a:latin typeface="Helvetica Neue"/>
                <a:ea typeface="Helvetica Neue"/>
                <a:cs typeface="Helvetica Neue"/>
              </a:rPr>
              <a:t>Once app</a:t>
            </a:r>
            <a:r>
              <a:rPr lang="en-US" sz="2175" dirty="0">
                <a:solidFill>
                  <a:srgbClr val="233A4B"/>
                </a:solidFill>
                <a:latin typeface="Helvetica Neue"/>
                <a:ea typeface="Helvetica Neue"/>
                <a:cs typeface="Helvetica Neue"/>
              </a:rPr>
              <a:t>roved, invite teammate, get started</a:t>
            </a:r>
          </a:p>
          <a:p>
            <a:pPr>
              <a:buNone/>
              <a:defRPr sz="2175" b="0">
                <a:solidFill>
                  <a:srgbClr val="233A4B"/>
                </a:solidFill>
                <a:latin typeface="Helvetica Neue"/>
                <a:ea typeface="Helvetica Neue"/>
                <a:cs typeface="Helvetica Neue"/>
              </a:defRPr>
            </a:pPr>
            <a:endParaRPr lang="en-US" sz="2175" b="0" dirty="0">
              <a:solidFill>
                <a:srgbClr val="233A4B"/>
              </a:solidFill>
              <a:latin typeface="Helvetica Neue"/>
              <a:ea typeface="Helvetica Neue"/>
              <a:cs typeface="Helvetica Neue"/>
            </a:endParaRPr>
          </a:p>
          <a:p>
            <a:pPr>
              <a:buNone/>
              <a:defRPr sz="2175" b="0">
                <a:solidFill>
                  <a:srgbClr val="233A4B"/>
                </a:solidFill>
                <a:latin typeface="Helvetica Neue"/>
                <a:ea typeface="Helvetica Neue"/>
                <a:cs typeface="Helvetica Neue"/>
              </a:defRPr>
            </a:pPr>
            <a:r>
              <a:rPr lang="en-US" sz="2175" b="1" u="sng" dirty="0">
                <a:solidFill>
                  <a:srgbClr val="233A4B"/>
                </a:solidFill>
                <a:latin typeface="Helvetica Neue"/>
                <a:ea typeface="Helvetica Neue"/>
                <a:cs typeface="Helvetica Neue"/>
              </a:rPr>
              <a:t>Supporting Resources </a:t>
            </a:r>
          </a:p>
          <a:p>
            <a:pPr lvl="1">
              <a:lnSpc>
                <a:spcPct val="150000"/>
              </a:lnSpc>
              <a:defRPr sz="2175" b="0">
                <a:solidFill>
                  <a:srgbClr val="233A4B"/>
                </a:solidFill>
                <a:latin typeface="Helvetica Neue"/>
                <a:ea typeface="Helvetica Neue"/>
                <a:cs typeface="Helvetica Neue"/>
              </a:defRPr>
            </a:pPr>
            <a:r>
              <a:rPr lang="en-US" sz="2000" dirty="0">
                <a:solidFill>
                  <a:srgbClr val="233A4B"/>
                </a:solidFill>
                <a:latin typeface="Helvetica Neue"/>
                <a:ea typeface="Helvetica Neue"/>
                <a:cs typeface="Helvetica Neue"/>
              </a:rPr>
              <a:t>User guide SPAIDER Space</a:t>
            </a:r>
          </a:p>
          <a:p>
            <a:pPr lvl="1">
              <a:lnSpc>
                <a:spcPct val="150000"/>
              </a:lnSpc>
              <a:defRPr sz="2175" b="0">
                <a:solidFill>
                  <a:srgbClr val="233A4B"/>
                </a:solidFill>
                <a:latin typeface="Helvetica Neue"/>
                <a:ea typeface="Helvetica Neue"/>
                <a:cs typeface="Helvetica Neue"/>
              </a:defRPr>
            </a:pPr>
            <a:r>
              <a:rPr lang="en-US" sz="2000" dirty="0">
                <a:solidFill>
                  <a:srgbClr val="233A4B"/>
                </a:solidFill>
                <a:latin typeface="Helvetica Neue"/>
                <a:ea typeface="Helvetica Neue"/>
                <a:cs typeface="Helvetica Neue"/>
              </a:rPr>
              <a:t>Contact SPAIDER Team: </a:t>
            </a:r>
            <a:r>
              <a:rPr lang="en-US" sz="2000" dirty="0" err="1">
                <a:solidFill>
                  <a:srgbClr val="233A4B"/>
                </a:solidFill>
                <a:latin typeface="Helvetica Neue"/>
                <a:ea typeface="Helvetica Neue"/>
                <a:cs typeface="Helvetica Neue"/>
              </a:rPr>
              <a:t>info@spaiderspace.com</a:t>
            </a:r>
            <a:r>
              <a:rPr lang="en-US" sz="2000" dirty="0">
                <a:solidFill>
                  <a:srgbClr val="233A4B"/>
                </a:solidFill>
                <a:latin typeface="Helvetica Neue"/>
                <a:ea typeface="Helvetica Neue"/>
                <a:cs typeface="Helvetica Neue"/>
              </a:rPr>
              <a:t> </a:t>
            </a:r>
          </a:p>
        </p:txBody>
      </p:sp>
    </p:spTree>
    <p:extLst>
      <p:ext uri="{BB962C8B-B14F-4D97-AF65-F5344CB8AC3E}">
        <p14:creationId xmlns:p14="http://schemas.microsoft.com/office/powerpoint/2010/main" val="24493261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244653"/>
        </a:solidFill>
        <a:effectLst/>
      </p:bgPr>
    </p:bg>
    <p:spTree>
      <p:nvGrpSpPr>
        <p:cNvPr id="1" name="">
          <a:extLst>
            <a:ext uri="{FF2B5EF4-FFF2-40B4-BE49-F238E27FC236}">
              <a16:creationId xmlns:a16="http://schemas.microsoft.com/office/drawing/2014/main" id="{4E3F4E6A-13A1-58EB-401D-8FB6DA142A73}"/>
            </a:ext>
          </a:extLst>
        </p:cNvPr>
        <p:cNvGrpSpPr/>
        <p:nvPr/>
      </p:nvGrpSpPr>
      <p:grpSpPr>
        <a:xfrm>
          <a:off x="0" y="0"/>
          <a:ext cx="0" cy="0"/>
          <a:chOff x="0" y="0"/>
          <a:chExt cx="0" cy="0"/>
        </a:xfrm>
      </p:grpSpPr>
      <p:sp>
        <p:nvSpPr>
          <p:cNvPr id="2" name="slide-title">
            <a:extLst>
              <a:ext uri="{FF2B5EF4-FFF2-40B4-BE49-F238E27FC236}">
                <a16:creationId xmlns:a16="http://schemas.microsoft.com/office/drawing/2014/main" id="{323B9B2E-0B78-1B25-DB3B-F572496C2B9A}"/>
              </a:ext>
            </a:extLst>
          </p:cNvPr>
          <p:cNvSpPr>
            <a:spLocks noGrp="1"/>
          </p:cNvSpPr>
          <p:nvPr/>
        </p:nvSpPr>
        <p:spPr>
          <a:xfrm>
            <a:off x="609600" y="1583555"/>
            <a:ext cx="10668000" cy="1762125"/>
          </a:xfrm>
          <a:prstGeom prst="rect">
            <a:avLst/>
          </a:prstGeom>
          <a:noFill/>
          <a:ln w="0">
            <a:noFill/>
          </a:ln>
        </p:spPr>
        <p:txBody>
          <a:bodyPr lIns="0" tIns="0" rIns="0" bIns="0">
            <a:noAutofit/>
          </a:bodyPr>
          <a:lstStyle>
            <a:defPPr>
              <a:defRPr sz="4350" b="1">
                <a:solidFill>
                  <a:srgbClr val="FFFFFF"/>
                </a:solidFill>
                <a:latin typeface="Helvetica Neue"/>
                <a:ea typeface="Helvetica Neue"/>
                <a:cs typeface="Helvetica Neue"/>
              </a:defRPr>
            </a:defPPr>
          </a:lstStyle>
          <a:p>
            <a:pPr marL="0" marR="0" lvl="0" indent="0" algn="l" defTabSz="914400" eaLnBrk="1" fontAlgn="auto" latinLnBrk="0" hangingPunct="1">
              <a:lnSpc>
                <a:spcPct val="100000"/>
              </a:lnSpc>
              <a:spcBef>
                <a:spcPts val="0"/>
              </a:spcBef>
              <a:spcAft>
                <a:spcPts val="0"/>
              </a:spcAft>
              <a:buClrTx/>
              <a:buSzTx/>
              <a:buFontTx/>
              <a:buNone/>
              <a:tabLst/>
              <a:defRPr sz="4350" b="1">
                <a:solidFill>
                  <a:srgbClr val="FFFFFF"/>
                </a:solidFill>
                <a:latin typeface="Helvetica Neue"/>
                <a:ea typeface="Helvetica Neue"/>
                <a:cs typeface="Helvetica Neue"/>
              </a:defRPr>
            </a:pPr>
            <a:r>
              <a:rPr kumimoji="0" lang="en-US" sz="4350" b="1" i="0" u="none" strike="noStrike" kern="1200" cap="none" spc="0" normalizeH="0" baseline="0" noProof="0" dirty="0">
                <a:ln>
                  <a:noFill/>
                </a:ln>
                <a:solidFill>
                  <a:srgbClr val="FFFFFF"/>
                </a:solidFill>
                <a:effectLst/>
                <a:uLnTx/>
                <a:uFillTx/>
                <a:latin typeface="Helvetica Neue"/>
                <a:ea typeface="Helvetica Neue"/>
                <a:cs typeface="Helvetica Neue"/>
              </a:rPr>
              <a:t>THANK YOU</a:t>
            </a:r>
            <a:endParaRPr kumimoji="0" sz="4350" b="1" i="0" u="none" strike="noStrike" kern="1200" cap="none" spc="0" normalizeH="0" baseline="0" noProof="0" dirty="0">
              <a:ln>
                <a:noFill/>
              </a:ln>
              <a:solidFill>
                <a:srgbClr val="FFFFFF"/>
              </a:solidFill>
              <a:effectLst/>
              <a:uLnTx/>
              <a:uFillTx/>
              <a:latin typeface="Helvetica Neue"/>
              <a:ea typeface="Helvetica Neue"/>
              <a:cs typeface="Helvetica Neue"/>
            </a:endParaRPr>
          </a:p>
        </p:txBody>
      </p:sp>
      <p:sp>
        <p:nvSpPr>
          <p:cNvPr id="3" name="section-subtitle">
            <a:extLst>
              <a:ext uri="{FF2B5EF4-FFF2-40B4-BE49-F238E27FC236}">
                <a16:creationId xmlns:a16="http://schemas.microsoft.com/office/drawing/2014/main" id="{F9F36C2D-63C0-F994-E24A-3EB988DA6555}"/>
              </a:ext>
            </a:extLst>
          </p:cNvPr>
          <p:cNvSpPr>
            <a:spLocks noGrp="1"/>
          </p:cNvSpPr>
          <p:nvPr/>
        </p:nvSpPr>
        <p:spPr>
          <a:xfrm>
            <a:off x="609600" y="4674555"/>
            <a:ext cx="10668000" cy="1433281"/>
          </a:xfrm>
          <a:prstGeom prst="rect">
            <a:avLst/>
          </a:prstGeom>
          <a:noFill/>
          <a:ln w="0">
            <a:noFill/>
          </a:ln>
        </p:spPr>
        <p:txBody>
          <a:bodyPr lIns="0" tIns="0" rIns="0" bIns="0">
            <a:noAutofit/>
          </a:bodyPr>
          <a:lstStyle>
            <a:defPPr>
              <a:defRPr sz="2175" b="0">
                <a:solidFill>
                  <a:srgbClr val="FFFFFF"/>
                </a:solidFill>
                <a:latin typeface="Helvetica Neue"/>
                <a:ea typeface="Helvetica Neue"/>
                <a:cs typeface="Helvetica Neue"/>
              </a:defRPr>
            </a:defPPr>
          </a:lstStyle>
          <a:p>
            <a:pPr marL="0" marR="0" lvl="0" indent="0" algn="l" defTabSz="914400" eaLnBrk="1" fontAlgn="auto" latinLnBrk="0" hangingPunct="1">
              <a:lnSpc>
                <a:spcPct val="150000"/>
              </a:lnSpc>
              <a:spcBef>
                <a:spcPts val="0"/>
              </a:spcBef>
              <a:spcAft>
                <a:spcPts val="0"/>
              </a:spcAft>
              <a:buClrTx/>
              <a:buSzTx/>
              <a:buFontTx/>
              <a:buNone/>
              <a:tabLst/>
              <a:defRPr sz="2175" b="0">
                <a:solidFill>
                  <a:srgbClr val="FFFFFF"/>
                </a:solidFill>
                <a:latin typeface="Helvetica Neue"/>
                <a:ea typeface="Helvetica Neue"/>
                <a:cs typeface="Helvetica Neue"/>
              </a:defRPr>
            </a:pPr>
            <a:r>
              <a:rPr kumimoji="0" lang="en-US" sz="2175" b="0" i="0" u="none" strike="noStrike" kern="1200" cap="none" spc="0" normalizeH="0" baseline="0" noProof="0" dirty="0">
                <a:ln>
                  <a:noFill/>
                </a:ln>
                <a:solidFill>
                  <a:srgbClr val="FFFFFF"/>
                </a:solidFill>
                <a:effectLst/>
                <a:uLnTx/>
                <a:uFillTx/>
                <a:latin typeface="Helvetica Neue"/>
                <a:ea typeface="Helvetica Neue"/>
                <a:cs typeface="Helvetica Neue"/>
              </a:rPr>
              <a:t>for further questions and doubts:</a:t>
            </a:r>
          </a:p>
          <a:p>
            <a:pPr lvl="1">
              <a:lnSpc>
                <a:spcPct val="150000"/>
              </a:lnSpc>
              <a:defRPr sz="2175" b="0">
                <a:solidFill>
                  <a:srgbClr val="FFFFFF"/>
                </a:solidFill>
                <a:latin typeface="Helvetica Neue"/>
                <a:ea typeface="Helvetica Neue"/>
                <a:cs typeface="Helvetica Neue"/>
              </a:defRPr>
            </a:pPr>
            <a:r>
              <a:rPr kumimoji="0" lang="en-US" sz="2175" b="0" i="0" u="none" strike="noStrike" kern="1200" cap="none" spc="0" normalizeH="0" baseline="0" noProof="0" dirty="0">
                <a:ln>
                  <a:noFill/>
                </a:ln>
                <a:solidFill>
                  <a:schemeClr val="accent4">
                    <a:lumMod val="40000"/>
                    <a:lumOff val="60000"/>
                  </a:schemeClr>
                </a:solidFill>
                <a:effectLst/>
                <a:uLnTx/>
                <a:uFillTx/>
                <a:latin typeface="Helvetica Neue"/>
                <a:ea typeface="Helvetica Neue"/>
                <a:cs typeface="Helvetica Neue"/>
                <a:hlinkClick r:id="rId3">
                  <a:extLst>
                    <a:ext uri="{A12FA001-AC4F-418D-AE19-62706E023703}">
                      <ahyp:hlinkClr xmlns:ahyp="http://schemas.microsoft.com/office/drawing/2018/hyperlinkcolor" val="tx"/>
                    </a:ext>
                  </a:extLst>
                </a:hlinkClick>
              </a:rPr>
              <a:t>loveneesh.rana@spaiderspace.com</a:t>
            </a:r>
            <a:endParaRPr kumimoji="0" lang="en-US" sz="2175" b="0" i="0" u="none" strike="noStrike" kern="1200" cap="none" spc="0" normalizeH="0" baseline="0" noProof="0" dirty="0">
              <a:ln>
                <a:noFill/>
              </a:ln>
              <a:solidFill>
                <a:schemeClr val="accent4">
                  <a:lumMod val="40000"/>
                  <a:lumOff val="60000"/>
                </a:schemeClr>
              </a:solidFill>
              <a:effectLst/>
              <a:uLnTx/>
              <a:uFillTx/>
              <a:latin typeface="Helvetica Neue"/>
              <a:ea typeface="Helvetica Neue"/>
              <a:cs typeface="Helvetica Neue"/>
            </a:endParaRPr>
          </a:p>
          <a:p>
            <a:pPr lvl="1">
              <a:lnSpc>
                <a:spcPct val="150000"/>
              </a:lnSpc>
              <a:defRPr sz="2175" b="0">
                <a:solidFill>
                  <a:srgbClr val="FFFFFF"/>
                </a:solidFill>
                <a:latin typeface="Helvetica Neue"/>
                <a:ea typeface="Helvetica Neue"/>
                <a:cs typeface="Helvetica Neue"/>
              </a:defRPr>
            </a:pPr>
            <a:r>
              <a:rPr lang="en-US" sz="2175" dirty="0">
                <a:solidFill>
                  <a:schemeClr val="accent4">
                    <a:lumMod val="40000"/>
                    <a:lumOff val="60000"/>
                  </a:schemeClr>
                </a:solidFill>
                <a:latin typeface="Helvetica Neue"/>
                <a:ea typeface="Helvetica Neue"/>
                <a:cs typeface="Helvetica Neue"/>
                <a:hlinkClick r:id="rId4">
                  <a:extLst>
                    <a:ext uri="{A12FA001-AC4F-418D-AE19-62706E023703}">
                      <ahyp:hlinkClr xmlns:ahyp="http://schemas.microsoft.com/office/drawing/2018/hyperlinkcolor" val="tx"/>
                    </a:ext>
                  </a:extLst>
                </a:hlinkClick>
              </a:rPr>
              <a:t>info@spaiderspace.com</a:t>
            </a:r>
            <a:endParaRPr lang="en-US" sz="2175" dirty="0">
              <a:solidFill>
                <a:schemeClr val="accent4">
                  <a:lumMod val="40000"/>
                  <a:lumOff val="60000"/>
                </a:schemeClr>
              </a:solidFill>
              <a:latin typeface="Helvetica Neue"/>
              <a:ea typeface="Helvetica Neue"/>
              <a:cs typeface="Helvetica Neue"/>
            </a:endParaRPr>
          </a:p>
          <a:p>
            <a:pPr marL="0" marR="0" lvl="0" indent="0" algn="l" defTabSz="914400" eaLnBrk="1" fontAlgn="auto" latinLnBrk="0" hangingPunct="1">
              <a:lnSpc>
                <a:spcPct val="150000"/>
              </a:lnSpc>
              <a:spcBef>
                <a:spcPts val="0"/>
              </a:spcBef>
              <a:spcAft>
                <a:spcPts val="0"/>
              </a:spcAft>
              <a:buClrTx/>
              <a:buSzTx/>
              <a:buFontTx/>
              <a:buNone/>
              <a:tabLst/>
              <a:defRPr sz="2175" b="0">
                <a:solidFill>
                  <a:srgbClr val="FFFFFF"/>
                </a:solidFill>
                <a:latin typeface="Helvetica Neue"/>
                <a:ea typeface="Helvetica Neue"/>
                <a:cs typeface="Helvetica Neue"/>
              </a:defRPr>
            </a:pPr>
            <a:endParaRPr kumimoji="0" sz="2175" b="0" i="0" u="none" strike="noStrike" kern="1200" cap="none" spc="0" normalizeH="0" baseline="0" noProof="0" dirty="0">
              <a:ln>
                <a:noFill/>
              </a:ln>
              <a:solidFill>
                <a:srgbClr val="FFFFFF"/>
              </a:solidFill>
              <a:effectLst/>
              <a:uLnTx/>
              <a:uFillTx/>
              <a:latin typeface="Helvetica Neue"/>
              <a:ea typeface="Helvetica Neue"/>
              <a:cs typeface="Helvetica Neue"/>
            </a:endParaRPr>
          </a:p>
        </p:txBody>
      </p:sp>
      <p:sp>
        <p:nvSpPr>
          <p:cNvPr id="4" name="page-number">
            <a:extLst>
              <a:ext uri="{FF2B5EF4-FFF2-40B4-BE49-F238E27FC236}">
                <a16:creationId xmlns:a16="http://schemas.microsoft.com/office/drawing/2014/main" id="{1864FD74-0AC5-D78A-4076-C59892649A14}"/>
              </a:ext>
            </a:extLst>
          </p:cNvPr>
          <p:cNvSpPr>
            <a:spLocks noGrp="1"/>
          </p:cNvSpPr>
          <p:nvPr/>
        </p:nvSpPr>
        <p:spPr>
          <a:xfrm>
            <a:off x="10953750" y="6438900"/>
            <a:ext cx="619125" cy="238125"/>
          </a:xfrm>
          <a:prstGeom prst="rect">
            <a:avLst/>
          </a:prstGeom>
          <a:noFill/>
          <a:ln w="0">
            <a:noFill/>
          </a:ln>
        </p:spPr>
        <p:txBody>
          <a:bodyPr lIns="0" tIns="0" rIns="0" bIns="0">
            <a:noAutofit/>
          </a:bodyPr>
          <a:lstStyle>
            <a:defPPr>
              <a:defRPr sz="1125" b="0">
                <a:solidFill>
                  <a:srgbClr val="FFFFFF"/>
                </a:solidFill>
                <a:latin typeface="Helvetica Neue"/>
                <a:ea typeface="Helvetica Neue"/>
                <a:cs typeface="Helvetica Neue"/>
              </a:defRPr>
            </a:defPPr>
          </a:lstStyle>
          <a:p>
            <a:pPr marL="0" marR="0" lvl="0" indent="0" algn="l" defTabSz="914400" eaLnBrk="1" fontAlgn="auto" latinLnBrk="0" hangingPunct="1">
              <a:lnSpc>
                <a:spcPct val="100000"/>
              </a:lnSpc>
              <a:spcBef>
                <a:spcPts val="0"/>
              </a:spcBef>
              <a:spcAft>
                <a:spcPts val="0"/>
              </a:spcAft>
              <a:buClrTx/>
              <a:buSzTx/>
              <a:buFontTx/>
              <a:buNone/>
              <a:tabLst/>
              <a:defRPr sz="1125" b="0">
                <a:solidFill>
                  <a:srgbClr val="FFFFFF"/>
                </a:solidFill>
                <a:latin typeface="Helvetica Neue"/>
                <a:ea typeface="Helvetica Neue"/>
                <a:cs typeface="Helvetica Neue"/>
              </a:defRPr>
            </a:pPr>
            <a:r>
              <a:rPr kumimoji="0" sz="1125" b="0" i="0" u="none" strike="noStrike" kern="1200" cap="none" spc="0" normalizeH="0" baseline="0" noProof="0">
                <a:ln>
                  <a:noFill/>
                </a:ln>
                <a:solidFill>
                  <a:srgbClr val="FFFFFF"/>
                </a:solidFill>
                <a:effectLst/>
                <a:uLnTx/>
                <a:uFillTx/>
                <a:latin typeface="Helvetica Neue"/>
                <a:ea typeface="Helvetica Neue"/>
                <a:cs typeface="Helvetica Neue"/>
              </a:rPr>
              <a:t>3</a:t>
            </a:r>
          </a:p>
        </p:txBody>
      </p:sp>
      <p:pic>
        <p:nvPicPr>
          <p:cNvPr id="8" name="Picture 7">
            <a:extLst>
              <a:ext uri="{FF2B5EF4-FFF2-40B4-BE49-F238E27FC236}">
                <a16:creationId xmlns:a16="http://schemas.microsoft.com/office/drawing/2014/main" id="{9A808B71-B333-9456-BE27-9BC2B3A3E04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2173" y="2709908"/>
            <a:ext cx="1143000" cy="1143000"/>
          </a:xfrm>
          <a:prstGeom prst="rect">
            <a:avLst/>
          </a:prstGeom>
        </p:spPr>
      </p:pic>
      <p:sp>
        <p:nvSpPr>
          <p:cNvPr id="11" name="TextBox 10">
            <a:extLst>
              <a:ext uri="{FF2B5EF4-FFF2-40B4-BE49-F238E27FC236}">
                <a16:creationId xmlns:a16="http://schemas.microsoft.com/office/drawing/2014/main" id="{A8AFF17D-9E4A-55B2-DC4C-6952D7C89246}"/>
              </a:ext>
            </a:extLst>
          </p:cNvPr>
          <p:cNvSpPr txBox="1"/>
          <p:nvPr/>
        </p:nvSpPr>
        <p:spPr>
          <a:xfrm>
            <a:off x="1752600" y="2626895"/>
            <a:ext cx="6098958" cy="1143070"/>
          </a:xfrm>
          <a:prstGeom prst="rect">
            <a:avLst/>
          </a:prstGeom>
          <a:noFill/>
        </p:spPr>
        <p:txBody>
          <a:bodyPr wrap="square">
            <a:spAutoFit/>
          </a:bodyPr>
          <a:lstStyle/>
          <a:p>
            <a:pPr rtl="0">
              <a:lnSpc>
                <a:spcPct val="150000"/>
              </a:lnSpc>
              <a:defRPr/>
            </a:pPr>
            <a:r>
              <a:rPr lang="en-US" sz="2400" b="1" dirty="0">
                <a:solidFill>
                  <a:srgbClr val="FFFFFF"/>
                </a:solidFill>
                <a:latin typeface="Aptos" panose="020B0004020202020204" pitchFamily="34" charset="0"/>
                <a:ea typeface="Canva Sans"/>
                <a:cs typeface="Canva Sans"/>
                <a:sym typeface="Canva Sans"/>
              </a:rPr>
              <a:t>SPAIDER </a:t>
            </a:r>
            <a:r>
              <a:rPr lang="en-US" sz="2400" dirty="0">
                <a:solidFill>
                  <a:srgbClr val="FFFFFF"/>
                </a:solidFill>
                <a:latin typeface="Aptos" panose="020B0004020202020204" pitchFamily="34" charset="0"/>
                <a:ea typeface="Canva Sans"/>
                <a:cs typeface="Canva Sans"/>
                <a:sym typeface="Canva Sans"/>
              </a:rPr>
              <a:t>Space S.a.r.l.</a:t>
            </a:r>
            <a:endParaRPr kumimoji="0" lang="en-US" sz="2400" b="0" i="0" u="sng" strike="noStrike" kern="1200" cap="none" spc="0" normalizeH="0" baseline="0" noProof="0" dirty="0">
              <a:ln>
                <a:noFill/>
              </a:ln>
              <a:solidFill>
                <a:srgbClr val="00B0F0"/>
              </a:solidFill>
              <a:effectLst/>
              <a:uLnTx/>
              <a:uFillTx/>
              <a:latin typeface="Canva Sans"/>
              <a:ea typeface="Canva Sans"/>
              <a:cs typeface="Canva Sans"/>
              <a:sym typeface="Canva Sans"/>
              <a:hlinkClick r:id="rId6" tooltip="https://www.spaiderspace.com/">
                <a:extLst>
                  <a:ext uri="{A12FA001-AC4F-418D-AE19-62706E023703}">
                    <ahyp:hlinkClr xmlns:ahyp="http://schemas.microsoft.com/office/drawing/2018/hyperlinkcolor" val="tx"/>
                  </a:ext>
                </a:extLst>
              </a:hlinkClick>
            </a:endParaRPr>
          </a:p>
          <a:p>
            <a:pPr marL="0" marR="0" lvl="0" indent="0" algn="l" defTabSz="914400" rtl="0" eaLnBrk="1" fontAlgn="auto" latinLnBrk="0" hangingPunct="1">
              <a:lnSpc>
                <a:spcPct val="150000"/>
              </a:lnSpc>
              <a:buClrTx/>
              <a:buSzTx/>
              <a:buFontTx/>
              <a:buNone/>
              <a:tabLst/>
              <a:defRPr/>
            </a:pPr>
            <a:r>
              <a:rPr kumimoji="0" lang="en-US" sz="2400" b="0" i="0" u="sng" strike="noStrike" kern="1200" cap="none" spc="0" normalizeH="0" baseline="0" noProof="0" dirty="0">
                <a:ln>
                  <a:noFill/>
                </a:ln>
                <a:solidFill>
                  <a:srgbClr val="00B0F0"/>
                </a:solidFill>
                <a:effectLst/>
                <a:uLnTx/>
                <a:uFillTx/>
                <a:latin typeface="Canva Sans"/>
                <a:ea typeface="Canva Sans"/>
                <a:cs typeface="Canva Sans"/>
                <a:sym typeface="Canva Sans"/>
                <a:hlinkClick r:id="rId6" tooltip="https://www.spaiderspace.com/">
                  <a:extLst>
                    <a:ext uri="{A12FA001-AC4F-418D-AE19-62706E023703}">
                      <ahyp:hlinkClr xmlns:ahyp="http://schemas.microsoft.com/office/drawing/2018/hyperlinkcolor" val="tx"/>
                    </a:ext>
                  </a:extLst>
                </a:hlinkClick>
              </a:rPr>
              <a:t>www.spaiderspace.com</a:t>
            </a:r>
          </a:p>
        </p:txBody>
      </p:sp>
    </p:spTree>
    <p:extLst>
      <p:ext uri="{BB962C8B-B14F-4D97-AF65-F5344CB8AC3E}">
        <p14:creationId xmlns:p14="http://schemas.microsoft.com/office/powerpoint/2010/main" val="11272909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8C5D20"/>
        </a:solidFill>
        <a:effectLst/>
      </p:bgPr>
    </p:bg>
    <p:spTree>
      <p:nvGrpSpPr>
        <p:cNvPr id="1" name=""/>
        <p:cNvGrpSpPr/>
        <p:nvPr/>
      </p:nvGrpSpPr>
      <p:grpSpPr>
        <a:xfrm>
          <a:off x="0" y="0"/>
          <a:ext cx="0" cy="0"/>
          <a:chOff x="0" y="0"/>
          <a:chExt cx="0" cy="0"/>
        </a:xfrm>
      </p:grpSpPr>
      <p:sp>
        <p:nvSpPr>
          <p:cNvPr id="6" name="section-label">
            <a:extLst>
              <a:ext uri="{FF2B5EF4-FFF2-40B4-BE49-F238E27FC236}">
                <a16:creationId xmlns:a16="http://schemas.microsoft.com/office/drawing/2014/main" id="{D5E85960-0AA5-4765-920D-010080CD6F49}"/>
              </a:ext>
            </a:extLst>
          </p:cNvPr>
          <p:cNvSpPr>
            <a:spLocks noGrp="1"/>
          </p:cNvSpPr>
          <p:nvPr/>
        </p:nvSpPr>
        <p:spPr>
          <a:xfrm>
            <a:off x="609600" y="571500"/>
            <a:ext cx="9525000" cy="381000"/>
          </a:xfrm>
          <a:prstGeom prst="rect">
            <a:avLst/>
          </a:prstGeom>
          <a:noFill/>
          <a:ln w="0">
            <a:noFill/>
          </a:ln>
        </p:spPr>
        <p:txBody>
          <a:bodyPr lIns="0" tIns="0" rIns="0" bIns="0">
            <a:noAutofit/>
          </a:bodyPr>
          <a:lstStyle>
            <a:defPPr>
              <a:defRPr sz="1500" b="1">
                <a:solidFill>
                  <a:srgbClr val="FFFFFF"/>
                </a:solidFill>
                <a:latin typeface="Helvetica Neue"/>
                <a:ea typeface="Helvetica Neue"/>
                <a:cs typeface="Helvetica Neue"/>
              </a:defRPr>
            </a:defPPr>
          </a:lstStyle>
          <a:p>
            <a:pPr>
              <a:buNone/>
              <a:defRPr sz="1500" b="1">
                <a:solidFill>
                  <a:srgbClr val="FFFFFF"/>
                </a:solidFill>
                <a:latin typeface="Helvetica Neue"/>
                <a:ea typeface="Helvetica Neue"/>
                <a:cs typeface="Helvetica Neue"/>
              </a:defRPr>
            </a:pPr>
            <a:endParaRPr/>
          </a:p>
        </p:txBody>
      </p:sp>
      <p:pic>
        <p:nvPicPr>
          <p:cNvPr id="2" name="Picture 1">
            <a:extLst>
              <a:ext uri="{FF2B5EF4-FFF2-40B4-BE49-F238E27FC236}">
                <a16:creationId xmlns:a16="http://schemas.microsoft.com/office/drawing/2014/main" id="{66447038-C26C-4C33-B2D2-137AD630F3BD}"/>
              </a:ext>
            </a:extLst>
          </p:cNvPr>
          <p:cNvPicPr>
            <a:picLocks noChangeAspect="1"/>
          </p:cNvPicPr>
          <p:nvPr/>
        </p:nvPicPr>
        <p:blipFill>
          <a:blip r:embed="rId3"/>
          <a:stretch/>
        </p:blipFill>
        <p:spPr>
          <a:xfrm>
            <a:off x="9715500" y="666750"/>
            <a:ext cx="1333500" cy="1333500"/>
          </a:xfrm>
          <a:prstGeom prst="rect">
            <a:avLst/>
          </a:prstGeom>
        </p:spPr>
      </p:pic>
      <p:sp>
        <p:nvSpPr>
          <p:cNvPr id="3" name="slide-title">
            <a:extLst>
              <a:ext uri="{FF2B5EF4-FFF2-40B4-BE49-F238E27FC236}">
                <a16:creationId xmlns:a16="http://schemas.microsoft.com/office/drawing/2014/main" id="{4FDDB6EA-3FCF-4648-B8FB-033BAC284B0A}"/>
              </a:ext>
            </a:extLst>
          </p:cNvPr>
          <p:cNvSpPr>
            <a:spLocks noGrp="1"/>
          </p:cNvSpPr>
          <p:nvPr/>
        </p:nvSpPr>
        <p:spPr>
          <a:xfrm>
            <a:off x="609600" y="2381250"/>
            <a:ext cx="10572750" cy="1762125"/>
          </a:xfrm>
          <a:prstGeom prst="rect">
            <a:avLst/>
          </a:prstGeom>
          <a:noFill/>
          <a:ln w="0">
            <a:noFill/>
          </a:ln>
        </p:spPr>
        <p:txBody>
          <a:bodyPr lIns="0" tIns="0" rIns="0" bIns="0">
            <a:noAutofit/>
          </a:bodyPr>
          <a:lstStyle>
            <a:defPPr>
              <a:defRPr sz="4350" b="1">
                <a:solidFill>
                  <a:srgbClr val="FFFFFF"/>
                </a:solidFill>
                <a:latin typeface="Helvetica Neue"/>
                <a:ea typeface="Helvetica Neue"/>
                <a:cs typeface="Helvetica Neue"/>
              </a:defRPr>
            </a:defPPr>
          </a:lstStyle>
          <a:p>
            <a:pPr>
              <a:buNone/>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Appendix</a:t>
            </a:r>
          </a:p>
          <a:p>
            <a:pPr>
              <a:buNone/>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Detailed reference</a:t>
            </a:r>
          </a:p>
        </p:txBody>
      </p:sp>
      <p:sp>
        <p:nvSpPr>
          <p:cNvPr id="4" name="section-subtitle">
            <a:extLst>
              <a:ext uri="{FF2B5EF4-FFF2-40B4-BE49-F238E27FC236}">
                <a16:creationId xmlns:a16="http://schemas.microsoft.com/office/drawing/2014/main" id="{24BA21CE-7B98-4E49-B61A-2A64CDE41B67}"/>
              </a:ext>
            </a:extLst>
          </p:cNvPr>
          <p:cNvSpPr>
            <a:spLocks noGrp="1"/>
          </p:cNvSpPr>
          <p:nvPr/>
        </p:nvSpPr>
        <p:spPr>
          <a:xfrm>
            <a:off x="609600" y="4886325"/>
            <a:ext cx="10572750" cy="819150"/>
          </a:xfrm>
          <a:prstGeom prst="rect">
            <a:avLst/>
          </a:prstGeom>
          <a:noFill/>
          <a:ln w="0">
            <a:noFill/>
          </a:ln>
        </p:spPr>
        <p:txBody>
          <a:bodyPr lIns="0" tIns="0" rIns="0" bIns="0">
            <a:noAutofit/>
          </a:bodyPr>
          <a:lstStyle>
            <a:defPPr>
              <a:defRPr sz="2175" b="0">
                <a:solidFill>
                  <a:srgbClr val="FFFFFF"/>
                </a:solidFill>
                <a:latin typeface="Helvetica Neue"/>
                <a:ea typeface="Helvetica Neue"/>
                <a:cs typeface="Helvetica Neue"/>
              </a:defRPr>
            </a:defPPr>
          </a:lstStyle>
          <a:p>
            <a:pPr>
              <a:buNone/>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Session steps, examples and prompt guide</a:t>
            </a:r>
          </a:p>
        </p:txBody>
      </p:sp>
      <p:sp>
        <p:nvSpPr>
          <p:cNvPr id="5" name="page-number">
            <a:extLst>
              <a:ext uri="{FF2B5EF4-FFF2-40B4-BE49-F238E27FC236}">
                <a16:creationId xmlns:a16="http://schemas.microsoft.com/office/drawing/2014/main" id="{5209D14A-9508-4322-9BE9-4EB03CA8531A}"/>
              </a:ext>
            </a:extLst>
          </p:cNvPr>
          <p:cNvSpPr>
            <a:spLocks noGrp="1"/>
          </p:cNvSpPr>
          <p:nvPr/>
        </p:nvSpPr>
        <p:spPr>
          <a:xfrm>
            <a:off x="10953750" y="6438900"/>
            <a:ext cx="619125" cy="238125"/>
          </a:xfrm>
          <a:prstGeom prst="rect">
            <a:avLst/>
          </a:prstGeom>
          <a:noFill/>
          <a:ln w="0">
            <a:noFill/>
          </a:ln>
        </p:spPr>
        <p:txBody>
          <a:bodyPr lIns="0" tIns="0" rIns="0" bIns="0">
            <a:noAutofit/>
          </a:bodyPr>
          <a:lstStyle>
            <a:defPPr>
              <a:defRPr sz="1125" b="0">
                <a:solidFill>
                  <a:srgbClr val="FFFFFF"/>
                </a:solidFill>
                <a:latin typeface="Helvetica Neue"/>
                <a:ea typeface="Helvetica Neue"/>
                <a:cs typeface="Helvetica Neue"/>
              </a:defRPr>
            </a:defPPr>
          </a:lstStyle>
          <a:p>
            <a:pPr>
              <a:buNone/>
              <a:defRPr sz="1125" b="0">
                <a:solidFill>
                  <a:srgbClr val="FFFFFF"/>
                </a:solidFill>
                <a:latin typeface="Helvetica Neue"/>
                <a:ea typeface="Helvetica Neue"/>
                <a:cs typeface="Helvetica Neue"/>
              </a:defRPr>
            </a:pPr>
            <a:r>
              <a:rPr sz="1125" b="0">
                <a:solidFill>
                  <a:srgbClr val="FFFFFF"/>
                </a:solidFill>
                <a:latin typeface="Helvetica Neue"/>
                <a:ea typeface="Helvetica Neue"/>
                <a:cs typeface="Helvetica Neue"/>
              </a:rPr>
              <a:t>A1</a:t>
            </a:r>
          </a:p>
        </p:txBody>
      </p:sp>
    </p:spTree>
    <p:extLst>
      <p:ext uri="{BB962C8B-B14F-4D97-AF65-F5344CB8AC3E}">
        <p14:creationId xmlns:p14="http://schemas.microsoft.com/office/powerpoint/2010/main" val="8091431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3" name="section-label">
            <a:extLst>
              <a:ext uri="{FF2B5EF4-FFF2-40B4-BE49-F238E27FC236}">
                <a16:creationId xmlns:a16="http://schemas.microsoft.com/office/drawing/2014/main" id="{8CFADCBB-1E11-4056-988C-059CB75EC264}"/>
              </a:ext>
            </a:extLst>
          </p:cNvPr>
          <p:cNvSpPr>
            <a:spLocks noGrp="1"/>
          </p:cNvSpPr>
          <p:nvPr/>
        </p:nvSpPr>
        <p:spPr>
          <a:xfrm>
            <a:off x="609600" y="285750"/>
            <a:ext cx="10668000" cy="285750"/>
          </a:xfrm>
          <a:prstGeom prst="rect">
            <a:avLst/>
          </a:prstGeom>
          <a:noFill/>
          <a:ln w="0">
            <a:noFill/>
          </a:ln>
        </p:spPr>
        <p:txBody>
          <a:bodyPr lIns="0" tIns="0" rIns="0" bIns="0">
            <a:noAutofit/>
          </a:bodyPr>
          <a:lstStyle>
            <a:defPPr algn="l">
              <a:defRPr sz="1200" b="1">
                <a:solidFill>
                  <a:srgbClr val="226FBB"/>
                </a:solidFill>
                <a:latin typeface="Helvetica Neue"/>
                <a:ea typeface="Helvetica Neue"/>
                <a:cs typeface="Helvetica Neue"/>
              </a:defRPr>
            </a:defPPr>
          </a:lstStyle>
          <a:p>
            <a:pPr algn="l">
              <a:buNone/>
              <a:defRPr sz="1200" b="1">
                <a:solidFill>
                  <a:srgbClr val="226FBB"/>
                </a:solidFill>
                <a:latin typeface="Helvetica Neue"/>
                <a:ea typeface="Helvetica Neue"/>
                <a:cs typeface="Helvetica Neue"/>
              </a:defRPr>
            </a:pPr>
            <a:r>
              <a:rPr sz="1200" b="1">
                <a:solidFill>
                  <a:srgbClr val="226FBB"/>
                </a:solidFill>
                <a:latin typeface="Helvetica Neue"/>
                <a:ea typeface="Helvetica Neue"/>
                <a:cs typeface="Helvetica Neue"/>
              </a:rPr>
              <a:t>APPENDIX: SESSION 1: CONCEPT DEFINITION</a:t>
            </a:r>
          </a:p>
        </p:txBody>
      </p:sp>
      <p:sp>
        <p:nvSpPr>
          <p:cNvPr id="2" name="slide-title">
            <a:extLst>
              <a:ext uri="{FF2B5EF4-FFF2-40B4-BE49-F238E27FC236}">
                <a16:creationId xmlns:a16="http://schemas.microsoft.com/office/drawing/2014/main" id="{3DC24741-53CC-4CC1-8806-36225BF159AF}"/>
              </a:ext>
            </a:extLst>
          </p:cNvPr>
          <p:cNvSpPr>
            <a:spLocks noGrp="1"/>
          </p:cNvSpPr>
          <p:nvPr/>
        </p:nvSpPr>
        <p:spPr>
          <a:xfrm>
            <a:off x="609600" y="781050"/>
            <a:ext cx="10858500" cy="857250"/>
          </a:xfrm>
          <a:prstGeom prst="rect">
            <a:avLst/>
          </a:prstGeom>
          <a:noFill/>
          <a:ln w="0">
            <a:noFill/>
          </a:ln>
        </p:spPr>
        <p:txBody>
          <a:bodyPr lIns="0" tIns="0" rIns="0" bIns="0">
            <a:noAutofit/>
          </a:bodyPr>
          <a:lstStyle>
            <a:defPPr algn="l">
              <a:defRPr sz="3450" b="1">
                <a:solidFill>
                  <a:srgbClr val="102B46"/>
                </a:solidFill>
                <a:latin typeface="Helvetica Neue"/>
                <a:ea typeface="Helvetica Neue"/>
                <a:cs typeface="Helvetica Neue"/>
              </a:defRPr>
            </a:defPPr>
          </a:lstStyle>
          <a:p>
            <a:pPr algn="l">
              <a:buNone/>
              <a:defRPr sz="3450" b="1">
                <a:solidFill>
                  <a:srgbClr val="102B46"/>
                </a:solidFill>
                <a:latin typeface="Helvetica Neue"/>
                <a:ea typeface="Helvetica Neue"/>
                <a:cs typeface="Helvetica Neue"/>
              </a:defRPr>
            </a:pPr>
            <a:r>
              <a:rPr sz="3450" b="1">
                <a:solidFill>
                  <a:srgbClr val="102B46"/>
                </a:solidFill>
                <a:latin typeface="Helvetica Neue"/>
                <a:ea typeface="Helvetica Neue"/>
                <a:cs typeface="Helvetica Neue"/>
              </a:rPr>
              <a:t>Shared project and problem definition</a:t>
            </a:r>
          </a:p>
        </p:txBody>
      </p:sp>
      <p:sp>
        <p:nvSpPr>
          <p:cNvPr id="3" name="subtitle">
            <a:extLst>
              <a:ext uri="{FF2B5EF4-FFF2-40B4-BE49-F238E27FC236}">
                <a16:creationId xmlns:a16="http://schemas.microsoft.com/office/drawing/2014/main" id="{4E3A9D0C-F552-40D1-8CB4-F5B691970CC5}"/>
              </a:ext>
            </a:extLst>
          </p:cNvPr>
          <p:cNvSpPr>
            <a:spLocks noGrp="1"/>
          </p:cNvSpPr>
          <p:nvPr/>
        </p:nvSpPr>
        <p:spPr>
          <a:xfrm>
            <a:off x="609600" y="1524000"/>
            <a:ext cx="10858500" cy="428625"/>
          </a:xfrm>
          <a:prstGeom prst="rect">
            <a:avLst/>
          </a:prstGeom>
          <a:noFill/>
          <a:ln w="0">
            <a:noFill/>
          </a:ln>
        </p:spPr>
        <p:txBody>
          <a:bodyPr lIns="0" tIns="0" rIns="0" bIns="0">
            <a:noAutofit/>
          </a:bodyPr>
          <a:lstStyle>
            <a:defPPr algn="l">
              <a:defRPr sz="1800" b="0">
                <a:solidFill>
                  <a:srgbClr val="607482"/>
                </a:solidFill>
                <a:latin typeface="Helvetica Neue"/>
                <a:ea typeface="Helvetica Neue"/>
                <a:cs typeface="Helvetica Neue"/>
              </a:defRPr>
            </a:defPPr>
          </a:lstStyle>
          <a:p>
            <a:pPr algn="l">
              <a:buNone/>
              <a:defRPr sz="1800" b="0">
                <a:solidFill>
                  <a:srgbClr val="607482"/>
                </a:solidFill>
                <a:latin typeface="Helvetica Neue"/>
                <a:ea typeface="Helvetica Neue"/>
                <a:cs typeface="Helvetica Neue"/>
              </a:defRPr>
            </a:pPr>
            <a:r>
              <a:rPr sz="1800" b="0">
                <a:solidFill>
                  <a:srgbClr val="607482"/>
                </a:solidFill>
                <a:latin typeface="Helvetica Neue"/>
                <a:ea typeface="Helvetica Neue"/>
                <a:cs typeface="Helvetica Neue"/>
              </a:rPr>
              <a:t>Step 1A. Knowledge Agent + shared Project</a:t>
            </a:r>
          </a:p>
        </p:txBody>
      </p:sp>
      <p:sp>
        <p:nvSpPr>
          <p:cNvPr id="4" name="page-number">
            <a:extLst>
              <a:ext uri="{FF2B5EF4-FFF2-40B4-BE49-F238E27FC236}">
                <a16:creationId xmlns:a16="http://schemas.microsoft.com/office/drawing/2014/main" id="{264391F1-E3C6-4318-8853-D31EF58B74DB}"/>
              </a:ext>
            </a:extLst>
          </p:cNvPr>
          <p:cNvSpPr>
            <a:spLocks noGrp="1"/>
          </p:cNvSpPr>
          <p:nvPr/>
        </p:nvSpPr>
        <p:spPr>
          <a:xfrm>
            <a:off x="10953750" y="6438900"/>
            <a:ext cx="666750" cy="228600"/>
          </a:xfrm>
          <a:prstGeom prst="rect">
            <a:avLst/>
          </a:prstGeom>
          <a:noFill/>
          <a:ln w="0">
            <a:noFill/>
          </a:ln>
        </p:spPr>
        <p:txBody>
          <a:bodyPr lIns="0" tIns="0" rIns="0" bIns="0">
            <a:noAutofit/>
          </a:bodyPr>
          <a:lstStyle>
            <a:defPPr algn="r">
              <a:defRPr sz="1125" b="0">
                <a:solidFill>
                  <a:srgbClr val="607482"/>
                </a:solidFill>
                <a:latin typeface="Helvetica Neue"/>
                <a:ea typeface="Helvetica Neue"/>
                <a:cs typeface="Helvetica Neue"/>
              </a:defRPr>
            </a:defPPr>
          </a:lstStyle>
          <a:p>
            <a:pPr algn="r">
              <a:buNone/>
              <a:defRPr sz="1125" b="0">
                <a:solidFill>
                  <a:srgbClr val="607482"/>
                </a:solidFill>
                <a:latin typeface="Helvetica Neue"/>
                <a:ea typeface="Helvetica Neue"/>
                <a:cs typeface="Helvetica Neue"/>
              </a:defRPr>
            </a:pPr>
            <a:r>
              <a:rPr sz="1125" b="0">
                <a:solidFill>
                  <a:srgbClr val="607482"/>
                </a:solidFill>
                <a:latin typeface="Helvetica Neue"/>
                <a:ea typeface="Helvetica Neue"/>
                <a:cs typeface="Helvetica Neue"/>
              </a:rPr>
              <a:t>A2</a:t>
            </a:r>
          </a:p>
        </p:txBody>
      </p:sp>
      <p:sp>
        <p:nvSpPr>
          <p:cNvPr id="5" name="action-list">
            <a:extLst>
              <a:ext uri="{FF2B5EF4-FFF2-40B4-BE49-F238E27FC236}">
                <a16:creationId xmlns:a16="http://schemas.microsoft.com/office/drawing/2014/main" id="{D7A1F24E-952B-4231-A158-BE7E6DA9DA9B}"/>
              </a:ext>
            </a:extLst>
          </p:cNvPr>
          <p:cNvSpPr>
            <a:spLocks noGrp="1"/>
          </p:cNvSpPr>
          <p:nvPr/>
        </p:nvSpPr>
        <p:spPr>
          <a:xfrm>
            <a:off x="609600" y="2333625"/>
            <a:ext cx="7048500" cy="2047875"/>
          </a:xfrm>
          <a:prstGeom prst="rect">
            <a:avLst/>
          </a:prstGeom>
          <a:noFill/>
          <a:ln w="0">
            <a:noFill/>
          </a:ln>
        </p:spPr>
        <p:txBody>
          <a:bodyPr lIns="0" tIns="0" rIns="0" bIns="0">
            <a:noAutofit/>
          </a:bodyPr>
          <a:lstStyle>
            <a:defPPr algn="l">
              <a:defRPr sz="2100" b="0">
                <a:solidFill>
                  <a:srgbClr val="233A4B"/>
                </a:solidFill>
                <a:latin typeface="Helvetica Neue"/>
                <a:ea typeface="Helvetica Neue"/>
                <a:cs typeface="Helvetica Neue"/>
              </a:defRPr>
            </a:defPPr>
          </a:lstStyle>
          <a:p>
            <a:pPr marL="228600" indent="-114300" algn="l">
              <a:spcAft>
                <a:spcPts val="1800"/>
              </a:spcAft>
              <a:buChar char="•"/>
              <a:defRPr sz="2100" b="0">
                <a:solidFill>
                  <a:srgbClr val="233A4B"/>
                </a:solidFill>
                <a:latin typeface="Helvetica Neue"/>
                <a:ea typeface="Helvetica Neue"/>
                <a:cs typeface="Helvetica Neue"/>
              </a:defRPr>
            </a:pPr>
            <a:endParaRPr/>
          </a:p>
        </p:txBody>
      </p:sp>
      <p:sp>
        <p:nvSpPr>
          <p:cNvPr id="6" name="step-output">
            <a:extLst>
              <a:ext uri="{FF2B5EF4-FFF2-40B4-BE49-F238E27FC236}">
                <a16:creationId xmlns:a16="http://schemas.microsoft.com/office/drawing/2014/main" id="{694CA352-F9AB-4589-9DC2-A07CF356FE7F}"/>
              </a:ext>
            </a:extLst>
          </p:cNvPr>
          <p:cNvSpPr>
            <a:spLocks noGrp="1"/>
          </p:cNvSpPr>
          <p:nvPr/>
        </p:nvSpPr>
        <p:spPr>
          <a:xfrm>
            <a:off x="8248650" y="2238375"/>
            <a:ext cx="3333750" cy="2000250"/>
          </a:xfrm>
          <a:prstGeom prst="rect">
            <a:avLst/>
          </a:prstGeom>
          <a:solidFill>
            <a:srgbClr val="F3F7FA"/>
          </a:solidFill>
          <a:ln w="9525">
            <a:solidFill>
              <a:srgbClr val="226FBB"/>
            </a:solidFill>
            <a:prstDash val="solid"/>
          </a:ln>
        </p:spPr>
      </p:sp>
      <p:sp>
        <p:nvSpPr>
          <p:cNvPr id="7" name="output-label">
            <a:extLst>
              <a:ext uri="{FF2B5EF4-FFF2-40B4-BE49-F238E27FC236}">
                <a16:creationId xmlns:a16="http://schemas.microsoft.com/office/drawing/2014/main" id="{5C613C5C-D3F9-4625-B708-5900A2C92A73}"/>
              </a:ext>
            </a:extLst>
          </p:cNvPr>
          <p:cNvSpPr>
            <a:spLocks noGrp="1"/>
          </p:cNvSpPr>
          <p:nvPr/>
        </p:nvSpPr>
        <p:spPr>
          <a:xfrm>
            <a:off x="8477250" y="2438400"/>
            <a:ext cx="2857500" cy="285750"/>
          </a:xfrm>
          <a:prstGeom prst="rect">
            <a:avLst/>
          </a:prstGeom>
          <a:noFill/>
          <a:ln w="0">
            <a:noFill/>
          </a:ln>
        </p:spPr>
        <p:txBody>
          <a:bodyPr lIns="0" tIns="0" rIns="0" bIns="0">
            <a:noAutofit/>
          </a:bodyPr>
          <a:lstStyle>
            <a:defPPr algn="l">
              <a:defRPr sz="1275" b="1">
                <a:solidFill>
                  <a:srgbClr val="226FBB"/>
                </a:solidFill>
                <a:latin typeface="Helvetica Neue"/>
                <a:ea typeface="Helvetica Neue"/>
                <a:cs typeface="Helvetica Neue"/>
              </a:defRPr>
            </a:defPPr>
          </a:lstStyle>
          <a:p>
            <a:pPr algn="l">
              <a:buNone/>
              <a:defRPr sz="1275" b="1">
                <a:solidFill>
                  <a:srgbClr val="226FBB"/>
                </a:solidFill>
                <a:latin typeface="Helvetica Neue"/>
                <a:ea typeface="Helvetica Neue"/>
                <a:cs typeface="Helvetica Neue"/>
              </a:defRPr>
            </a:pPr>
            <a:r>
              <a:rPr sz="1275" b="1">
                <a:solidFill>
                  <a:srgbClr val="226FBB"/>
                </a:solidFill>
                <a:latin typeface="Helvetica Neue"/>
                <a:ea typeface="Helvetica Neue"/>
                <a:cs typeface="Helvetica Neue"/>
              </a:rPr>
              <a:t>OUTPUT</a:t>
            </a:r>
          </a:p>
        </p:txBody>
      </p:sp>
      <p:sp>
        <p:nvSpPr>
          <p:cNvPr id="8" name="output-description">
            <a:extLst>
              <a:ext uri="{FF2B5EF4-FFF2-40B4-BE49-F238E27FC236}">
                <a16:creationId xmlns:a16="http://schemas.microsoft.com/office/drawing/2014/main" id="{CCD94DB5-D5AE-47A5-85CE-48B730BEE721}"/>
              </a:ext>
            </a:extLst>
          </p:cNvPr>
          <p:cNvSpPr>
            <a:spLocks noGrp="1"/>
          </p:cNvSpPr>
          <p:nvPr/>
        </p:nvSpPr>
        <p:spPr>
          <a:xfrm>
            <a:off x="8477250" y="2876550"/>
            <a:ext cx="2857500" cy="1219200"/>
          </a:xfrm>
          <a:prstGeom prst="rect">
            <a:avLst/>
          </a:prstGeom>
          <a:noFill/>
          <a:ln w="0">
            <a:noFill/>
          </a:ln>
        </p:spPr>
        <p:txBody>
          <a:bodyPr lIns="0" tIns="0" rIns="0" bIns="0">
            <a:noAutofit/>
          </a:bodyPr>
          <a:lstStyle>
            <a:defPPr algn="l">
              <a:defRPr sz="2100" b="1">
                <a:solidFill>
                  <a:srgbClr val="102B46"/>
                </a:solidFill>
                <a:latin typeface="Helvetica Neue"/>
                <a:ea typeface="Helvetica Neue"/>
                <a:cs typeface="Helvetica Neue"/>
              </a:defRPr>
            </a:defPPr>
          </a:lstStyle>
          <a:p>
            <a:pPr algn="l">
              <a:buNone/>
              <a:defRPr sz="2100" b="1">
                <a:solidFill>
                  <a:srgbClr val="102B46"/>
                </a:solidFill>
                <a:latin typeface="Helvetica Neue"/>
                <a:ea typeface="Helvetica Neue"/>
                <a:cs typeface="Helvetica Neue"/>
              </a:defRPr>
            </a:pPr>
            <a:r>
              <a:rPr sz="2100" b="1">
                <a:solidFill>
                  <a:srgbClr val="102B46"/>
                </a:solidFill>
                <a:latin typeface="Helvetica Neue"/>
                <a:ea typeface="Helvetica Neue"/>
                <a:cs typeface="Helvetica Neue"/>
              </a:rPr>
              <a:t>Problem statement</a:t>
            </a:r>
          </a:p>
          <a:p>
            <a:pPr algn="l">
              <a:buNone/>
              <a:defRPr sz="2100" b="1">
                <a:solidFill>
                  <a:srgbClr val="102B46"/>
                </a:solidFill>
                <a:latin typeface="Helvetica Neue"/>
                <a:ea typeface="Helvetica Neue"/>
                <a:cs typeface="Helvetica Neue"/>
              </a:defRPr>
            </a:pPr>
            <a:r>
              <a:rPr sz="2100" b="1">
                <a:solidFill>
                  <a:srgbClr val="102B46"/>
                </a:solidFill>
                <a:latin typeface="Helvetica Neue"/>
                <a:ea typeface="Helvetica Neue"/>
                <a:cs typeface="Helvetica Neue"/>
              </a:rPr>
              <a:t>Assumptions</a:t>
            </a:r>
          </a:p>
        </p:txBody>
      </p:sp>
      <p:sp>
        <p:nvSpPr>
          <p:cNvPr id="9" name="prompt-reference">
            <a:extLst>
              <a:ext uri="{FF2B5EF4-FFF2-40B4-BE49-F238E27FC236}">
                <a16:creationId xmlns:a16="http://schemas.microsoft.com/office/drawing/2014/main" id="{C072AFAA-6EEB-4F6F-9053-E6F3C56399FC}"/>
              </a:ext>
            </a:extLst>
          </p:cNvPr>
          <p:cNvSpPr>
            <a:spLocks noGrp="1"/>
          </p:cNvSpPr>
          <p:nvPr/>
        </p:nvSpPr>
        <p:spPr>
          <a:xfrm>
            <a:off x="609600" y="4524375"/>
            <a:ext cx="10972800" cy="1381125"/>
          </a:xfrm>
          <a:prstGeom prst="rect">
            <a:avLst/>
          </a:prstGeom>
          <a:solidFill>
            <a:srgbClr val="F6F0FA"/>
          </a:solidFill>
          <a:ln w="0">
            <a:solidFill>
              <a:srgbClr val="F6F0FA"/>
            </a:solidFill>
          </a:ln>
        </p:spPr>
      </p:sp>
      <p:sp>
        <p:nvSpPr>
          <p:cNvPr id="10" name="prompt-label">
            <a:extLst>
              <a:ext uri="{FF2B5EF4-FFF2-40B4-BE49-F238E27FC236}">
                <a16:creationId xmlns:a16="http://schemas.microsoft.com/office/drawing/2014/main" id="{E6AA8146-D0D5-4BFD-837C-7DCD52210DB3}"/>
              </a:ext>
            </a:extLst>
          </p:cNvPr>
          <p:cNvSpPr>
            <a:spLocks noGrp="1"/>
          </p:cNvSpPr>
          <p:nvPr/>
        </p:nvSpPr>
        <p:spPr>
          <a:xfrm>
            <a:off x="800100" y="4686300"/>
            <a:ext cx="10525125" cy="228600"/>
          </a:xfrm>
          <a:prstGeom prst="rect">
            <a:avLst/>
          </a:prstGeom>
          <a:noFill/>
          <a:ln w="0">
            <a:noFill/>
          </a:ln>
        </p:spPr>
        <p:txBody>
          <a:bodyPr lIns="0" tIns="0" rIns="0" bIns="0">
            <a:noAutofit/>
          </a:bodyPr>
          <a:lstStyle>
            <a:defPPr algn="l">
              <a:defRPr sz="1200" b="1">
                <a:solidFill>
                  <a:srgbClr val="6C2B91"/>
                </a:solidFill>
                <a:latin typeface="Helvetica Neue"/>
                <a:ea typeface="Helvetica Neue"/>
                <a:cs typeface="Helvetica Neue"/>
              </a:defRPr>
            </a:defPPr>
          </a:lstStyle>
          <a:p>
            <a:pPr algn="l">
              <a:buNone/>
              <a:defRPr sz="1200" b="1">
                <a:solidFill>
                  <a:srgbClr val="6C2B91"/>
                </a:solidFill>
                <a:latin typeface="Helvetica Neue"/>
                <a:ea typeface="Helvetica Neue"/>
                <a:cs typeface="Helvetica Neue"/>
              </a:defRPr>
            </a:pPr>
            <a:r>
              <a:rPr sz="1200" b="1">
                <a:solidFill>
                  <a:srgbClr val="6C2B91"/>
                </a:solidFill>
                <a:latin typeface="Helvetica Neue"/>
                <a:ea typeface="Helvetica Neue"/>
                <a:cs typeface="Helvetica Neue"/>
              </a:rPr>
              <a:t>EXAMPLE PROMPT</a:t>
            </a:r>
          </a:p>
        </p:txBody>
      </p:sp>
      <p:sp>
        <p:nvSpPr>
          <p:cNvPr id="11" name="prompt-content">
            <a:extLst>
              <a:ext uri="{FF2B5EF4-FFF2-40B4-BE49-F238E27FC236}">
                <a16:creationId xmlns:a16="http://schemas.microsoft.com/office/drawing/2014/main" id="{78467BC4-BE07-458C-8A73-8E59F2994232}"/>
              </a:ext>
            </a:extLst>
          </p:cNvPr>
          <p:cNvSpPr>
            <a:spLocks noGrp="1"/>
          </p:cNvSpPr>
          <p:nvPr/>
        </p:nvSpPr>
        <p:spPr>
          <a:xfrm>
            <a:off x="800100" y="5019675"/>
            <a:ext cx="10525125" cy="819150"/>
          </a:xfrm>
          <a:prstGeom prst="rect">
            <a:avLst/>
          </a:prstGeom>
          <a:noFill/>
          <a:ln w="0">
            <a:noFill/>
          </a:ln>
        </p:spPr>
        <p:txBody>
          <a:bodyPr lIns="0" tIns="0" rIns="0" bIns="0">
            <a:noAutofit/>
          </a:bodyPr>
          <a:lstStyle>
            <a:defPPr algn="l">
              <a:defRPr sz="1875" b="0">
                <a:solidFill>
                  <a:srgbClr val="6C2B91"/>
                </a:solidFill>
                <a:latin typeface="Helvetica Neue"/>
                <a:ea typeface="Helvetica Neue"/>
                <a:cs typeface="Helvetica Neue"/>
              </a:defRPr>
            </a:defPPr>
          </a:lstStyle>
          <a:p>
            <a:pPr algn="l">
              <a:buNone/>
              <a:defRPr sz="1875" b="0">
                <a:solidFill>
                  <a:srgbClr val="6C2B91"/>
                </a:solidFill>
                <a:latin typeface="Helvetica Neue"/>
                <a:ea typeface="Helvetica Neue"/>
                <a:cs typeface="Helvetica Neue"/>
              </a:defRPr>
            </a:pPr>
            <a:r>
              <a:rPr sz="1875" b="0">
                <a:solidFill>
                  <a:srgbClr val="6C2B91"/>
                </a:solidFill>
                <a:latin typeface="Helvetica Neue"/>
                <a:ea typeface="Helvetica Neue"/>
                <a:cs typeface="Helvetica Neue"/>
              </a:rPr>
              <a:t>"From [brief] and [concept], identify the users, problem and assumptions."</a:t>
            </a:r>
          </a:p>
        </p:txBody>
      </p:sp>
      <p:sp>
        <p:nvSpPr>
          <p:cNvPr id="12" name="discussion-cue">
            <a:extLst>
              <a:ext uri="{FF2B5EF4-FFF2-40B4-BE49-F238E27FC236}">
                <a16:creationId xmlns:a16="http://schemas.microsoft.com/office/drawing/2014/main" id="{D580C130-2352-4610-8E09-4AAF005B56DF}"/>
              </a:ext>
            </a:extLst>
          </p:cNvPr>
          <p:cNvSpPr>
            <a:spLocks noGrp="1"/>
          </p:cNvSpPr>
          <p:nvPr/>
        </p:nvSpPr>
        <p:spPr>
          <a:xfrm>
            <a:off x="609600" y="6067425"/>
            <a:ext cx="10668000" cy="266700"/>
          </a:xfrm>
          <a:prstGeom prst="rect">
            <a:avLst/>
          </a:prstGeom>
          <a:noFill/>
          <a:ln w="0">
            <a:noFill/>
          </a:ln>
        </p:spPr>
        <p:txBody>
          <a:bodyPr lIns="0" tIns="0" rIns="0" bIns="0">
            <a:noAutofit/>
          </a:bodyPr>
          <a:lstStyle>
            <a:defPPr algn="l">
              <a:defRPr sz="1500" b="0">
                <a:solidFill>
                  <a:srgbClr val="607482"/>
                </a:solidFill>
                <a:latin typeface="Helvetica Neue"/>
                <a:ea typeface="Helvetica Neue"/>
                <a:cs typeface="Helvetica Neue"/>
              </a:defRPr>
            </a:defPPr>
          </a:lstStyle>
          <a:p>
            <a:pPr algn="l">
              <a:buNone/>
              <a:defRPr sz="1500" b="0">
                <a:solidFill>
                  <a:srgbClr val="607482"/>
                </a:solidFill>
                <a:latin typeface="Helvetica Neue"/>
                <a:ea typeface="Helvetica Neue"/>
                <a:cs typeface="Helvetica Neue"/>
              </a:defRPr>
            </a:pPr>
            <a:endParaRPr/>
          </a:p>
        </p:txBody>
      </p:sp>
      <p:pic>
        <p:nvPicPr>
          <p:cNvPr id="14" name="Picture 13">
            <a:extLst>
              <a:ext uri="{FF2B5EF4-FFF2-40B4-BE49-F238E27FC236}">
                <a16:creationId xmlns:a16="http://schemas.microsoft.com/office/drawing/2014/main" id="{8006C4F1-BE15-4AB6-AE57-C408A1F8F29D}"/>
              </a:ext>
            </a:extLst>
          </p:cNvPr>
          <p:cNvPicPr>
            <a:picLocks noChangeAspect="1"/>
          </p:cNvPicPr>
          <p:nvPr/>
        </p:nvPicPr>
        <p:blipFill>
          <a:blip r:embed="rId3"/>
          <a:stretch/>
        </p:blipFill>
        <p:spPr>
          <a:xfrm>
            <a:off x="638175" y="2305050"/>
            <a:ext cx="400050" cy="400050"/>
          </a:xfrm>
          <a:prstGeom prst="rect">
            <a:avLst/>
          </a:prstGeom>
        </p:spPr>
      </p:pic>
      <p:sp>
        <p:nvSpPr>
          <p:cNvPr id="15" name="action-1">
            <a:extLst>
              <a:ext uri="{FF2B5EF4-FFF2-40B4-BE49-F238E27FC236}">
                <a16:creationId xmlns:a16="http://schemas.microsoft.com/office/drawing/2014/main" id="{6059DAC5-7651-4B59-93C5-AC6A63803103}"/>
              </a:ext>
            </a:extLst>
          </p:cNvPr>
          <p:cNvSpPr>
            <a:spLocks noGrp="1"/>
          </p:cNvSpPr>
          <p:nvPr/>
        </p:nvSpPr>
        <p:spPr>
          <a:xfrm>
            <a:off x="1276350" y="2343150"/>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Set up the shared Project</a:t>
            </a:r>
          </a:p>
        </p:txBody>
      </p:sp>
      <p:pic>
        <p:nvPicPr>
          <p:cNvPr id="16" name="Picture 15">
            <a:extLst>
              <a:ext uri="{FF2B5EF4-FFF2-40B4-BE49-F238E27FC236}">
                <a16:creationId xmlns:a16="http://schemas.microsoft.com/office/drawing/2014/main" id="{960A36F3-4CC1-4A99-B890-5E9886BF18FD}"/>
              </a:ext>
            </a:extLst>
          </p:cNvPr>
          <p:cNvPicPr>
            <a:picLocks noChangeAspect="1"/>
          </p:cNvPicPr>
          <p:nvPr/>
        </p:nvPicPr>
        <p:blipFill>
          <a:blip r:embed="rId4"/>
          <a:stretch/>
        </p:blipFill>
        <p:spPr>
          <a:xfrm>
            <a:off x="638175" y="2924175"/>
            <a:ext cx="400050" cy="400050"/>
          </a:xfrm>
          <a:prstGeom prst="rect">
            <a:avLst/>
          </a:prstGeom>
        </p:spPr>
      </p:pic>
      <p:sp>
        <p:nvSpPr>
          <p:cNvPr id="17" name="action-2">
            <a:extLst>
              <a:ext uri="{FF2B5EF4-FFF2-40B4-BE49-F238E27FC236}">
                <a16:creationId xmlns:a16="http://schemas.microsoft.com/office/drawing/2014/main" id="{5A04A981-85C9-4CAE-8856-D6E1B5D2657F}"/>
              </a:ext>
            </a:extLst>
          </p:cNvPr>
          <p:cNvSpPr>
            <a:spLocks noGrp="1"/>
          </p:cNvSpPr>
          <p:nvPr/>
        </p:nvSpPr>
        <p:spPr>
          <a:xfrm>
            <a:off x="1276350" y="2962275"/>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Agree the user and problem</a:t>
            </a:r>
          </a:p>
        </p:txBody>
      </p:sp>
      <p:pic>
        <p:nvPicPr>
          <p:cNvPr id="18" name="Picture 17">
            <a:extLst>
              <a:ext uri="{FF2B5EF4-FFF2-40B4-BE49-F238E27FC236}">
                <a16:creationId xmlns:a16="http://schemas.microsoft.com/office/drawing/2014/main" id="{6D2B5633-ED04-410E-80A2-12AF1636ACF2}"/>
              </a:ext>
            </a:extLst>
          </p:cNvPr>
          <p:cNvPicPr>
            <a:picLocks noChangeAspect="1"/>
          </p:cNvPicPr>
          <p:nvPr/>
        </p:nvPicPr>
        <p:blipFill>
          <a:blip r:embed="rId5"/>
          <a:stretch/>
        </p:blipFill>
        <p:spPr>
          <a:xfrm>
            <a:off x="638175" y="3543300"/>
            <a:ext cx="400050" cy="400050"/>
          </a:xfrm>
          <a:prstGeom prst="rect">
            <a:avLst/>
          </a:prstGeom>
        </p:spPr>
      </p:pic>
      <p:sp>
        <p:nvSpPr>
          <p:cNvPr id="19" name="action-3">
            <a:extLst>
              <a:ext uri="{FF2B5EF4-FFF2-40B4-BE49-F238E27FC236}">
                <a16:creationId xmlns:a16="http://schemas.microsoft.com/office/drawing/2014/main" id="{72BBCDB3-11B1-47EE-8911-6DE76223BA9A}"/>
              </a:ext>
            </a:extLst>
          </p:cNvPr>
          <p:cNvSpPr>
            <a:spLocks noGrp="1"/>
          </p:cNvSpPr>
          <p:nvPr/>
        </p:nvSpPr>
        <p:spPr>
          <a:xfrm>
            <a:off x="1276350" y="3581400"/>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Record assumptions</a:t>
            </a:r>
          </a:p>
        </p:txBody>
      </p:sp>
    </p:spTree>
    <p:extLst>
      <p:ext uri="{BB962C8B-B14F-4D97-AF65-F5344CB8AC3E}">
        <p14:creationId xmlns:p14="http://schemas.microsoft.com/office/powerpoint/2010/main" val="18166415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3" name="section-label">
            <a:extLst>
              <a:ext uri="{FF2B5EF4-FFF2-40B4-BE49-F238E27FC236}">
                <a16:creationId xmlns:a16="http://schemas.microsoft.com/office/drawing/2014/main" id="{070B6D34-EF40-46FD-B596-FFEF4C8FD68F}"/>
              </a:ext>
            </a:extLst>
          </p:cNvPr>
          <p:cNvSpPr>
            <a:spLocks noGrp="1"/>
          </p:cNvSpPr>
          <p:nvPr/>
        </p:nvSpPr>
        <p:spPr>
          <a:xfrm>
            <a:off x="609600" y="285750"/>
            <a:ext cx="10668000" cy="285750"/>
          </a:xfrm>
          <a:prstGeom prst="rect">
            <a:avLst/>
          </a:prstGeom>
          <a:noFill/>
          <a:ln w="0">
            <a:noFill/>
          </a:ln>
        </p:spPr>
        <p:txBody>
          <a:bodyPr lIns="0" tIns="0" rIns="0" bIns="0">
            <a:noAutofit/>
          </a:bodyPr>
          <a:lstStyle>
            <a:defPPr algn="l">
              <a:defRPr sz="1200" b="1">
                <a:solidFill>
                  <a:srgbClr val="226FBB"/>
                </a:solidFill>
                <a:latin typeface="Helvetica Neue"/>
                <a:ea typeface="Helvetica Neue"/>
                <a:cs typeface="Helvetica Neue"/>
              </a:defRPr>
            </a:defPPr>
          </a:lstStyle>
          <a:p>
            <a:pPr algn="l">
              <a:buNone/>
              <a:defRPr sz="1200" b="1">
                <a:solidFill>
                  <a:srgbClr val="226FBB"/>
                </a:solidFill>
                <a:latin typeface="Helvetica Neue"/>
                <a:ea typeface="Helvetica Neue"/>
                <a:cs typeface="Helvetica Neue"/>
              </a:defRPr>
            </a:pPr>
            <a:r>
              <a:rPr sz="1200" b="1">
                <a:solidFill>
                  <a:srgbClr val="226FBB"/>
                </a:solidFill>
                <a:latin typeface="Helvetica Neue"/>
                <a:ea typeface="Helvetica Neue"/>
                <a:cs typeface="Helvetica Neue"/>
              </a:rPr>
              <a:t>APPENDIX: SESSION 1: CONCEPT DEFINITION</a:t>
            </a:r>
          </a:p>
        </p:txBody>
      </p:sp>
      <p:sp>
        <p:nvSpPr>
          <p:cNvPr id="2" name="slide-title">
            <a:extLst>
              <a:ext uri="{FF2B5EF4-FFF2-40B4-BE49-F238E27FC236}">
                <a16:creationId xmlns:a16="http://schemas.microsoft.com/office/drawing/2014/main" id="{917D9A4C-E5C5-4A08-B473-9513F81A69D4}"/>
              </a:ext>
            </a:extLst>
          </p:cNvPr>
          <p:cNvSpPr>
            <a:spLocks noGrp="1"/>
          </p:cNvSpPr>
          <p:nvPr/>
        </p:nvSpPr>
        <p:spPr>
          <a:xfrm>
            <a:off x="609600" y="781050"/>
            <a:ext cx="10858500" cy="857250"/>
          </a:xfrm>
          <a:prstGeom prst="rect">
            <a:avLst/>
          </a:prstGeom>
          <a:noFill/>
          <a:ln w="0">
            <a:noFill/>
          </a:ln>
        </p:spPr>
        <p:txBody>
          <a:bodyPr lIns="0" tIns="0" rIns="0" bIns="0">
            <a:noAutofit/>
          </a:bodyPr>
          <a:lstStyle>
            <a:defPPr algn="l">
              <a:defRPr sz="3450" b="1">
                <a:solidFill>
                  <a:srgbClr val="102B46"/>
                </a:solidFill>
                <a:latin typeface="Helvetica Neue"/>
                <a:ea typeface="Helvetica Neue"/>
                <a:cs typeface="Helvetica Neue"/>
              </a:defRPr>
            </a:defPPr>
          </a:lstStyle>
          <a:p>
            <a:pPr algn="l">
              <a:buNone/>
              <a:defRPr sz="3450" b="1">
                <a:solidFill>
                  <a:srgbClr val="102B46"/>
                </a:solidFill>
                <a:latin typeface="Helvetica Neue"/>
                <a:ea typeface="Helvetica Neue"/>
                <a:cs typeface="Helvetica Neue"/>
              </a:defRPr>
            </a:pPr>
            <a:r>
              <a:rPr sz="3450" b="1">
                <a:solidFill>
                  <a:srgbClr val="102B46"/>
                </a:solidFill>
                <a:latin typeface="Helvetica Neue"/>
                <a:ea typeface="Helvetica Neue"/>
                <a:cs typeface="Helvetica Neue"/>
              </a:rPr>
              <a:t>Operating scenarios and solution scope</a:t>
            </a:r>
          </a:p>
        </p:txBody>
      </p:sp>
      <p:sp>
        <p:nvSpPr>
          <p:cNvPr id="3" name="subtitle">
            <a:extLst>
              <a:ext uri="{FF2B5EF4-FFF2-40B4-BE49-F238E27FC236}">
                <a16:creationId xmlns:a16="http://schemas.microsoft.com/office/drawing/2014/main" id="{E1DB14FE-0B82-441E-B823-340FD355C463}"/>
              </a:ext>
            </a:extLst>
          </p:cNvPr>
          <p:cNvSpPr>
            <a:spLocks noGrp="1"/>
          </p:cNvSpPr>
          <p:nvPr/>
        </p:nvSpPr>
        <p:spPr>
          <a:xfrm>
            <a:off x="609600" y="1524000"/>
            <a:ext cx="10858500" cy="428625"/>
          </a:xfrm>
          <a:prstGeom prst="rect">
            <a:avLst/>
          </a:prstGeom>
          <a:noFill/>
          <a:ln w="0">
            <a:noFill/>
          </a:ln>
        </p:spPr>
        <p:txBody>
          <a:bodyPr lIns="0" tIns="0" rIns="0" bIns="0">
            <a:noAutofit/>
          </a:bodyPr>
          <a:lstStyle>
            <a:defPPr algn="l">
              <a:defRPr sz="1800" b="0">
                <a:solidFill>
                  <a:srgbClr val="607482"/>
                </a:solidFill>
                <a:latin typeface="Helvetica Neue"/>
                <a:ea typeface="Helvetica Neue"/>
                <a:cs typeface="Helvetica Neue"/>
              </a:defRPr>
            </a:defPPr>
          </a:lstStyle>
          <a:p>
            <a:pPr algn="l">
              <a:buNone/>
              <a:defRPr sz="1800" b="0">
                <a:solidFill>
                  <a:srgbClr val="607482"/>
                </a:solidFill>
                <a:latin typeface="Helvetica Neue"/>
                <a:ea typeface="Helvetica Neue"/>
                <a:cs typeface="Helvetica Neue"/>
              </a:defRPr>
            </a:pPr>
            <a:r>
              <a:rPr sz="1800" b="0">
                <a:solidFill>
                  <a:srgbClr val="607482"/>
                </a:solidFill>
                <a:latin typeface="Helvetica Neue"/>
                <a:ea typeface="Helvetica Neue"/>
                <a:cs typeface="Helvetica Neue"/>
              </a:rPr>
              <a:t>Step 1B. Knowledge Agent + team discussion</a:t>
            </a:r>
          </a:p>
        </p:txBody>
      </p:sp>
      <p:sp>
        <p:nvSpPr>
          <p:cNvPr id="4" name="page-number">
            <a:extLst>
              <a:ext uri="{FF2B5EF4-FFF2-40B4-BE49-F238E27FC236}">
                <a16:creationId xmlns:a16="http://schemas.microsoft.com/office/drawing/2014/main" id="{4B5A613C-B26D-4181-914E-103D7217EE43}"/>
              </a:ext>
            </a:extLst>
          </p:cNvPr>
          <p:cNvSpPr>
            <a:spLocks noGrp="1"/>
          </p:cNvSpPr>
          <p:nvPr/>
        </p:nvSpPr>
        <p:spPr>
          <a:xfrm>
            <a:off x="10953750" y="6438900"/>
            <a:ext cx="666750" cy="228600"/>
          </a:xfrm>
          <a:prstGeom prst="rect">
            <a:avLst/>
          </a:prstGeom>
          <a:noFill/>
          <a:ln w="0">
            <a:noFill/>
          </a:ln>
        </p:spPr>
        <p:txBody>
          <a:bodyPr lIns="0" tIns="0" rIns="0" bIns="0">
            <a:noAutofit/>
          </a:bodyPr>
          <a:lstStyle>
            <a:defPPr algn="r">
              <a:defRPr sz="1125" b="0">
                <a:solidFill>
                  <a:srgbClr val="607482"/>
                </a:solidFill>
                <a:latin typeface="Helvetica Neue"/>
                <a:ea typeface="Helvetica Neue"/>
                <a:cs typeface="Helvetica Neue"/>
              </a:defRPr>
            </a:defPPr>
          </a:lstStyle>
          <a:p>
            <a:pPr algn="r">
              <a:buNone/>
              <a:defRPr sz="1125" b="0">
                <a:solidFill>
                  <a:srgbClr val="607482"/>
                </a:solidFill>
                <a:latin typeface="Helvetica Neue"/>
                <a:ea typeface="Helvetica Neue"/>
                <a:cs typeface="Helvetica Neue"/>
              </a:defRPr>
            </a:pPr>
            <a:r>
              <a:rPr sz="1125" b="0">
                <a:solidFill>
                  <a:srgbClr val="607482"/>
                </a:solidFill>
                <a:latin typeface="Helvetica Neue"/>
                <a:ea typeface="Helvetica Neue"/>
                <a:cs typeface="Helvetica Neue"/>
              </a:rPr>
              <a:t>A3</a:t>
            </a:r>
          </a:p>
        </p:txBody>
      </p:sp>
      <p:sp>
        <p:nvSpPr>
          <p:cNvPr id="5" name="action-list">
            <a:extLst>
              <a:ext uri="{FF2B5EF4-FFF2-40B4-BE49-F238E27FC236}">
                <a16:creationId xmlns:a16="http://schemas.microsoft.com/office/drawing/2014/main" id="{0AFCDF0E-85EB-4E56-8B86-083D49559A5B}"/>
              </a:ext>
            </a:extLst>
          </p:cNvPr>
          <p:cNvSpPr>
            <a:spLocks noGrp="1"/>
          </p:cNvSpPr>
          <p:nvPr/>
        </p:nvSpPr>
        <p:spPr>
          <a:xfrm>
            <a:off x="609600" y="2333625"/>
            <a:ext cx="7048500" cy="2047875"/>
          </a:xfrm>
          <a:prstGeom prst="rect">
            <a:avLst/>
          </a:prstGeom>
          <a:noFill/>
          <a:ln w="0">
            <a:noFill/>
          </a:ln>
        </p:spPr>
        <p:txBody>
          <a:bodyPr lIns="0" tIns="0" rIns="0" bIns="0">
            <a:noAutofit/>
          </a:bodyPr>
          <a:lstStyle>
            <a:defPPr algn="l">
              <a:defRPr sz="2100" b="0">
                <a:solidFill>
                  <a:srgbClr val="233A4B"/>
                </a:solidFill>
                <a:latin typeface="Helvetica Neue"/>
                <a:ea typeface="Helvetica Neue"/>
                <a:cs typeface="Helvetica Neue"/>
              </a:defRPr>
            </a:defPPr>
          </a:lstStyle>
          <a:p>
            <a:pPr marL="228600" indent="-114300" algn="l">
              <a:spcAft>
                <a:spcPts val="1800"/>
              </a:spcAft>
              <a:buChar char="•"/>
              <a:defRPr sz="2100" b="0">
                <a:solidFill>
                  <a:srgbClr val="233A4B"/>
                </a:solidFill>
                <a:latin typeface="Helvetica Neue"/>
                <a:ea typeface="Helvetica Neue"/>
                <a:cs typeface="Helvetica Neue"/>
              </a:defRPr>
            </a:pPr>
            <a:endParaRPr/>
          </a:p>
        </p:txBody>
      </p:sp>
      <p:sp>
        <p:nvSpPr>
          <p:cNvPr id="6" name="step-output">
            <a:extLst>
              <a:ext uri="{FF2B5EF4-FFF2-40B4-BE49-F238E27FC236}">
                <a16:creationId xmlns:a16="http://schemas.microsoft.com/office/drawing/2014/main" id="{1F7C7481-762B-4F5D-B85D-89FEA79EFF25}"/>
              </a:ext>
            </a:extLst>
          </p:cNvPr>
          <p:cNvSpPr>
            <a:spLocks noGrp="1"/>
          </p:cNvSpPr>
          <p:nvPr/>
        </p:nvSpPr>
        <p:spPr>
          <a:xfrm>
            <a:off x="8248650" y="2238375"/>
            <a:ext cx="3333750" cy="2000250"/>
          </a:xfrm>
          <a:prstGeom prst="rect">
            <a:avLst/>
          </a:prstGeom>
          <a:solidFill>
            <a:srgbClr val="F3F7FA"/>
          </a:solidFill>
          <a:ln w="9525">
            <a:solidFill>
              <a:srgbClr val="226FBB"/>
            </a:solidFill>
            <a:prstDash val="solid"/>
          </a:ln>
        </p:spPr>
      </p:sp>
      <p:sp>
        <p:nvSpPr>
          <p:cNvPr id="7" name="output-label">
            <a:extLst>
              <a:ext uri="{FF2B5EF4-FFF2-40B4-BE49-F238E27FC236}">
                <a16:creationId xmlns:a16="http://schemas.microsoft.com/office/drawing/2014/main" id="{89D3B8F4-F5CA-4C61-BD97-7D5ED05D35BD}"/>
              </a:ext>
            </a:extLst>
          </p:cNvPr>
          <p:cNvSpPr>
            <a:spLocks noGrp="1"/>
          </p:cNvSpPr>
          <p:nvPr/>
        </p:nvSpPr>
        <p:spPr>
          <a:xfrm>
            <a:off x="8477250" y="2438400"/>
            <a:ext cx="2857500" cy="285750"/>
          </a:xfrm>
          <a:prstGeom prst="rect">
            <a:avLst/>
          </a:prstGeom>
          <a:noFill/>
          <a:ln w="0">
            <a:noFill/>
          </a:ln>
        </p:spPr>
        <p:txBody>
          <a:bodyPr lIns="0" tIns="0" rIns="0" bIns="0">
            <a:noAutofit/>
          </a:bodyPr>
          <a:lstStyle>
            <a:defPPr algn="l">
              <a:defRPr sz="1275" b="1">
                <a:solidFill>
                  <a:srgbClr val="226FBB"/>
                </a:solidFill>
                <a:latin typeface="Helvetica Neue"/>
                <a:ea typeface="Helvetica Neue"/>
                <a:cs typeface="Helvetica Neue"/>
              </a:defRPr>
            </a:defPPr>
          </a:lstStyle>
          <a:p>
            <a:pPr algn="l">
              <a:buNone/>
              <a:defRPr sz="1275" b="1">
                <a:solidFill>
                  <a:srgbClr val="226FBB"/>
                </a:solidFill>
                <a:latin typeface="Helvetica Neue"/>
                <a:ea typeface="Helvetica Neue"/>
                <a:cs typeface="Helvetica Neue"/>
              </a:defRPr>
            </a:pPr>
            <a:r>
              <a:rPr sz="1275" b="1">
                <a:solidFill>
                  <a:srgbClr val="226FBB"/>
                </a:solidFill>
                <a:latin typeface="Helvetica Neue"/>
                <a:ea typeface="Helvetica Neue"/>
                <a:cs typeface="Helvetica Neue"/>
              </a:rPr>
              <a:t>OUTPUT</a:t>
            </a:r>
          </a:p>
        </p:txBody>
      </p:sp>
      <p:sp>
        <p:nvSpPr>
          <p:cNvPr id="8" name="output-description">
            <a:extLst>
              <a:ext uri="{FF2B5EF4-FFF2-40B4-BE49-F238E27FC236}">
                <a16:creationId xmlns:a16="http://schemas.microsoft.com/office/drawing/2014/main" id="{27DC200D-B88B-442D-9F52-49E9C14B3462}"/>
              </a:ext>
            </a:extLst>
          </p:cNvPr>
          <p:cNvSpPr>
            <a:spLocks noGrp="1"/>
          </p:cNvSpPr>
          <p:nvPr/>
        </p:nvSpPr>
        <p:spPr>
          <a:xfrm>
            <a:off x="8477250" y="2876550"/>
            <a:ext cx="2857500" cy="1219200"/>
          </a:xfrm>
          <a:prstGeom prst="rect">
            <a:avLst/>
          </a:prstGeom>
          <a:noFill/>
          <a:ln w="0">
            <a:noFill/>
          </a:ln>
        </p:spPr>
        <p:txBody>
          <a:bodyPr lIns="0" tIns="0" rIns="0" bIns="0">
            <a:noAutofit/>
          </a:bodyPr>
          <a:lstStyle>
            <a:defPPr algn="l">
              <a:defRPr sz="2100" b="1">
                <a:solidFill>
                  <a:srgbClr val="102B46"/>
                </a:solidFill>
                <a:latin typeface="Helvetica Neue"/>
                <a:ea typeface="Helvetica Neue"/>
                <a:cs typeface="Helvetica Neue"/>
              </a:defRPr>
            </a:defPPr>
          </a:lstStyle>
          <a:p>
            <a:pPr algn="l">
              <a:buNone/>
              <a:defRPr sz="2100" b="1">
                <a:solidFill>
                  <a:srgbClr val="102B46"/>
                </a:solidFill>
                <a:latin typeface="Helvetica Neue"/>
                <a:ea typeface="Helvetica Neue"/>
                <a:cs typeface="Helvetica Neue"/>
              </a:defRPr>
            </a:pPr>
            <a:r>
              <a:rPr sz="2100" b="1">
                <a:solidFill>
                  <a:srgbClr val="102B46"/>
                </a:solidFill>
                <a:latin typeface="Helvetica Neue"/>
                <a:ea typeface="Helvetica Neue"/>
                <a:cs typeface="Helvetica Neue"/>
              </a:rPr>
              <a:t>ConOps</a:t>
            </a:r>
          </a:p>
          <a:p>
            <a:pPr algn="l">
              <a:buNone/>
              <a:defRPr sz="2100" b="1">
                <a:solidFill>
                  <a:srgbClr val="102B46"/>
                </a:solidFill>
                <a:latin typeface="Helvetica Neue"/>
                <a:ea typeface="Helvetica Neue"/>
                <a:cs typeface="Helvetica Neue"/>
              </a:defRPr>
            </a:pPr>
            <a:r>
              <a:rPr sz="2100" b="1">
                <a:solidFill>
                  <a:srgbClr val="102B46"/>
                </a:solidFill>
                <a:latin typeface="Helvetica Neue"/>
                <a:ea typeface="Helvetica Neue"/>
                <a:cs typeface="Helvetica Neue"/>
              </a:rPr>
              <a:t>System sketch</a:t>
            </a:r>
          </a:p>
        </p:txBody>
      </p:sp>
      <p:sp>
        <p:nvSpPr>
          <p:cNvPr id="9" name="prompt-reference">
            <a:extLst>
              <a:ext uri="{FF2B5EF4-FFF2-40B4-BE49-F238E27FC236}">
                <a16:creationId xmlns:a16="http://schemas.microsoft.com/office/drawing/2014/main" id="{5F8A775B-5D6C-43B0-91D5-9CE8490C9B9C}"/>
              </a:ext>
            </a:extLst>
          </p:cNvPr>
          <p:cNvSpPr>
            <a:spLocks noGrp="1"/>
          </p:cNvSpPr>
          <p:nvPr/>
        </p:nvSpPr>
        <p:spPr>
          <a:xfrm>
            <a:off x="609600" y="4524375"/>
            <a:ext cx="10972800" cy="1381125"/>
          </a:xfrm>
          <a:prstGeom prst="rect">
            <a:avLst/>
          </a:prstGeom>
          <a:solidFill>
            <a:srgbClr val="F6F0FA"/>
          </a:solidFill>
          <a:ln w="0">
            <a:solidFill>
              <a:srgbClr val="F6F0FA"/>
            </a:solidFill>
          </a:ln>
        </p:spPr>
      </p:sp>
      <p:sp>
        <p:nvSpPr>
          <p:cNvPr id="10" name="prompt-label">
            <a:extLst>
              <a:ext uri="{FF2B5EF4-FFF2-40B4-BE49-F238E27FC236}">
                <a16:creationId xmlns:a16="http://schemas.microsoft.com/office/drawing/2014/main" id="{6782FD73-FD6C-4BED-8EA1-2798FB0D5E51}"/>
              </a:ext>
            </a:extLst>
          </p:cNvPr>
          <p:cNvSpPr>
            <a:spLocks noGrp="1"/>
          </p:cNvSpPr>
          <p:nvPr/>
        </p:nvSpPr>
        <p:spPr>
          <a:xfrm>
            <a:off x="800100" y="4686300"/>
            <a:ext cx="10525125" cy="228600"/>
          </a:xfrm>
          <a:prstGeom prst="rect">
            <a:avLst/>
          </a:prstGeom>
          <a:noFill/>
          <a:ln w="0">
            <a:noFill/>
          </a:ln>
        </p:spPr>
        <p:txBody>
          <a:bodyPr lIns="0" tIns="0" rIns="0" bIns="0">
            <a:noAutofit/>
          </a:bodyPr>
          <a:lstStyle>
            <a:defPPr algn="l">
              <a:defRPr sz="1200" b="1">
                <a:solidFill>
                  <a:srgbClr val="6C2B91"/>
                </a:solidFill>
                <a:latin typeface="Helvetica Neue"/>
                <a:ea typeface="Helvetica Neue"/>
                <a:cs typeface="Helvetica Neue"/>
              </a:defRPr>
            </a:defPPr>
          </a:lstStyle>
          <a:p>
            <a:pPr algn="l">
              <a:buNone/>
              <a:defRPr sz="1200" b="1">
                <a:solidFill>
                  <a:srgbClr val="6C2B91"/>
                </a:solidFill>
                <a:latin typeface="Helvetica Neue"/>
                <a:ea typeface="Helvetica Neue"/>
                <a:cs typeface="Helvetica Neue"/>
              </a:defRPr>
            </a:pPr>
            <a:r>
              <a:rPr sz="1200" b="1">
                <a:solidFill>
                  <a:srgbClr val="6C2B91"/>
                </a:solidFill>
                <a:latin typeface="Helvetica Neue"/>
                <a:ea typeface="Helvetica Neue"/>
                <a:cs typeface="Helvetica Neue"/>
              </a:rPr>
              <a:t>EXAMPLE PROMPT</a:t>
            </a:r>
          </a:p>
        </p:txBody>
      </p:sp>
      <p:sp>
        <p:nvSpPr>
          <p:cNvPr id="11" name="prompt-content">
            <a:extLst>
              <a:ext uri="{FF2B5EF4-FFF2-40B4-BE49-F238E27FC236}">
                <a16:creationId xmlns:a16="http://schemas.microsoft.com/office/drawing/2014/main" id="{44852205-2650-4262-8C69-87C054080F95}"/>
              </a:ext>
            </a:extLst>
          </p:cNvPr>
          <p:cNvSpPr>
            <a:spLocks noGrp="1"/>
          </p:cNvSpPr>
          <p:nvPr/>
        </p:nvSpPr>
        <p:spPr>
          <a:xfrm>
            <a:off x="800100" y="5019675"/>
            <a:ext cx="10525125" cy="819150"/>
          </a:xfrm>
          <a:prstGeom prst="rect">
            <a:avLst/>
          </a:prstGeom>
          <a:noFill/>
          <a:ln w="0">
            <a:noFill/>
          </a:ln>
        </p:spPr>
        <p:txBody>
          <a:bodyPr lIns="0" tIns="0" rIns="0" bIns="0">
            <a:noAutofit/>
          </a:bodyPr>
          <a:lstStyle>
            <a:defPPr algn="l">
              <a:defRPr sz="1875" b="0">
                <a:solidFill>
                  <a:srgbClr val="6C2B91"/>
                </a:solidFill>
                <a:latin typeface="Helvetica Neue"/>
                <a:ea typeface="Helvetica Neue"/>
                <a:cs typeface="Helvetica Neue"/>
              </a:defRPr>
            </a:defPPr>
          </a:lstStyle>
          <a:p>
            <a:pPr algn="l">
              <a:buNone/>
              <a:defRPr sz="1875" b="0">
                <a:solidFill>
                  <a:srgbClr val="6C2B91"/>
                </a:solidFill>
                <a:latin typeface="Helvetica Neue"/>
                <a:ea typeface="Helvetica Neue"/>
                <a:cs typeface="Helvetica Neue"/>
              </a:defRPr>
            </a:pPr>
            <a:r>
              <a:rPr sz="1875" b="0">
                <a:solidFill>
                  <a:srgbClr val="6C2B91"/>
                </a:solidFill>
                <a:latin typeface="Helvetica Neue"/>
                <a:ea typeface="Helvetica Neue"/>
                <a:cs typeface="Helvetica Neue"/>
              </a:rPr>
              <a:t>"Describe normal and disrupted use of [concept]. Identify actors, system actions and states."</a:t>
            </a:r>
          </a:p>
        </p:txBody>
      </p:sp>
      <p:sp>
        <p:nvSpPr>
          <p:cNvPr id="12" name="discussion-cue">
            <a:extLst>
              <a:ext uri="{FF2B5EF4-FFF2-40B4-BE49-F238E27FC236}">
                <a16:creationId xmlns:a16="http://schemas.microsoft.com/office/drawing/2014/main" id="{1972DA67-DFDF-4FFC-B6C8-AFB9B29A701F}"/>
              </a:ext>
            </a:extLst>
          </p:cNvPr>
          <p:cNvSpPr>
            <a:spLocks noGrp="1"/>
          </p:cNvSpPr>
          <p:nvPr/>
        </p:nvSpPr>
        <p:spPr>
          <a:xfrm>
            <a:off x="609600" y="6067425"/>
            <a:ext cx="10668000" cy="266700"/>
          </a:xfrm>
          <a:prstGeom prst="rect">
            <a:avLst/>
          </a:prstGeom>
          <a:noFill/>
          <a:ln w="0">
            <a:noFill/>
          </a:ln>
        </p:spPr>
        <p:txBody>
          <a:bodyPr lIns="0" tIns="0" rIns="0" bIns="0">
            <a:noAutofit/>
          </a:bodyPr>
          <a:lstStyle>
            <a:defPPr algn="l">
              <a:defRPr sz="1650" b="0">
                <a:solidFill>
                  <a:srgbClr val="607482"/>
                </a:solidFill>
                <a:latin typeface="Helvetica Neue"/>
                <a:ea typeface="Helvetica Neue"/>
                <a:cs typeface="Helvetica Neue"/>
              </a:defRPr>
            </a:defPPr>
          </a:lstStyle>
          <a:p>
            <a:pPr algn="l">
              <a:buNone/>
              <a:defRPr sz="1650" b="0">
                <a:solidFill>
                  <a:srgbClr val="607482"/>
                </a:solidFill>
                <a:latin typeface="Helvetica Neue"/>
                <a:ea typeface="Helvetica Neue"/>
                <a:cs typeface="Helvetica Neue"/>
              </a:defRPr>
            </a:pPr>
            <a:r>
              <a:rPr sz="1650" b="0">
                <a:solidFill>
                  <a:srgbClr val="607482"/>
                </a:solidFill>
                <a:latin typeface="Helvetica Neue"/>
                <a:ea typeface="Helvetica Neue"/>
                <a:cs typeface="Helvetica Neue"/>
              </a:rPr>
              <a:t>ConOps: Concept of Operations</a:t>
            </a:r>
          </a:p>
        </p:txBody>
      </p:sp>
      <p:pic>
        <p:nvPicPr>
          <p:cNvPr id="14" name="Picture 13">
            <a:extLst>
              <a:ext uri="{FF2B5EF4-FFF2-40B4-BE49-F238E27FC236}">
                <a16:creationId xmlns:a16="http://schemas.microsoft.com/office/drawing/2014/main" id="{311ECC8F-2F81-4390-BA77-4E8D7BB87AE3}"/>
              </a:ext>
            </a:extLst>
          </p:cNvPr>
          <p:cNvPicPr>
            <a:picLocks noChangeAspect="1"/>
          </p:cNvPicPr>
          <p:nvPr/>
        </p:nvPicPr>
        <p:blipFill>
          <a:blip r:embed="rId3"/>
          <a:stretch/>
        </p:blipFill>
        <p:spPr>
          <a:xfrm>
            <a:off x="638175" y="2305050"/>
            <a:ext cx="400050" cy="400050"/>
          </a:xfrm>
          <a:prstGeom prst="rect">
            <a:avLst/>
          </a:prstGeom>
        </p:spPr>
      </p:pic>
      <p:sp>
        <p:nvSpPr>
          <p:cNvPr id="15" name="action-1">
            <a:extLst>
              <a:ext uri="{FF2B5EF4-FFF2-40B4-BE49-F238E27FC236}">
                <a16:creationId xmlns:a16="http://schemas.microsoft.com/office/drawing/2014/main" id="{54D5DE6F-F56F-4161-9312-F5085A03EA23}"/>
              </a:ext>
            </a:extLst>
          </p:cNvPr>
          <p:cNvSpPr>
            <a:spLocks noGrp="1"/>
          </p:cNvSpPr>
          <p:nvPr/>
        </p:nvSpPr>
        <p:spPr>
          <a:xfrm>
            <a:off x="1276350" y="2343150"/>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Describe normal and disrupted use</a:t>
            </a:r>
          </a:p>
        </p:txBody>
      </p:sp>
      <p:pic>
        <p:nvPicPr>
          <p:cNvPr id="16" name="Picture 15">
            <a:extLst>
              <a:ext uri="{FF2B5EF4-FFF2-40B4-BE49-F238E27FC236}">
                <a16:creationId xmlns:a16="http://schemas.microsoft.com/office/drawing/2014/main" id="{0754487A-627D-40F7-B4F5-4DDE9654A24B}"/>
              </a:ext>
            </a:extLst>
          </p:cNvPr>
          <p:cNvPicPr>
            <a:picLocks noChangeAspect="1"/>
          </p:cNvPicPr>
          <p:nvPr/>
        </p:nvPicPr>
        <p:blipFill>
          <a:blip r:embed="rId4"/>
          <a:stretch/>
        </p:blipFill>
        <p:spPr>
          <a:xfrm>
            <a:off x="638175" y="2924175"/>
            <a:ext cx="400050" cy="400050"/>
          </a:xfrm>
          <a:prstGeom prst="rect">
            <a:avLst/>
          </a:prstGeom>
        </p:spPr>
      </p:pic>
      <p:sp>
        <p:nvSpPr>
          <p:cNvPr id="17" name="action-2">
            <a:extLst>
              <a:ext uri="{FF2B5EF4-FFF2-40B4-BE49-F238E27FC236}">
                <a16:creationId xmlns:a16="http://schemas.microsoft.com/office/drawing/2014/main" id="{5FC1A3F4-15CE-4C6E-ADA5-F24956BE61EE}"/>
              </a:ext>
            </a:extLst>
          </p:cNvPr>
          <p:cNvSpPr>
            <a:spLocks noGrp="1"/>
          </p:cNvSpPr>
          <p:nvPr/>
        </p:nvSpPr>
        <p:spPr>
          <a:xfrm>
            <a:off x="1276350" y="2962275"/>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Identify actors and operating states</a:t>
            </a:r>
          </a:p>
        </p:txBody>
      </p:sp>
      <p:pic>
        <p:nvPicPr>
          <p:cNvPr id="18" name="Picture 17">
            <a:extLst>
              <a:ext uri="{FF2B5EF4-FFF2-40B4-BE49-F238E27FC236}">
                <a16:creationId xmlns:a16="http://schemas.microsoft.com/office/drawing/2014/main" id="{682258A5-3F9E-41A8-B515-7D7213435913}"/>
              </a:ext>
            </a:extLst>
          </p:cNvPr>
          <p:cNvPicPr>
            <a:picLocks noChangeAspect="1"/>
          </p:cNvPicPr>
          <p:nvPr/>
        </p:nvPicPr>
        <p:blipFill>
          <a:blip r:embed="rId5"/>
          <a:stretch/>
        </p:blipFill>
        <p:spPr>
          <a:xfrm>
            <a:off x="638175" y="3543300"/>
            <a:ext cx="400050" cy="400050"/>
          </a:xfrm>
          <a:prstGeom prst="rect">
            <a:avLst/>
          </a:prstGeom>
        </p:spPr>
      </p:pic>
      <p:sp>
        <p:nvSpPr>
          <p:cNvPr id="19" name="action-3">
            <a:extLst>
              <a:ext uri="{FF2B5EF4-FFF2-40B4-BE49-F238E27FC236}">
                <a16:creationId xmlns:a16="http://schemas.microsoft.com/office/drawing/2014/main" id="{9AD70666-DA82-46B3-84F5-7DA08AD824C0}"/>
              </a:ext>
            </a:extLst>
          </p:cNvPr>
          <p:cNvSpPr>
            <a:spLocks noGrp="1"/>
          </p:cNvSpPr>
          <p:nvPr/>
        </p:nvSpPr>
        <p:spPr>
          <a:xfrm>
            <a:off x="1276350" y="3581400"/>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Show what is inside and outside the solution</a:t>
            </a:r>
          </a:p>
        </p:txBody>
      </p:sp>
    </p:spTree>
    <p:extLst>
      <p:ext uri="{BB962C8B-B14F-4D97-AF65-F5344CB8AC3E}">
        <p14:creationId xmlns:p14="http://schemas.microsoft.com/office/powerpoint/2010/main" val="3606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3" name="section-label">
            <a:extLst>
              <a:ext uri="{FF2B5EF4-FFF2-40B4-BE49-F238E27FC236}">
                <a16:creationId xmlns:a16="http://schemas.microsoft.com/office/drawing/2014/main" id="{A9D2A9B3-7F67-4948-A0C0-3CCB32CF3EAD}"/>
              </a:ext>
            </a:extLst>
          </p:cNvPr>
          <p:cNvSpPr>
            <a:spLocks noGrp="1"/>
          </p:cNvSpPr>
          <p:nvPr/>
        </p:nvSpPr>
        <p:spPr>
          <a:xfrm>
            <a:off x="609600" y="285750"/>
            <a:ext cx="10668000" cy="285750"/>
          </a:xfrm>
          <a:prstGeom prst="rect">
            <a:avLst/>
          </a:prstGeom>
          <a:noFill/>
          <a:ln w="0">
            <a:noFill/>
          </a:ln>
        </p:spPr>
        <p:txBody>
          <a:bodyPr lIns="0" tIns="0" rIns="0" bIns="0">
            <a:noAutofit/>
          </a:bodyPr>
          <a:lstStyle>
            <a:defPPr algn="l">
              <a:defRPr sz="1200" b="1">
                <a:solidFill>
                  <a:srgbClr val="226FBB"/>
                </a:solidFill>
                <a:latin typeface="Helvetica Neue"/>
                <a:ea typeface="Helvetica Neue"/>
                <a:cs typeface="Helvetica Neue"/>
              </a:defRPr>
            </a:defPPr>
          </a:lstStyle>
          <a:p>
            <a:pPr algn="l">
              <a:buNone/>
              <a:defRPr sz="1200" b="1">
                <a:solidFill>
                  <a:srgbClr val="226FBB"/>
                </a:solidFill>
                <a:latin typeface="Helvetica Neue"/>
                <a:ea typeface="Helvetica Neue"/>
                <a:cs typeface="Helvetica Neue"/>
              </a:defRPr>
            </a:pPr>
            <a:r>
              <a:rPr sz="1200" b="1">
                <a:solidFill>
                  <a:srgbClr val="226FBB"/>
                </a:solidFill>
                <a:latin typeface="Helvetica Neue"/>
                <a:ea typeface="Helvetica Neue"/>
                <a:cs typeface="Helvetica Neue"/>
              </a:rPr>
              <a:t>APPENDIX: SESSION 1: CONCEPT DEFINITION</a:t>
            </a:r>
          </a:p>
        </p:txBody>
      </p:sp>
      <p:sp>
        <p:nvSpPr>
          <p:cNvPr id="2" name="slide-title">
            <a:extLst>
              <a:ext uri="{FF2B5EF4-FFF2-40B4-BE49-F238E27FC236}">
                <a16:creationId xmlns:a16="http://schemas.microsoft.com/office/drawing/2014/main" id="{AE048498-42D1-49BA-A5B4-AC49538806D7}"/>
              </a:ext>
            </a:extLst>
          </p:cNvPr>
          <p:cNvSpPr>
            <a:spLocks noGrp="1"/>
          </p:cNvSpPr>
          <p:nvPr/>
        </p:nvSpPr>
        <p:spPr>
          <a:xfrm>
            <a:off x="609600" y="781050"/>
            <a:ext cx="10858500" cy="857250"/>
          </a:xfrm>
          <a:prstGeom prst="rect">
            <a:avLst/>
          </a:prstGeom>
          <a:noFill/>
          <a:ln w="0">
            <a:noFill/>
          </a:ln>
        </p:spPr>
        <p:txBody>
          <a:bodyPr lIns="0" tIns="0" rIns="0" bIns="0">
            <a:noAutofit/>
          </a:bodyPr>
          <a:lstStyle>
            <a:defPPr algn="l">
              <a:defRPr sz="3450" b="1">
                <a:solidFill>
                  <a:srgbClr val="102B46"/>
                </a:solidFill>
                <a:latin typeface="Helvetica Neue"/>
                <a:ea typeface="Helvetica Neue"/>
                <a:cs typeface="Helvetica Neue"/>
              </a:defRPr>
            </a:defPPr>
          </a:lstStyle>
          <a:p>
            <a:pPr algn="l">
              <a:buNone/>
              <a:defRPr sz="3450" b="1">
                <a:solidFill>
                  <a:srgbClr val="102B46"/>
                </a:solidFill>
                <a:latin typeface="Helvetica Neue"/>
                <a:ea typeface="Helvetica Neue"/>
                <a:cs typeface="Helvetica Neue"/>
              </a:defRPr>
            </a:pPr>
            <a:r>
              <a:rPr sz="3450" b="1">
                <a:solidFill>
                  <a:srgbClr val="102B46"/>
                </a:solidFill>
                <a:latin typeface="Helvetica Neue"/>
                <a:ea typeface="Helvetica Neue"/>
                <a:cs typeface="Helvetica Neue"/>
              </a:rPr>
              <a:t>Existing solutions and market landscape</a:t>
            </a:r>
          </a:p>
        </p:txBody>
      </p:sp>
      <p:sp>
        <p:nvSpPr>
          <p:cNvPr id="3" name="subtitle">
            <a:extLst>
              <a:ext uri="{FF2B5EF4-FFF2-40B4-BE49-F238E27FC236}">
                <a16:creationId xmlns:a16="http://schemas.microsoft.com/office/drawing/2014/main" id="{01714813-8FCA-4085-AD30-AD6E89299391}"/>
              </a:ext>
            </a:extLst>
          </p:cNvPr>
          <p:cNvSpPr>
            <a:spLocks noGrp="1"/>
          </p:cNvSpPr>
          <p:nvPr/>
        </p:nvSpPr>
        <p:spPr>
          <a:xfrm>
            <a:off x="609600" y="1524000"/>
            <a:ext cx="10858500" cy="428625"/>
          </a:xfrm>
          <a:prstGeom prst="rect">
            <a:avLst/>
          </a:prstGeom>
          <a:noFill/>
          <a:ln w="0">
            <a:noFill/>
          </a:ln>
        </p:spPr>
        <p:txBody>
          <a:bodyPr lIns="0" tIns="0" rIns="0" bIns="0">
            <a:noAutofit/>
          </a:bodyPr>
          <a:lstStyle>
            <a:defPPr algn="l">
              <a:defRPr sz="1800" b="0">
                <a:solidFill>
                  <a:srgbClr val="607482"/>
                </a:solidFill>
                <a:latin typeface="Helvetica Neue"/>
                <a:ea typeface="Helvetica Neue"/>
                <a:cs typeface="Helvetica Neue"/>
              </a:defRPr>
            </a:defPPr>
          </a:lstStyle>
          <a:p>
            <a:pPr algn="l">
              <a:buNone/>
              <a:defRPr sz="1800" b="0">
                <a:solidFill>
                  <a:srgbClr val="607482"/>
                </a:solidFill>
                <a:latin typeface="Helvetica Neue"/>
                <a:ea typeface="Helvetica Neue"/>
                <a:cs typeface="Helvetica Neue"/>
              </a:defRPr>
            </a:pPr>
            <a:r>
              <a:rPr sz="1800" b="0">
                <a:solidFill>
                  <a:srgbClr val="607482"/>
                </a:solidFill>
                <a:latin typeface="Helvetica Neue"/>
                <a:ea typeface="Helvetica Neue"/>
                <a:cs typeface="Helvetica Neue"/>
              </a:rPr>
              <a:t>Step 1C. Knowledge Agent + patents + company research</a:t>
            </a:r>
          </a:p>
        </p:txBody>
      </p:sp>
      <p:sp>
        <p:nvSpPr>
          <p:cNvPr id="4" name="page-number">
            <a:extLst>
              <a:ext uri="{FF2B5EF4-FFF2-40B4-BE49-F238E27FC236}">
                <a16:creationId xmlns:a16="http://schemas.microsoft.com/office/drawing/2014/main" id="{5296C002-9F03-4073-91DA-2680C4E617EA}"/>
              </a:ext>
            </a:extLst>
          </p:cNvPr>
          <p:cNvSpPr>
            <a:spLocks noGrp="1"/>
          </p:cNvSpPr>
          <p:nvPr/>
        </p:nvSpPr>
        <p:spPr>
          <a:xfrm>
            <a:off x="10953750" y="6438900"/>
            <a:ext cx="666750" cy="228600"/>
          </a:xfrm>
          <a:prstGeom prst="rect">
            <a:avLst/>
          </a:prstGeom>
          <a:noFill/>
          <a:ln w="0">
            <a:noFill/>
          </a:ln>
        </p:spPr>
        <p:txBody>
          <a:bodyPr lIns="0" tIns="0" rIns="0" bIns="0">
            <a:noAutofit/>
          </a:bodyPr>
          <a:lstStyle>
            <a:defPPr algn="r">
              <a:defRPr sz="1125" b="0">
                <a:solidFill>
                  <a:srgbClr val="607482"/>
                </a:solidFill>
                <a:latin typeface="Helvetica Neue"/>
                <a:ea typeface="Helvetica Neue"/>
                <a:cs typeface="Helvetica Neue"/>
              </a:defRPr>
            </a:defPPr>
          </a:lstStyle>
          <a:p>
            <a:pPr algn="r">
              <a:buNone/>
              <a:defRPr sz="1125" b="0">
                <a:solidFill>
                  <a:srgbClr val="607482"/>
                </a:solidFill>
                <a:latin typeface="Helvetica Neue"/>
                <a:ea typeface="Helvetica Neue"/>
                <a:cs typeface="Helvetica Neue"/>
              </a:defRPr>
            </a:pPr>
            <a:r>
              <a:rPr sz="1125" b="0">
                <a:solidFill>
                  <a:srgbClr val="607482"/>
                </a:solidFill>
                <a:latin typeface="Helvetica Neue"/>
                <a:ea typeface="Helvetica Neue"/>
                <a:cs typeface="Helvetica Neue"/>
              </a:rPr>
              <a:t>A4</a:t>
            </a:r>
          </a:p>
        </p:txBody>
      </p:sp>
      <p:sp>
        <p:nvSpPr>
          <p:cNvPr id="5" name="action-list">
            <a:extLst>
              <a:ext uri="{FF2B5EF4-FFF2-40B4-BE49-F238E27FC236}">
                <a16:creationId xmlns:a16="http://schemas.microsoft.com/office/drawing/2014/main" id="{4306268D-C612-4EC8-961F-D43C3B788952}"/>
              </a:ext>
            </a:extLst>
          </p:cNvPr>
          <p:cNvSpPr>
            <a:spLocks noGrp="1"/>
          </p:cNvSpPr>
          <p:nvPr/>
        </p:nvSpPr>
        <p:spPr>
          <a:xfrm>
            <a:off x="609600" y="2333625"/>
            <a:ext cx="7048500" cy="2047875"/>
          </a:xfrm>
          <a:prstGeom prst="rect">
            <a:avLst/>
          </a:prstGeom>
          <a:noFill/>
          <a:ln w="0">
            <a:noFill/>
          </a:ln>
        </p:spPr>
        <p:txBody>
          <a:bodyPr lIns="0" tIns="0" rIns="0" bIns="0">
            <a:noAutofit/>
          </a:bodyPr>
          <a:lstStyle>
            <a:defPPr algn="l">
              <a:defRPr sz="2100" b="0">
                <a:solidFill>
                  <a:srgbClr val="233A4B"/>
                </a:solidFill>
                <a:latin typeface="Helvetica Neue"/>
                <a:ea typeface="Helvetica Neue"/>
                <a:cs typeface="Helvetica Neue"/>
              </a:defRPr>
            </a:defPPr>
          </a:lstStyle>
          <a:p>
            <a:pPr marL="228600" indent="-114300" algn="l">
              <a:spcAft>
                <a:spcPts val="1800"/>
              </a:spcAft>
              <a:buChar char="•"/>
              <a:defRPr sz="2100" b="0">
                <a:solidFill>
                  <a:srgbClr val="233A4B"/>
                </a:solidFill>
                <a:latin typeface="Helvetica Neue"/>
                <a:ea typeface="Helvetica Neue"/>
                <a:cs typeface="Helvetica Neue"/>
              </a:defRPr>
            </a:pPr>
            <a:endParaRPr/>
          </a:p>
        </p:txBody>
      </p:sp>
      <p:sp>
        <p:nvSpPr>
          <p:cNvPr id="6" name="step-output">
            <a:extLst>
              <a:ext uri="{FF2B5EF4-FFF2-40B4-BE49-F238E27FC236}">
                <a16:creationId xmlns:a16="http://schemas.microsoft.com/office/drawing/2014/main" id="{890AA268-60D9-4A37-9F13-8FDD0A524DFE}"/>
              </a:ext>
            </a:extLst>
          </p:cNvPr>
          <p:cNvSpPr>
            <a:spLocks noGrp="1"/>
          </p:cNvSpPr>
          <p:nvPr/>
        </p:nvSpPr>
        <p:spPr>
          <a:xfrm>
            <a:off x="8248650" y="2238375"/>
            <a:ext cx="3333750" cy="2000250"/>
          </a:xfrm>
          <a:prstGeom prst="rect">
            <a:avLst/>
          </a:prstGeom>
          <a:solidFill>
            <a:srgbClr val="F3F7FA"/>
          </a:solidFill>
          <a:ln w="9525">
            <a:solidFill>
              <a:srgbClr val="226FBB"/>
            </a:solidFill>
            <a:prstDash val="solid"/>
          </a:ln>
        </p:spPr>
      </p:sp>
      <p:sp>
        <p:nvSpPr>
          <p:cNvPr id="7" name="output-label">
            <a:extLst>
              <a:ext uri="{FF2B5EF4-FFF2-40B4-BE49-F238E27FC236}">
                <a16:creationId xmlns:a16="http://schemas.microsoft.com/office/drawing/2014/main" id="{F249B1C5-B54A-4BA3-8532-7DA49481EDF8}"/>
              </a:ext>
            </a:extLst>
          </p:cNvPr>
          <p:cNvSpPr>
            <a:spLocks noGrp="1"/>
          </p:cNvSpPr>
          <p:nvPr/>
        </p:nvSpPr>
        <p:spPr>
          <a:xfrm>
            <a:off x="8477250" y="2438400"/>
            <a:ext cx="2857500" cy="285750"/>
          </a:xfrm>
          <a:prstGeom prst="rect">
            <a:avLst/>
          </a:prstGeom>
          <a:noFill/>
          <a:ln w="0">
            <a:noFill/>
          </a:ln>
        </p:spPr>
        <p:txBody>
          <a:bodyPr lIns="0" tIns="0" rIns="0" bIns="0">
            <a:noAutofit/>
          </a:bodyPr>
          <a:lstStyle>
            <a:defPPr algn="l">
              <a:defRPr sz="1275" b="1">
                <a:solidFill>
                  <a:srgbClr val="226FBB"/>
                </a:solidFill>
                <a:latin typeface="Helvetica Neue"/>
                <a:ea typeface="Helvetica Neue"/>
                <a:cs typeface="Helvetica Neue"/>
              </a:defRPr>
            </a:defPPr>
          </a:lstStyle>
          <a:p>
            <a:pPr algn="l">
              <a:buNone/>
              <a:defRPr sz="1275" b="1">
                <a:solidFill>
                  <a:srgbClr val="226FBB"/>
                </a:solidFill>
                <a:latin typeface="Helvetica Neue"/>
                <a:ea typeface="Helvetica Neue"/>
                <a:cs typeface="Helvetica Neue"/>
              </a:defRPr>
            </a:pPr>
            <a:r>
              <a:rPr sz="1275" b="1">
                <a:solidFill>
                  <a:srgbClr val="226FBB"/>
                </a:solidFill>
                <a:latin typeface="Helvetica Neue"/>
                <a:ea typeface="Helvetica Neue"/>
                <a:cs typeface="Helvetica Neue"/>
              </a:rPr>
              <a:t>OUTPUT</a:t>
            </a:r>
          </a:p>
        </p:txBody>
      </p:sp>
      <p:sp>
        <p:nvSpPr>
          <p:cNvPr id="8" name="output-description">
            <a:extLst>
              <a:ext uri="{FF2B5EF4-FFF2-40B4-BE49-F238E27FC236}">
                <a16:creationId xmlns:a16="http://schemas.microsoft.com/office/drawing/2014/main" id="{555F19C0-FADF-4B89-A08A-C81D09449510}"/>
              </a:ext>
            </a:extLst>
          </p:cNvPr>
          <p:cNvSpPr>
            <a:spLocks noGrp="1"/>
          </p:cNvSpPr>
          <p:nvPr/>
        </p:nvSpPr>
        <p:spPr>
          <a:xfrm>
            <a:off x="8477250" y="2876550"/>
            <a:ext cx="2857500" cy="1219200"/>
          </a:xfrm>
          <a:prstGeom prst="rect">
            <a:avLst/>
          </a:prstGeom>
          <a:noFill/>
          <a:ln w="0">
            <a:noFill/>
          </a:ln>
        </p:spPr>
        <p:txBody>
          <a:bodyPr lIns="0" tIns="0" rIns="0" bIns="0">
            <a:noAutofit/>
          </a:bodyPr>
          <a:lstStyle>
            <a:defPPr algn="l">
              <a:defRPr sz="2100" b="1">
                <a:solidFill>
                  <a:srgbClr val="102B46"/>
                </a:solidFill>
                <a:latin typeface="Helvetica Neue"/>
                <a:ea typeface="Helvetica Neue"/>
                <a:cs typeface="Helvetica Neue"/>
              </a:defRPr>
            </a:defPPr>
          </a:lstStyle>
          <a:p>
            <a:pPr algn="l">
              <a:buNone/>
              <a:defRPr sz="2100" b="1">
                <a:solidFill>
                  <a:srgbClr val="102B46"/>
                </a:solidFill>
                <a:latin typeface="Helvetica Neue"/>
                <a:ea typeface="Helvetica Neue"/>
                <a:cs typeface="Helvetica Neue"/>
              </a:defRPr>
            </a:pPr>
            <a:r>
              <a:rPr sz="2100" b="1">
                <a:solidFill>
                  <a:srgbClr val="102B46"/>
                </a:solidFill>
                <a:latin typeface="Helvetica Neue"/>
                <a:ea typeface="Helvetica Neue"/>
                <a:cs typeface="Helvetica Neue"/>
              </a:rPr>
              <a:t>Evidence comparison</a:t>
            </a:r>
          </a:p>
          <a:p>
            <a:pPr algn="l">
              <a:buNone/>
              <a:defRPr sz="2100" b="1">
                <a:solidFill>
                  <a:srgbClr val="102B46"/>
                </a:solidFill>
                <a:latin typeface="Helvetica Neue"/>
                <a:ea typeface="Helvetica Neue"/>
                <a:cs typeface="Helvetica Neue"/>
              </a:defRPr>
            </a:pPr>
            <a:r>
              <a:rPr sz="2100" b="1">
                <a:solidFill>
                  <a:srgbClr val="102B46"/>
                </a:solidFill>
                <a:latin typeface="Helvetica Neue"/>
                <a:ea typeface="Helvetica Neue"/>
                <a:cs typeface="Helvetica Neue"/>
              </a:rPr>
              <a:t>Design choices</a:t>
            </a:r>
          </a:p>
        </p:txBody>
      </p:sp>
      <p:sp>
        <p:nvSpPr>
          <p:cNvPr id="9" name="prompt-reference">
            <a:extLst>
              <a:ext uri="{FF2B5EF4-FFF2-40B4-BE49-F238E27FC236}">
                <a16:creationId xmlns:a16="http://schemas.microsoft.com/office/drawing/2014/main" id="{D9026460-8566-4EB2-8BB0-7FBF2D85F476}"/>
              </a:ext>
            </a:extLst>
          </p:cNvPr>
          <p:cNvSpPr>
            <a:spLocks noGrp="1"/>
          </p:cNvSpPr>
          <p:nvPr/>
        </p:nvSpPr>
        <p:spPr>
          <a:xfrm>
            <a:off x="609600" y="4524375"/>
            <a:ext cx="10972800" cy="1381125"/>
          </a:xfrm>
          <a:prstGeom prst="rect">
            <a:avLst/>
          </a:prstGeom>
          <a:solidFill>
            <a:srgbClr val="F6F0FA"/>
          </a:solidFill>
          <a:ln w="0">
            <a:solidFill>
              <a:srgbClr val="F6F0FA"/>
            </a:solidFill>
          </a:ln>
        </p:spPr>
      </p:sp>
      <p:sp>
        <p:nvSpPr>
          <p:cNvPr id="10" name="prompt-label">
            <a:extLst>
              <a:ext uri="{FF2B5EF4-FFF2-40B4-BE49-F238E27FC236}">
                <a16:creationId xmlns:a16="http://schemas.microsoft.com/office/drawing/2014/main" id="{37253567-DBA9-48BB-8B08-34F55FB6D082}"/>
              </a:ext>
            </a:extLst>
          </p:cNvPr>
          <p:cNvSpPr>
            <a:spLocks noGrp="1"/>
          </p:cNvSpPr>
          <p:nvPr/>
        </p:nvSpPr>
        <p:spPr>
          <a:xfrm>
            <a:off x="800100" y="4686300"/>
            <a:ext cx="10525125" cy="228600"/>
          </a:xfrm>
          <a:prstGeom prst="rect">
            <a:avLst/>
          </a:prstGeom>
          <a:noFill/>
          <a:ln w="0">
            <a:noFill/>
          </a:ln>
        </p:spPr>
        <p:txBody>
          <a:bodyPr lIns="0" tIns="0" rIns="0" bIns="0">
            <a:noAutofit/>
          </a:bodyPr>
          <a:lstStyle>
            <a:defPPr algn="l">
              <a:defRPr sz="1200" b="1">
                <a:solidFill>
                  <a:srgbClr val="6C2B91"/>
                </a:solidFill>
                <a:latin typeface="Helvetica Neue"/>
                <a:ea typeface="Helvetica Neue"/>
                <a:cs typeface="Helvetica Neue"/>
              </a:defRPr>
            </a:defPPr>
          </a:lstStyle>
          <a:p>
            <a:pPr algn="l">
              <a:buNone/>
              <a:defRPr sz="1200" b="1">
                <a:solidFill>
                  <a:srgbClr val="6C2B91"/>
                </a:solidFill>
                <a:latin typeface="Helvetica Neue"/>
                <a:ea typeface="Helvetica Neue"/>
                <a:cs typeface="Helvetica Neue"/>
              </a:defRPr>
            </a:pPr>
            <a:r>
              <a:rPr sz="1200" b="1">
                <a:solidFill>
                  <a:srgbClr val="6C2B91"/>
                </a:solidFill>
                <a:latin typeface="Helvetica Neue"/>
                <a:ea typeface="Helvetica Neue"/>
                <a:cs typeface="Helvetica Neue"/>
              </a:rPr>
              <a:t>EXAMPLE PROMPT</a:t>
            </a:r>
          </a:p>
        </p:txBody>
      </p:sp>
      <p:sp>
        <p:nvSpPr>
          <p:cNvPr id="11" name="prompt-content">
            <a:extLst>
              <a:ext uri="{FF2B5EF4-FFF2-40B4-BE49-F238E27FC236}">
                <a16:creationId xmlns:a16="http://schemas.microsoft.com/office/drawing/2014/main" id="{42B40B6C-F678-4EF6-8746-A2AC49AD740D}"/>
              </a:ext>
            </a:extLst>
          </p:cNvPr>
          <p:cNvSpPr>
            <a:spLocks noGrp="1"/>
          </p:cNvSpPr>
          <p:nvPr/>
        </p:nvSpPr>
        <p:spPr>
          <a:xfrm>
            <a:off x="800100" y="5019675"/>
            <a:ext cx="10525125" cy="819150"/>
          </a:xfrm>
          <a:prstGeom prst="rect">
            <a:avLst/>
          </a:prstGeom>
          <a:noFill/>
          <a:ln w="0">
            <a:noFill/>
          </a:ln>
        </p:spPr>
        <p:txBody>
          <a:bodyPr lIns="0" tIns="0" rIns="0" bIns="0">
            <a:noAutofit/>
          </a:bodyPr>
          <a:lstStyle>
            <a:defPPr algn="l">
              <a:defRPr sz="1875" b="0">
                <a:solidFill>
                  <a:srgbClr val="6C2B91"/>
                </a:solidFill>
                <a:latin typeface="Helvetica Neue"/>
                <a:ea typeface="Helvetica Neue"/>
                <a:cs typeface="Helvetica Neue"/>
              </a:defRPr>
            </a:defPPr>
          </a:lstStyle>
          <a:p>
            <a:pPr algn="l">
              <a:buNone/>
              <a:defRPr sz="1875" b="0">
                <a:solidFill>
                  <a:srgbClr val="6C2B91"/>
                </a:solidFill>
                <a:latin typeface="Helvetica Neue"/>
                <a:ea typeface="Helvetica Neue"/>
                <a:cs typeface="Helvetica Neue"/>
              </a:defRPr>
            </a:pPr>
            <a:r>
              <a:rPr sz="1875" b="0">
                <a:solidFill>
                  <a:srgbClr val="6C2B91"/>
                </a:solidFill>
                <a:latin typeface="Helvetica Neue"/>
                <a:ea typeface="Helvetica Neue"/>
                <a:cs typeface="Helvetica Neue"/>
              </a:rPr>
              <a:t>"Compare [concept] with relevant patents, products and companies. Identify alternatives and potential partners."</a:t>
            </a:r>
          </a:p>
        </p:txBody>
      </p:sp>
      <p:sp>
        <p:nvSpPr>
          <p:cNvPr id="12" name="discussion-cue">
            <a:extLst>
              <a:ext uri="{FF2B5EF4-FFF2-40B4-BE49-F238E27FC236}">
                <a16:creationId xmlns:a16="http://schemas.microsoft.com/office/drawing/2014/main" id="{8A64AE03-7DF2-4780-923E-CDA8A9003A8C}"/>
              </a:ext>
            </a:extLst>
          </p:cNvPr>
          <p:cNvSpPr>
            <a:spLocks noGrp="1"/>
          </p:cNvSpPr>
          <p:nvPr/>
        </p:nvSpPr>
        <p:spPr>
          <a:xfrm>
            <a:off x="609600" y="6067425"/>
            <a:ext cx="10668000" cy="266700"/>
          </a:xfrm>
          <a:prstGeom prst="rect">
            <a:avLst/>
          </a:prstGeom>
          <a:noFill/>
          <a:ln w="0">
            <a:noFill/>
          </a:ln>
        </p:spPr>
        <p:txBody>
          <a:bodyPr lIns="0" tIns="0" rIns="0" bIns="0">
            <a:noAutofit/>
          </a:bodyPr>
          <a:lstStyle>
            <a:defPPr algn="l">
              <a:defRPr sz="1650" b="0">
                <a:solidFill>
                  <a:srgbClr val="607482"/>
                </a:solidFill>
                <a:latin typeface="Helvetica Neue"/>
                <a:ea typeface="Helvetica Neue"/>
                <a:cs typeface="Helvetica Neue"/>
              </a:defRPr>
            </a:defPPr>
          </a:lstStyle>
          <a:p>
            <a:pPr algn="l">
              <a:buNone/>
              <a:defRPr sz="1650" b="0">
                <a:solidFill>
                  <a:srgbClr val="607482"/>
                </a:solidFill>
                <a:latin typeface="Helvetica Neue"/>
                <a:ea typeface="Helvetica Neue"/>
                <a:cs typeface="Helvetica Neue"/>
              </a:defRPr>
            </a:pPr>
            <a:r>
              <a:rPr sz="1650" b="0">
                <a:solidFill>
                  <a:srgbClr val="607482"/>
                </a:solidFill>
                <a:latin typeface="Helvetica Neue"/>
                <a:ea typeface="Helvetica Neue"/>
                <a:cs typeface="Helvetica Neue"/>
              </a:rPr>
              <a:t>IPIL / Espacenet / company sources / startup databases</a:t>
            </a:r>
          </a:p>
        </p:txBody>
      </p:sp>
      <p:pic>
        <p:nvPicPr>
          <p:cNvPr id="14" name="Picture 13">
            <a:extLst>
              <a:ext uri="{FF2B5EF4-FFF2-40B4-BE49-F238E27FC236}">
                <a16:creationId xmlns:a16="http://schemas.microsoft.com/office/drawing/2014/main" id="{AEB144FB-BAB3-446A-9F02-663C75D92431}"/>
              </a:ext>
            </a:extLst>
          </p:cNvPr>
          <p:cNvPicPr>
            <a:picLocks noChangeAspect="1"/>
          </p:cNvPicPr>
          <p:nvPr/>
        </p:nvPicPr>
        <p:blipFill>
          <a:blip r:embed="rId3"/>
          <a:stretch/>
        </p:blipFill>
        <p:spPr>
          <a:xfrm>
            <a:off x="638175" y="2305050"/>
            <a:ext cx="400050" cy="400050"/>
          </a:xfrm>
          <a:prstGeom prst="rect">
            <a:avLst/>
          </a:prstGeom>
        </p:spPr>
      </p:pic>
      <p:sp>
        <p:nvSpPr>
          <p:cNvPr id="15" name="action-1">
            <a:extLst>
              <a:ext uri="{FF2B5EF4-FFF2-40B4-BE49-F238E27FC236}">
                <a16:creationId xmlns:a16="http://schemas.microsoft.com/office/drawing/2014/main" id="{4A3D0BCD-768C-45D4-90C0-F646E09F2976}"/>
              </a:ext>
            </a:extLst>
          </p:cNvPr>
          <p:cNvSpPr>
            <a:spLocks noGrp="1"/>
          </p:cNvSpPr>
          <p:nvPr/>
        </p:nvSpPr>
        <p:spPr>
          <a:xfrm>
            <a:off x="1276350" y="2343150"/>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Start patent and market research early</a:t>
            </a:r>
          </a:p>
        </p:txBody>
      </p:sp>
      <p:pic>
        <p:nvPicPr>
          <p:cNvPr id="16" name="Picture 15">
            <a:extLst>
              <a:ext uri="{FF2B5EF4-FFF2-40B4-BE49-F238E27FC236}">
                <a16:creationId xmlns:a16="http://schemas.microsoft.com/office/drawing/2014/main" id="{2B9F1D83-DEEC-4B0D-995D-4EE2D82A9800}"/>
              </a:ext>
            </a:extLst>
          </p:cNvPr>
          <p:cNvPicPr>
            <a:picLocks noChangeAspect="1"/>
          </p:cNvPicPr>
          <p:nvPr/>
        </p:nvPicPr>
        <p:blipFill>
          <a:blip r:embed="rId4"/>
          <a:stretch/>
        </p:blipFill>
        <p:spPr>
          <a:xfrm>
            <a:off x="638175" y="2924175"/>
            <a:ext cx="400050" cy="400050"/>
          </a:xfrm>
          <a:prstGeom prst="rect">
            <a:avLst/>
          </a:prstGeom>
        </p:spPr>
      </p:pic>
      <p:sp>
        <p:nvSpPr>
          <p:cNvPr id="17" name="action-2">
            <a:extLst>
              <a:ext uri="{FF2B5EF4-FFF2-40B4-BE49-F238E27FC236}">
                <a16:creationId xmlns:a16="http://schemas.microsoft.com/office/drawing/2014/main" id="{C556FFC2-6435-47E9-AE99-3EF0E9313856}"/>
              </a:ext>
            </a:extLst>
          </p:cNvPr>
          <p:cNvSpPr>
            <a:spLocks noGrp="1"/>
          </p:cNvSpPr>
          <p:nvPr/>
        </p:nvSpPr>
        <p:spPr>
          <a:xfrm>
            <a:off x="1276350" y="2962275"/>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Compare patents, products and companies</a:t>
            </a:r>
          </a:p>
        </p:txBody>
      </p:sp>
      <p:pic>
        <p:nvPicPr>
          <p:cNvPr id="18" name="Picture 17">
            <a:extLst>
              <a:ext uri="{FF2B5EF4-FFF2-40B4-BE49-F238E27FC236}">
                <a16:creationId xmlns:a16="http://schemas.microsoft.com/office/drawing/2014/main" id="{08FF228E-F018-4FBA-80E8-43E81D9F59EE}"/>
              </a:ext>
            </a:extLst>
          </p:cNvPr>
          <p:cNvPicPr>
            <a:picLocks noChangeAspect="1"/>
          </p:cNvPicPr>
          <p:nvPr/>
        </p:nvPicPr>
        <p:blipFill>
          <a:blip r:embed="rId5"/>
          <a:stretch/>
        </p:blipFill>
        <p:spPr>
          <a:xfrm>
            <a:off x="638175" y="3543300"/>
            <a:ext cx="400050" cy="400050"/>
          </a:xfrm>
          <a:prstGeom prst="rect">
            <a:avLst/>
          </a:prstGeom>
        </p:spPr>
      </p:pic>
      <p:sp>
        <p:nvSpPr>
          <p:cNvPr id="19" name="action-3">
            <a:extLst>
              <a:ext uri="{FF2B5EF4-FFF2-40B4-BE49-F238E27FC236}">
                <a16:creationId xmlns:a16="http://schemas.microsoft.com/office/drawing/2014/main" id="{1F4F9CF9-B9EE-4C8C-AC4A-C3C23DCFE004}"/>
              </a:ext>
            </a:extLst>
          </p:cNvPr>
          <p:cNvSpPr>
            <a:spLocks noGrp="1"/>
          </p:cNvSpPr>
          <p:nvPr/>
        </p:nvSpPr>
        <p:spPr>
          <a:xfrm>
            <a:off x="1276350" y="3581400"/>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Identify alternatives and potential partners</a:t>
            </a:r>
          </a:p>
        </p:txBody>
      </p:sp>
    </p:spTree>
    <p:extLst>
      <p:ext uri="{BB962C8B-B14F-4D97-AF65-F5344CB8AC3E}">
        <p14:creationId xmlns:p14="http://schemas.microsoft.com/office/powerpoint/2010/main" val="7134562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3" name="section-label">
            <a:extLst>
              <a:ext uri="{FF2B5EF4-FFF2-40B4-BE49-F238E27FC236}">
                <a16:creationId xmlns:a16="http://schemas.microsoft.com/office/drawing/2014/main" id="{D732A793-2C7C-4AB3-BC84-209890A251B5}"/>
              </a:ext>
            </a:extLst>
          </p:cNvPr>
          <p:cNvSpPr>
            <a:spLocks noGrp="1"/>
          </p:cNvSpPr>
          <p:nvPr/>
        </p:nvSpPr>
        <p:spPr>
          <a:xfrm>
            <a:off x="609600" y="285750"/>
            <a:ext cx="10668000" cy="285750"/>
          </a:xfrm>
          <a:prstGeom prst="rect">
            <a:avLst/>
          </a:prstGeom>
          <a:noFill/>
          <a:ln w="0">
            <a:noFill/>
          </a:ln>
        </p:spPr>
        <p:txBody>
          <a:bodyPr lIns="0" tIns="0" rIns="0" bIns="0">
            <a:noAutofit/>
          </a:bodyPr>
          <a:lstStyle>
            <a:defPPr algn="l">
              <a:defRPr sz="1200" b="1">
                <a:solidFill>
                  <a:srgbClr val="226FBB"/>
                </a:solidFill>
                <a:latin typeface="Helvetica Neue"/>
                <a:ea typeface="Helvetica Neue"/>
                <a:cs typeface="Helvetica Neue"/>
              </a:defRPr>
            </a:defPPr>
          </a:lstStyle>
          <a:p>
            <a:pPr algn="l">
              <a:buNone/>
              <a:defRPr sz="1200" b="1">
                <a:solidFill>
                  <a:srgbClr val="226FBB"/>
                </a:solidFill>
                <a:latin typeface="Helvetica Neue"/>
                <a:ea typeface="Helvetica Neue"/>
                <a:cs typeface="Helvetica Neue"/>
              </a:defRPr>
            </a:pPr>
            <a:r>
              <a:rPr sz="1200" b="1">
                <a:solidFill>
                  <a:srgbClr val="226FBB"/>
                </a:solidFill>
                <a:latin typeface="Helvetica Neue"/>
                <a:ea typeface="Helvetica Neue"/>
                <a:cs typeface="Helvetica Neue"/>
              </a:rPr>
              <a:t>APPENDIX: SESSION 1: CONCEPT DEFINITION</a:t>
            </a:r>
          </a:p>
        </p:txBody>
      </p:sp>
      <p:sp>
        <p:nvSpPr>
          <p:cNvPr id="2" name="slide-title">
            <a:extLst>
              <a:ext uri="{FF2B5EF4-FFF2-40B4-BE49-F238E27FC236}">
                <a16:creationId xmlns:a16="http://schemas.microsoft.com/office/drawing/2014/main" id="{CC3B93E2-7C44-4D0B-B3FE-F1650120FA93}"/>
              </a:ext>
            </a:extLst>
          </p:cNvPr>
          <p:cNvSpPr>
            <a:spLocks noGrp="1"/>
          </p:cNvSpPr>
          <p:nvPr/>
        </p:nvSpPr>
        <p:spPr>
          <a:xfrm>
            <a:off x="609600" y="781050"/>
            <a:ext cx="10858500" cy="857250"/>
          </a:xfrm>
          <a:prstGeom prst="rect">
            <a:avLst/>
          </a:prstGeom>
          <a:noFill/>
          <a:ln w="0">
            <a:noFill/>
          </a:ln>
        </p:spPr>
        <p:txBody>
          <a:bodyPr lIns="0" tIns="0" rIns="0" bIns="0">
            <a:noAutofit/>
          </a:bodyPr>
          <a:lstStyle>
            <a:defPPr algn="l">
              <a:defRPr sz="3450" b="1">
                <a:solidFill>
                  <a:srgbClr val="102B46"/>
                </a:solidFill>
                <a:latin typeface="Helvetica Neue"/>
                <a:ea typeface="Helvetica Neue"/>
                <a:cs typeface="Helvetica Neue"/>
              </a:defRPr>
            </a:defPPr>
          </a:lstStyle>
          <a:p>
            <a:pPr algn="l">
              <a:buNone/>
              <a:defRPr sz="3450" b="1">
                <a:solidFill>
                  <a:srgbClr val="102B46"/>
                </a:solidFill>
                <a:latin typeface="Helvetica Neue"/>
                <a:ea typeface="Helvetica Neue"/>
                <a:cs typeface="Helvetica Neue"/>
              </a:defRPr>
            </a:pPr>
            <a:r>
              <a:rPr sz="3450" b="1">
                <a:solidFill>
                  <a:srgbClr val="102B46"/>
                </a:solidFill>
                <a:latin typeface="Helvetica Neue"/>
                <a:ea typeface="Helvetica Neue"/>
                <a:cs typeface="Helvetica Neue"/>
              </a:rPr>
              <a:t>Main system parts and value proposition</a:t>
            </a:r>
          </a:p>
        </p:txBody>
      </p:sp>
      <p:sp>
        <p:nvSpPr>
          <p:cNvPr id="3" name="subtitle">
            <a:extLst>
              <a:ext uri="{FF2B5EF4-FFF2-40B4-BE49-F238E27FC236}">
                <a16:creationId xmlns:a16="http://schemas.microsoft.com/office/drawing/2014/main" id="{65598B54-E729-4F3E-A698-A2223DC39823}"/>
              </a:ext>
            </a:extLst>
          </p:cNvPr>
          <p:cNvSpPr>
            <a:spLocks noGrp="1"/>
          </p:cNvSpPr>
          <p:nvPr/>
        </p:nvSpPr>
        <p:spPr>
          <a:xfrm>
            <a:off x="609600" y="1524000"/>
            <a:ext cx="10858500" cy="428625"/>
          </a:xfrm>
          <a:prstGeom prst="rect">
            <a:avLst/>
          </a:prstGeom>
          <a:noFill/>
          <a:ln w="0">
            <a:noFill/>
          </a:ln>
        </p:spPr>
        <p:txBody>
          <a:bodyPr lIns="0" tIns="0" rIns="0" bIns="0">
            <a:noAutofit/>
          </a:bodyPr>
          <a:lstStyle>
            <a:defPPr algn="l">
              <a:defRPr sz="1800" b="0">
                <a:solidFill>
                  <a:srgbClr val="607482"/>
                </a:solidFill>
                <a:latin typeface="Helvetica Neue"/>
                <a:ea typeface="Helvetica Neue"/>
                <a:cs typeface="Helvetica Neue"/>
              </a:defRPr>
            </a:defPPr>
          </a:lstStyle>
          <a:p>
            <a:pPr algn="l">
              <a:buNone/>
              <a:defRPr sz="1800" b="0">
                <a:solidFill>
                  <a:srgbClr val="607482"/>
                </a:solidFill>
                <a:latin typeface="Helvetica Neue"/>
                <a:ea typeface="Helvetica Neue"/>
                <a:cs typeface="Helvetica Neue"/>
              </a:defRPr>
            </a:pPr>
            <a:r>
              <a:rPr sz="1800" b="0">
                <a:solidFill>
                  <a:srgbClr val="607482"/>
                </a:solidFill>
                <a:latin typeface="Helvetica Neue"/>
                <a:ea typeface="Helvetica Neue"/>
                <a:cs typeface="Helvetica Neue"/>
              </a:rPr>
              <a:t>Step 1D. Knowledge Agent + selected Libraries</a:t>
            </a:r>
          </a:p>
        </p:txBody>
      </p:sp>
      <p:sp>
        <p:nvSpPr>
          <p:cNvPr id="4" name="page-number">
            <a:extLst>
              <a:ext uri="{FF2B5EF4-FFF2-40B4-BE49-F238E27FC236}">
                <a16:creationId xmlns:a16="http://schemas.microsoft.com/office/drawing/2014/main" id="{312AA79E-76E5-4BCE-9A94-D1825B16641D}"/>
              </a:ext>
            </a:extLst>
          </p:cNvPr>
          <p:cNvSpPr>
            <a:spLocks noGrp="1"/>
          </p:cNvSpPr>
          <p:nvPr/>
        </p:nvSpPr>
        <p:spPr>
          <a:xfrm>
            <a:off x="10953750" y="6438900"/>
            <a:ext cx="666750" cy="228600"/>
          </a:xfrm>
          <a:prstGeom prst="rect">
            <a:avLst/>
          </a:prstGeom>
          <a:noFill/>
          <a:ln w="0">
            <a:noFill/>
          </a:ln>
        </p:spPr>
        <p:txBody>
          <a:bodyPr lIns="0" tIns="0" rIns="0" bIns="0">
            <a:noAutofit/>
          </a:bodyPr>
          <a:lstStyle>
            <a:defPPr algn="r">
              <a:defRPr sz="1125" b="0">
                <a:solidFill>
                  <a:srgbClr val="607482"/>
                </a:solidFill>
                <a:latin typeface="Helvetica Neue"/>
                <a:ea typeface="Helvetica Neue"/>
                <a:cs typeface="Helvetica Neue"/>
              </a:defRPr>
            </a:defPPr>
          </a:lstStyle>
          <a:p>
            <a:pPr algn="r">
              <a:buNone/>
              <a:defRPr sz="1125" b="0">
                <a:solidFill>
                  <a:srgbClr val="607482"/>
                </a:solidFill>
                <a:latin typeface="Helvetica Neue"/>
                <a:ea typeface="Helvetica Neue"/>
                <a:cs typeface="Helvetica Neue"/>
              </a:defRPr>
            </a:pPr>
            <a:r>
              <a:rPr sz="1125" b="0">
                <a:solidFill>
                  <a:srgbClr val="607482"/>
                </a:solidFill>
                <a:latin typeface="Helvetica Neue"/>
                <a:ea typeface="Helvetica Neue"/>
                <a:cs typeface="Helvetica Neue"/>
              </a:rPr>
              <a:t>A5</a:t>
            </a:r>
          </a:p>
        </p:txBody>
      </p:sp>
      <p:sp>
        <p:nvSpPr>
          <p:cNvPr id="5" name="action-list">
            <a:extLst>
              <a:ext uri="{FF2B5EF4-FFF2-40B4-BE49-F238E27FC236}">
                <a16:creationId xmlns:a16="http://schemas.microsoft.com/office/drawing/2014/main" id="{65D71EEA-1FCB-4FDE-94BD-2848A5DE4147}"/>
              </a:ext>
            </a:extLst>
          </p:cNvPr>
          <p:cNvSpPr>
            <a:spLocks noGrp="1"/>
          </p:cNvSpPr>
          <p:nvPr/>
        </p:nvSpPr>
        <p:spPr>
          <a:xfrm>
            <a:off x="609600" y="2333625"/>
            <a:ext cx="7048500" cy="2047875"/>
          </a:xfrm>
          <a:prstGeom prst="rect">
            <a:avLst/>
          </a:prstGeom>
          <a:noFill/>
          <a:ln w="0">
            <a:noFill/>
          </a:ln>
        </p:spPr>
        <p:txBody>
          <a:bodyPr lIns="0" tIns="0" rIns="0" bIns="0">
            <a:noAutofit/>
          </a:bodyPr>
          <a:lstStyle>
            <a:defPPr algn="l">
              <a:defRPr sz="2100" b="0">
                <a:solidFill>
                  <a:srgbClr val="233A4B"/>
                </a:solidFill>
                <a:latin typeface="Helvetica Neue"/>
                <a:ea typeface="Helvetica Neue"/>
                <a:cs typeface="Helvetica Neue"/>
              </a:defRPr>
            </a:defPPr>
          </a:lstStyle>
          <a:p>
            <a:pPr marL="228600" indent="-114300" algn="l">
              <a:spcAft>
                <a:spcPts val="1800"/>
              </a:spcAft>
              <a:buChar char="•"/>
              <a:defRPr sz="2100" b="0">
                <a:solidFill>
                  <a:srgbClr val="233A4B"/>
                </a:solidFill>
                <a:latin typeface="Helvetica Neue"/>
                <a:ea typeface="Helvetica Neue"/>
                <a:cs typeface="Helvetica Neue"/>
              </a:defRPr>
            </a:pPr>
            <a:endParaRPr/>
          </a:p>
        </p:txBody>
      </p:sp>
      <p:sp>
        <p:nvSpPr>
          <p:cNvPr id="6" name="step-output">
            <a:extLst>
              <a:ext uri="{FF2B5EF4-FFF2-40B4-BE49-F238E27FC236}">
                <a16:creationId xmlns:a16="http://schemas.microsoft.com/office/drawing/2014/main" id="{7DAB9F33-B453-4F69-B9B0-2D8580F76E2F}"/>
              </a:ext>
            </a:extLst>
          </p:cNvPr>
          <p:cNvSpPr>
            <a:spLocks noGrp="1"/>
          </p:cNvSpPr>
          <p:nvPr/>
        </p:nvSpPr>
        <p:spPr>
          <a:xfrm>
            <a:off x="8248650" y="2238375"/>
            <a:ext cx="3333750" cy="2000250"/>
          </a:xfrm>
          <a:prstGeom prst="rect">
            <a:avLst/>
          </a:prstGeom>
          <a:solidFill>
            <a:srgbClr val="F3F7FA"/>
          </a:solidFill>
          <a:ln w="9525">
            <a:solidFill>
              <a:srgbClr val="226FBB"/>
            </a:solidFill>
            <a:prstDash val="solid"/>
          </a:ln>
        </p:spPr>
      </p:sp>
      <p:sp>
        <p:nvSpPr>
          <p:cNvPr id="7" name="output-label">
            <a:extLst>
              <a:ext uri="{FF2B5EF4-FFF2-40B4-BE49-F238E27FC236}">
                <a16:creationId xmlns:a16="http://schemas.microsoft.com/office/drawing/2014/main" id="{1D7F466E-A67C-4D05-8C06-37B3FECB6F9F}"/>
              </a:ext>
            </a:extLst>
          </p:cNvPr>
          <p:cNvSpPr>
            <a:spLocks noGrp="1"/>
          </p:cNvSpPr>
          <p:nvPr/>
        </p:nvSpPr>
        <p:spPr>
          <a:xfrm>
            <a:off x="8477250" y="2438400"/>
            <a:ext cx="2857500" cy="285750"/>
          </a:xfrm>
          <a:prstGeom prst="rect">
            <a:avLst/>
          </a:prstGeom>
          <a:noFill/>
          <a:ln w="0">
            <a:noFill/>
          </a:ln>
        </p:spPr>
        <p:txBody>
          <a:bodyPr lIns="0" tIns="0" rIns="0" bIns="0">
            <a:noAutofit/>
          </a:bodyPr>
          <a:lstStyle>
            <a:defPPr algn="l">
              <a:defRPr sz="1275" b="1">
                <a:solidFill>
                  <a:srgbClr val="226FBB"/>
                </a:solidFill>
                <a:latin typeface="Helvetica Neue"/>
                <a:ea typeface="Helvetica Neue"/>
                <a:cs typeface="Helvetica Neue"/>
              </a:defRPr>
            </a:defPPr>
          </a:lstStyle>
          <a:p>
            <a:pPr algn="l">
              <a:buNone/>
              <a:defRPr sz="1275" b="1">
                <a:solidFill>
                  <a:srgbClr val="226FBB"/>
                </a:solidFill>
                <a:latin typeface="Helvetica Neue"/>
                <a:ea typeface="Helvetica Neue"/>
                <a:cs typeface="Helvetica Neue"/>
              </a:defRPr>
            </a:pPr>
            <a:r>
              <a:rPr sz="1275" b="1">
                <a:solidFill>
                  <a:srgbClr val="226FBB"/>
                </a:solidFill>
                <a:latin typeface="Helvetica Neue"/>
                <a:ea typeface="Helvetica Neue"/>
                <a:cs typeface="Helvetica Neue"/>
              </a:rPr>
              <a:t>OUTPUT</a:t>
            </a:r>
          </a:p>
        </p:txBody>
      </p:sp>
      <p:sp>
        <p:nvSpPr>
          <p:cNvPr id="8" name="output-description">
            <a:extLst>
              <a:ext uri="{FF2B5EF4-FFF2-40B4-BE49-F238E27FC236}">
                <a16:creationId xmlns:a16="http://schemas.microsoft.com/office/drawing/2014/main" id="{8B66216D-7E5F-4227-92E4-6B9CBEE8618B}"/>
              </a:ext>
            </a:extLst>
          </p:cNvPr>
          <p:cNvSpPr>
            <a:spLocks noGrp="1"/>
          </p:cNvSpPr>
          <p:nvPr/>
        </p:nvSpPr>
        <p:spPr>
          <a:xfrm>
            <a:off x="8477250" y="2876550"/>
            <a:ext cx="2857500" cy="1219200"/>
          </a:xfrm>
          <a:prstGeom prst="rect">
            <a:avLst/>
          </a:prstGeom>
          <a:noFill/>
          <a:ln w="0">
            <a:noFill/>
          </a:ln>
        </p:spPr>
        <p:txBody>
          <a:bodyPr lIns="0" tIns="0" rIns="0" bIns="0">
            <a:noAutofit/>
          </a:bodyPr>
          <a:lstStyle>
            <a:defPPr algn="l">
              <a:defRPr sz="2100" b="1">
                <a:solidFill>
                  <a:srgbClr val="102B46"/>
                </a:solidFill>
                <a:latin typeface="Helvetica Neue"/>
                <a:ea typeface="Helvetica Neue"/>
                <a:cs typeface="Helvetica Neue"/>
              </a:defRPr>
            </a:defPPr>
          </a:lstStyle>
          <a:p>
            <a:pPr algn="l">
              <a:buNone/>
              <a:defRPr sz="2100" b="1">
                <a:solidFill>
                  <a:srgbClr val="102B46"/>
                </a:solidFill>
                <a:latin typeface="Helvetica Neue"/>
                <a:ea typeface="Helvetica Neue"/>
                <a:cs typeface="Helvetica Neue"/>
              </a:defRPr>
            </a:pPr>
            <a:r>
              <a:rPr sz="2100" b="1">
                <a:solidFill>
                  <a:srgbClr val="102B46"/>
                </a:solidFill>
                <a:latin typeface="Helvetica Neue"/>
                <a:ea typeface="Helvetica Neue"/>
                <a:cs typeface="Helvetica Neue"/>
              </a:rPr>
              <a:t>Initial architecture</a:t>
            </a:r>
          </a:p>
          <a:p>
            <a:pPr algn="l">
              <a:buNone/>
              <a:defRPr sz="2100" b="1">
                <a:solidFill>
                  <a:srgbClr val="102B46"/>
                </a:solidFill>
                <a:latin typeface="Helvetica Neue"/>
                <a:ea typeface="Helvetica Neue"/>
                <a:cs typeface="Helvetica Neue"/>
              </a:defRPr>
            </a:pPr>
            <a:r>
              <a:rPr sz="2100" b="1">
                <a:solidFill>
                  <a:srgbClr val="102B46"/>
                </a:solidFill>
                <a:latin typeface="Helvetica Neue"/>
                <a:ea typeface="Helvetica Neue"/>
                <a:cs typeface="Helvetica Neue"/>
              </a:rPr>
              <a:t>Value and constraints</a:t>
            </a:r>
          </a:p>
        </p:txBody>
      </p:sp>
      <p:sp>
        <p:nvSpPr>
          <p:cNvPr id="9" name="prompt-reference">
            <a:extLst>
              <a:ext uri="{FF2B5EF4-FFF2-40B4-BE49-F238E27FC236}">
                <a16:creationId xmlns:a16="http://schemas.microsoft.com/office/drawing/2014/main" id="{3AEBFC63-19AD-474A-A4B0-2E4553D08842}"/>
              </a:ext>
            </a:extLst>
          </p:cNvPr>
          <p:cNvSpPr>
            <a:spLocks noGrp="1"/>
          </p:cNvSpPr>
          <p:nvPr/>
        </p:nvSpPr>
        <p:spPr>
          <a:xfrm>
            <a:off x="609600" y="4524375"/>
            <a:ext cx="10972800" cy="1381125"/>
          </a:xfrm>
          <a:prstGeom prst="rect">
            <a:avLst/>
          </a:prstGeom>
          <a:solidFill>
            <a:srgbClr val="F6F0FA"/>
          </a:solidFill>
          <a:ln w="0">
            <a:solidFill>
              <a:srgbClr val="F6F0FA"/>
            </a:solidFill>
          </a:ln>
        </p:spPr>
      </p:sp>
      <p:sp>
        <p:nvSpPr>
          <p:cNvPr id="10" name="prompt-label">
            <a:extLst>
              <a:ext uri="{FF2B5EF4-FFF2-40B4-BE49-F238E27FC236}">
                <a16:creationId xmlns:a16="http://schemas.microsoft.com/office/drawing/2014/main" id="{0BA3F6C7-F094-4D22-8A8E-4626B7DD1824}"/>
              </a:ext>
            </a:extLst>
          </p:cNvPr>
          <p:cNvSpPr>
            <a:spLocks noGrp="1"/>
          </p:cNvSpPr>
          <p:nvPr/>
        </p:nvSpPr>
        <p:spPr>
          <a:xfrm>
            <a:off x="800100" y="4686300"/>
            <a:ext cx="10525125" cy="228600"/>
          </a:xfrm>
          <a:prstGeom prst="rect">
            <a:avLst/>
          </a:prstGeom>
          <a:noFill/>
          <a:ln w="0">
            <a:noFill/>
          </a:ln>
        </p:spPr>
        <p:txBody>
          <a:bodyPr lIns="0" tIns="0" rIns="0" bIns="0">
            <a:noAutofit/>
          </a:bodyPr>
          <a:lstStyle>
            <a:defPPr algn="l">
              <a:defRPr sz="1200" b="1">
                <a:solidFill>
                  <a:srgbClr val="6C2B91"/>
                </a:solidFill>
                <a:latin typeface="Helvetica Neue"/>
                <a:ea typeface="Helvetica Neue"/>
                <a:cs typeface="Helvetica Neue"/>
              </a:defRPr>
            </a:defPPr>
          </a:lstStyle>
          <a:p>
            <a:pPr algn="l">
              <a:buNone/>
              <a:defRPr sz="1200" b="1">
                <a:solidFill>
                  <a:srgbClr val="6C2B91"/>
                </a:solidFill>
                <a:latin typeface="Helvetica Neue"/>
                <a:ea typeface="Helvetica Neue"/>
                <a:cs typeface="Helvetica Neue"/>
              </a:defRPr>
            </a:pPr>
            <a:r>
              <a:rPr sz="1200" b="1">
                <a:solidFill>
                  <a:srgbClr val="6C2B91"/>
                </a:solidFill>
                <a:latin typeface="Helvetica Neue"/>
                <a:ea typeface="Helvetica Neue"/>
                <a:cs typeface="Helvetica Neue"/>
              </a:rPr>
              <a:t>EXAMPLE PROMPT</a:t>
            </a:r>
          </a:p>
        </p:txBody>
      </p:sp>
      <p:sp>
        <p:nvSpPr>
          <p:cNvPr id="11" name="prompt-content">
            <a:extLst>
              <a:ext uri="{FF2B5EF4-FFF2-40B4-BE49-F238E27FC236}">
                <a16:creationId xmlns:a16="http://schemas.microsoft.com/office/drawing/2014/main" id="{4630BFEA-5A7A-4DFD-9492-A6CAF2826A55}"/>
              </a:ext>
            </a:extLst>
          </p:cNvPr>
          <p:cNvSpPr>
            <a:spLocks noGrp="1"/>
          </p:cNvSpPr>
          <p:nvPr/>
        </p:nvSpPr>
        <p:spPr>
          <a:xfrm>
            <a:off x="800100" y="5019675"/>
            <a:ext cx="10525125" cy="819150"/>
          </a:xfrm>
          <a:prstGeom prst="rect">
            <a:avLst/>
          </a:prstGeom>
          <a:noFill/>
          <a:ln w="0">
            <a:noFill/>
          </a:ln>
        </p:spPr>
        <p:txBody>
          <a:bodyPr lIns="0" tIns="0" rIns="0" bIns="0">
            <a:noAutofit/>
          </a:bodyPr>
          <a:lstStyle>
            <a:defPPr algn="l">
              <a:defRPr sz="1875" b="0">
                <a:solidFill>
                  <a:srgbClr val="6C2B91"/>
                </a:solidFill>
                <a:latin typeface="Helvetica Neue"/>
                <a:ea typeface="Helvetica Neue"/>
                <a:cs typeface="Helvetica Neue"/>
              </a:defRPr>
            </a:defPPr>
          </a:lstStyle>
          <a:p>
            <a:pPr algn="l">
              <a:buNone/>
              <a:defRPr sz="1875" b="0">
                <a:solidFill>
                  <a:srgbClr val="6C2B91"/>
                </a:solidFill>
                <a:latin typeface="Helvetica Neue"/>
                <a:ea typeface="Helvetica Neue"/>
                <a:cs typeface="Helvetica Neue"/>
              </a:defRPr>
            </a:pPr>
            <a:r>
              <a:rPr sz="1875" b="0">
                <a:solidFill>
                  <a:srgbClr val="6C2B91"/>
                </a:solidFill>
                <a:latin typeface="Helvetica Neue"/>
                <a:ea typeface="Helvetica Neue"/>
                <a:cs typeface="Helvetica Neue"/>
              </a:rPr>
              <a:t>"For [scenario], define components, data flows, deployment and human authority. Flag constraints."</a:t>
            </a:r>
          </a:p>
        </p:txBody>
      </p:sp>
      <p:sp>
        <p:nvSpPr>
          <p:cNvPr id="12" name="discussion-cue">
            <a:extLst>
              <a:ext uri="{FF2B5EF4-FFF2-40B4-BE49-F238E27FC236}">
                <a16:creationId xmlns:a16="http://schemas.microsoft.com/office/drawing/2014/main" id="{CDADCF6A-8DF8-4064-845C-9B3C2C121833}"/>
              </a:ext>
            </a:extLst>
          </p:cNvPr>
          <p:cNvSpPr>
            <a:spLocks noGrp="1"/>
          </p:cNvSpPr>
          <p:nvPr/>
        </p:nvSpPr>
        <p:spPr>
          <a:xfrm>
            <a:off x="609600" y="6067425"/>
            <a:ext cx="10668000" cy="266700"/>
          </a:xfrm>
          <a:prstGeom prst="rect">
            <a:avLst/>
          </a:prstGeom>
          <a:noFill/>
          <a:ln w="0">
            <a:noFill/>
          </a:ln>
        </p:spPr>
        <p:txBody>
          <a:bodyPr lIns="0" tIns="0" rIns="0" bIns="0">
            <a:noAutofit/>
          </a:bodyPr>
          <a:lstStyle>
            <a:defPPr algn="l">
              <a:defRPr sz="1650" b="0">
                <a:solidFill>
                  <a:srgbClr val="607482"/>
                </a:solidFill>
                <a:latin typeface="Helvetica Neue"/>
                <a:ea typeface="Helvetica Neue"/>
                <a:cs typeface="Helvetica Neue"/>
              </a:defRPr>
            </a:defPPr>
          </a:lstStyle>
          <a:p>
            <a:pPr algn="l">
              <a:buNone/>
              <a:defRPr sz="1650" b="0">
                <a:solidFill>
                  <a:srgbClr val="607482"/>
                </a:solidFill>
                <a:latin typeface="Helvetica Neue"/>
                <a:ea typeface="Helvetica Neue"/>
                <a:cs typeface="Helvetica Neue"/>
              </a:defRPr>
            </a:pPr>
            <a:r>
              <a:rPr sz="1650" b="0">
                <a:solidFill>
                  <a:srgbClr val="607482"/>
                </a:solidFill>
                <a:latin typeface="Helvetica Neue"/>
                <a:ea typeface="Helvetica Neue"/>
                <a:cs typeface="Helvetica Neue"/>
              </a:rPr>
              <a:t>Discuss together or divide roles.</a:t>
            </a:r>
          </a:p>
        </p:txBody>
      </p:sp>
      <p:pic>
        <p:nvPicPr>
          <p:cNvPr id="14" name="Picture 13">
            <a:extLst>
              <a:ext uri="{FF2B5EF4-FFF2-40B4-BE49-F238E27FC236}">
                <a16:creationId xmlns:a16="http://schemas.microsoft.com/office/drawing/2014/main" id="{B3112109-D833-46B3-9E57-25141C627DA6}"/>
              </a:ext>
            </a:extLst>
          </p:cNvPr>
          <p:cNvPicPr>
            <a:picLocks noChangeAspect="1"/>
          </p:cNvPicPr>
          <p:nvPr/>
        </p:nvPicPr>
        <p:blipFill>
          <a:blip r:embed="rId3"/>
          <a:stretch/>
        </p:blipFill>
        <p:spPr>
          <a:xfrm>
            <a:off x="638175" y="2305050"/>
            <a:ext cx="400050" cy="400050"/>
          </a:xfrm>
          <a:prstGeom prst="rect">
            <a:avLst/>
          </a:prstGeom>
        </p:spPr>
      </p:pic>
      <p:sp>
        <p:nvSpPr>
          <p:cNvPr id="15" name="action-1">
            <a:extLst>
              <a:ext uri="{FF2B5EF4-FFF2-40B4-BE49-F238E27FC236}">
                <a16:creationId xmlns:a16="http://schemas.microsoft.com/office/drawing/2014/main" id="{7E93FA23-0FCD-456E-90F1-2D7152906DEF}"/>
              </a:ext>
            </a:extLst>
          </p:cNvPr>
          <p:cNvSpPr>
            <a:spLocks noGrp="1"/>
          </p:cNvSpPr>
          <p:nvPr/>
        </p:nvSpPr>
        <p:spPr>
          <a:xfrm>
            <a:off x="1276350" y="2343150"/>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Define components and connections</a:t>
            </a:r>
          </a:p>
        </p:txBody>
      </p:sp>
      <p:pic>
        <p:nvPicPr>
          <p:cNvPr id="16" name="Picture 15">
            <a:extLst>
              <a:ext uri="{FF2B5EF4-FFF2-40B4-BE49-F238E27FC236}">
                <a16:creationId xmlns:a16="http://schemas.microsoft.com/office/drawing/2014/main" id="{33D08871-59B5-49D4-95ED-0663392BAB21}"/>
              </a:ext>
            </a:extLst>
          </p:cNvPr>
          <p:cNvPicPr>
            <a:picLocks noChangeAspect="1"/>
          </p:cNvPicPr>
          <p:nvPr/>
        </p:nvPicPr>
        <p:blipFill>
          <a:blip r:embed="rId4"/>
          <a:stretch/>
        </p:blipFill>
        <p:spPr>
          <a:xfrm>
            <a:off x="638175" y="2924175"/>
            <a:ext cx="400050" cy="400050"/>
          </a:xfrm>
          <a:prstGeom prst="rect">
            <a:avLst/>
          </a:prstGeom>
        </p:spPr>
      </p:pic>
      <p:sp>
        <p:nvSpPr>
          <p:cNvPr id="17" name="action-2">
            <a:extLst>
              <a:ext uri="{FF2B5EF4-FFF2-40B4-BE49-F238E27FC236}">
                <a16:creationId xmlns:a16="http://schemas.microsoft.com/office/drawing/2014/main" id="{2120F887-A490-40E0-9A58-20E00C85B0DF}"/>
              </a:ext>
            </a:extLst>
          </p:cNvPr>
          <p:cNvSpPr>
            <a:spLocks noGrp="1"/>
          </p:cNvSpPr>
          <p:nvPr/>
        </p:nvSpPr>
        <p:spPr>
          <a:xfrm>
            <a:off x="1276350" y="2962275"/>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Specify data, deployment and authority</a:t>
            </a:r>
          </a:p>
        </p:txBody>
      </p:sp>
      <p:pic>
        <p:nvPicPr>
          <p:cNvPr id="18" name="Picture 17">
            <a:extLst>
              <a:ext uri="{FF2B5EF4-FFF2-40B4-BE49-F238E27FC236}">
                <a16:creationId xmlns:a16="http://schemas.microsoft.com/office/drawing/2014/main" id="{FE80644A-9FFE-4A90-A460-3CF2EFC9C37F}"/>
              </a:ext>
            </a:extLst>
          </p:cNvPr>
          <p:cNvPicPr>
            <a:picLocks noChangeAspect="1"/>
          </p:cNvPicPr>
          <p:nvPr/>
        </p:nvPicPr>
        <p:blipFill>
          <a:blip r:embed="rId5"/>
          <a:stretch/>
        </p:blipFill>
        <p:spPr>
          <a:xfrm>
            <a:off x="638175" y="3543300"/>
            <a:ext cx="400050" cy="400050"/>
          </a:xfrm>
          <a:prstGeom prst="rect">
            <a:avLst/>
          </a:prstGeom>
        </p:spPr>
      </p:pic>
      <p:sp>
        <p:nvSpPr>
          <p:cNvPr id="19" name="action-3">
            <a:extLst>
              <a:ext uri="{FF2B5EF4-FFF2-40B4-BE49-F238E27FC236}">
                <a16:creationId xmlns:a16="http://schemas.microsoft.com/office/drawing/2014/main" id="{630F727B-42B0-4CF2-9171-4D0147031027}"/>
              </a:ext>
            </a:extLst>
          </p:cNvPr>
          <p:cNvSpPr>
            <a:spLocks noGrp="1"/>
          </p:cNvSpPr>
          <p:nvPr/>
        </p:nvSpPr>
        <p:spPr>
          <a:xfrm>
            <a:off x="1276350" y="3581400"/>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Link design to value and constraints</a:t>
            </a:r>
          </a:p>
        </p:txBody>
      </p:sp>
    </p:spTree>
    <p:extLst>
      <p:ext uri="{BB962C8B-B14F-4D97-AF65-F5344CB8AC3E}">
        <p14:creationId xmlns:p14="http://schemas.microsoft.com/office/powerpoint/2010/main" val="3492317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3" name="section-label">
            <a:extLst>
              <a:ext uri="{FF2B5EF4-FFF2-40B4-BE49-F238E27FC236}">
                <a16:creationId xmlns:a16="http://schemas.microsoft.com/office/drawing/2014/main" id="{47AB2518-7859-4042-B530-D0C1B83EC514}"/>
              </a:ext>
            </a:extLst>
          </p:cNvPr>
          <p:cNvSpPr>
            <a:spLocks noGrp="1"/>
          </p:cNvSpPr>
          <p:nvPr/>
        </p:nvSpPr>
        <p:spPr>
          <a:xfrm>
            <a:off x="609600" y="285750"/>
            <a:ext cx="10668000" cy="285750"/>
          </a:xfrm>
          <a:prstGeom prst="rect">
            <a:avLst/>
          </a:prstGeom>
          <a:noFill/>
          <a:ln w="0">
            <a:noFill/>
          </a:ln>
        </p:spPr>
        <p:txBody>
          <a:bodyPr lIns="0" tIns="0" rIns="0" bIns="0">
            <a:noAutofit/>
          </a:bodyPr>
          <a:lstStyle>
            <a:defPPr algn="l">
              <a:defRPr sz="1200" b="1">
                <a:solidFill>
                  <a:srgbClr val="226FBB"/>
                </a:solidFill>
                <a:latin typeface="Helvetica Neue"/>
                <a:ea typeface="Helvetica Neue"/>
                <a:cs typeface="Helvetica Neue"/>
              </a:defRPr>
            </a:defPPr>
          </a:lstStyle>
          <a:p>
            <a:pPr algn="l">
              <a:buNone/>
              <a:defRPr sz="1200" b="1">
                <a:solidFill>
                  <a:srgbClr val="226FBB"/>
                </a:solidFill>
                <a:latin typeface="Helvetica Neue"/>
                <a:ea typeface="Helvetica Neue"/>
                <a:cs typeface="Helvetica Neue"/>
              </a:defRPr>
            </a:pPr>
            <a:r>
              <a:rPr sz="1200" b="1">
                <a:solidFill>
                  <a:srgbClr val="226FBB"/>
                </a:solidFill>
                <a:latin typeface="Helvetica Neue"/>
                <a:ea typeface="Helvetica Neue"/>
                <a:cs typeface="Helvetica Neue"/>
              </a:rPr>
              <a:t>APPENDIX: SESSION 1: CONCEPT DEFINITION</a:t>
            </a:r>
          </a:p>
        </p:txBody>
      </p:sp>
      <p:sp>
        <p:nvSpPr>
          <p:cNvPr id="2" name="slide-title">
            <a:extLst>
              <a:ext uri="{FF2B5EF4-FFF2-40B4-BE49-F238E27FC236}">
                <a16:creationId xmlns:a16="http://schemas.microsoft.com/office/drawing/2014/main" id="{EC93D848-CFC3-4CD2-9C8F-A46DAADD563B}"/>
              </a:ext>
            </a:extLst>
          </p:cNvPr>
          <p:cNvSpPr>
            <a:spLocks noGrp="1"/>
          </p:cNvSpPr>
          <p:nvPr/>
        </p:nvSpPr>
        <p:spPr>
          <a:xfrm>
            <a:off x="609600" y="781050"/>
            <a:ext cx="10858500" cy="857250"/>
          </a:xfrm>
          <a:prstGeom prst="rect">
            <a:avLst/>
          </a:prstGeom>
          <a:noFill/>
          <a:ln w="0">
            <a:noFill/>
          </a:ln>
        </p:spPr>
        <p:txBody>
          <a:bodyPr lIns="0" tIns="0" rIns="0" bIns="0">
            <a:noAutofit/>
          </a:bodyPr>
          <a:lstStyle>
            <a:defPPr algn="l">
              <a:defRPr sz="3450" b="1">
                <a:solidFill>
                  <a:srgbClr val="102B46"/>
                </a:solidFill>
                <a:latin typeface="Helvetica Neue"/>
                <a:ea typeface="Helvetica Neue"/>
                <a:cs typeface="Helvetica Neue"/>
              </a:defRPr>
            </a:defPPr>
          </a:lstStyle>
          <a:p>
            <a:pPr algn="l">
              <a:buNone/>
              <a:defRPr sz="3450" b="1">
                <a:solidFill>
                  <a:srgbClr val="102B46"/>
                </a:solidFill>
                <a:latin typeface="Helvetica Neue"/>
                <a:ea typeface="Helvetica Neue"/>
                <a:cs typeface="Helvetica Neue"/>
              </a:defRPr>
            </a:pPr>
            <a:r>
              <a:rPr sz="3450" b="1">
                <a:solidFill>
                  <a:srgbClr val="102B46"/>
                </a:solidFill>
                <a:latin typeface="Helvetica Neue"/>
                <a:ea typeface="Helvetica Neue"/>
                <a:cs typeface="Helvetica Neue"/>
              </a:rPr>
              <a:t>Concept checkpoint and review questions</a:t>
            </a:r>
          </a:p>
        </p:txBody>
      </p:sp>
      <p:sp>
        <p:nvSpPr>
          <p:cNvPr id="3" name="subtitle">
            <a:extLst>
              <a:ext uri="{FF2B5EF4-FFF2-40B4-BE49-F238E27FC236}">
                <a16:creationId xmlns:a16="http://schemas.microsoft.com/office/drawing/2014/main" id="{5DABD40A-8A9E-4126-A205-85E5C7F7651A}"/>
              </a:ext>
            </a:extLst>
          </p:cNvPr>
          <p:cNvSpPr>
            <a:spLocks noGrp="1"/>
          </p:cNvSpPr>
          <p:nvPr/>
        </p:nvSpPr>
        <p:spPr>
          <a:xfrm>
            <a:off x="609600" y="1524000"/>
            <a:ext cx="10858500" cy="428625"/>
          </a:xfrm>
          <a:prstGeom prst="rect">
            <a:avLst/>
          </a:prstGeom>
          <a:noFill/>
          <a:ln w="0">
            <a:noFill/>
          </a:ln>
        </p:spPr>
        <p:txBody>
          <a:bodyPr lIns="0" tIns="0" rIns="0" bIns="0">
            <a:noAutofit/>
          </a:bodyPr>
          <a:lstStyle>
            <a:defPPr algn="l">
              <a:defRPr sz="1800" b="0">
                <a:solidFill>
                  <a:srgbClr val="607482"/>
                </a:solidFill>
                <a:latin typeface="Helvetica Neue"/>
                <a:ea typeface="Helvetica Neue"/>
                <a:cs typeface="Helvetica Neue"/>
              </a:defRPr>
            </a:defPPr>
          </a:lstStyle>
          <a:p>
            <a:pPr algn="l">
              <a:buNone/>
              <a:defRPr sz="1800" b="0">
                <a:solidFill>
                  <a:srgbClr val="607482"/>
                </a:solidFill>
                <a:latin typeface="Helvetica Neue"/>
                <a:ea typeface="Helvetica Neue"/>
                <a:cs typeface="Helvetica Neue"/>
              </a:defRPr>
            </a:pPr>
            <a:r>
              <a:rPr sz="1800" b="0">
                <a:solidFill>
                  <a:srgbClr val="607482"/>
                </a:solidFill>
                <a:latin typeface="Helvetica Neue"/>
                <a:ea typeface="Helvetica Neue"/>
                <a:cs typeface="Helvetica Neue"/>
              </a:rPr>
              <a:t>Step 1E. Shared Project + Knowledge Agent</a:t>
            </a:r>
          </a:p>
        </p:txBody>
      </p:sp>
      <p:sp>
        <p:nvSpPr>
          <p:cNvPr id="4" name="page-number">
            <a:extLst>
              <a:ext uri="{FF2B5EF4-FFF2-40B4-BE49-F238E27FC236}">
                <a16:creationId xmlns:a16="http://schemas.microsoft.com/office/drawing/2014/main" id="{325C3148-B9A2-4E42-814E-B2D233C14618}"/>
              </a:ext>
            </a:extLst>
          </p:cNvPr>
          <p:cNvSpPr>
            <a:spLocks noGrp="1"/>
          </p:cNvSpPr>
          <p:nvPr/>
        </p:nvSpPr>
        <p:spPr>
          <a:xfrm>
            <a:off x="10953750" y="6438900"/>
            <a:ext cx="666750" cy="228600"/>
          </a:xfrm>
          <a:prstGeom prst="rect">
            <a:avLst/>
          </a:prstGeom>
          <a:noFill/>
          <a:ln w="0">
            <a:noFill/>
          </a:ln>
        </p:spPr>
        <p:txBody>
          <a:bodyPr lIns="0" tIns="0" rIns="0" bIns="0">
            <a:noAutofit/>
          </a:bodyPr>
          <a:lstStyle>
            <a:defPPr algn="r">
              <a:defRPr sz="1125" b="0">
                <a:solidFill>
                  <a:srgbClr val="607482"/>
                </a:solidFill>
                <a:latin typeface="Helvetica Neue"/>
                <a:ea typeface="Helvetica Neue"/>
                <a:cs typeface="Helvetica Neue"/>
              </a:defRPr>
            </a:defPPr>
          </a:lstStyle>
          <a:p>
            <a:pPr algn="r">
              <a:buNone/>
              <a:defRPr sz="1125" b="0">
                <a:solidFill>
                  <a:srgbClr val="607482"/>
                </a:solidFill>
                <a:latin typeface="Helvetica Neue"/>
                <a:ea typeface="Helvetica Neue"/>
                <a:cs typeface="Helvetica Neue"/>
              </a:defRPr>
            </a:pPr>
            <a:r>
              <a:rPr sz="1125" b="0">
                <a:solidFill>
                  <a:srgbClr val="607482"/>
                </a:solidFill>
                <a:latin typeface="Helvetica Neue"/>
                <a:ea typeface="Helvetica Neue"/>
                <a:cs typeface="Helvetica Neue"/>
              </a:rPr>
              <a:t>A6</a:t>
            </a:r>
          </a:p>
        </p:txBody>
      </p:sp>
      <p:sp>
        <p:nvSpPr>
          <p:cNvPr id="5" name="action-list">
            <a:extLst>
              <a:ext uri="{FF2B5EF4-FFF2-40B4-BE49-F238E27FC236}">
                <a16:creationId xmlns:a16="http://schemas.microsoft.com/office/drawing/2014/main" id="{1AC06EB1-FEE5-481D-9925-6246522DCE8B}"/>
              </a:ext>
            </a:extLst>
          </p:cNvPr>
          <p:cNvSpPr>
            <a:spLocks noGrp="1"/>
          </p:cNvSpPr>
          <p:nvPr/>
        </p:nvSpPr>
        <p:spPr>
          <a:xfrm>
            <a:off x="609600" y="2333625"/>
            <a:ext cx="7048500" cy="2047875"/>
          </a:xfrm>
          <a:prstGeom prst="rect">
            <a:avLst/>
          </a:prstGeom>
          <a:noFill/>
          <a:ln w="0">
            <a:noFill/>
          </a:ln>
        </p:spPr>
        <p:txBody>
          <a:bodyPr lIns="0" tIns="0" rIns="0" bIns="0">
            <a:noAutofit/>
          </a:bodyPr>
          <a:lstStyle>
            <a:defPPr algn="l">
              <a:defRPr sz="2100" b="0">
                <a:solidFill>
                  <a:srgbClr val="233A4B"/>
                </a:solidFill>
                <a:latin typeface="Helvetica Neue"/>
                <a:ea typeface="Helvetica Neue"/>
                <a:cs typeface="Helvetica Neue"/>
              </a:defRPr>
            </a:defPPr>
          </a:lstStyle>
          <a:p>
            <a:pPr marL="228600" indent="-114300" algn="l">
              <a:spcAft>
                <a:spcPts val="1800"/>
              </a:spcAft>
              <a:buChar char="•"/>
              <a:defRPr sz="2100" b="0">
                <a:solidFill>
                  <a:srgbClr val="233A4B"/>
                </a:solidFill>
                <a:latin typeface="Helvetica Neue"/>
                <a:ea typeface="Helvetica Neue"/>
                <a:cs typeface="Helvetica Neue"/>
              </a:defRPr>
            </a:pPr>
            <a:endParaRPr/>
          </a:p>
        </p:txBody>
      </p:sp>
      <p:sp>
        <p:nvSpPr>
          <p:cNvPr id="6" name="step-output">
            <a:extLst>
              <a:ext uri="{FF2B5EF4-FFF2-40B4-BE49-F238E27FC236}">
                <a16:creationId xmlns:a16="http://schemas.microsoft.com/office/drawing/2014/main" id="{84A27BBA-C64A-4BEC-A9DE-83CF8D5CF430}"/>
              </a:ext>
            </a:extLst>
          </p:cNvPr>
          <p:cNvSpPr>
            <a:spLocks noGrp="1"/>
          </p:cNvSpPr>
          <p:nvPr/>
        </p:nvSpPr>
        <p:spPr>
          <a:xfrm>
            <a:off x="8248650" y="2238375"/>
            <a:ext cx="3333750" cy="2000250"/>
          </a:xfrm>
          <a:prstGeom prst="rect">
            <a:avLst/>
          </a:prstGeom>
          <a:solidFill>
            <a:srgbClr val="F3F7FA"/>
          </a:solidFill>
          <a:ln w="9525">
            <a:solidFill>
              <a:srgbClr val="226FBB"/>
            </a:solidFill>
            <a:prstDash val="solid"/>
          </a:ln>
        </p:spPr>
      </p:sp>
      <p:sp>
        <p:nvSpPr>
          <p:cNvPr id="7" name="output-label">
            <a:extLst>
              <a:ext uri="{FF2B5EF4-FFF2-40B4-BE49-F238E27FC236}">
                <a16:creationId xmlns:a16="http://schemas.microsoft.com/office/drawing/2014/main" id="{5AA270CD-9869-474D-8599-F20EB5F7BEBA}"/>
              </a:ext>
            </a:extLst>
          </p:cNvPr>
          <p:cNvSpPr>
            <a:spLocks noGrp="1"/>
          </p:cNvSpPr>
          <p:nvPr/>
        </p:nvSpPr>
        <p:spPr>
          <a:xfrm>
            <a:off x="8477250" y="2438400"/>
            <a:ext cx="2857500" cy="285750"/>
          </a:xfrm>
          <a:prstGeom prst="rect">
            <a:avLst/>
          </a:prstGeom>
          <a:noFill/>
          <a:ln w="0">
            <a:noFill/>
          </a:ln>
        </p:spPr>
        <p:txBody>
          <a:bodyPr lIns="0" tIns="0" rIns="0" bIns="0">
            <a:noAutofit/>
          </a:bodyPr>
          <a:lstStyle>
            <a:defPPr algn="l">
              <a:defRPr sz="1275" b="1">
                <a:solidFill>
                  <a:srgbClr val="226FBB"/>
                </a:solidFill>
                <a:latin typeface="Helvetica Neue"/>
                <a:ea typeface="Helvetica Neue"/>
                <a:cs typeface="Helvetica Neue"/>
              </a:defRPr>
            </a:defPPr>
          </a:lstStyle>
          <a:p>
            <a:pPr algn="l">
              <a:buNone/>
              <a:defRPr sz="1275" b="1">
                <a:solidFill>
                  <a:srgbClr val="226FBB"/>
                </a:solidFill>
                <a:latin typeface="Helvetica Neue"/>
                <a:ea typeface="Helvetica Neue"/>
                <a:cs typeface="Helvetica Neue"/>
              </a:defRPr>
            </a:pPr>
            <a:r>
              <a:rPr sz="1275" b="1">
                <a:solidFill>
                  <a:srgbClr val="226FBB"/>
                </a:solidFill>
                <a:latin typeface="Helvetica Neue"/>
                <a:ea typeface="Helvetica Neue"/>
                <a:cs typeface="Helvetica Neue"/>
              </a:rPr>
              <a:t>OUTPUT</a:t>
            </a:r>
          </a:p>
        </p:txBody>
      </p:sp>
      <p:sp>
        <p:nvSpPr>
          <p:cNvPr id="8" name="output-description">
            <a:extLst>
              <a:ext uri="{FF2B5EF4-FFF2-40B4-BE49-F238E27FC236}">
                <a16:creationId xmlns:a16="http://schemas.microsoft.com/office/drawing/2014/main" id="{B33DA31E-96E1-4062-8AE8-B8F4E04CC922}"/>
              </a:ext>
            </a:extLst>
          </p:cNvPr>
          <p:cNvSpPr>
            <a:spLocks noGrp="1"/>
          </p:cNvSpPr>
          <p:nvPr/>
        </p:nvSpPr>
        <p:spPr>
          <a:xfrm>
            <a:off x="8477250" y="2876550"/>
            <a:ext cx="2857500" cy="1219200"/>
          </a:xfrm>
          <a:prstGeom prst="rect">
            <a:avLst/>
          </a:prstGeom>
          <a:noFill/>
          <a:ln w="0">
            <a:noFill/>
          </a:ln>
        </p:spPr>
        <p:txBody>
          <a:bodyPr lIns="0" tIns="0" rIns="0" bIns="0">
            <a:noAutofit/>
          </a:bodyPr>
          <a:lstStyle>
            <a:defPPr algn="l">
              <a:defRPr sz="2100" b="1">
                <a:solidFill>
                  <a:srgbClr val="102B46"/>
                </a:solidFill>
                <a:latin typeface="Helvetica Neue"/>
                <a:ea typeface="Helvetica Neue"/>
                <a:cs typeface="Helvetica Neue"/>
              </a:defRPr>
            </a:defPPr>
          </a:lstStyle>
          <a:p>
            <a:pPr algn="l">
              <a:buNone/>
              <a:defRPr sz="2100" b="1">
                <a:solidFill>
                  <a:srgbClr val="102B46"/>
                </a:solidFill>
                <a:latin typeface="Helvetica Neue"/>
                <a:ea typeface="Helvetica Neue"/>
                <a:cs typeface="Helvetica Neue"/>
              </a:defRPr>
            </a:pPr>
            <a:r>
              <a:rPr sz="2100" b="1">
                <a:solidFill>
                  <a:srgbClr val="102B46"/>
                </a:solidFill>
                <a:latin typeface="Helvetica Neue"/>
                <a:ea typeface="Helvetica Neue"/>
                <a:cs typeface="Helvetica Neue"/>
              </a:rPr>
              <a:t>Concept V1</a:t>
            </a:r>
          </a:p>
          <a:p>
            <a:pPr algn="l">
              <a:buNone/>
              <a:defRPr sz="2100" b="1">
                <a:solidFill>
                  <a:srgbClr val="102B46"/>
                </a:solidFill>
                <a:latin typeface="Helvetica Neue"/>
                <a:ea typeface="Helvetica Neue"/>
                <a:cs typeface="Helvetica Neue"/>
              </a:defRPr>
            </a:pPr>
            <a:r>
              <a:rPr sz="2100" b="1">
                <a:solidFill>
                  <a:srgbClr val="102B46"/>
                </a:solidFill>
                <a:latin typeface="Helvetica Neue"/>
                <a:ea typeface="Helvetica Neue"/>
                <a:cs typeface="Helvetica Neue"/>
              </a:rPr>
              <a:t>Checkpoint summary</a:t>
            </a:r>
          </a:p>
        </p:txBody>
      </p:sp>
      <p:sp>
        <p:nvSpPr>
          <p:cNvPr id="9" name="prompt-reference">
            <a:extLst>
              <a:ext uri="{FF2B5EF4-FFF2-40B4-BE49-F238E27FC236}">
                <a16:creationId xmlns:a16="http://schemas.microsoft.com/office/drawing/2014/main" id="{6A34BADC-5F8F-497F-941F-1FF64B3ED916}"/>
              </a:ext>
            </a:extLst>
          </p:cNvPr>
          <p:cNvSpPr>
            <a:spLocks noGrp="1"/>
          </p:cNvSpPr>
          <p:nvPr/>
        </p:nvSpPr>
        <p:spPr>
          <a:xfrm>
            <a:off x="609600" y="4524375"/>
            <a:ext cx="10972800" cy="1381125"/>
          </a:xfrm>
          <a:prstGeom prst="rect">
            <a:avLst/>
          </a:prstGeom>
          <a:solidFill>
            <a:srgbClr val="F6F0FA"/>
          </a:solidFill>
          <a:ln w="0">
            <a:solidFill>
              <a:srgbClr val="F6F0FA"/>
            </a:solidFill>
          </a:ln>
        </p:spPr>
      </p:sp>
      <p:sp>
        <p:nvSpPr>
          <p:cNvPr id="10" name="prompt-label">
            <a:extLst>
              <a:ext uri="{FF2B5EF4-FFF2-40B4-BE49-F238E27FC236}">
                <a16:creationId xmlns:a16="http://schemas.microsoft.com/office/drawing/2014/main" id="{87424BBC-2266-4CD1-80D5-958804E7F3B0}"/>
              </a:ext>
            </a:extLst>
          </p:cNvPr>
          <p:cNvSpPr>
            <a:spLocks noGrp="1"/>
          </p:cNvSpPr>
          <p:nvPr/>
        </p:nvSpPr>
        <p:spPr>
          <a:xfrm>
            <a:off x="800100" y="4686300"/>
            <a:ext cx="10525125" cy="228600"/>
          </a:xfrm>
          <a:prstGeom prst="rect">
            <a:avLst/>
          </a:prstGeom>
          <a:noFill/>
          <a:ln w="0">
            <a:noFill/>
          </a:ln>
        </p:spPr>
        <p:txBody>
          <a:bodyPr lIns="0" tIns="0" rIns="0" bIns="0">
            <a:noAutofit/>
          </a:bodyPr>
          <a:lstStyle>
            <a:defPPr algn="l">
              <a:defRPr sz="1200" b="1">
                <a:solidFill>
                  <a:srgbClr val="6C2B91"/>
                </a:solidFill>
                <a:latin typeface="Helvetica Neue"/>
                <a:ea typeface="Helvetica Neue"/>
                <a:cs typeface="Helvetica Neue"/>
              </a:defRPr>
            </a:defPPr>
          </a:lstStyle>
          <a:p>
            <a:pPr algn="l">
              <a:buNone/>
              <a:defRPr sz="1200" b="1">
                <a:solidFill>
                  <a:srgbClr val="6C2B91"/>
                </a:solidFill>
                <a:latin typeface="Helvetica Neue"/>
                <a:ea typeface="Helvetica Neue"/>
                <a:cs typeface="Helvetica Neue"/>
              </a:defRPr>
            </a:pPr>
            <a:r>
              <a:rPr sz="1200" b="1">
                <a:solidFill>
                  <a:srgbClr val="6C2B91"/>
                </a:solidFill>
                <a:latin typeface="Helvetica Neue"/>
                <a:ea typeface="Helvetica Neue"/>
                <a:cs typeface="Helvetica Neue"/>
              </a:rPr>
              <a:t>EXAMPLE PROMPT</a:t>
            </a:r>
          </a:p>
        </p:txBody>
      </p:sp>
      <p:sp>
        <p:nvSpPr>
          <p:cNvPr id="11" name="prompt-content">
            <a:extLst>
              <a:ext uri="{FF2B5EF4-FFF2-40B4-BE49-F238E27FC236}">
                <a16:creationId xmlns:a16="http://schemas.microsoft.com/office/drawing/2014/main" id="{03CBB6DB-EEDD-47A3-A0B5-5CAEB238D63C}"/>
              </a:ext>
            </a:extLst>
          </p:cNvPr>
          <p:cNvSpPr>
            <a:spLocks noGrp="1"/>
          </p:cNvSpPr>
          <p:nvPr/>
        </p:nvSpPr>
        <p:spPr>
          <a:xfrm>
            <a:off x="800100" y="5019675"/>
            <a:ext cx="10525125" cy="819150"/>
          </a:xfrm>
          <a:prstGeom prst="rect">
            <a:avLst/>
          </a:prstGeom>
          <a:noFill/>
          <a:ln w="0">
            <a:noFill/>
          </a:ln>
        </p:spPr>
        <p:txBody>
          <a:bodyPr lIns="0" tIns="0" rIns="0" bIns="0">
            <a:noAutofit/>
          </a:bodyPr>
          <a:lstStyle>
            <a:defPPr algn="l">
              <a:defRPr sz="1875" b="0">
                <a:solidFill>
                  <a:srgbClr val="6C2B91"/>
                </a:solidFill>
                <a:latin typeface="Helvetica Neue"/>
                <a:ea typeface="Helvetica Neue"/>
                <a:cs typeface="Helvetica Neue"/>
              </a:defRPr>
            </a:defPPr>
          </a:lstStyle>
          <a:p>
            <a:pPr algn="l">
              <a:buNone/>
              <a:defRPr sz="1875" b="0">
                <a:solidFill>
                  <a:srgbClr val="6C2B91"/>
                </a:solidFill>
                <a:latin typeface="Helvetica Neue"/>
                <a:ea typeface="Helvetica Neue"/>
                <a:cs typeface="Helvetica Neue"/>
              </a:defRPr>
            </a:pPr>
            <a:r>
              <a:rPr sz="1875" b="0">
                <a:solidFill>
                  <a:srgbClr val="6C2B91"/>
                </a:solidFill>
                <a:latin typeface="Helvetica Neue"/>
                <a:ea typeface="Helvetica Neue"/>
                <a:cs typeface="Helvetica Neue"/>
              </a:rPr>
              <a:t>"Summarise our agreed concept, decisions and open questions for expert feedback."</a:t>
            </a:r>
          </a:p>
        </p:txBody>
      </p:sp>
      <p:sp>
        <p:nvSpPr>
          <p:cNvPr id="12" name="discussion-cue">
            <a:extLst>
              <a:ext uri="{FF2B5EF4-FFF2-40B4-BE49-F238E27FC236}">
                <a16:creationId xmlns:a16="http://schemas.microsoft.com/office/drawing/2014/main" id="{7B0BB68A-71F2-4C39-8886-012BF1E912D9}"/>
              </a:ext>
            </a:extLst>
          </p:cNvPr>
          <p:cNvSpPr>
            <a:spLocks noGrp="1"/>
          </p:cNvSpPr>
          <p:nvPr/>
        </p:nvSpPr>
        <p:spPr>
          <a:xfrm>
            <a:off x="609600" y="6067425"/>
            <a:ext cx="10668000" cy="266700"/>
          </a:xfrm>
          <a:prstGeom prst="rect">
            <a:avLst/>
          </a:prstGeom>
          <a:noFill/>
          <a:ln w="0">
            <a:noFill/>
          </a:ln>
        </p:spPr>
        <p:txBody>
          <a:bodyPr lIns="0" tIns="0" rIns="0" bIns="0">
            <a:noAutofit/>
          </a:bodyPr>
          <a:lstStyle>
            <a:defPPr algn="l">
              <a:defRPr sz="1500" b="0">
                <a:solidFill>
                  <a:srgbClr val="607482"/>
                </a:solidFill>
                <a:latin typeface="Helvetica Neue"/>
                <a:ea typeface="Helvetica Neue"/>
                <a:cs typeface="Helvetica Neue"/>
              </a:defRPr>
            </a:defPPr>
          </a:lstStyle>
          <a:p>
            <a:pPr algn="l">
              <a:buNone/>
              <a:defRPr sz="1500" b="0">
                <a:solidFill>
                  <a:srgbClr val="607482"/>
                </a:solidFill>
                <a:latin typeface="Helvetica Neue"/>
                <a:ea typeface="Helvetica Neue"/>
                <a:cs typeface="Helvetica Neue"/>
              </a:defRPr>
            </a:pPr>
            <a:endParaRPr/>
          </a:p>
        </p:txBody>
      </p:sp>
      <p:pic>
        <p:nvPicPr>
          <p:cNvPr id="14" name="Picture 13">
            <a:extLst>
              <a:ext uri="{FF2B5EF4-FFF2-40B4-BE49-F238E27FC236}">
                <a16:creationId xmlns:a16="http://schemas.microsoft.com/office/drawing/2014/main" id="{BCCA3D33-C87B-4398-8C6C-6D77F57FAB4F}"/>
              </a:ext>
            </a:extLst>
          </p:cNvPr>
          <p:cNvPicPr>
            <a:picLocks noChangeAspect="1"/>
          </p:cNvPicPr>
          <p:nvPr/>
        </p:nvPicPr>
        <p:blipFill>
          <a:blip r:embed="rId3"/>
          <a:stretch/>
        </p:blipFill>
        <p:spPr>
          <a:xfrm>
            <a:off x="638175" y="2305050"/>
            <a:ext cx="400050" cy="400050"/>
          </a:xfrm>
          <a:prstGeom prst="rect">
            <a:avLst/>
          </a:prstGeom>
        </p:spPr>
      </p:pic>
      <p:sp>
        <p:nvSpPr>
          <p:cNvPr id="15" name="action-1">
            <a:extLst>
              <a:ext uri="{FF2B5EF4-FFF2-40B4-BE49-F238E27FC236}">
                <a16:creationId xmlns:a16="http://schemas.microsoft.com/office/drawing/2014/main" id="{A3291D40-4136-47ED-92E5-EDBBEE23FF84}"/>
              </a:ext>
            </a:extLst>
          </p:cNvPr>
          <p:cNvSpPr>
            <a:spLocks noGrp="1"/>
          </p:cNvSpPr>
          <p:nvPr/>
        </p:nvSpPr>
        <p:spPr>
          <a:xfrm>
            <a:off x="1276350" y="2343150"/>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Agree the current concept</a:t>
            </a:r>
          </a:p>
        </p:txBody>
      </p:sp>
      <p:pic>
        <p:nvPicPr>
          <p:cNvPr id="16" name="Picture 15">
            <a:extLst>
              <a:ext uri="{FF2B5EF4-FFF2-40B4-BE49-F238E27FC236}">
                <a16:creationId xmlns:a16="http://schemas.microsoft.com/office/drawing/2014/main" id="{B870A601-6FCF-4A95-923B-E8F21B7237EA}"/>
              </a:ext>
            </a:extLst>
          </p:cNvPr>
          <p:cNvPicPr>
            <a:picLocks noChangeAspect="1"/>
          </p:cNvPicPr>
          <p:nvPr/>
        </p:nvPicPr>
        <p:blipFill>
          <a:blip r:embed="rId4"/>
          <a:stretch/>
        </p:blipFill>
        <p:spPr>
          <a:xfrm>
            <a:off x="638175" y="2924175"/>
            <a:ext cx="400050" cy="400050"/>
          </a:xfrm>
          <a:prstGeom prst="rect">
            <a:avLst/>
          </a:prstGeom>
        </p:spPr>
      </p:pic>
      <p:sp>
        <p:nvSpPr>
          <p:cNvPr id="17" name="action-2">
            <a:extLst>
              <a:ext uri="{FF2B5EF4-FFF2-40B4-BE49-F238E27FC236}">
                <a16:creationId xmlns:a16="http://schemas.microsoft.com/office/drawing/2014/main" id="{98E854E8-2528-44F7-AEBD-64A8D88F3169}"/>
              </a:ext>
            </a:extLst>
          </p:cNvPr>
          <p:cNvSpPr>
            <a:spLocks noGrp="1"/>
          </p:cNvSpPr>
          <p:nvPr/>
        </p:nvSpPr>
        <p:spPr>
          <a:xfrm>
            <a:off x="1276350" y="2962275"/>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Record findings and decisions</a:t>
            </a:r>
          </a:p>
        </p:txBody>
      </p:sp>
      <p:pic>
        <p:nvPicPr>
          <p:cNvPr id="18" name="Picture 17">
            <a:extLst>
              <a:ext uri="{FF2B5EF4-FFF2-40B4-BE49-F238E27FC236}">
                <a16:creationId xmlns:a16="http://schemas.microsoft.com/office/drawing/2014/main" id="{5A419F32-B523-42A6-B4EB-8D0A718ED0AB}"/>
              </a:ext>
            </a:extLst>
          </p:cNvPr>
          <p:cNvPicPr>
            <a:picLocks noChangeAspect="1"/>
          </p:cNvPicPr>
          <p:nvPr/>
        </p:nvPicPr>
        <p:blipFill>
          <a:blip r:embed="rId5"/>
          <a:stretch/>
        </p:blipFill>
        <p:spPr>
          <a:xfrm>
            <a:off x="638175" y="3543300"/>
            <a:ext cx="400050" cy="400050"/>
          </a:xfrm>
          <a:prstGeom prst="rect">
            <a:avLst/>
          </a:prstGeom>
        </p:spPr>
      </p:pic>
      <p:sp>
        <p:nvSpPr>
          <p:cNvPr id="19" name="action-3">
            <a:extLst>
              <a:ext uri="{FF2B5EF4-FFF2-40B4-BE49-F238E27FC236}">
                <a16:creationId xmlns:a16="http://schemas.microsoft.com/office/drawing/2014/main" id="{62C307C0-3EDA-4749-A148-6E45C03FC8D3}"/>
              </a:ext>
            </a:extLst>
          </p:cNvPr>
          <p:cNvSpPr>
            <a:spLocks noGrp="1"/>
          </p:cNvSpPr>
          <p:nvPr/>
        </p:nvSpPr>
        <p:spPr>
          <a:xfrm>
            <a:off x="1276350" y="3581400"/>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Prepare expert questions</a:t>
            </a:r>
          </a:p>
        </p:txBody>
      </p:sp>
    </p:spTree>
    <p:extLst>
      <p:ext uri="{BB962C8B-B14F-4D97-AF65-F5344CB8AC3E}">
        <p14:creationId xmlns:p14="http://schemas.microsoft.com/office/powerpoint/2010/main" val="17652668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3" name="section-label">
            <a:extLst>
              <a:ext uri="{FF2B5EF4-FFF2-40B4-BE49-F238E27FC236}">
                <a16:creationId xmlns:a16="http://schemas.microsoft.com/office/drawing/2014/main" id="{E113ACD1-C325-48AB-80A9-23FEFA2AD5C5}"/>
              </a:ext>
            </a:extLst>
          </p:cNvPr>
          <p:cNvSpPr>
            <a:spLocks noGrp="1"/>
          </p:cNvSpPr>
          <p:nvPr/>
        </p:nvSpPr>
        <p:spPr>
          <a:xfrm>
            <a:off x="609600" y="285750"/>
            <a:ext cx="10668000" cy="285750"/>
          </a:xfrm>
          <a:prstGeom prst="rect">
            <a:avLst/>
          </a:prstGeom>
          <a:noFill/>
          <a:ln w="0">
            <a:noFill/>
          </a:ln>
        </p:spPr>
        <p:txBody>
          <a:bodyPr lIns="0" tIns="0" rIns="0" bIns="0">
            <a:noAutofit/>
          </a:bodyPr>
          <a:lstStyle>
            <a:defPPr algn="l">
              <a:defRPr sz="1200" b="1">
                <a:solidFill>
                  <a:srgbClr val="087E83"/>
                </a:solidFill>
                <a:latin typeface="Helvetica Neue"/>
                <a:ea typeface="Helvetica Neue"/>
                <a:cs typeface="Helvetica Neue"/>
              </a:defRPr>
            </a:defPPr>
          </a:lstStyle>
          <a:p>
            <a:pPr algn="l">
              <a:buNone/>
              <a:defRPr sz="1200" b="1">
                <a:solidFill>
                  <a:srgbClr val="087E83"/>
                </a:solidFill>
                <a:latin typeface="Helvetica Neue"/>
                <a:ea typeface="Helvetica Neue"/>
                <a:cs typeface="Helvetica Neue"/>
              </a:defRPr>
            </a:pPr>
            <a:r>
              <a:rPr sz="1200" b="1">
                <a:solidFill>
                  <a:srgbClr val="087E83"/>
                </a:solidFill>
                <a:latin typeface="Helvetica Neue"/>
                <a:ea typeface="Helvetica Neue"/>
                <a:cs typeface="Helvetica Neue"/>
              </a:rPr>
              <a:t>APPENDIX: SESSION 2: INTEGRATED SOLUTION</a:t>
            </a:r>
          </a:p>
        </p:txBody>
      </p:sp>
      <p:sp>
        <p:nvSpPr>
          <p:cNvPr id="2" name="slide-title">
            <a:extLst>
              <a:ext uri="{FF2B5EF4-FFF2-40B4-BE49-F238E27FC236}">
                <a16:creationId xmlns:a16="http://schemas.microsoft.com/office/drawing/2014/main" id="{078F6838-683F-4628-97A6-7AA82E238003}"/>
              </a:ext>
            </a:extLst>
          </p:cNvPr>
          <p:cNvSpPr>
            <a:spLocks noGrp="1"/>
          </p:cNvSpPr>
          <p:nvPr/>
        </p:nvSpPr>
        <p:spPr>
          <a:xfrm>
            <a:off x="609600" y="781050"/>
            <a:ext cx="10858500" cy="857250"/>
          </a:xfrm>
          <a:prstGeom prst="rect">
            <a:avLst/>
          </a:prstGeom>
          <a:noFill/>
          <a:ln w="0">
            <a:noFill/>
          </a:ln>
        </p:spPr>
        <p:txBody>
          <a:bodyPr lIns="0" tIns="0" rIns="0" bIns="0">
            <a:noAutofit/>
          </a:bodyPr>
          <a:lstStyle>
            <a:defPPr algn="l">
              <a:defRPr sz="3450" b="1">
                <a:solidFill>
                  <a:srgbClr val="102B46"/>
                </a:solidFill>
                <a:latin typeface="Helvetica Neue"/>
                <a:ea typeface="Helvetica Neue"/>
                <a:cs typeface="Helvetica Neue"/>
              </a:defRPr>
            </a:defPPr>
          </a:lstStyle>
          <a:p>
            <a:pPr algn="l">
              <a:buNone/>
              <a:defRPr sz="3450" b="1">
                <a:solidFill>
                  <a:srgbClr val="102B46"/>
                </a:solidFill>
                <a:latin typeface="Helvetica Neue"/>
                <a:ea typeface="Helvetica Neue"/>
                <a:cs typeface="Helvetica Neue"/>
              </a:defRPr>
            </a:pPr>
            <a:r>
              <a:rPr sz="3450" b="1">
                <a:solidFill>
                  <a:srgbClr val="102B46"/>
                </a:solidFill>
                <a:latin typeface="Helvetica Neue"/>
                <a:ea typeface="Helvetica Neue"/>
                <a:cs typeface="Helvetica Neue"/>
              </a:rPr>
              <a:t>Expert feedback and design changes</a:t>
            </a:r>
          </a:p>
        </p:txBody>
      </p:sp>
      <p:sp>
        <p:nvSpPr>
          <p:cNvPr id="3" name="subtitle">
            <a:extLst>
              <a:ext uri="{FF2B5EF4-FFF2-40B4-BE49-F238E27FC236}">
                <a16:creationId xmlns:a16="http://schemas.microsoft.com/office/drawing/2014/main" id="{E72B5E45-DBAA-4495-8E12-0A0E04CBCA44}"/>
              </a:ext>
            </a:extLst>
          </p:cNvPr>
          <p:cNvSpPr>
            <a:spLocks noGrp="1"/>
          </p:cNvSpPr>
          <p:nvPr/>
        </p:nvSpPr>
        <p:spPr>
          <a:xfrm>
            <a:off x="609600" y="1524000"/>
            <a:ext cx="10858500" cy="428625"/>
          </a:xfrm>
          <a:prstGeom prst="rect">
            <a:avLst/>
          </a:prstGeom>
          <a:noFill/>
          <a:ln w="0">
            <a:noFill/>
          </a:ln>
        </p:spPr>
        <p:txBody>
          <a:bodyPr lIns="0" tIns="0" rIns="0" bIns="0">
            <a:noAutofit/>
          </a:bodyPr>
          <a:lstStyle>
            <a:defPPr algn="l">
              <a:defRPr sz="1800" b="0">
                <a:solidFill>
                  <a:srgbClr val="607482"/>
                </a:solidFill>
                <a:latin typeface="Helvetica Neue"/>
                <a:ea typeface="Helvetica Neue"/>
                <a:cs typeface="Helvetica Neue"/>
              </a:defRPr>
            </a:defPPr>
          </a:lstStyle>
          <a:p>
            <a:pPr algn="l">
              <a:buNone/>
              <a:defRPr sz="1800" b="0">
                <a:solidFill>
                  <a:srgbClr val="607482"/>
                </a:solidFill>
                <a:latin typeface="Helvetica Neue"/>
                <a:ea typeface="Helvetica Neue"/>
                <a:cs typeface="Helvetica Neue"/>
              </a:defRPr>
            </a:pPr>
            <a:r>
              <a:rPr sz="1800" b="0">
                <a:solidFill>
                  <a:srgbClr val="607482"/>
                </a:solidFill>
                <a:latin typeface="Helvetica Neue"/>
                <a:ea typeface="Helvetica Neue"/>
                <a:cs typeface="Helvetica Neue"/>
              </a:rPr>
              <a:t>Step 2A. Shared Project + Knowledge Agent</a:t>
            </a:r>
          </a:p>
        </p:txBody>
      </p:sp>
      <p:sp>
        <p:nvSpPr>
          <p:cNvPr id="4" name="page-number">
            <a:extLst>
              <a:ext uri="{FF2B5EF4-FFF2-40B4-BE49-F238E27FC236}">
                <a16:creationId xmlns:a16="http://schemas.microsoft.com/office/drawing/2014/main" id="{8620853C-8F9F-4BE6-B700-79A3C9BE6512}"/>
              </a:ext>
            </a:extLst>
          </p:cNvPr>
          <p:cNvSpPr>
            <a:spLocks noGrp="1"/>
          </p:cNvSpPr>
          <p:nvPr/>
        </p:nvSpPr>
        <p:spPr>
          <a:xfrm>
            <a:off x="10953750" y="6438900"/>
            <a:ext cx="666750" cy="228600"/>
          </a:xfrm>
          <a:prstGeom prst="rect">
            <a:avLst/>
          </a:prstGeom>
          <a:noFill/>
          <a:ln w="0">
            <a:noFill/>
          </a:ln>
        </p:spPr>
        <p:txBody>
          <a:bodyPr lIns="0" tIns="0" rIns="0" bIns="0">
            <a:noAutofit/>
          </a:bodyPr>
          <a:lstStyle>
            <a:defPPr algn="r">
              <a:defRPr sz="1125" b="0">
                <a:solidFill>
                  <a:srgbClr val="607482"/>
                </a:solidFill>
                <a:latin typeface="Helvetica Neue"/>
                <a:ea typeface="Helvetica Neue"/>
                <a:cs typeface="Helvetica Neue"/>
              </a:defRPr>
            </a:defPPr>
          </a:lstStyle>
          <a:p>
            <a:pPr algn="r">
              <a:buNone/>
              <a:defRPr sz="1125" b="0">
                <a:solidFill>
                  <a:srgbClr val="607482"/>
                </a:solidFill>
                <a:latin typeface="Helvetica Neue"/>
                <a:ea typeface="Helvetica Neue"/>
                <a:cs typeface="Helvetica Neue"/>
              </a:defRPr>
            </a:pPr>
            <a:r>
              <a:rPr sz="1125" b="0">
                <a:solidFill>
                  <a:srgbClr val="607482"/>
                </a:solidFill>
                <a:latin typeface="Helvetica Neue"/>
                <a:ea typeface="Helvetica Neue"/>
                <a:cs typeface="Helvetica Neue"/>
              </a:rPr>
              <a:t>A7</a:t>
            </a:r>
          </a:p>
        </p:txBody>
      </p:sp>
      <p:sp>
        <p:nvSpPr>
          <p:cNvPr id="5" name="action-list">
            <a:extLst>
              <a:ext uri="{FF2B5EF4-FFF2-40B4-BE49-F238E27FC236}">
                <a16:creationId xmlns:a16="http://schemas.microsoft.com/office/drawing/2014/main" id="{4A5F73BC-C64D-43AC-9EF9-E92172111F6E}"/>
              </a:ext>
            </a:extLst>
          </p:cNvPr>
          <p:cNvSpPr>
            <a:spLocks noGrp="1"/>
          </p:cNvSpPr>
          <p:nvPr/>
        </p:nvSpPr>
        <p:spPr>
          <a:xfrm>
            <a:off x="609600" y="2333625"/>
            <a:ext cx="7048500" cy="2047875"/>
          </a:xfrm>
          <a:prstGeom prst="rect">
            <a:avLst/>
          </a:prstGeom>
          <a:noFill/>
          <a:ln w="0">
            <a:noFill/>
          </a:ln>
        </p:spPr>
        <p:txBody>
          <a:bodyPr lIns="0" tIns="0" rIns="0" bIns="0">
            <a:noAutofit/>
          </a:bodyPr>
          <a:lstStyle>
            <a:defPPr algn="l">
              <a:defRPr sz="2100" b="0">
                <a:solidFill>
                  <a:srgbClr val="233A4B"/>
                </a:solidFill>
                <a:latin typeface="Helvetica Neue"/>
                <a:ea typeface="Helvetica Neue"/>
                <a:cs typeface="Helvetica Neue"/>
              </a:defRPr>
            </a:defPPr>
          </a:lstStyle>
          <a:p>
            <a:pPr marL="228600" indent="-114300" algn="l">
              <a:spcAft>
                <a:spcPts val="1800"/>
              </a:spcAft>
              <a:buChar char="•"/>
              <a:defRPr sz="2100" b="0">
                <a:solidFill>
                  <a:srgbClr val="233A4B"/>
                </a:solidFill>
                <a:latin typeface="Helvetica Neue"/>
                <a:ea typeface="Helvetica Neue"/>
                <a:cs typeface="Helvetica Neue"/>
              </a:defRPr>
            </a:pPr>
            <a:endParaRPr/>
          </a:p>
        </p:txBody>
      </p:sp>
      <p:sp>
        <p:nvSpPr>
          <p:cNvPr id="6" name="step-output">
            <a:extLst>
              <a:ext uri="{FF2B5EF4-FFF2-40B4-BE49-F238E27FC236}">
                <a16:creationId xmlns:a16="http://schemas.microsoft.com/office/drawing/2014/main" id="{9E1AE59A-39F8-498A-A861-F9AE783204ED}"/>
              </a:ext>
            </a:extLst>
          </p:cNvPr>
          <p:cNvSpPr>
            <a:spLocks noGrp="1"/>
          </p:cNvSpPr>
          <p:nvPr/>
        </p:nvSpPr>
        <p:spPr>
          <a:xfrm>
            <a:off x="8248650" y="2238375"/>
            <a:ext cx="3333750" cy="2000250"/>
          </a:xfrm>
          <a:prstGeom prst="rect">
            <a:avLst/>
          </a:prstGeom>
          <a:solidFill>
            <a:srgbClr val="F3F7FA"/>
          </a:solidFill>
          <a:ln w="9525">
            <a:solidFill>
              <a:srgbClr val="087E83"/>
            </a:solidFill>
            <a:prstDash val="solid"/>
          </a:ln>
        </p:spPr>
      </p:sp>
      <p:sp>
        <p:nvSpPr>
          <p:cNvPr id="7" name="output-label">
            <a:extLst>
              <a:ext uri="{FF2B5EF4-FFF2-40B4-BE49-F238E27FC236}">
                <a16:creationId xmlns:a16="http://schemas.microsoft.com/office/drawing/2014/main" id="{3E5602E3-C875-4A4E-996F-5461B4F70F8F}"/>
              </a:ext>
            </a:extLst>
          </p:cNvPr>
          <p:cNvSpPr>
            <a:spLocks noGrp="1"/>
          </p:cNvSpPr>
          <p:nvPr/>
        </p:nvSpPr>
        <p:spPr>
          <a:xfrm>
            <a:off x="8477250" y="2438400"/>
            <a:ext cx="2857500" cy="285750"/>
          </a:xfrm>
          <a:prstGeom prst="rect">
            <a:avLst/>
          </a:prstGeom>
          <a:noFill/>
          <a:ln w="0">
            <a:noFill/>
          </a:ln>
        </p:spPr>
        <p:txBody>
          <a:bodyPr lIns="0" tIns="0" rIns="0" bIns="0">
            <a:noAutofit/>
          </a:bodyPr>
          <a:lstStyle>
            <a:defPPr algn="l">
              <a:defRPr sz="1275" b="1">
                <a:solidFill>
                  <a:srgbClr val="087E83"/>
                </a:solidFill>
                <a:latin typeface="Helvetica Neue"/>
                <a:ea typeface="Helvetica Neue"/>
                <a:cs typeface="Helvetica Neue"/>
              </a:defRPr>
            </a:defPPr>
          </a:lstStyle>
          <a:p>
            <a:pPr algn="l">
              <a:buNone/>
              <a:defRPr sz="1275" b="1">
                <a:solidFill>
                  <a:srgbClr val="087E83"/>
                </a:solidFill>
                <a:latin typeface="Helvetica Neue"/>
                <a:ea typeface="Helvetica Neue"/>
                <a:cs typeface="Helvetica Neue"/>
              </a:defRPr>
            </a:pPr>
            <a:r>
              <a:rPr sz="1275" b="1">
                <a:solidFill>
                  <a:srgbClr val="087E83"/>
                </a:solidFill>
                <a:latin typeface="Helvetica Neue"/>
                <a:ea typeface="Helvetica Neue"/>
                <a:cs typeface="Helvetica Neue"/>
              </a:rPr>
              <a:t>OUTPUT</a:t>
            </a:r>
          </a:p>
        </p:txBody>
      </p:sp>
      <p:sp>
        <p:nvSpPr>
          <p:cNvPr id="8" name="output-description">
            <a:extLst>
              <a:ext uri="{FF2B5EF4-FFF2-40B4-BE49-F238E27FC236}">
                <a16:creationId xmlns:a16="http://schemas.microsoft.com/office/drawing/2014/main" id="{ECC35ED0-87E0-43A3-8B0E-DFA65F253027}"/>
              </a:ext>
            </a:extLst>
          </p:cNvPr>
          <p:cNvSpPr>
            <a:spLocks noGrp="1"/>
          </p:cNvSpPr>
          <p:nvPr/>
        </p:nvSpPr>
        <p:spPr>
          <a:xfrm>
            <a:off x="8477250" y="2876550"/>
            <a:ext cx="2857500" cy="1219200"/>
          </a:xfrm>
          <a:prstGeom prst="rect">
            <a:avLst/>
          </a:prstGeom>
          <a:noFill/>
          <a:ln w="0">
            <a:noFill/>
          </a:ln>
        </p:spPr>
        <p:txBody>
          <a:bodyPr lIns="0" tIns="0" rIns="0" bIns="0">
            <a:noAutofit/>
          </a:bodyPr>
          <a:lstStyle>
            <a:defPPr algn="l">
              <a:defRPr sz="2100" b="1">
                <a:solidFill>
                  <a:srgbClr val="102B46"/>
                </a:solidFill>
                <a:latin typeface="Helvetica Neue"/>
                <a:ea typeface="Helvetica Neue"/>
                <a:cs typeface="Helvetica Neue"/>
              </a:defRPr>
            </a:defPPr>
          </a:lstStyle>
          <a:p>
            <a:pPr algn="l">
              <a:buNone/>
              <a:defRPr sz="2100" b="1">
                <a:solidFill>
                  <a:srgbClr val="102B46"/>
                </a:solidFill>
                <a:latin typeface="Helvetica Neue"/>
                <a:ea typeface="Helvetica Neue"/>
                <a:cs typeface="Helvetica Neue"/>
              </a:defRPr>
            </a:pPr>
            <a:r>
              <a:rPr sz="2100" b="1">
                <a:solidFill>
                  <a:srgbClr val="102B46"/>
                </a:solidFill>
                <a:latin typeface="Helvetica Neue"/>
                <a:ea typeface="Helvetica Neue"/>
                <a:cs typeface="Helvetica Neue"/>
              </a:rPr>
              <a:t>Feedback actions</a:t>
            </a:r>
          </a:p>
          <a:p>
            <a:pPr algn="l">
              <a:buNone/>
              <a:defRPr sz="2100" b="1">
                <a:solidFill>
                  <a:srgbClr val="102B46"/>
                </a:solidFill>
                <a:latin typeface="Helvetica Neue"/>
                <a:ea typeface="Helvetica Neue"/>
                <a:cs typeface="Helvetica Neue"/>
              </a:defRPr>
            </a:pPr>
            <a:r>
              <a:rPr sz="2100" b="1">
                <a:solidFill>
                  <a:srgbClr val="102B46"/>
                </a:solidFill>
                <a:latin typeface="Helvetica Neue"/>
                <a:ea typeface="Helvetica Neue"/>
                <a:cs typeface="Helvetica Neue"/>
              </a:rPr>
              <a:t>Updated concept</a:t>
            </a:r>
          </a:p>
        </p:txBody>
      </p:sp>
      <p:sp>
        <p:nvSpPr>
          <p:cNvPr id="9" name="prompt-reference">
            <a:extLst>
              <a:ext uri="{FF2B5EF4-FFF2-40B4-BE49-F238E27FC236}">
                <a16:creationId xmlns:a16="http://schemas.microsoft.com/office/drawing/2014/main" id="{14C2EA9A-E75D-441F-B174-3F1D202C7DE1}"/>
              </a:ext>
            </a:extLst>
          </p:cNvPr>
          <p:cNvSpPr>
            <a:spLocks noGrp="1"/>
          </p:cNvSpPr>
          <p:nvPr/>
        </p:nvSpPr>
        <p:spPr>
          <a:xfrm>
            <a:off x="609600" y="4524375"/>
            <a:ext cx="10972800" cy="1381125"/>
          </a:xfrm>
          <a:prstGeom prst="rect">
            <a:avLst/>
          </a:prstGeom>
          <a:solidFill>
            <a:srgbClr val="F6F0FA"/>
          </a:solidFill>
          <a:ln w="0">
            <a:solidFill>
              <a:srgbClr val="F6F0FA"/>
            </a:solidFill>
          </a:ln>
        </p:spPr>
      </p:sp>
      <p:sp>
        <p:nvSpPr>
          <p:cNvPr id="10" name="prompt-label">
            <a:extLst>
              <a:ext uri="{FF2B5EF4-FFF2-40B4-BE49-F238E27FC236}">
                <a16:creationId xmlns:a16="http://schemas.microsoft.com/office/drawing/2014/main" id="{ED208232-69FA-43EB-B27A-E8FDADEAD4CC}"/>
              </a:ext>
            </a:extLst>
          </p:cNvPr>
          <p:cNvSpPr>
            <a:spLocks noGrp="1"/>
          </p:cNvSpPr>
          <p:nvPr/>
        </p:nvSpPr>
        <p:spPr>
          <a:xfrm>
            <a:off x="800100" y="4686300"/>
            <a:ext cx="10525125" cy="228600"/>
          </a:xfrm>
          <a:prstGeom prst="rect">
            <a:avLst/>
          </a:prstGeom>
          <a:noFill/>
          <a:ln w="0">
            <a:noFill/>
          </a:ln>
        </p:spPr>
        <p:txBody>
          <a:bodyPr lIns="0" tIns="0" rIns="0" bIns="0">
            <a:noAutofit/>
          </a:bodyPr>
          <a:lstStyle>
            <a:defPPr algn="l">
              <a:defRPr sz="1200" b="1">
                <a:solidFill>
                  <a:srgbClr val="6C2B91"/>
                </a:solidFill>
                <a:latin typeface="Helvetica Neue"/>
                <a:ea typeface="Helvetica Neue"/>
                <a:cs typeface="Helvetica Neue"/>
              </a:defRPr>
            </a:defPPr>
          </a:lstStyle>
          <a:p>
            <a:pPr algn="l">
              <a:buNone/>
              <a:defRPr sz="1200" b="1">
                <a:solidFill>
                  <a:srgbClr val="6C2B91"/>
                </a:solidFill>
                <a:latin typeface="Helvetica Neue"/>
                <a:ea typeface="Helvetica Neue"/>
                <a:cs typeface="Helvetica Neue"/>
              </a:defRPr>
            </a:pPr>
            <a:r>
              <a:rPr sz="1200" b="1">
                <a:solidFill>
                  <a:srgbClr val="6C2B91"/>
                </a:solidFill>
                <a:latin typeface="Helvetica Neue"/>
                <a:ea typeface="Helvetica Neue"/>
                <a:cs typeface="Helvetica Neue"/>
              </a:rPr>
              <a:t>EXAMPLE PROMPT</a:t>
            </a:r>
          </a:p>
        </p:txBody>
      </p:sp>
      <p:sp>
        <p:nvSpPr>
          <p:cNvPr id="11" name="prompt-content">
            <a:extLst>
              <a:ext uri="{FF2B5EF4-FFF2-40B4-BE49-F238E27FC236}">
                <a16:creationId xmlns:a16="http://schemas.microsoft.com/office/drawing/2014/main" id="{D5B26D4A-A22E-4253-A9A4-CA3B7C790680}"/>
              </a:ext>
            </a:extLst>
          </p:cNvPr>
          <p:cNvSpPr>
            <a:spLocks noGrp="1"/>
          </p:cNvSpPr>
          <p:nvPr/>
        </p:nvSpPr>
        <p:spPr>
          <a:xfrm>
            <a:off x="800100" y="5019675"/>
            <a:ext cx="10525125" cy="819150"/>
          </a:xfrm>
          <a:prstGeom prst="rect">
            <a:avLst/>
          </a:prstGeom>
          <a:noFill/>
          <a:ln w="0">
            <a:noFill/>
          </a:ln>
        </p:spPr>
        <p:txBody>
          <a:bodyPr lIns="0" tIns="0" rIns="0" bIns="0">
            <a:noAutofit/>
          </a:bodyPr>
          <a:lstStyle>
            <a:defPPr algn="l">
              <a:defRPr sz="1875" b="0">
                <a:solidFill>
                  <a:srgbClr val="6C2B91"/>
                </a:solidFill>
                <a:latin typeface="Helvetica Neue"/>
                <a:ea typeface="Helvetica Neue"/>
                <a:cs typeface="Helvetica Neue"/>
              </a:defRPr>
            </a:defPPr>
          </a:lstStyle>
          <a:p>
            <a:pPr algn="l">
              <a:buNone/>
              <a:defRPr sz="1875" b="0">
                <a:solidFill>
                  <a:srgbClr val="6C2B91"/>
                </a:solidFill>
                <a:latin typeface="Helvetica Neue"/>
                <a:ea typeface="Helvetica Neue"/>
                <a:cs typeface="Helvetica Neue"/>
              </a:defRPr>
            </a:pPr>
            <a:r>
              <a:rPr sz="1875" b="0">
                <a:solidFill>
                  <a:srgbClr val="6C2B91"/>
                </a:solidFill>
                <a:latin typeface="Helvetica Neue"/>
                <a:ea typeface="Helvetica Neue"/>
                <a:cs typeface="Helvetica Neue"/>
              </a:rPr>
              <a:t>"Turn [feedback] into changes or investigations. Explain effects on technology, regulation and business."</a:t>
            </a:r>
          </a:p>
        </p:txBody>
      </p:sp>
      <p:sp>
        <p:nvSpPr>
          <p:cNvPr id="12" name="discussion-cue">
            <a:extLst>
              <a:ext uri="{FF2B5EF4-FFF2-40B4-BE49-F238E27FC236}">
                <a16:creationId xmlns:a16="http://schemas.microsoft.com/office/drawing/2014/main" id="{96B58379-F565-4BAA-937E-AC4AAA1EC79B}"/>
              </a:ext>
            </a:extLst>
          </p:cNvPr>
          <p:cNvSpPr>
            <a:spLocks noGrp="1"/>
          </p:cNvSpPr>
          <p:nvPr/>
        </p:nvSpPr>
        <p:spPr>
          <a:xfrm>
            <a:off x="609600" y="6067425"/>
            <a:ext cx="10668000" cy="266700"/>
          </a:xfrm>
          <a:prstGeom prst="rect">
            <a:avLst/>
          </a:prstGeom>
          <a:noFill/>
          <a:ln w="0">
            <a:noFill/>
          </a:ln>
        </p:spPr>
        <p:txBody>
          <a:bodyPr lIns="0" tIns="0" rIns="0" bIns="0">
            <a:noAutofit/>
          </a:bodyPr>
          <a:lstStyle>
            <a:defPPr algn="l">
              <a:defRPr sz="1500" b="0">
                <a:solidFill>
                  <a:srgbClr val="607482"/>
                </a:solidFill>
                <a:latin typeface="Helvetica Neue"/>
                <a:ea typeface="Helvetica Neue"/>
                <a:cs typeface="Helvetica Neue"/>
              </a:defRPr>
            </a:defPPr>
          </a:lstStyle>
          <a:p>
            <a:pPr algn="l">
              <a:buNone/>
              <a:defRPr sz="1500" b="0">
                <a:solidFill>
                  <a:srgbClr val="607482"/>
                </a:solidFill>
                <a:latin typeface="Helvetica Neue"/>
                <a:ea typeface="Helvetica Neue"/>
                <a:cs typeface="Helvetica Neue"/>
              </a:defRPr>
            </a:pPr>
            <a:endParaRPr/>
          </a:p>
        </p:txBody>
      </p:sp>
      <p:pic>
        <p:nvPicPr>
          <p:cNvPr id="14" name="Picture 13">
            <a:extLst>
              <a:ext uri="{FF2B5EF4-FFF2-40B4-BE49-F238E27FC236}">
                <a16:creationId xmlns:a16="http://schemas.microsoft.com/office/drawing/2014/main" id="{C4D7D151-4FB5-42C1-9ADE-0F81346D846E}"/>
              </a:ext>
            </a:extLst>
          </p:cNvPr>
          <p:cNvPicPr>
            <a:picLocks noChangeAspect="1"/>
          </p:cNvPicPr>
          <p:nvPr/>
        </p:nvPicPr>
        <p:blipFill>
          <a:blip r:embed="rId3"/>
          <a:stretch/>
        </p:blipFill>
        <p:spPr>
          <a:xfrm>
            <a:off x="638175" y="2305050"/>
            <a:ext cx="400050" cy="400050"/>
          </a:xfrm>
          <a:prstGeom prst="rect">
            <a:avLst/>
          </a:prstGeom>
        </p:spPr>
      </p:pic>
      <p:sp>
        <p:nvSpPr>
          <p:cNvPr id="15" name="action-1">
            <a:extLst>
              <a:ext uri="{FF2B5EF4-FFF2-40B4-BE49-F238E27FC236}">
                <a16:creationId xmlns:a16="http://schemas.microsoft.com/office/drawing/2014/main" id="{426CF629-8F58-40CF-A398-29532ED121DD}"/>
              </a:ext>
            </a:extLst>
          </p:cNvPr>
          <p:cNvSpPr>
            <a:spLocks noGrp="1"/>
          </p:cNvSpPr>
          <p:nvPr/>
        </p:nvSpPr>
        <p:spPr>
          <a:xfrm>
            <a:off x="1276350" y="2343150"/>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Discuss expert feedback</a:t>
            </a:r>
          </a:p>
        </p:txBody>
      </p:sp>
      <p:pic>
        <p:nvPicPr>
          <p:cNvPr id="16" name="Picture 15">
            <a:extLst>
              <a:ext uri="{FF2B5EF4-FFF2-40B4-BE49-F238E27FC236}">
                <a16:creationId xmlns:a16="http://schemas.microsoft.com/office/drawing/2014/main" id="{7FB12960-212D-4218-A779-0ADF6096129B}"/>
              </a:ext>
            </a:extLst>
          </p:cNvPr>
          <p:cNvPicPr>
            <a:picLocks noChangeAspect="1"/>
          </p:cNvPicPr>
          <p:nvPr/>
        </p:nvPicPr>
        <p:blipFill>
          <a:blip r:embed="rId4"/>
          <a:stretch/>
        </p:blipFill>
        <p:spPr>
          <a:xfrm>
            <a:off x="638175" y="2924175"/>
            <a:ext cx="400050" cy="400050"/>
          </a:xfrm>
          <a:prstGeom prst="rect">
            <a:avLst/>
          </a:prstGeom>
        </p:spPr>
      </p:pic>
      <p:sp>
        <p:nvSpPr>
          <p:cNvPr id="17" name="action-2">
            <a:extLst>
              <a:ext uri="{FF2B5EF4-FFF2-40B4-BE49-F238E27FC236}">
                <a16:creationId xmlns:a16="http://schemas.microsoft.com/office/drawing/2014/main" id="{12188FDF-3DAB-430E-8E9E-347E723D2BAB}"/>
              </a:ext>
            </a:extLst>
          </p:cNvPr>
          <p:cNvSpPr>
            <a:spLocks noGrp="1"/>
          </p:cNvSpPr>
          <p:nvPr/>
        </p:nvSpPr>
        <p:spPr>
          <a:xfrm>
            <a:off x="1276350" y="2962275"/>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Agree changes and investigations</a:t>
            </a:r>
          </a:p>
        </p:txBody>
      </p:sp>
      <p:pic>
        <p:nvPicPr>
          <p:cNvPr id="18" name="Picture 17">
            <a:extLst>
              <a:ext uri="{FF2B5EF4-FFF2-40B4-BE49-F238E27FC236}">
                <a16:creationId xmlns:a16="http://schemas.microsoft.com/office/drawing/2014/main" id="{ACAB2192-DE48-4A52-9F1A-89FFDC1C0111}"/>
              </a:ext>
            </a:extLst>
          </p:cNvPr>
          <p:cNvPicPr>
            <a:picLocks noChangeAspect="1"/>
          </p:cNvPicPr>
          <p:nvPr/>
        </p:nvPicPr>
        <p:blipFill>
          <a:blip r:embed="rId5"/>
          <a:stretch/>
        </p:blipFill>
        <p:spPr>
          <a:xfrm>
            <a:off x="638175" y="3543300"/>
            <a:ext cx="400050" cy="400050"/>
          </a:xfrm>
          <a:prstGeom prst="rect">
            <a:avLst/>
          </a:prstGeom>
        </p:spPr>
      </p:pic>
      <p:sp>
        <p:nvSpPr>
          <p:cNvPr id="19" name="action-3">
            <a:extLst>
              <a:ext uri="{FF2B5EF4-FFF2-40B4-BE49-F238E27FC236}">
                <a16:creationId xmlns:a16="http://schemas.microsoft.com/office/drawing/2014/main" id="{3354A967-7BFB-45A2-A147-82DF92779F78}"/>
              </a:ext>
            </a:extLst>
          </p:cNvPr>
          <p:cNvSpPr>
            <a:spLocks noGrp="1"/>
          </p:cNvSpPr>
          <p:nvPr/>
        </p:nvSpPr>
        <p:spPr>
          <a:xfrm>
            <a:off x="1276350" y="3581400"/>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Assign owners and next actions</a:t>
            </a:r>
          </a:p>
        </p:txBody>
      </p:sp>
    </p:spTree>
    <p:extLst>
      <p:ext uri="{BB962C8B-B14F-4D97-AF65-F5344CB8AC3E}">
        <p14:creationId xmlns:p14="http://schemas.microsoft.com/office/powerpoint/2010/main" val="20866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3" name="section-label">
            <a:extLst>
              <a:ext uri="{FF2B5EF4-FFF2-40B4-BE49-F238E27FC236}">
                <a16:creationId xmlns:a16="http://schemas.microsoft.com/office/drawing/2014/main" id="{F86A7C00-855F-4247-B5CA-2D9176164F68}"/>
              </a:ext>
            </a:extLst>
          </p:cNvPr>
          <p:cNvSpPr>
            <a:spLocks noGrp="1"/>
          </p:cNvSpPr>
          <p:nvPr/>
        </p:nvSpPr>
        <p:spPr>
          <a:xfrm>
            <a:off x="609600" y="285750"/>
            <a:ext cx="10668000" cy="285750"/>
          </a:xfrm>
          <a:prstGeom prst="rect">
            <a:avLst/>
          </a:prstGeom>
          <a:noFill/>
          <a:ln w="0">
            <a:noFill/>
          </a:ln>
        </p:spPr>
        <p:txBody>
          <a:bodyPr lIns="0" tIns="0" rIns="0" bIns="0">
            <a:noAutofit/>
          </a:bodyPr>
          <a:lstStyle>
            <a:defPPr algn="l">
              <a:defRPr sz="1200" b="1">
                <a:solidFill>
                  <a:srgbClr val="087E83"/>
                </a:solidFill>
                <a:latin typeface="Helvetica Neue"/>
                <a:ea typeface="Helvetica Neue"/>
                <a:cs typeface="Helvetica Neue"/>
              </a:defRPr>
            </a:defPPr>
          </a:lstStyle>
          <a:p>
            <a:pPr algn="l">
              <a:buNone/>
              <a:defRPr sz="1200" b="1">
                <a:solidFill>
                  <a:srgbClr val="087E83"/>
                </a:solidFill>
                <a:latin typeface="Helvetica Neue"/>
                <a:ea typeface="Helvetica Neue"/>
                <a:cs typeface="Helvetica Neue"/>
              </a:defRPr>
            </a:pPr>
            <a:r>
              <a:rPr sz="1200" b="1">
                <a:solidFill>
                  <a:srgbClr val="087E83"/>
                </a:solidFill>
                <a:latin typeface="Helvetica Neue"/>
                <a:ea typeface="Helvetica Neue"/>
                <a:cs typeface="Helvetica Neue"/>
              </a:rPr>
              <a:t>APPENDIX: SESSION 2: INTEGRATED SOLUTION</a:t>
            </a:r>
          </a:p>
        </p:txBody>
      </p:sp>
      <p:sp>
        <p:nvSpPr>
          <p:cNvPr id="2" name="slide-title">
            <a:extLst>
              <a:ext uri="{FF2B5EF4-FFF2-40B4-BE49-F238E27FC236}">
                <a16:creationId xmlns:a16="http://schemas.microsoft.com/office/drawing/2014/main" id="{47A95C9F-1D30-4BD5-995F-E3703A764854}"/>
              </a:ext>
            </a:extLst>
          </p:cNvPr>
          <p:cNvSpPr>
            <a:spLocks noGrp="1"/>
          </p:cNvSpPr>
          <p:nvPr/>
        </p:nvSpPr>
        <p:spPr>
          <a:xfrm>
            <a:off x="609600" y="781050"/>
            <a:ext cx="10858500" cy="857250"/>
          </a:xfrm>
          <a:prstGeom prst="rect">
            <a:avLst/>
          </a:prstGeom>
          <a:noFill/>
          <a:ln w="0">
            <a:noFill/>
          </a:ln>
        </p:spPr>
        <p:txBody>
          <a:bodyPr lIns="0" tIns="0" rIns="0" bIns="0">
            <a:noAutofit/>
          </a:bodyPr>
          <a:lstStyle>
            <a:defPPr algn="l">
              <a:defRPr sz="3450" b="1">
                <a:solidFill>
                  <a:srgbClr val="102B46"/>
                </a:solidFill>
                <a:latin typeface="Helvetica Neue"/>
                <a:ea typeface="Helvetica Neue"/>
                <a:cs typeface="Helvetica Neue"/>
              </a:defRPr>
            </a:defPPr>
          </a:lstStyle>
          <a:p>
            <a:pPr algn="l">
              <a:buNone/>
              <a:defRPr sz="3450" b="1">
                <a:solidFill>
                  <a:srgbClr val="102B46"/>
                </a:solidFill>
                <a:latin typeface="Helvetica Neue"/>
                <a:ea typeface="Helvetica Neue"/>
                <a:cs typeface="Helvetica Neue"/>
              </a:defRPr>
            </a:pPr>
            <a:r>
              <a:rPr sz="3450" b="1">
                <a:solidFill>
                  <a:srgbClr val="102B46"/>
                </a:solidFill>
                <a:latin typeface="Helvetica Neue"/>
                <a:ea typeface="Helvetica Neue"/>
                <a:cs typeface="Helvetica Neue"/>
              </a:rPr>
              <a:t>Product features and detailed architecture</a:t>
            </a:r>
          </a:p>
        </p:txBody>
      </p:sp>
      <p:sp>
        <p:nvSpPr>
          <p:cNvPr id="3" name="subtitle">
            <a:extLst>
              <a:ext uri="{FF2B5EF4-FFF2-40B4-BE49-F238E27FC236}">
                <a16:creationId xmlns:a16="http://schemas.microsoft.com/office/drawing/2014/main" id="{23EEF9D5-F95C-4C2B-AC23-F015A49BC0A1}"/>
              </a:ext>
            </a:extLst>
          </p:cNvPr>
          <p:cNvSpPr>
            <a:spLocks noGrp="1"/>
          </p:cNvSpPr>
          <p:nvPr/>
        </p:nvSpPr>
        <p:spPr>
          <a:xfrm>
            <a:off x="609600" y="1524000"/>
            <a:ext cx="10858500" cy="428625"/>
          </a:xfrm>
          <a:prstGeom prst="rect">
            <a:avLst/>
          </a:prstGeom>
          <a:noFill/>
          <a:ln w="0">
            <a:noFill/>
          </a:ln>
        </p:spPr>
        <p:txBody>
          <a:bodyPr lIns="0" tIns="0" rIns="0" bIns="0">
            <a:noAutofit/>
          </a:bodyPr>
          <a:lstStyle>
            <a:defPPr algn="l">
              <a:defRPr sz="1800" b="0">
                <a:solidFill>
                  <a:srgbClr val="607482"/>
                </a:solidFill>
                <a:latin typeface="Helvetica Neue"/>
                <a:ea typeface="Helvetica Neue"/>
                <a:cs typeface="Helvetica Neue"/>
              </a:defRPr>
            </a:defPPr>
          </a:lstStyle>
          <a:p>
            <a:pPr algn="l">
              <a:buNone/>
              <a:defRPr sz="1800" b="0">
                <a:solidFill>
                  <a:srgbClr val="607482"/>
                </a:solidFill>
                <a:latin typeface="Helvetica Neue"/>
                <a:ea typeface="Helvetica Neue"/>
                <a:cs typeface="Helvetica Neue"/>
              </a:defRPr>
            </a:pPr>
            <a:r>
              <a:rPr sz="1800" b="0">
                <a:solidFill>
                  <a:srgbClr val="607482"/>
                </a:solidFill>
                <a:latin typeface="Helvetica Neue"/>
                <a:ea typeface="Helvetica Neue"/>
                <a:cs typeface="Helvetica Neue"/>
              </a:rPr>
              <a:t>Step 2B. Knowledge Agent + Technology Library</a:t>
            </a:r>
          </a:p>
        </p:txBody>
      </p:sp>
      <p:sp>
        <p:nvSpPr>
          <p:cNvPr id="4" name="page-number">
            <a:extLst>
              <a:ext uri="{FF2B5EF4-FFF2-40B4-BE49-F238E27FC236}">
                <a16:creationId xmlns:a16="http://schemas.microsoft.com/office/drawing/2014/main" id="{115FFBD8-B008-4990-BDA1-02B54E3A802F}"/>
              </a:ext>
            </a:extLst>
          </p:cNvPr>
          <p:cNvSpPr>
            <a:spLocks noGrp="1"/>
          </p:cNvSpPr>
          <p:nvPr/>
        </p:nvSpPr>
        <p:spPr>
          <a:xfrm>
            <a:off x="10953750" y="6438900"/>
            <a:ext cx="666750" cy="228600"/>
          </a:xfrm>
          <a:prstGeom prst="rect">
            <a:avLst/>
          </a:prstGeom>
          <a:noFill/>
          <a:ln w="0">
            <a:noFill/>
          </a:ln>
        </p:spPr>
        <p:txBody>
          <a:bodyPr lIns="0" tIns="0" rIns="0" bIns="0">
            <a:noAutofit/>
          </a:bodyPr>
          <a:lstStyle>
            <a:defPPr algn="r">
              <a:defRPr sz="1125" b="0">
                <a:solidFill>
                  <a:srgbClr val="607482"/>
                </a:solidFill>
                <a:latin typeface="Helvetica Neue"/>
                <a:ea typeface="Helvetica Neue"/>
                <a:cs typeface="Helvetica Neue"/>
              </a:defRPr>
            </a:defPPr>
          </a:lstStyle>
          <a:p>
            <a:pPr algn="r">
              <a:buNone/>
              <a:defRPr sz="1125" b="0">
                <a:solidFill>
                  <a:srgbClr val="607482"/>
                </a:solidFill>
                <a:latin typeface="Helvetica Neue"/>
                <a:ea typeface="Helvetica Neue"/>
                <a:cs typeface="Helvetica Neue"/>
              </a:defRPr>
            </a:pPr>
            <a:r>
              <a:rPr sz="1125" b="0">
                <a:solidFill>
                  <a:srgbClr val="607482"/>
                </a:solidFill>
                <a:latin typeface="Helvetica Neue"/>
                <a:ea typeface="Helvetica Neue"/>
                <a:cs typeface="Helvetica Neue"/>
              </a:rPr>
              <a:t>A8</a:t>
            </a:r>
          </a:p>
        </p:txBody>
      </p:sp>
      <p:sp>
        <p:nvSpPr>
          <p:cNvPr id="5" name="action-list">
            <a:extLst>
              <a:ext uri="{FF2B5EF4-FFF2-40B4-BE49-F238E27FC236}">
                <a16:creationId xmlns:a16="http://schemas.microsoft.com/office/drawing/2014/main" id="{F349C45D-EA51-4315-86E2-9729C0F6332D}"/>
              </a:ext>
            </a:extLst>
          </p:cNvPr>
          <p:cNvSpPr>
            <a:spLocks noGrp="1"/>
          </p:cNvSpPr>
          <p:nvPr/>
        </p:nvSpPr>
        <p:spPr>
          <a:xfrm>
            <a:off x="609600" y="2333625"/>
            <a:ext cx="7048500" cy="2047875"/>
          </a:xfrm>
          <a:prstGeom prst="rect">
            <a:avLst/>
          </a:prstGeom>
          <a:noFill/>
          <a:ln w="0">
            <a:noFill/>
          </a:ln>
        </p:spPr>
        <p:txBody>
          <a:bodyPr lIns="0" tIns="0" rIns="0" bIns="0">
            <a:noAutofit/>
          </a:bodyPr>
          <a:lstStyle>
            <a:defPPr algn="l">
              <a:defRPr sz="2100" b="0">
                <a:solidFill>
                  <a:srgbClr val="233A4B"/>
                </a:solidFill>
                <a:latin typeface="Helvetica Neue"/>
                <a:ea typeface="Helvetica Neue"/>
                <a:cs typeface="Helvetica Neue"/>
              </a:defRPr>
            </a:defPPr>
          </a:lstStyle>
          <a:p>
            <a:pPr marL="228600" indent="-114300" algn="l">
              <a:spcAft>
                <a:spcPts val="1800"/>
              </a:spcAft>
              <a:buChar char="•"/>
              <a:defRPr sz="2100" b="0">
                <a:solidFill>
                  <a:srgbClr val="233A4B"/>
                </a:solidFill>
                <a:latin typeface="Helvetica Neue"/>
                <a:ea typeface="Helvetica Neue"/>
                <a:cs typeface="Helvetica Neue"/>
              </a:defRPr>
            </a:pPr>
            <a:endParaRPr/>
          </a:p>
        </p:txBody>
      </p:sp>
      <p:sp>
        <p:nvSpPr>
          <p:cNvPr id="6" name="step-output">
            <a:extLst>
              <a:ext uri="{FF2B5EF4-FFF2-40B4-BE49-F238E27FC236}">
                <a16:creationId xmlns:a16="http://schemas.microsoft.com/office/drawing/2014/main" id="{59EC0729-D55B-4591-B4AE-A3DC89A5510A}"/>
              </a:ext>
            </a:extLst>
          </p:cNvPr>
          <p:cNvSpPr>
            <a:spLocks noGrp="1"/>
          </p:cNvSpPr>
          <p:nvPr/>
        </p:nvSpPr>
        <p:spPr>
          <a:xfrm>
            <a:off x="8248650" y="2238375"/>
            <a:ext cx="3333750" cy="2000250"/>
          </a:xfrm>
          <a:prstGeom prst="rect">
            <a:avLst/>
          </a:prstGeom>
          <a:solidFill>
            <a:srgbClr val="F3F7FA"/>
          </a:solidFill>
          <a:ln w="9525">
            <a:solidFill>
              <a:srgbClr val="087E83"/>
            </a:solidFill>
            <a:prstDash val="solid"/>
          </a:ln>
        </p:spPr>
      </p:sp>
      <p:sp>
        <p:nvSpPr>
          <p:cNvPr id="7" name="output-label">
            <a:extLst>
              <a:ext uri="{FF2B5EF4-FFF2-40B4-BE49-F238E27FC236}">
                <a16:creationId xmlns:a16="http://schemas.microsoft.com/office/drawing/2014/main" id="{02CFEA44-5A50-4CA5-B858-6F30B0A9C1FB}"/>
              </a:ext>
            </a:extLst>
          </p:cNvPr>
          <p:cNvSpPr>
            <a:spLocks noGrp="1"/>
          </p:cNvSpPr>
          <p:nvPr/>
        </p:nvSpPr>
        <p:spPr>
          <a:xfrm>
            <a:off x="8477250" y="2438400"/>
            <a:ext cx="2857500" cy="285750"/>
          </a:xfrm>
          <a:prstGeom prst="rect">
            <a:avLst/>
          </a:prstGeom>
          <a:noFill/>
          <a:ln w="0">
            <a:noFill/>
          </a:ln>
        </p:spPr>
        <p:txBody>
          <a:bodyPr lIns="0" tIns="0" rIns="0" bIns="0">
            <a:noAutofit/>
          </a:bodyPr>
          <a:lstStyle>
            <a:defPPr algn="l">
              <a:defRPr sz="1275" b="1">
                <a:solidFill>
                  <a:srgbClr val="087E83"/>
                </a:solidFill>
                <a:latin typeface="Helvetica Neue"/>
                <a:ea typeface="Helvetica Neue"/>
                <a:cs typeface="Helvetica Neue"/>
              </a:defRPr>
            </a:defPPr>
          </a:lstStyle>
          <a:p>
            <a:pPr algn="l">
              <a:buNone/>
              <a:defRPr sz="1275" b="1">
                <a:solidFill>
                  <a:srgbClr val="087E83"/>
                </a:solidFill>
                <a:latin typeface="Helvetica Neue"/>
                <a:ea typeface="Helvetica Neue"/>
                <a:cs typeface="Helvetica Neue"/>
              </a:defRPr>
            </a:pPr>
            <a:r>
              <a:rPr sz="1275" b="1">
                <a:solidFill>
                  <a:srgbClr val="087E83"/>
                </a:solidFill>
                <a:latin typeface="Helvetica Neue"/>
                <a:ea typeface="Helvetica Neue"/>
                <a:cs typeface="Helvetica Neue"/>
              </a:rPr>
              <a:t>OUTPUT</a:t>
            </a:r>
          </a:p>
        </p:txBody>
      </p:sp>
      <p:sp>
        <p:nvSpPr>
          <p:cNvPr id="8" name="output-description">
            <a:extLst>
              <a:ext uri="{FF2B5EF4-FFF2-40B4-BE49-F238E27FC236}">
                <a16:creationId xmlns:a16="http://schemas.microsoft.com/office/drawing/2014/main" id="{D69199D0-FD68-4FAF-8CE0-17A7610A61D9}"/>
              </a:ext>
            </a:extLst>
          </p:cNvPr>
          <p:cNvSpPr>
            <a:spLocks noGrp="1"/>
          </p:cNvSpPr>
          <p:nvPr/>
        </p:nvSpPr>
        <p:spPr>
          <a:xfrm>
            <a:off x="8477250" y="2876550"/>
            <a:ext cx="2857500" cy="1219200"/>
          </a:xfrm>
          <a:prstGeom prst="rect">
            <a:avLst/>
          </a:prstGeom>
          <a:noFill/>
          <a:ln w="0">
            <a:noFill/>
          </a:ln>
        </p:spPr>
        <p:txBody>
          <a:bodyPr lIns="0" tIns="0" rIns="0" bIns="0">
            <a:noAutofit/>
          </a:bodyPr>
          <a:lstStyle>
            <a:defPPr algn="l">
              <a:defRPr sz="2100" b="1">
                <a:solidFill>
                  <a:srgbClr val="102B46"/>
                </a:solidFill>
                <a:latin typeface="Helvetica Neue"/>
                <a:ea typeface="Helvetica Neue"/>
                <a:cs typeface="Helvetica Neue"/>
              </a:defRPr>
            </a:defPPr>
          </a:lstStyle>
          <a:p>
            <a:pPr algn="l">
              <a:buNone/>
              <a:defRPr sz="2100" b="1">
                <a:solidFill>
                  <a:srgbClr val="102B46"/>
                </a:solidFill>
                <a:latin typeface="Helvetica Neue"/>
                <a:ea typeface="Helvetica Neue"/>
                <a:cs typeface="Helvetica Neue"/>
              </a:defRPr>
            </a:pPr>
            <a:r>
              <a:rPr sz="2100" b="1">
                <a:solidFill>
                  <a:srgbClr val="102B46"/>
                </a:solidFill>
                <a:latin typeface="Helvetica Neue"/>
                <a:ea typeface="Helvetica Neue"/>
                <a:cs typeface="Helvetica Neue"/>
              </a:rPr>
              <a:t>Architecture</a:t>
            </a:r>
          </a:p>
          <a:p>
            <a:pPr algn="l">
              <a:buNone/>
              <a:defRPr sz="2100" b="1">
                <a:solidFill>
                  <a:srgbClr val="102B46"/>
                </a:solidFill>
                <a:latin typeface="Helvetica Neue"/>
                <a:ea typeface="Helvetica Neue"/>
                <a:cs typeface="Helvetica Neue"/>
              </a:defRPr>
            </a:pPr>
            <a:r>
              <a:rPr sz="2100" b="1">
                <a:solidFill>
                  <a:srgbClr val="102B46"/>
                </a:solidFill>
                <a:latin typeface="Helvetica Neue"/>
                <a:ea typeface="Helvetica Neue"/>
                <a:cs typeface="Helvetica Neue"/>
              </a:rPr>
              <a:t>Requirements</a:t>
            </a:r>
          </a:p>
        </p:txBody>
      </p:sp>
      <p:sp>
        <p:nvSpPr>
          <p:cNvPr id="9" name="prompt-reference">
            <a:extLst>
              <a:ext uri="{FF2B5EF4-FFF2-40B4-BE49-F238E27FC236}">
                <a16:creationId xmlns:a16="http://schemas.microsoft.com/office/drawing/2014/main" id="{A21ED18D-994C-4FBD-9690-F916111E79C0}"/>
              </a:ext>
            </a:extLst>
          </p:cNvPr>
          <p:cNvSpPr>
            <a:spLocks noGrp="1"/>
          </p:cNvSpPr>
          <p:nvPr/>
        </p:nvSpPr>
        <p:spPr>
          <a:xfrm>
            <a:off x="609600" y="4524375"/>
            <a:ext cx="10972800" cy="1381125"/>
          </a:xfrm>
          <a:prstGeom prst="rect">
            <a:avLst/>
          </a:prstGeom>
          <a:solidFill>
            <a:srgbClr val="F6F0FA"/>
          </a:solidFill>
          <a:ln w="0">
            <a:solidFill>
              <a:srgbClr val="F6F0FA"/>
            </a:solidFill>
          </a:ln>
        </p:spPr>
      </p:sp>
      <p:sp>
        <p:nvSpPr>
          <p:cNvPr id="10" name="prompt-label">
            <a:extLst>
              <a:ext uri="{FF2B5EF4-FFF2-40B4-BE49-F238E27FC236}">
                <a16:creationId xmlns:a16="http://schemas.microsoft.com/office/drawing/2014/main" id="{1511727F-B6A9-4E99-803A-A2449EF2A4B7}"/>
              </a:ext>
            </a:extLst>
          </p:cNvPr>
          <p:cNvSpPr>
            <a:spLocks noGrp="1"/>
          </p:cNvSpPr>
          <p:nvPr/>
        </p:nvSpPr>
        <p:spPr>
          <a:xfrm>
            <a:off x="800100" y="4686300"/>
            <a:ext cx="10525125" cy="228600"/>
          </a:xfrm>
          <a:prstGeom prst="rect">
            <a:avLst/>
          </a:prstGeom>
          <a:noFill/>
          <a:ln w="0">
            <a:noFill/>
          </a:ln>
        </p:spPr>
        <p:txBody>
          <a:bodyPr lIns="0" tIns="0" rIns="0" bIns="0">
            <a:noAutofit/>
          </a:bodyPr>
          <a:lstStyle>
            <a:defPPr algn="l">
              <a:defRPr sz="1200" b="1">
                <a:solidFill>
                  <a:srgbClr val="6C2B91"/>
                </a:solidFill>
                <a:latin typeface="Helvetica Neue"/>
                <a:ea typeface="Helvetica Neue"/>
                <a:cs typeface="Helvetica Neue"/>
              </a:defRPr>
            </a:defPPr>
          </a:lstStyle>
          <a:p>
            <a:pPr algn="l">
              <a:buNone/>
              <a:defRPr sz="1200" b="1">
                <a:solidFill>
                  <a:srgbClr val="6C2B91"/>
                </a:solidFill>
                <a:latin typeface="Helvetica Neue"/>
                <a:ea typeface="Helvetica Neue"/>
                <a:cs typeface="Helvetica Neue"/>
              </a:defRPr>
            </a:pPr>
            <a:r>
              <a:rPr sz="1200" b="1">
                <a:solidFill>
                  <a:srgbClr val="6C2B91"/>
                </a:solidFill>
                <a:latin typeface="Helvetica Neue"/>
                <a:ea typeface="Helvetica Neue"/>
                <a:cs typeface="Helvetica Neue"/>
              </a:rPr>
              <a:t>EXAMPLE PROMPT</a:t>
            </a:r>
          </a:p>
        </p:txBody>
      </p:sp>
      <p:sp>
        <p:nvSpPr>
          <p:cNvPr id="11" name="prompt-content">
            <a:extLst>
              <a:ext uri="{FF2B5EF4-FFF2-40B4-BE49-F238E27FC236}">
                <a16:creationId xmlns:a16="http://schemas.microsoft.com/office/drawing/2014/main" id="{AD80B1FD-D14F-4520-8729-BDFF753AAD9F}"/>
              </a:ext>
            </a:extLst>
          </p:cNvPr>
          <p:cNvSpPr>
            <a:spLocks noGrp="1"/>
          </p:cNvSpPr>
          <p:nvPr/>
        </p:nvSpPr>
        <p:spPr>
          <a:xfrm>
            <a:off x="800100" y="5019675"/>
            <a:ext cx="10525125" cy="819150"/>
          </a:xfrm>
          <a:prstGeom prst="rect">
            <a:avLst/>
          </a:prstGeom>
          <a:noFill/>
          <a:ln w="0">
            <a:noFill/>
          </a:ln>
        </p:spPr>
        <p:txBody>
          <a:bodyPr lIns="0" tIns="0" rIns="0" bIns="0">
            <a:noAutofit/>
          </a:bodyPr>
          <a:lstStyle>
            <a:defPPr algn="l">
              <a:defRPr sz="1875" b="0">
                <a:solidFill>
                  <a:srgbClr val="6C2B91"/>
                </a:solidFill>
                <a:latin typeface="Helvetica Neue"/>
                <a:ea typeface="Helvetica Neue"/>
                <a:cs typeface="Helvetica Neue"/>
              </a:defRPr>
            </a:defPPr>
          </a:lstStyle>
          <a:p>
            <a:pPr algn="l">
              <a:buNone/>
              <a:defRPr sz="1875" b="0">
                <a:solidFill>
                  <a:srgbClr val="6C2B91"/>
                </a:solidFill>
                <a:latin typeface="Helvetica Neue"/>
                <a:ea typeface="Helvetica Neue"/>
                <a:cs typeface="Helvetica Neue"/>
              </a:defRPr>
            </a:pPr>
            <a:r>
              <a:rPr sz="1875" b="0">
                <a:solidFill>
                  <a:srgbClr val="6C2B91"/>
                </a:solidFill>
                <a:latin typeface="Helvetica Neue"/>
                <a:ea typeface="Helvetica Neue"/>
                <a:cs typeface="Helvetica Neue"/>
              </a:rPr>
              <a:t>"Detail [architecture]: features, interfaces, deployment and failure handling. Link functions to requirements."</a:t>
            </a:r>
          </a:p>
        </p:txBody>
      </p:sp>
      <p:sp>
        <p:nvSpPr>
          <p:cNvPr id="12" name="discussion-cue">
            <a:extLst>
              <a:ext uri="{FF2B5EF4-FFF2-40B4-BE49-F238E27FC236}">
                <a16:creationId xmlns:a16="http://schemas.microsoft.com/office/drawing/2014/main" id="{16B5CF91-B177-47BC-84AA-1573300102CE}"/>
              </a:ext>
            </a:extLst>
          </p:cNvPr>
          <p:cNvSpPr>
            <a:spLocks noGrp="1"/>
          </p:cNvSpPr>
          <p:nvPr/>
        </p:nvSpPr>
        <p:spPr>
          <a:xfrm>
            <a:off x="609600" y="6067425"/>
            <a:ext cx="10668000" cy="266700"/>
          </a:xfrm>
          <a:prstGeom prst="rect">
            <a:avLst/>
          </a:prstGeom>
          <a:noFill/>
          <a:ln w="0">
            <a:noFill/>
          </a:ln>
        </p:spPr>
        <p:txBody>
          <a:bodyPr lIns="0" tIns="0" rIns="0" bIns="0">
            <a:noAutofit/>
          </a:bodyPr>
          <a:lstStyle>
            <a:defPPr algn="l">
              <a:defRPr sz="1500" b="0">
                <a:solidFill>
                  <a:srgbClr val="607482"/>
                </a:solidFill>
                <a:latin typeface="Helvetica Neue"/>
                <a:ea typeface="Helvetica Neue"/>
                <a:cs typeface="Helvetica Neue"/>
              </a:defRPr>
            </a:defPPr>
          </a:lstStyle>
          <a:p>
            <a:pPr algn="l">
              <a:buNone/>
              <a:defRPr sz="1500" b="0">
                <a:solidFill>
                  <a:srgbClr val="607482"/>
                </a:solidFill>
                <a:latin typeface="Helvetica Neue"/>
                <a:ea typeface="Helvetica Neue"/>
                <a:cs typeface="Helvetica Neue"/>
              </a:defRPr>
            </a:pPr>
            <a:endParaRPr/>
          </a:p>
        </p:txBody>
      </p:sp>
      <p:pic>
        <p:nvPicPr>
          <p:cNvPr id="14" name="Picture 13">
            <a:extLst>
              <a:ext uri="{FF2B5EF4-FFF2-40B4-BE49-F238E27FC236}">
                <a16:creationId xmlns:a16="http://schemas.microsoft.com/office/drawing/2014/main" id="{83F887BF-9CEC-4992-A659-7E06F386B9D2}"/>
              </a:ext>
            </a:extLst>
          </p:cNvPr>
          <p:cNvPicPr>
            <a:picLocks noChangeAspect="1"/>
          </p:cNvPicPr>
          <p:nvPr/>
        </p:nvPicPr>
        <p:blipFill>
          <a:blip r:embed="rId3"/>
          <a:stretch/>
        </p:blipFill>
        <p:spPr>
          <a:xfrm>
            <a:off x="638175" y="2305050"/>
            <a:ext cx="400050" cy="400050"/>
          </a:xfrm>
          <a:prstGeom prst="rect">
            <a:avLst/>
          </a:prstGeom>
        </p:spPr>
      </p:pic>
      <p:sp>
        <p:nvSpPr>
          <p:cNvPr id="15" name="action-1">
            <a:extLst>
              <a:ext uri="{FF2B5EF4-FFF2-40B4-BE49-F238E27FC236}">
                <a16:creationId xmlns:a16="http://schemas.microsoft.com/office/drawing/2014/main" id="{5DF7E14B-724C-445C-A684-AA1E7B3A5C63}"/>
              </a:ext>
            </a:extLst>
          </p:cNvPr>
          <p:cNvSpPr>
            <a:spLocks noGrp="1"/>
          </p:cNvSpPr>
          <p:nvPr/>
        </p:nvSpPr>
        <p:spPr>
          <a:xfrm>
            <a:off x="1276350" y="2343150"/>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Define core features and requirements</a:t>
            </a:r>
          </a:p>
        </p:txBody>
      </p:sp>
      <p:pic>
        <p:nvPicPr>
          <p:cNvPr id="16" name="Picture 15">
            <a:extLst>
              <a:ext uri="{FF2B5EF4-FFF2-40B4-BE49-F238E27FC236}">
                <a16:creationId xmlns:a16="http://schemas.microsoft.com/office/drawing/2014/main" id="{4EBB2528-562E-44C6-8F02-0655FAA72CF0}"/>
              </a:ext>
            </a:extLst>
          </p:cNvPr>
          <p:cNvPicPr>
            <a:picLocks noChangeAspect="1"/>
          </p:cNvPicPr>
          <p:nvPr/>
        </p:nvPicPr>
        <p:blipFill>
          <a:blip r:embed="rId4"/>
          <a:stretch/>
        </p:blipFill>
        <p:spPr>
          <a:xfrm>
            <a:off x="638175" y="2924175"/>
            <a:ext cx="400050" cy="400050"/>
          </a:xfrm>
          <a:prstGeom prst="rect">
            <a:avLst/>
          </a:prstGeom>
        </p:spPr>
      </p:pic>
      <p:sp>
        <p:nvSpPr>
          <p:cNvPr id="17" name="action-2">
            <a:extLst>
              <a:ext uri="{FF2B5EF4-FFF2-40B4-BE49-F238E27FC236}">
                <a16:creationId xmlns:a16="http://schemas.microsoft.com/office/drawing/2014/main" id="{EC54D8FB-78E0-492D-858B-BC4772DCAC23}"/>
              </a:ext>
            </a:extLst>
          </p:cNvPr>
          <p:cNvSpPr>
            <a:spLocks noGrp="1"/>
          </p:cNvSpPr>
          <p:nvPr/>
        </p:nvSpPr>
        <p:spPr>
          <a:xfrm>
            <a:off x="1276350" y="2962275"/>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Specify interfaces and deployment</a:t>
            </a:r>
          </a:p>
        </p:txBody>
      </p:sp>
      <p:pic>
        <p:nvPicPr>
          <p:cNvPr id="18" name="Picture 17">
            <a:extLst>
              <a:ext uri="{FF2B5EF4-FFF2-40B4-BE49-F238E27FC236}">
                <a16:creationId xmlns:a16="http://schemas.microsoft.com/office/drawing/2014/main" id="{38873B34-8B7C-4511-8814-A4E4A280AF01}"/>
              </a:ext>
            </a:extLst>
          </p:cNvPr>
          <p:cNvPicPr>
            <a:picLocks noChangeAspect="1"/>
          </p:cNvPicPr>
          <p:nvPr/>
        </p:nvPicPr>
        <p:blipFill>
          <a:blip r:embed="rId5"/>
          <a:stretch/>
        </p:blipFill>
        <p:spPr>
          <a:xfrm>
            <a:off x="638175" y="3543300"/>
            <a:ext cx="400050" cy="400050"/>
          </a:xfrm>
          <a:prstGeom prst="rect">
            <a:avLst/>
          </a:prstGeom>
        </p:spPr>
      </p:pic>
      <p:sp>
        <p:nvSpPr>
          <p:cNvPr id="19" name="action-3">
            <a:extLst>
              <a:ext uri="{FF2B5EF4-FFF2-40B4-BE49-F238E27FC236}">
                <a16:creationId xmlns:a16="http://schemas.microsoft.com/office/drawing/2014/main" id="{103DDB22-42A1-44D9-ADA1-FA42C72AB377}"/>
              </a:ext>
            </a:extLst>
          </p:cNvPr>
          <p:cNvSpPr>
            <a:spLocks noGrp="1"/>
          </p:cNvSpPr>
          <p:nvPr/>
        </p:nvSpPr>
        <p:spPr>
          <a:xfrm>
            <a:off x="1276350" y="3581400"/>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Describe failure handling</a:t>
            </a:r>
          </a:p>
        </p:txBody>
      </p:sp>
    </p:spTree>
    <p:extLst>
      <p:ext uri="{BB962C8B-B14F-4D97-AF65-F5344CB8AC3E}">
        <p14:creationId xmlns:p14="http://schemas.microsoft.com/office/powerpoint/2010/main" val="6249857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3" name="section-label">
            <a:extLst>
              <a:ext uri="{FF2B5EF4-FFF2-40B4-BE49-F238E27FC236}">
                <a16:creationId xmlns:a16="http://schemas.microsoft.com/office/drawing/2014/main" id="{73047A67-5F0E-4DE0-96C1-93930861F908}"/>
              </a:ext>
            </a:extLst>
          </p:cNvPr>
          <p:cNvSpPr>
            <a:spLocks noGrp="1"/>
          </p:cNvSpPr>
          <p:nvPr/>
        </p:nvSpPr>
        <p:spPr>
          <a:xfrm>
            <a:off x="609600" y="285750"/>
            <a:ext cx="10668000" cy="285750"/>
          </a:xfrm>
          <a:prstGeom prst="rect">
            <a:avLst/>
          </a:prstGeom>
          <a:noFill/>
          <a:ln w="0">
            <a:noFill/>
          </a:ln>
        </p:spPr>
        <p:txBody>
          <a:bodyPr lIns="0" tIns="0" rIns="0" bIns="0">
            <a:noAutofit/>
          </a:bodyPr>
          <a:lstStyle>
            <a:defPPr algn="l">
              <a:defRPr sz="1200" b="1">
                <a:solidFill>
                  <a:srgbClr val="087E83"/>
                </a:solidFill>
                <a:latin typeface="Helvetica Neue"/>
                <a:ea typeface="Helvetica Neue"/>
                <a:cs typeface="Helvetica Neue"/>
              </a:defRPr>
            </a:defPPr>
          </a:lstStyle>
          <a:p>
            <a:pPr algn="l">
              <a:buNone/>
              <a:defRPr sz="1200" b="1">
                <a:solidFill>
                  <a:srgbClr val="087E83"/>
                </a:solidFill>
                <a:latin typeface="Helvetica Neue"/>
                <a:ea typeface="Helvetica Neue"/>
                <a:cs typeface="Helvetica Neue"/>
              </a:defRPr>
            </a:pPr>
            <a:r>
              <a:rPr sz="1200" b="1">
                <a:solidFill>
                  <a:srgbClr val="087E83"/>
                </a:solidFill>
                <a:latin typeface="Helvetica Neue"/>
                <a:ea typeface="Helvetica Neue"/>
                <a:cs typeface="Helvetica Neue"/>
              </a:rPr>
              <a:t>APPENDIX: SESSION 2: INTEGRATED SOLUTION</a:t>
            </a:r>
          </a:p>
        </p:txBody>
      </p:sp>
      <p:sp>
        <p:nvSpPr>
          <p:cNvPr id="2" name="slide-title">
            <a:extLst>
              <a:ext uri="{FF2B5EF4-FFF2-40B4-BE49-F238E27FC236}">
                <a16:creationId xmlns:a16="http://schemas.microsoft.com/office/drawing/2014/main" id="{6EAD5082-DBE2-4EEB-B332-F2632D883DF1}"/>
              </a:ext>
            </a:extLst>
          </p:cNvPr>
          <p:cNvSpPr>
            <a:spLocks noGrp="1"/>
          </p:cNvSpPr>
          <p:nvPr/>
        </p:nvSpPr>
        <p:spPr>
          <a:xfrm>
            <a:off x="609600" y="781050"/>
            <a:ext cx="10858500" cy="857250"/>
          </a:xfrm>
          <a:prstGeom prst="rect">
            <a:avLst/>
          </a:prstGeom>
          <a:noFill/>
          <a:ln w="0">
            <a:noFill/>
          </a:ln>
        </p:spPr>
        <p:txBody>
          <a:bodyPr lIns="0" tIns="0" rIns="0" bIns="0">
            <a:noAutofit/>
          </a:bodyPr>
          <a:lstStyle>
            <a:defPPr algn="l">
              <a:defRPr sz="3450" b="1">
                <a:solidFill>
                  <a:srgbClr val="102B46"/>
                </a:solidFill>
                <a:latin typeface="Helvetica Neue"/>
                <a:ea typeface="Helvetica Neue"/>
                <a:cs typeface="Helvetica Neue"/>
              </a:defRPr>
            </a:defPPr>
          </a:lstStyle>
          <a:p>
            <a:pPr algn="l">
              <a:buNone/>
              <a:defRPr sz="3450" b="1">
                <a:solidFill>
                  <a:srgbClr val="102B46"/>
                </a:solidFill>
                <a:latin typeface="Helvetica Neue"/>
                <a:ea typeface="Helvetica Neue"/>
                <a:cs typeface="Helvetica Neue"/>
              </a:defRPr>
            </a:pPr>
            <a:r>
              <a:rPr sz="3450" b="1">
                <a:solidFill>
                  <a:srgbClr val="102B46"/>
                </a:solidFill>
                <a:latin typeface="Helvetica Neue"/>
                <a:ea typeface="Helvetica Neue"/>
                <a:cs typeface="Helvetica Neue"/>
              </a:rPr>
              <a:t>Regulatory requirements and IP positioning</a:t>
            </a:r>
          </a:p>
        </p:txBody>
      </p:sp>
      <p:sp>
        <p:nvSpPr>
          <p:cNvPr id="3" name="subtitle">
            <a:extLst>
              <a:ext uri="{FF2B5EF4-FFF2-40B4-BE49-F238E27FC236}">
                <a16:creationId xmlns:a16="http://schemas.microsoft.com/office/drawing/2014/main" id="{031CEC24-9442-4355-99F2-EBD3525D22D6}"/>
              </a:ext>
            </a:extLst>
          </p:cNvPr>
          <p:cNvSpPr>
            <a:spLocks noGrp="1"/>
          </p:cNvSpPr>
          <p:nvPr/>
        </p:nvSpPr>
        <p:spPr>
          <a:xfrm>
            <a:off x="609600" y="1524000"/>
            <a:ext cx="10858500" cy="428625"/>
          </a:xfrm>
          <a:prstGeom prst="rect">
            <a:avLst/>
          </a:prstGeom>
          <a:noFill/>
          <a:ln w="0">
            <a:noFill/>
          </a:ln>
        </p:spPr>
        <p:txBody>
          <a:bodyPr lIns="0" tIns="0" rIns="0" bIns="0">
            <a:noAutofit/>
          </a:bodyPr>
          <a:lstStyle>
            <a:defPPr algn="l">
              <a:defRPr sz="1800" b="0">
                <a:solidFill>
                  <a:srgbClr val="607482"/>
                </a:solidFill>
                <a:latin typeface="Helvetica Neue"/>
                <a:ea typeface="Helvetica Neue"/>
                <a:cs typeface="Helvetica Neue"/>
              </a:defRPr>
            </a:defPPr>
          </a:lstStyle>
          <a:p>
            <a:pPr algn="l">
              <a:buNone/>
              <a:defRPr sz="1800" b="0">
                <a:solidFill>
                  <a:srgbClr val="607482"/>
                </a:solidFill>
                <a:latin typeface="Helvetica Neue"/>
                <a:ea typeface="Helvetica Neue"/>
                <a:cs typeface="Helvetica Neue"/>
              </a:defRPr>
            </a:pPr>
            <a:r>
              <a:rPr sz="1800" b="0">
                <a:solidFill>
                  <a:srgbClr val="607482"/>
                </a:solidFill>
                <a:latin typeface="Helvetica Neue"/>
                <a:ea typeface="Helvetica Neue"/>
                <a:cs typeface="Helvetica Neue"/>
              </a:rPr>
              <a:t>Step 2C. Knowledge Agent + Regulation Library + patent findings</a:t>
            </a:r>
          </a:p>
        </p:txBody>
      </p:sp>
      <p:sp>
        <p:nvSpPr>
          <p:cNvPr id="4" name="page-number">
            <a:extLst>
              <a:ext uri="{FF2B5EF4-FFF2-40B4-BE49-F238E27FC236}">
                <a16:creationId xmlns:a16="http://schemas.microsoft.com/office/drawing/2014/main" id="{8D410567-C221-4CA3-ABAA-B7DB2A00E380}"/>
              </a:ext>
            </a:extLst>
          </p:cNvPr>
          <p:cNvSpPr>
            <a:spLocks noGrp="1"/>
          </p:cNvSpPr>
          <p:nvPr/>
        </p:nvSpPr>
        <p:spPr>
          <a:xfrm>
            <a:off x="10953750" y="6438900"/>
            <a:ext cx="666750" cy="228600"/>
          </a:xfrm>
          <a:prstGeom prst="rect">
            <a:avLst/>
          </a:prstGeom>
          <a:noFill/>
          <a:ln w="0">
            <a:noFill/>
          </a:ln>
        </p:spPr>
        <p:txBody>
          <a:bodyPr lIns="0" tIns="0" rIns="0" bIns="0">
            <a:noAutofit/>
          </a:bodyPr>
          <a:lstStyle>
            <a:defPPr algn="r">
              <a:defRPr sz="1125" b="0">
                <a:solidFill>
                  <a:srgbClr val="607482"/>
                </a:solidFill>
                <a:latin typeface="Helvetica Neue"/>
                <a:ea typeface="Helvetica Neue"/>
                <a:cs typeface="Helvetica Neue"/>
              </a:defRPr>
            </a:defPPr>
          </a:lstStyle>
          <a:p>
            <a:pPr algn="r">
              <a:buNone/>
              <a:defRPr sz="1125" b="0">
                <a:solidFill>
                  <a:srgbClr val="607482"/>
                </a:solidFill>
                <a:latin typeface="Helvetica Neue"/>
                <a:ea typeface="Helvetica Neue"/>
                <a:cs typeface="Helvetica Neue"/>
              </a:defRPr>
            </a:pPr>
            <a:r>
              <a:rPr sz="1125" b="0">
                <a:solidFill>
                  <a:srgbClr val="607482"/>
                </a:solidFill>
                <a:latin typeface="Helvetica Neue"/>
                <a:ea typeface="Helvetica Neue"/>
                <a:cs typeface="Helvetica Neue"/>
              </a:rPr>
              <a:t>A9</a:t>
            </a:r>
          </a:p>
        </p:txBody>
      </p:sp>
      <p:sp>
        <p:nvSpPr>
          <p:cNvPr id="5" name="action-list">
            <a:extLst>
              <a:ext uri="{FF2B5EF4-FFF2-40B4-BE49-F238E27FC236}">
                <a16:creationId xmlns:a16="http://schemas.microsoft.com/office/drawing/2014/main" id="{0A1B823B-3CCA-4AA8-8219-0D06B1B6A61B}"/>
              </a:ext>
            </a:extLst>
          </p:cNvPr>
          <p:cNvSpPr>
            <a:spLocks noGrp="1"/>
          </p:cNvSpPr>
          <p:nvPr/>
        </p:nvSpPr>
        <p:spPr>
          <a:xfrm>
            <a:off x="609600" y="2333625"/>
            <a:ext cx="7048500" cy="2047875"/>
          </a:xfrm>
          <a:prstGeom prst="rect">
            <a:avLst/>
          </a:prstGeom>
          <a:noFill/>
          <a:ln w="0">
            <a:noFill/>
          </a:ln>
        </p:spPr>
        <p:txBody>
          <a:bodyPr lIns="0" tIns="0" rIns="0" bIns="0">
            <a:noAutofit/>
          </a:bodyPr>
          <a:lstStyle>
            <a:defPPr algn="l">
              <a:defRPr sz="2100" b="0">
                <a:solidFill>
                  <a:srgbClr val="233A4B"/>
                </a:solidFill>
                <a:latin typeface="Helvetica Neue"/>
                <a:ea typeface="Helvetica Neue"/>
                <a:cs typeface="Helvetica Neue"/>
              </a:defRPr>
            </a:defPPr>
          </a:lstStyle>
          <a:p>
            <a:pPr marL="228600" indent="-114300" algn="l">
              <a:spcAft>
                <a:spcPts val="1800"/>
              </a:spcAft>
              <a:buChar char="•"/>
              <a:defRPr sz="2100" b="0">
                <a:solidFill>
                  <a:srgbClr val="233A4B"/>
                </a:solidFill>
                <a:latin typeface="Helvetica Neue"/>
                <a:ea typeface="Helvetica Neue"/>
                <a:cs typeface="Helvetica Neue"/>
              </a:defRPr>
            </a:pPr>
            <a:endParaRPr/>
          </a:p>
        </p:txBody>
      </p:sp>
      <p:sp>
        <p:nvSpPr>
          <p:cNvPr id="6" name="step-output">
            <a:extLst>
              <a:ext uri="{FF2B5EF4-FFF2-40B4-BE49-F238E27FC236}">
                <a16:creationId xmlns:a16="http://schemas.microsoft.com/office/drawing/2014/main" id="{9BBF5466-4DDC-493B-AB6B-429B99C2925D}"/>
              </a:ext>
            </a:extLst>
          </p:cNvPr>
          <p:cNvSpPr>
            <a:spLocks noGrp="1"/>
          </p:cNvSpPr>
          <p:nvPr/>
        </p:nvSpPr>
        <p:spPr>
          <a:xfrm>
            <a:off x="8248650" y="2238375"/>
            <a:ext cx="3333750" cy="2000250"/>
          </a:xfrm>
          <a:prstGeom prst="rect">
            <a:avLst/>
          </a:prstGeom>
          <a:solidFill>
            <a:srgbClr val="F3F7FA"/>
          </a:solidFill>
          <a:ln w="9525">
            <a:solidFill>
              <a:srgbClr val="087E83"/>
            </a:solidFill>
            <a:prstDash val="solid"/>
          </a:ln>
        </p:spPr>
      </p:sp>
      <p:sp>
        <p:nvSpPr>
          <p:cNvPr id="7" name="output-label">
            <a:extLst>
              <a:ext uri="{FF2B5EF4-FFF2-40B4-BE49-F238E27FC236}">
                <a16:creationId xmlns:a16="http://schemas.microsoft.com/office/drawing/2014/main" id="{FF8900B0-EF4A-4A41-92FC-4FDAF8B3564F}"/>
              </a:ext>
            </a:extLst>
          </p:cNvPr>
          <p:cNvSpPr>
            <a:spLocks noGrp="1"/>
          </p:cNvSpPr>
          <p:nvPr/>
        </p:nvSpPr>
        <p:spPr>
          <a:xfrm>
            <a:off x="8477250" y="2438400"/>
            <a:ext cx="2857500" cy="285750"/>
          </a:xfrm>
          <a:prstGeom prst="rect">
            <a:avLst/>
          </a:prstGeom>
          <a:noFill/>
          <a:ln w="0">
            <a:noFill/>
          </a:ln>
        </p:spPr>
        <p:txBody>
          <a:bodyPr lIns="0" tIns="0" rIns="0" bIns="0">
            <a:noAutofit/>
          </a:bodyPr>
          <a:lstStyle>
            <a:defPPr algn="l">
              <a:defRPr sz="1275" b="1">
                <a:solidFill>
                  <a:srgbClr val="087E83"/>
                </a:solidFill>
                <a:latin typeface="Helvetica Neue"/>
                <a:ea typeface="Helvetica Neue"/>
                <a:cs typeface="Helvetica Neue"/>
              </a:defRPr>
            </a:defPPr>
          </a:lstStyle>
          <a:p>
            <a:pPr algn="l">
              <a:buNone/>
              <a:defRPr sz="1275" b="1">
                <a:solidFill>
                  <a:srgbClr val="087E83"/>
                </a:solidFill>
                <a:latin typeface="Helvetica Neue"/>
                <a:ea typeface="Helvetica Neue"/>
                <a:cs typeface="Helvetica Neue"/>
              </a:defRPr>
            </a:pPr>
            <a:r>
              <a:rPr sz="1275" b="1">
                <a:solidFill>
                  <a:srgbClr val="087E83"/>
                </a:solidFill>
                <a:latin typeface="Helvetica Neue"/>
                <a:ea typeface="Helvetica Neue"/>
                <a:cs typeface="Helvetica Neue"/>
              </a:rPr>
              <a:t>OUTPUT</a:t>
            </a:r>
          </a:p>
        </p:txBody>
      </p:sp>
      <p:sp>
        <p:nvSpPr>
          <p:cNvPr id="8" name="output-description">
            <a:extLst>
              <a:ext uri="{FF2B5EF4-FFF2-40B4-BE49-F238E27FC236}">
                <a16:creationId xmlns:a16="http://schemas.microsoft.com/office/drawing/2014/main" id="{9B21D768-B590-4BAF-AADA-92A6272D03F5}"/>
              </a:ext>
            </a:extLst>
          </p:cNvPr>
          <p:cNvSpPr>
            <a:spLocks noGrp="1"/>
          </p:cNvSpPr>
          <p:nvPr/>
        </p:nvSpPr>
        <p:spPr>
          <a:xfrm>
            <a:off x="8477250" y="2876550"/>
            <a:ext cx="2857500" cy="1219200"/>
          </a:xfrm>
          <a:prstGeom prst="rect">
            <a:avLst/>
          </a:prstGeom>
          <a:noFill/>
          <a:ln w="0">
            <a:noFill/>
          </a:ln>
        </p:spPr>
        <p:txBody>
          <a:bodyPr lIns="0" tIns="0" rIns="0" bIns="0">
            <a:noAutofit/>
          </a:bodyPr>
          <a:lstStyle>
            <a:defPPr algn="l">
              <a:defRPr sz="2100" b="1">
                <a:solidFill>
                  <a:srgbClr val="102B46"/>
                </a:solidFill>
                <a:latin typeface="Helvetica Neue"/>
                <a:ea typeface="Helvetica Neue"/>
                <a:cs typeface="Helvetica Neue"/>
              </a:defRPr>
            </a:defPPr>
          </a:lstStyle>
          <a:p>
            <a:pPr algn="l">
              <a:buNone/>
              <a:defRPr sz="2100" b="1">
                <a:solidFill>
                  <a:srgbClr val="102B46"/>
                </a:solidFill>
                <a:latin typeface="Helvetica Neue"/>
                <a:ea typeface="Helvetica Neue"/>
                <a:cs typeface="Helvetica Neue"/>
              </a:defRPr>
            </a:pPr>
            <a:r>
              <a:rPr sz="2100" b="1">
                <a:solidFill>
                  <a:srgbClr val="102B46"/>
                </a:solidFill>
                <a:latin typeface="Helvetica Neue"/>
                <a:ea typeface="Helvetica Neue"/>
                <a:cs typeface="Helvetica Neue"/>
              </a:rPr>
              <a:t>Requirements map</a:t>
            </a:r>
          </a:p>
          <a:p>
            <a:pPr algn="l">
              <a:buNone/>
              <a:defRPr sz="2100" b="1">
                <a:solidFill>
                  <a:srgbClr val="102B46"/>
                </a:solidFill>
                <a:latin typeface="Helvetica Neue"/>
                <a:ea typeface="Helvetica Neue"/>
                <a:cs typeface="Helvetica Neue"/>
              </a:defRPr>
            </a:pPr>
            <a:r>
              <a:rPr sz="2100" b="1">
                <a:solidFill>
                  <a:srgbClr val="102B46"/>
                </a:solidFill>
                <a:latin typeface="Helvetica Neue"/>
                <a:ea typeface="Helvetica Neue"/>
                <a:cs typeface="Helvetica Neue"/>
              </a:rPr>
              <a:t>IP positioning</a:t>
            </a:r>
          </a:p>
        </p:txBody>
      </p:sp>
      <p:sp>
        <p:nvSpPr>
          <p:cNvPr id="9" name="prompt-reference">
            <a:extLst>
              <a:ext uri="{FF2B5EF4-FFF2-40B4-BE49-F238E27FC236}">
                <a16:creationId xmlns:a16="http://schemas.microsoft.com/office/drawing/2014/main" id="{3CC1869D-0E6A-4745-89BF-A864F30B3195}"/>
              </a:ext>
            </a:extLst>
          </p:cNvPr>
          <p:cNvSpPr>
            <a:spLocks noGrp="1"/>
          </p:cNvSpPr>
          <p:nvPr/>
        </p:nvSpPr>
        <p:spPr>
          <a:xfrm>
            <a:off x="609600" y="4524375"/>
            <a:ext cx="10972800" cy="1381125"/>
          </a:xfrm>
          <a:prstGeom prst="rect">
            <a:avLst/>
          </a:prstGeom>
          <a:solidFill>
            <a:srgbClr val="F6F0FA"/>
          </a:solidFill>
          <a:ln w="0">
            <a:solidFill>
              <a:srgbClr val="F6F0FA"/>
            </a:solidFill>
          </a:ln>
        </p:spPr>
      </p:sp>
      <p:sp>
        <p:nvSpPr>
          <p:cNvPr id="10" name="prompt-label">
            <a:extLst>
              <a:ext uri="{FF2B5EF4-FFF2-40B4-BE49-F238E27FC236}">
                <a16:creationId xmlns:a16="http://schemas.microsoft.com/office/drawing/2014/main" id="{47C8A203-44F2-4881-96E8-71A6D1502795}"/>
              </a:ext>
            </a:extLst>
          </p:cNvPr>
          <p:cNvSpPr>
            <a:spLocks noGrp="1"/>
          </p:cNvSpPr>
          <p:nvPr/>
        </p:nvSpPr>
        <p:spPr>
          <a:xfrm>
            <a:off x="800100" y="4686300"/>
            <a:ext cx="10525125" cy="228600"/>
          </a:xfrm>
          <a:prstGeom prst="rect">
            <a:avLst/>
          </a:prstGeom>
          <a:noFill/>
          <a:ln w="0">
            <a:noFill/>
          </a:ln>
        </p:spPr>
        <p:txBody>
          <a:bodyPr lIns="0" tIns="0" rIns="0" bIns="0">
            <a:noAutofit/>
          </a:bodyPr>
          <a:lstStyle>
            <a:defPPr algn="l">
              <a:defRPr sz="1200" b="1">
                <a:solidFill>
                  <a:srgbClr val="6C2B91"/>
                </a:solidFill>
                <a:latin typeface="Helvetica Neue"/>
                <a:ea typeface="Helvetica Neue"/>
                <a:cs typeface="Helvetica Neue"/>
              </a:defRPr>
            </a:defPPr>
          </a:lstStyle>
          <a:p>
            <a:pPr algn="l">
              <a:buNone/>
              <a:defRPr sz="1200" b="1">
                <a:solidFill>
                  <a:srgbClr val="6C2B91"/>
                </a:solidFill>
                <a:latin typeface="Helvetica Neue"/>
                <a:ea typeface="Helvetica Neue"/>
                <a:cs typeface="Helvetica Neue"/>
              </a:defRPr>
            </a:pPr>
            <a:r>
              <a:rPr sz="1200" b="1">
                <a:solidFill>
                  <a:srgbClr val="6C2B91"/>
                </a:solidFill>
                <a:latin typeface="Helvetica Neue"/>
                <a:ea typeface="Helvetica Neue"/>
                <a:cs typeface="Helvetica Neue"/>
              </a:rPr>
              <a:t>EXAMPLE PROMPT</a:t>
            </a:r>
          </a:p>
        </p:txBody>
      </p:sp>
      <p:sp>
        <p:nvSpPr>
          <p:cNvPr id="11" name="prompt-content">
            <a:extLst>
              <a:ext uri="{FF2B5EF4-FFF2-40B4-BE49-F238E27FC236}">
                <a16:creationId xmlns:a16="http://schemas.microsoft.com/office/drawing/2014/main" id="{D47BBDA7-9C1B-4CA8-B456-C4CCC913B69B}"/>
              </a:ext>
            </a:extLst>
          </p:cNvPr>
          <p:cNvSpPr>
            <a:spLocks noGrp="1"/>
          </p:cNvSpPr>
          <p:nvPr/>
        </p:nvSpPr>
        <p:spPr>
          <a:xfrm>
            <a:off x="800100" y="5019675"/>
            <a:ext cx="10525125" cy="819150"/>
          </a:xfrm>
          <a:prstGeom prst="rect">
            <a:avLst/>
          </a:prstGeom>
          <a:noFill/>
          <a:ln w="0">
            <a:noFill/>
          </a:ln>
        </p:spPr>
        <p:txBody>
          <a:bodyPr lIns="0" tIns="0" rIns="0" bIns="0">
            <a:noAutofit/>
          </a:bodyPr>
          <a:lstStyle>
            <a:defPPr algn="l">
              <a:defRPr sz="1875" b="0">
                <a:solidFill>
                  <a:srgbClr val="6C2B91"/>
                </a:solidFill>
                <a:latin typeface="Helvetica Neue"/>
                <a:ea typeface="Helvetica Neue"/>
                <a:cs typeface="Helvetica Neue"/>
              </a:defRPr>
            </a:defPPr>
          </a:lstStyle>
          <a:p>
            <a:pPr algn="l">
              <a:buNone/>
              <a:defRPr sz="1875" b="0">
                <a:solidFill>
                  <a:srgbClr val="6C2B91"/>
                </a:solidFill>
                <a:latin typeface="Helvetica Neue"/>
                <a:ea typeface="Helvetica Neue"/>
                <a:cs typeface="Helvetica Neue"/>
              </a:defRPr>
            </a:pPr>
            <a:r>
              <a:rPr sz="1875" b="0">
                <a:solidFill>
                  <a:srgbClr val="6C2B91"/>
                </a:solidFill>
                <a:latin typeface="Helvetica Neue"/>
                <a:ea typeface="Helvetica Neue"/>
                <a:cs typeface="Helvetica Neue"/>
              </a:rPr>
              <a:t>"Map relevant requirements to [activity/location]. Compare patents and identify design implications."</a:t>
            </a:r>
          </a:p>
        </p:txBody>
      </p:sp>
      <p:sp>
        <p:nvSpPr>
          <p:cNvPr id="12" name="discussion-cue">
            <a:extLst>
              <a:ext uri="{FF2B5EF4-FFF2-40B4-BE49-F238E27FC236}">
                <a16:creationId xmlns:a16="http://schemas.microsoft.com/office/drawing/2014/main" id="{B0E89D9A-4922-48F2-B709-833782A7DEDC}"/>
              </a:ext>
            </a:extLst>
          </p:cNvPr>
          <p:cNvSpPr>
            <a:spLocks noGrp="1"/>
          </p:cNvSpPr>
          <p:nvPr/>
        </p:nvSpPr>
        <p:spPr>
          <a:xfrm>
            <a:off x="609600" y="6067425"/>
            <a:ext cx="10668000" cy="266700"/>
          </a:xfrm>
          <a:prstGeom prst="rect">
            <a:avLst/>
          </a:prstGeom>
          <a:noFill/>
          <a:ln w="0">
            <a:noFill/>
          </a:ln>
        </p:spPr>
        <p:txBody>
          <a:bodyPr lIns="0" tIns="0" rIns="0" bIns="0">
            <a:noAutofit/>
          </a:bodyPr>
          <a:lstStyle>
            <a:defPPr algn="l">
              <a:defRPr sz="1500" b="0">
                <a:solidFill>
                  <a:srgbClr val="607482"/>
                </a:solidFill>
                <a:latin typeface="Helvetica Neue"/>
                <a:ea typeface="Helvetica Neue"/>
                <a:cs typeface="Helvetica Neue"/>
              </a:defRPr>
            </a:defPPr>
          </a:lstStyle>
          <a:p>
            <a:pPr algn="l">
              <a:buNone/>
              <a:defRPr sz="1500" b="0">
                <a:solidFill>
                  <a:srgbClr val="607482"/>
                </a:solidFill>
                <a:latin typeface="Helvetica Neue"/>
                <a:ea typeface="Helvetica Neue"/>
                <a:cs typeface="Helvetica Neue"/>
              </a:defRPr>
            </a:pPr>
            <a:endParaRPr/>
          </a:p>
        </p:txBody>
      </p:sp>
      <p:pic>
        <p:nvPicPr>
          <p:cNvPr id="14" name="Picture 13">
            <a:extLst>
              <a:ext uri="{FF2B5EF4-FFF2-40B4-BE49-F238E27FC236}">
                <a16:creationId xmlns:a16="http://schemas.microsoft.com/office/drawing/2014/main" id="{6DC4799C-B73B-405F-9813-E7FC22A6ED71}"/>
              </a:ext>
            </a:extLst>
          </p:cNvPr>
          <p:cNvPicPr>
            <a:picLocks noChangeAspect="1"/>
          </p:cNvPicPr>
          <p:nvPr/>
        </p:nvPicPr>
        <p:blipFill>
          <a:blip r:embed="rId3"/>
          <a:stretch/>
        </p:blipFill>
        <p:spPr>
          <a:xfrm>
            <a:off x="638175" y="2305050"/>
            <a:ext cx="400050" cy="400050"/>
          </a:xfrm>
          <a:prstGeom prst="rect">
            <a:avLst/>
          </a:prstGeom>
        </p:spPr>
      </p:pic>
      <p:sp>
        <p:nvSpPr>
          <p:cNvPr id="15" name="action-1">
            <a:extLst>
              <a:ext uri="{FF2B5EF4-FFF2-40B4-BE49-F238E27FC236}">
                <a16:creationId xmlns:a16="http://schemas.microsoft.com/office/drawing/2014/main" id="{E4F15813-9195-45A7-88D8-2EB2DCAFBE56}"/>
              </a:ext>
            </a:extLst>
          </p:cNvPr>
          <p:cNvSpPr>
            <a:spLocks noGrp="1"/>
          </p:cNvSpPr>
          <p:nvPr/>
        </p:nvSpPr>
        <p:spPr>
          <a:xfrm>
            <a:off x="1276350" y="2343150"/>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Identify relevant requirements</a:t>
            </a:r>
          </a:p>
        </p:txBody>
      </p:sp>
      <p:pic>
        <p:nvPicPr>
          <p:cNvPr id="16" name="Picture 15">
            <a:extLst>
              <a:ext uri="{FF2B5EF4-FFF2-40B4-BE49-F238E27FC236}">
                <a16:creationId xmlns:a16="http://schemas.microsoft.com/office/drawing/2014/main" id="{73AC3AAA-0223-4FDD-9E44-56793D50B3AA}"/>
              </a:ext>
            </a:extLst>
          </p:cNvPr>
          <p:cNvPicPr>
            <a:picLocks noChangeAspect="1"/>
          </p:cNvPicPr>
          <p:nvPr/>
        </p:nvPicPr>
        <p:blipFill>
          <a:blip r:embed="rId4"/>
          <a:stretch/>
        </p:blipFill>
        <p:spPr>
          <a:xfrm>
            <a:off x="638175" y="2924175"/>
            <a:ext cx="400050" cy="400050"/>
          </a:xfrm>
          <a:prstGeom prst="rect">
            <a:avLst/>
          </a:prstGeom>
        </p:spPr>
      </p:pic>
      <p:sp>
        <p:nvSpPr>
          <p:cNvPr id="17" name="action-2">
            <a:extLst>
              <a:ext uri="{FF2B5EF4-FFF2-40B4-BE49-F238E27FC236}">
                <a16:creationId xmlns:a16="http://schemas.microsoft.com/office/drawing/2014/main" id="{8B5B7A16-E428-4990-AA72-CE6B0D77AE10}"/>
              </a:ext>
            </a:extLst>
          </p:cNvPr>
          <p:cNvSpPr>
            <a:spLocks noGrp="1"/>
          </p:cNvSpPr>
          <p:nvPr/>
        </p:nvSpPr>
        <p:spPr>
          <a:xfrm>
            <a:off x="1276350" y="2962275"/>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Map requirements to design choices</a:t>
            </a:r>
          </a:p>
        </p:txBody>
      </p:sp>
      <p:pic>
        <p:nvPicPr>
          <p:cNvPr id="18" name="Picture 17">
            <a:extLst>
              <a:ext uri="{FF2B5EF4-FFF2-40B4-BE49-F238E27FC236}">
                <a16:creationId xmlns:a16="http://schemas.microsoft.com/office/drawing/2014/main" id="{A7C16309-FA86-4798-B00A-76F3276B0ABA}"/>
              </a:ext>
            </a:extLst>
          </p:cNvPr>
          <p:cNvPicPr>
            <a:picLocks noChangeAspect="1"/>
          </p:cNvPicPr>
          <p:nvPr/>
        </p:nvPicPr>
        <p:blipFill>
          <a:blip r:embed="rId5"/>
          <a:stretch/>
        </p:blipFill>
        <p:spPr>
          <a:xfrm>
            <a:off x="638175" y="3543300"/>
            <a:ext cx="400050" cy="400050"/>
          </a:xfrm>
          <a:prstGeom prst="rect">
            <a:avLst/>
          </a:prstGeom>
        </p:spPr>
      </p:pic>
      <p:sp>
        <p:nvSpPr>
          <p:cNvPr id="19" name="action-3">
            <a:extLst>
              <a:ext uri="{FF2B5EF4-FFF2-40B4-BE49-F238E27FC236}">
                <a16:creationId xmlns:a16="http://schemas.microsoft.com/office/drawing/2014/main" id="{04FBF966-5701-4602-9430-158CA45A7EB2}"/>
              </a:ext>
            </a:extLst>
          </p:cNvPr>
          <p:cNvSpPr>
            <a:spLocks noGrp="1"/>
          </p:cNvSpPr>
          <p:nvPr/>
        </p:nvSpPr>
        <p:spPr>
          <a:xfrm>
            <a:off x="1276350" y="3581400"/>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Compare relevant patents</a:t>
            </a:r>
          </a:p>
        </p:txBody>
      </p:sp>
    </p:spTree>
    <p:extLst>
      <p:ext uri="{BB962C8B-B14F-4D97-AF65-F5344CB8AC3E}">
        <p14:creationId xmlns:p14="http://schemas.microsoft.com/office/powerpoint/2010/main" val="10673615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3" name="section-label">
            <a:extLst>
              <a:ext uri="{FF2B5EF4-FFF2-40B4-BE49-F238E27FC236}">
                <a16:creationId xmlns:a16="http://schemas.microsoft.com/office/drawing/2014/main" id="{123F2813-37D7-4EF4-B9AE-12F3CEDDBF0F}"/>
              </a:ext>
            </a:extLst>
          </p:cNvPr>
          <p:cNvSpPr>
            <a:spLocks noGrp="1"/>
          </p:cNvSpPr>
          <p:nvPr/>
        </p:nvSpPr>
        <p:spPr>
          <a:xfrm>
            <a:off x="609600" y="285750"/>
            <a:ext cx="10668000" cy="285750"/>
          </a:xfrm>
          <a:prstGeom prst="rect">
            <a:avLst/>
          </a:prstGeom>
          <a:noFill/>
          <a:ln w="0">
            <a:noFill/>
          </a:ln>
        </p:spPr>
        <p:txBody>
          <a:bodyPr lIns="0" tIns="0" rIns="0" bIns="0">
            <a:noAutofit/>
          </a:bodyPr>
          <a:lstStyle>
            <a:defPPr algn="l">
              <a:defRPr sz="1200" b="1">
                <a:solidFill>
                  <a:srgbClr val="087E83"/>
                </a:solidFill>
                <a:latin typeface="Helvetica Neue"/>
                <a:ea typeface="Helvetica Neue"/>
                <a:cs typeface="Helvetica Neue"/>
              </a:defRPr>
            </a:defPPr>
          </a:lstStyle>
          <a:p>
            <a:pPr algn="l">
              <a:buNone/>
              <a:defRPr sz="1200" b="1">
                <a:solidFill>
                  <a:srgbClr val="087E83"/>
                </a:solidFill>
                <a:latin typeface="Helvetica Neue"/>
                <a:ea typeface="Helvetica Neue"/>
                <a:cs typeface="Helvetica Neue"/>
              </a:defRPr>
            </a:pPr>
            <a:r>
              <a:rPr sz="1200" b="1">
                <a:solidFill>
                  <a:srgbClr val="087E83"/>
                </a:solidFill>
                <a:latin typeface="Helvetica Neue"/>
                <a:ea typeface="Helvetica Neue"/>
                <a:cs typeface="Helvetica Neue"/>
              </a:rPr>
              <a:t>APPENDIX: SESSION 2: INTEGRATED SOLUTION</a:t>
            </a:r>
          </a:p>
        </p:txBody>
      </p:sp>
      <p:sp>
        <p:nvSpPr>
          <p:cNvPr id="2" name="slide-title">
            <a:extLst>
              <a:ext uri="{FF2B5EF4-FFF2-40B4-BE49-F238E27FC236}">
                <a16:creationId xmlns:a16="http://schemas.microsoft.com/office/drawing/2014/main" id="{0D6E9FF2-AC93-4751-96E2-0106A0DB51AF}"/>
              </a:ext>
            </a:extLst>
          </p:cNvPr>
          <p:cNvSpPr>
            <a:spLocks noGrp="1"/>
          </p:cNvSpPr>
          <p:nvPr/>
        </p:nvSpPr>
        <p:spPr>
          <a:xfrm>
            <a:off x="609600" y="781050"/>
            <a:ext cx="10858500" cy="857250"/>
          </a:xfrm>
          <a:prstGeom prst="rect">
            <a:avLst/>
          </a:prstGeom>
          <a:noFill/>
          <a:ln w="0">
            <a:noFill/>
          </a:ln>
        </p:spPr>
        <p:txBody>
          <a:bodyPr lIns="0" tIns="0" rIns="0" bIns="0">
            <a:noAutofit/>
          </a:bodyPr>
          <a:lstStyle>
            <a:defPPr algn="l">
              <a:defRPr sz="3450" b="1">
                <a:solidFill>
                  <a:srgbClr val="102B46"/>
                </a:solidFill>
                <a:latin typeface="Helvetica Neue"/>
                <a:ea typeface="Helvetica Neue"/>
                <a:cs typeface="Helvetica Neue"/>
              </a:defRPr>
            </a:defPPr>
          </a:lstStyle>
          <a:p>
            <a:pPr algn="l">
              <a:buNone/>
              <a:defRPr sz="3450" b="1">
                <a:solidFill>
                  <a:srgbClr val="102B46"/>
                </a:solidFill>
                <a:latin typeface="Helvetica Neue"/>
                <a:ea typeface="Helvetica Neue"/>
                <a:cs typeface="Helvetica Neue"/>
              </a:defRPr>
            </a:pPr>
            <a:r>
              <a:rPr sz="3450" b="1">
                <a:solidFill>
                  <a:srgbClr val="102B46"/>
                </a:solidFill>
                <a:latin typeface="Helvetica Neue"/>
                <a:ea typeface="Helvetica Neue"/>
                <a:cs typeface="Helvetica Neue"/>
              </a:rPr>
              <a:t>Business model and feasibility evidence</a:t>
            </a:r>
          </a:p>
        </p:txBody>
      </p:sp>
      <p:sp>
        <p:nvSpPr>
          <p:cNvPr id="3" name="subtitle">
            <a:extLst>
              <a:ext uri="{FF2B5EF4-FFF2-40B4-BE49-F238E27FC236}">
                <a16:creationId xmlns:a16="http://schemas.microsoft.com/office/drawing/2014/main" id="{F650CC32-00AB-4C26-A259-9A2ECC0EBDA6}"/>
              </a:ext>
            </a:extLst>
          </p:cNvPr>
          <p:cNvSpPr>
            <a:spLocks noGrp="1"/>
          </p:cNvSpPr>
          <p:nvPr/>
        </p:nvSpPr>
        <p:spPr>
          <a:xfrm>
            <a:off x="609600" y="1524000"/>
            <a:ext cx="10858500" cy="428625"/>
          </a:xfrm>
          <a:prstGeom prst="rect">
            <a:avLst/>
          </a:prstGeom>
          <a:noFill/>
          <a:ln w="0">
            <a:noFill/>
          </a:ln>
        </p:spPr>
        <p:txBody>
          <a:bodyPr lIns="0" tIns="0" rIns="0" bIns="0">
            <a:noAutofit/>
          </a:bodyPr>
          <a:lstStyle>
            <a:defPPr algn="l">
              <a:defRPr sz="1800" b="0">
                <a:solidFill>
                  <a:srgbClr val="607482"/>
                </a:solidFill>
                <a:latin typeface="Helvetica Neue"/>
                <a:ea typeface="Helvetica Neue"/>
                <a:cs typeface="Helvetica Neue"/>
              </a:defRPr>
            </a:defPPr>
          </a:lstStyle>
          <a:p>
            <a:pPr algn="l">
              <a:buNone/>
              <a:defRPr sz="1800" b="0">
                <a:solidFill>
                  <a:srgbClr val="607482"/>
                </a:solidFill>
                <a:latin typeface="Helvetica Neue"/>
                <a:ea typeface="Helvetica Neue"/>
                <a:cs typeface="Helvetica Neue"/>
              </a:defRPr>
            </a:pPr>
            <a:r>
              <a:rPr sz="1800" b="0">
                <a:solidFill>
                  <a:srgbClr val="607482"/>
                </a:solidFill>
                <a:latin typeface="Helvetica Neue"/>
                <a:ea typeface="Helvetica Neue"/>
                <a:cs typeface="Helvetica Neue"/>
              </a:rPr>
              <a:t>Step 2D. Knowledge Agent + Business and Technology Libraries</a:t>
            </a:r>
          </a:p>
        </p:txBody>
      </p:sp>
      <p:sp>
        <p:nvSpPr>
          <p:cNvPr id="4" name="page-number">
            <a:extLst>
              <a:ext uri="{FF2B5EF4-FFF2-40B4-BE49-F238E27FC236}">
                <a16:creationId xmlns:a16="http://schemas.microsoft.com/office/drawing/2014/main" id="{31E00380-CBDB-41E1-9E2C-884120C1265B}"/>
              </a:ext>
            </a:extLst>
          </p:cNvPr>
          <p:cNvSpPr>
            <a:spLocks noGrp="1"/>
          </p:cNvSpPr>
          <p:nvPr/>
        </p:nvSpPr>
        <p:spPr>
          <a:xfrm>
            <a:off x="10953750" y="6438900"/>
            <a:ext cx="666750" cy="228600"/>
          </a:xfrm>
          <a:prstGeom prst="rect">
            <a:avLst/>
          </a:prstGeom>
          <a:noFill/>
          <a:ln w="0">
            <a:noFill/>
          </a:ln>
        </p:spPr>
        <p:txBody>
          <a:bodyPr lIns="0" tIns="0" rIns="0" bIns="0">
            <a:noAutofit/>
          </a:bodyPr>
          <a:lstStyle>
            <a:defPPr algn="r">
              <a:defRPr sz="1125" b="0">
                <a:solidFill>
                  <a:srgbClr val="607482"/>
                </a:solidFill>
                <a:latin typeface="Helvetica Neue"/>
                <a:ea typeface="Helvetica Neue"/>
                <a:cs typeface="Helvetica Neue"/>
              </a:defRPr>
            </a:defPPr>
          </a:lstStyle>
          <a:p>
            <a:pPr algn="r">
              <a:buNone/>
              <a:defRPr sz="1125" b="0">
                <a:solidFill>
                  <a:srgbClr val="607482"/>
                </a:solidFill>
                <a:latin typeface="Helvetica Neue"/>
                <a:ea typeface="Helvetica Neue"/>
                <a:cs typeface="Helvetica Neue"/>
              </a:defRPr>
            </a:pPr>
            <a:r>
              <a:rPr sz="1125" b="0">
                <a:solidFill>
                  <a:srgbClr val="607482"/>
                </a:solidFill>
                <a:latin typeface="Helvetica Neue"/>
                <a:ea typeface="Helvetica Neue"/>
                <a:cs typeface="Helvetica Neue"/>
              </a:rPr>
              <a:t>A10</a:t>
            </a:r>
          </a:p>
        </p:txBody>
      </p:sp>
      <p:sp>
        <p:nvSpPr>
          <p:cNvPr id="5" name="action-list">
            <a:extLst>
              <a:ext uri="{FF2B5EF4-FFF2-40B4-BE49-F238E27FC236}">
                <a16:creationId xmlns:a16="http://schemas.microsoft.com/office/drawing/2014/main" id="{44BFBF8A-4032-429A-9736-90B131E2BC32}"/>
              </a:ext>
            </a:extLst>
          </p:cNvPr>
          <p:cNvSpPr>
            <a:spLocks noGrp="1"/>
          </p:cNvSpPr>
          <p:nvPr/>
        </p:nvSpPr>
        <p:spPr>
          <a:xfrm>
            <a:off x="609600" y="2333625"/>
            <a:ext cx="7048500" cy="2047875"/>
          </a:xfrm>
          <a:prstGeom prst="rect">
            <a:avLst/>
          </a:prstGeom>
          <a:noFill/>
          <a:ln w="0">
            <a:noFill/>
          </a:ln>
        </p:spPr>
        <p:txBody>
          <a:bodyPr lIns="0" tIns="0" rIns="0" bIns="0">
            <a:noAutofit/>
          </a:bodyPr>
          <a:lstStyle>
            <a:defPPr algn="l">
              <a:defRPr sz="2100" b="0">
                <a:solidFill>
                  <a:srgbClr val="233A4B"/>
                </a:solidFill>
                <a:latin typeface="Helvetica Neue"/>
                <a:ea typeface="Helvetica Neue"/>
                <a:cs typeface="Helvetica Neue"/>
              </a:defRPr>
            </a:defPPr>
          </a:lstStyle>
          <a:p>
            <a:pPr marL="228600" indent="-114300" algn="l">
              <a:spcAft>
                <a:spcPts val="1800"/>
              </a:spcAft>
              <a:buChar char="•"/>
              <a:defRPr sz="2100" b="0">
                <a:solidFill>
                  <a:srgbClr val="233A4B"/>
                </a:solidFill>
                <a:latin typeface="Helvetica Neue"/>
                <a:ea typeface="Helvetica Neue"/>
                <a:cs typeface="Helvetica Neue"/>
              </a:defRPr>
            </a:pPr>
            <a:endParaRPr/>
          </a:p>
        </p:txBody>
      </p:sp>
      <p:sp>
        <p:nvSpPr>
          <p:cNvPr id="6" name="step-output">
            <a:extLst>
              <a:ext uri="{FF2B5EF4-FFF2-40B4-BE49-F238E27FC236}">
                <a16:creationId xmlns:a16="http://schemas.microsoft.com/office/drawing/2014/main" id="{6DA4B4C9-ED44-4FAF-BEEE-9A02A3696FDA}"/>
              </a:ext>
            </a:extLst>
          </p:cNvPr>
          <p:cNvSpPr>
            <a:spLocks noGrp="1"/>
          </p:cNvSpPr>
          <p:nvPr/>
        </p:nvSpPr>
        <p:spPr>
          <a:xfrm>
            <a:off x="8248650" y="2238375"/>
            <a:ext cx="3333750" cy="2000250"/>
          </a:xfrm>
          <a:prstGeom prst="rect">
            <a:avLst/>
          </a:prstGeom>
          <a:solidFill>
            <a:srgbClr val="F3F7FA"/>
          </a:solidFill>
          <a:ln w="9525">
            <a:solidFill>
              <a:srgbClr val="087E83"/>
            </a:solidFill>
            <a:prstDash val="solid"/>
          </a:ln>
        </p:spPr>
      </p:sp>
      <p:sp>
        <p:nvSpPr>
          <p:cNvPr id="7" name="output-label">
            <a:extLst>
              <a:ext uri="{FF2B5EF4-FFF2-40B4-BE49-F238E27FC236}">
                <a16:creationId xmlns:a16="http://schemas.microsoft.com/office/drawing/2014/main" id="{8D69A6DD-80EA-4D1C-99FE-97B50DFE572F}"/>
              </a:ext>
            </a:extLst>
          </p:cNvPr>
          <p:cNvSpPr>
            <a:spLocks noGrp="1"/>
          </p:cNvSpPr>
          <p:nvPr/>
        </p:nvSpPr>
        <p:spPr>
          <a:xfrm>
            <a:off x="8477250" y="2438400"/>
            <a:ext cx="2857500" cy="285750"/>
          </a:xfrm>
          <a:prstGeom prst="rect">
            <a:avLst/>
          </a:prstGeom>
          <a:noFill/>
          <a:ln w="0">
            <a:noFill/>
          </a:ln>
        </p:spPr>
        <p:txBody>
          <a:bodyPr lIns="0" tIns="0" rIns="0" bIns="0">
            <a:noAutofit/>
          </a:bodyPr>
          <a:lstStyle>
            <a:defPPr algn="l">
              <a:defRPr sz="1275" b="1">
                <a:solidFill>
                  <a:srgbClr val="087E83"/>
                </a:solidFill>
                <a:latin typeface="Helvetica Neue"/>
                <a:ea typeface="Helvetica Neue"/>
                <a:cs typeface="Helvetica Neue"/>
              </a:defRPr>
            </a:defPPr>
          </a:lstStyle>
          <a:p>
            <a:pPr algn="l">
              <a:buNone/>
              <a:defRPr sz="1275" b="1">
                <a:solidFill>
                  <a:srgbClr val="087E83"/>
                </a:solidFill>
                <a:latin typeface="Helvetica Neue"/>
                <a:ea typeface="Helvetica Neue"/>
                <a:cs typeface="Helvetica Neue"/>
              </a:defRPr>
            </a:pPr>
            <a:r>
              <a:rPr sz="1275" b="1">
                <a:solidFill>
                  <a:srgbClr val="087E83"/>
                </a:solidFill>
                <a:latin typeface="Helvetica Neue"/>
                <a:ea typeface="Helvetica Neue"/>
                <a:cs typeface="Helvetica Neue"/>
              </a:rPr>
              <a:t>OUTPUT</a:t>
            </a:r>
          </a:p>
        </p:txBody>
      </p:sp>
      <p:sp>
        <p:nvSpPr>
          <p:cNvPr id="8" name="output-description">
            <a:extLst>
              <a:ext uri="{FF2B5EF4-FFF2-40B4-BE49-F238E27FC236}">
                <a16:creationId xmlns:a16="http://schemas.microsoft.com/office/drawing/2014/main" id="{C39132A3-5629-46C4-BE2F-6629326A2C8A}"/>
              </a:ext>
            </a:extLst>
          </p:cNvPr>
          <p:cNvSpPr>
            <a:spLocks noGrp="1"/>
          </p:cNvSpPr>
          <p:nvPr/>
        </p:nvSpPr>
        <p:spPr>
          <a:xfrm>
            <a:off x="8477250" y="2876550"/>
            <a:ext cx="2857500" cy="1219200"/>
          </a:xfrm>
          <a:prstGeom prst="rect">
            <a:avLst/>
          </a:prstGeom>
          <a:noFill/>
          <a:ln w="0">
            <a:noFill/>
          </a:ln>
        </p:spPr>
        <p:txBody>
          <a:bodyPr lIns="0" tIns="0" rIns="0" bIns="0">
            <a:noAutofit/>
          </a:bodyPr>
          <a:lstStyle>
            <a:defPPr algn="l">
              <a:defRPr sz="2100" b="1">
                <a:solidFill>
                  <a:srgbClr val="102B46"/>
                </a:solidFill>
                <a:latin typeface="Helvetica Neue"/>
                <a:ea typeface="Helvetica Neue"/>
                <a:cs typeface="Helvetica Neue"/>
              </a:defRPr>
            </a:defPPr>
          </a:lstStyle>
          <a:p>
            <a:pPr algn="l">
              <a:buNone/>
              <a:defRPr sz="2100" b="1">
                <a:solidFill>
                  <a:srgbClr val="102B46"/>
                </a:solidFill>
                <a:latin typeface="Helvetica Neue"/>
                <a:ea typeface="Helvetica Neue"/>
                <a:cs typeface="Helvetica Neue"/>
              </a:defRPr>
            </a:pPr>
            <a:r>
              <a:rPr sz="2100" b="1">
                <a:solidFill>
                  <a:srgbClr val="102B46"/>
                </a:solidFill>
                <a:latin typeface="Helvetica Neue"/>
                <a:ea typeface="Helvetica Neue"/>
                <a:cs typeface="Helvetica Neue"/>
              </a:rPr>
              <a:t>Business model</a:t>
            </a:r>
          </a:p>
          <a:p>
            <a:pPr algn="l">
              <a:buNone/>
              <a:defRPr sz="2100" b="1">
                <a:solidFill>
                  <a:srgbClr val="102B46"/>
                </a:solidFill>
                <a:latin typeface="Helvetica Neue"/>
                <a:ea typeface="Helvetica Neue"/>
                <a:cs typeface="Helvetica Neue"/>
              </a:defRPr>
            </a:pPr>
            <a:r>
              <a:rPr sz="2100" b="1">
                <a:solidFill>
                  <a:srgbClr val="102B46"/>
                </a:solidFill>
                <a:latin typeface="Helvetica Neue"/>
                <a:ea typeface="Helvetica Neue"/>
                <a:cs typeface="Helvetica Neue"/>
              </a:rPr>
              <a:t>Validation plan</a:t>
            </a:r>
          </a:p>
        </p:txBody>
      </p:sp>
      <p:sp>
        <p:nvSpPr>
          <p:cNvPr id="9" name="prompt-reference">
            <a:extLst>
              <a:ext uri="{FF2B5EF4-FFF2-40B4-BE49-F238E27FC236}">
                <a16:creationId xmlns:a16="http://schemas.microsoft.com/office/drawing/2014/main" id="{095747B1-7EFE-4C34-8EAF-5F108DA30885}"/>
              </a:ext>
            </a:extLst>
          </p:cNvPr>
          <p:cNvSpPr>
            <a:spLocks noGrp="1"/>
          </p:cNvSpPr>
          <p:nvPr/>
        </p:nvSpPr>
        <p:spPr>
          <a:xfrm>
            <a:off x="609600" y="4524375"/>
            <a:ext cx="10972800" cy="1381125"/>
          </a:xfrm>
          <a:prstGeom prst="rect">
            <a:avLst/>
          </a:prstGeom>
          <a:solidFill>
            <a:srgbClr val="F6F0FA"/>
          </a:solidFill>
          <a:ln w="0">
            <a:solidFill>
              <a:srgbClr val="F6F0FA"/>
            </a:solidFill>
          </a:ln>
        </p:spPr>
      </p:sp>
      <p:sp>
        <p:nvSpPr>
          <p:cNvPr id="10" name="prompt-label">
            <a:extLst>
              <a:ext uri="{FF2B5EF4-FFF2-40B4-BE49-F238E27FC236}">
                <a16:creationId xmlns:a16="http://schemas.microsoft.com/office/drawing/2014/main" id="{ED5F8D0A-99DF-4754-9ADE-006BDA722FB7}"/>
              </a:ext>
            </a:extLst>
          </p:cNvPr>
          <p:cNvSpPr>
            <a:spLocks noGrp="1"/>
          </p:cNvSpPr>
          <p:nvPr/>
        </p:nvSpPr>
        <p:spPr>
          <a:xfrm>
            <a:off x="800100" y="4686300"/>
            <a:ext cx="10525125" cy="228600"/>
          </a:xfrm>
          <a:prstGeom prst="rect">
            <a:avLst/>
          </a:prstGeom>
          <a:noFill/>
          <a:ln w="0">
            <a:noFill/>
          </a:ln>
        </p:spPr>
        <p:txBody>
          <a:bodyPr lIns="0" tIns="0" rIns="0" bIns="0">
            <a:noAutofit/>
          </a:bodyPr>
          <a:lstStyle>
            <a:defPPr algn="l">
              <a:defRPr sz="1200" b="1">
                <a:solidFill>
                  <a:srgbClr val="6C2B91"/>
                </a:solidFill>
                <a:latin typeface="Helvetica Neue"/>
                <a:ea typeface="Helvetica Neue"/>
                <a:cs typeface="Helvetica Neue"/>
              </a:defRPr>
            </a:defPPr>
          </a:lstStyle>
          <a:p>
            <a:pPr algn="l">
              <a:buNone/>
              <a:defRPr sz="1200" b="1">
                <a:solidFill>
                  <a:srgbClr val="6C2B91"/>
                </a:solidFill>
                <a:latin typeface="Helvetica Neue"/>
                <a:ea typeface="Helvetica Neue"/>
                <a:cs typeface="Helvetica Neue"/>
              </a:defRPr>
            </a:pPr>
            <a:r>
              <a:rPr sz="1200" b="1">
                <a:solidFill>
                  <a:srgbClr val="6C2B91"/>
                </a:solidFill>
                <a:latin typeface="Helvetica Neue"/>
                <a:ea typeface="Helvetica Neue"/>
                <a:cs typeface="Helvetica Neue"/>
              </a:rPr>
              <a:t>EXAMPLE PROMPT</a:t>
            </a:r>
          </a:p>
        </p:txBody>
      </p:sp>
      <p:sp>
        <p:nvSpPr>
          <p:cNvPr id="11" name="prompt-content">
            <a:extLst>
              <a:ext uri="{FF2B5EF4-FFF2-40B4-BE49-F238E27FC236}">
                <a16:creationId xmlns:a16="http://schemas.microsoft.com/office/drawing/2014/main" id="{4B0836D4-E15B-4F6A-8CCE-1D5E92CA795C}"/>
              </a:ext>
            </a:extLst>
          </p:cNvPr>
          <p:cNvSpPr>
            <a:spLocks noGrp="1"/>
          </p:cNvSpPr>
          <p:nvPr/>
        </p:nvSpPr>
        <p:spPr>
          <a:xfrm>
            <a:off x="800100" y="5019675"/>
            <a:ext cx="10525125" cy="819150"/>
          </a:xfrm>
          <a:prstGeom prst="rect">
            <a:avLst/>
          </a:prstGeom>
          <a:noFill/>
          <a:ln w="0">
            <a:noFill/>
          </a:ln>
        </p:spPr>
        <p:txBody>
          <a:bodyPr lIns="0" tIns="0" rIns="0" bIns="0">
            <a:noAutofit/>
          </a:bodyPr>
          <a:lstStyle>
            <a:defPPr algn="l">
              <a:defRPr sz="1875" b="0">
                <a:solidFill>
                  <a:srgbClr val="6C2B91"/>
                </a:solidFill>
                <a:latin typeface="Helvetica Neue"/>
                <a:ea typeface="Helvetica Neue"/>
                <a:cs typeface="Helvetica Neue"/>
              </a:defRPr>
            </a:defPPr>
          </a:lstStyle>
          <a:p>
            <a:pPr algn="l">
              <a:buNone/>
              <a:defRPr sz="1875" b="0">
                <a:solidFill>
                  <a:srgbClr val="6C2B91"/>
                </a:solidFill>
                <a:latin typeface="Helvetica Neue"/>
                <a:ea typeface="Helvetica Neue"/>
                <a:cs typeface="Helvetica Neue"/>
              </a:defRPr>
            </a:pPr>
            <a:r>
              <a:rPr sz="1875" b="0">
                <a:solidFill>
                  <a:srgbClr val="6C2B91"/>
                </a:solidFill>
                <a:latin typeface="Helvetica Neue"/>
                <a:ea typeface="Helvetica Neue"/>
                <a:cs typeface="Helvetica Neue"/>
              </a:rPr>
              <a:t>"Assess [business model]: buyer value, costs and delivery. Suggest a test for the key assumption."</a:t>
            </a:r>
          </a:p>
        </p:txBody>
      </p:sp>
      <p:sp>
        <p:nvSpPr>
          <p:cNvPr id="12" name="discussion-cue">
            <a:extLst>
              <a:ext uri="{FF2B5EF4-FFF2-40B4-BE49-F238E27FC236}">
                <a16:creationId xmlns:a16="http://schemas.microsoft.com/office/drawing/2014/main" id="{FD1A1BB1-4338-4D42-82D6-1DE808D8369C}"/>
              </a:ext>
            </a:extLst>
          </p:cNvPr>
          <p:cNvSpPr>
            <a:spLocks noGrp="1"/>
          </p:cNvSpPr>
          <p:nvPr/>
        </p:nvSpPr>
        <p:spPr>
          <a:xfrm>
            <a:off x="609600" y="6067425"/>
            <a:ext cx="10668000" cy="266700"/>
          </a:xfrm>
          <a:prstGeom prst="rect">
            <a:avLst/>
          </a:prstGeom>
          <a:noFill/>
          <a:ln w="0">
            <a:noFill/>
          </a:ln>
        </p:spPr>
        <p:txBody>
          <a:bodyPr lIns="0" tIns="0" rIns="0" bIns="0">
            <a:noAutofit/>
          </a:bodyPr>
          <a:lstStyle>
            <a:defPPr algn="l">
              <a:defRPr sz="1500" b="0">
                <a:solidFill>
                  <a:srgbClr val="607482"/>
                </a:solidFill>
                <a:latin typeface="Helvetica Neue"/>
                <a:ea typeface="Helvetica Neue"/>
                <a:cs typeface="Helvetica Neue"/>
              </a:defRPr>
            </a:defPPr>
          </a:lstStyle>
          <a:p>
            <a:pPr algn="l">
              <a:buNone/>
              <a:defRPr sz="1500" b="0">
                <a:solidFill>
                  <a:srgbClr val="607482"/>
                </a:solidFill>
                <a:latin typeface="Helvetica Neue"/>
                <a:ea typeface="Helvetica Neue"/>
                <a:cs typeface="Helvetica Neue"/>
              </a:defRPr>
            </a:pPr>
            <a:endParaRPr/>
          </a:p>
        </p:txBody>
      </p:sp>
      <p:pic>
        <p:nvPicPr>
          <p:cNvPr id="14" name="Picture 13">
            <a:extLst>
              <a:ext uri="{FF2B5EF4-FFF2-40B4-BE49-F238E27FC236}">
                <a16:creationId xmlns:a16="http://schemas.microsoft.com/office/drawing/2014/main" id="{B1043CEC-2135-4C3E-8DA5-0854068DA476}"/>
              </a:ext>
            </a:extLst>
          </p:cNvPr>
          <p:cNvPicPr>
            <a:picLocks noChangeAspect="1"/>
          </p:cNvPicPr>
          <p:nvPr/>
        </p:nvPicPr>
        <p:blipFill>
          <a:blip r:embed="rId3"/>
          <a:stretch/>
        </p:blipFill>
        <p:spPr>
          <a:xfrm>
            <a:off x="638175" y="2305050"/>
            <a:ext cx="400050" cy="400050"/>
          </a:xfrm>
          <a:prstGeom prst="rect">
            <a:avLst/>
          </a:prstGeom>
        </p:spPr>
      </p:pic>
      <p:sp>
        <p:nvSpPr>
          <p:cNvPr id="15" name="action-1">
            <a:extLst>
              <a:ext uri="{FF2B5EF4-FFF2-40B4-BE49-F238E27FC236}">
                <a16:creationId xmlns:a16="http://schemas.microsoft.com/office/drawing/2014/main" id="{A528B9F4-598A-46C2-815F-F6A755794F6E}"/>
              </a:ext>
            </a:extLst>
          </p:cNvPr>
          <p:cNvSpPr>
            <a:spLocks noGrp="1"/>
          </p:cNvSpPr>
          <p:nvPr/>
        </p:nvSpPr>
        <p:spPr>
          <a:xfrm>
            <a:off x="1276350" y="2343150"/>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Define buyer, value and delivery</a:t>
            </a:r>
          </a:p>
        </p:txBody>
      </p:sp>
      <p:pic>
        <p:nvPicPr>
          <p:cNvPr id="16" name="Picture 15">
            <a:extLst>
              <a:ext uri="{FF2B5EF4-FFF2-40B4-BE49-F238E27FC236}">
                <a16:creationId xmlns:a16="http://schemas.microsoft.com/office/drawing/2014/main" id="{BD6651FD-DAAE-4B7A-A069-5409659C5633}"/>
              </a:ext>
            </a:extLst>
          </p:cNvPr>
          <p:cNvPicPr>
            <a:picLocks noChangeAspect="1"/>
          </p:cNvPicPr>
          <p:nvPr/>
        </p:nvPicPr>
        <p:blipFill>
          <a:blip r:embed="rId4"/>
          <a:stretch/>
        </p:blipFill>
        <p:spPr>
          <a:xfrm>
            <a:off x="638175" y="2924175"/>
            <a:ext cx="400050" cy="400050"/>
          </a:xfrm>
          <a:prstGeom prst="rect">
            <a:avLst/>
          </a:prstGeom>
        </p:spPr>
      </p:pic>
      <p:sp>
        <p:nvSpPr>
          <p:cNvPr id="17" name="action-2">
            <a:extLst>
              <a:ext uri="{FF2B5EF4-FFF2-40B4-BE49-F238E27FC236}">
                <a16:creationId xmlns:a16="http://schemas.microsoft.com/office/drawing/2014/main" id="{2AEE2926-567B-4613-A13A-C8EDBA1E402E}"/>
              </a:ext>
            </a:extLst>
          </p:cNvPr>
          <p:cNvSpPr>
            <a:spLocks noGrp="1"/>
          </p:cNvSpPr>
          <p:nvPr/>
        </p:nvSpPr>
        <p:spPr>
          <a:xfrm>
            <a:off x="1276350" y="2962275"/>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Identify costs and resource needs</a:t>
            </a:r>
          </a:p>
        </p:txBody>
      </p:sp>
      <p:pic>
        <p:nvPicPr>
          <p:cNvPr id="18" name="Picture 17">
            <a:extLst>
              <a:ext uri="{FF2B5EF4-FFF2-40B4-BE49-F238E27FC236}">
                <a16:creationId xmlns:a16="http://schemas.microsoft.com/office/drawing/2014/main" id="{DEEB6C9D-2989-4776-8E4B-FB88AFF3376A}"/>
              </a:ext>
            </a:extLst>
          </p:cNvPr>
          <p:cNvPicPr>
            <a:picLocks noChangeAspect="1"/>
          </p:cNvPicPr>
          <p:nvPr/>
        </p:nvPicPr>
        <p:blipFill>
          <a:blip r:embed="rId5"/>
          <a:stretch/>
        </p:blipFill>
        <p:spPr>
          <a:xfrm>
            <a:off x="638175" y="3543300"/>
            <a:ext cx="400050" cy="400050"/>
          </a:xfrm>
          <a:prstGeom prst="rect">
            <a:avLst/>
          </a:prstGeom>
        </p:spPr>
      </p:pic>
      <p:sp>
        <p:nvSpPr>
          <p:cNvPr id="19" name="action-3">
            <a:extLst>
              <a:ext uri="{FF2B5EF4-FFF2-40B4-BE49-F238E27FC236}">
                <a16:creationId xmlns:a16="http://schemas.microsoft.com/office/drawing/2014/main" id="{5A028440-E32A-49E8-B118-8D9B9540BAA5}"/>
              </a:ext>
            </a:extLst>
          </p:cNvPr>
          <p:cNvSpPr>
            <a:spLocks noGrp="1"/>
          </p:cNvSpPr>
          <p:nvPr/>
        </p:nvSpPr>
        <p:spPr>
          <a:xfrm>
            <a:off x="1276350" y="3581400"/>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Test the key assumption</a:t>
            </a:r>
          </a:p>
        </p:txBody>
      </p:sp>
    </p:spTree>
    <p:extLst>
      <p:ext uri="{BB962C8B-B14F-4D97-AF65-F5344CB8AC3E}">
        <p14:creationId xmlns:p14="http://schemas.microsoft.com/office/powerpoint/2010/main" val="4478842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3" name="section-label">
            <a:extLst>
              <a:ext uri="{FF2B5EF4-FFF2-40B4-BE49-F238E27FC236}">
                <a16:creationId xmlns:a16="http://schemas.microsoft.com/office/drawing/2014/main" id="{E232D303-1F6D-481C-9AE6-712E0250B98A}"/>
              </a:ext>
            </a:extLst>
          </p:cNvPr>
          <p:cNvSpPr>
            <a:spLocks noGrp="1"/>
          </p:cNvSpPr>
          <p:nvPr/>
        </p:nvSpPr>
        <p:spPr>
          <a:xfrm>
            <a:off x="609600" y="285750"/>
            <a:ext cx="10668000" cy="285750"/>
          </a:xfrm>
          <a:prstGeom prst="rect">
            <a:avLst/>
          </a:prstGeom>
          <a:noFill/>
          <a:ln w="0">
            <a:noFill/>
          </a:ln>
        </p:spPr>
        <p:txBody>
          <a:bodyPr lIns="0" tIns="0" rIns="0" bIns="0">
            <a:noAutofit/>
          </a:bodyPr>
          <a:lstStyle>
            <a:defPPr algn="l">
              <a:defRPr sz="1200" b="1">
                <a:solidFill>
                  <a:srgbClr val="087E83"/>
                </a:solidFill>
                <a:latin typeface="Helvetica Neue"/>
                <a:ea typeface="Helvetica Neue"/>
                <a:cs typeface="Helvetica Neue"/>
              </a:defRPr>
            </a:defPPr>
          </a:lstStyle>
          <a:p>
            <a:pPr algn="l">
              <a:buNone/>
              <a:defRPr sz="1200" b="1">
                <a:solidFill>
                  <a:srgbClr val="087E83"/>
                </a:solidFill>
                <a:latin typeface="Helvetica Neue"/>
                <a:ea typeface="Helvetica Neue"/>
                <a:cs typeface="Helvetica Neue"/>
              </a:defRPr>
            </a:pPr>
            <a:r>
              <a:rPr sz="1200" b="1">
                <a:solidFill>
                  <a:srgbClr val="087E83"/>
                </a:solidFill>
                <a:latin typeface="Helvetica Neue"/>
                <a:ea typeface="Helvetica Neue"/>
                <a:cs typeface="Helvetica Neue"/>
              </a:rPr>
              <a:t>APPENDIX: SESSION 2: INTEGRATED SOLUTION</a:t>
            </a:r>
          </a:p>
        </p:txBody>
      </p:sp>
      <p:sp>
        <p:nvSpPr>
          <p:cNvPr id="2" name="slide-title">
            <a:extLst>
              <a:ext uri="{FF2B5EF4-FFF2-40B4-BE49-F238E27FC236}">
                <a16:creationId xmlns:a16="http://schemas.microsoft.com/office/drawing/2014/main" id="{3BEA3AFC-FA85-4D6D-98EB-FBCE741599BE}"/>
              </a:ext>
            </a:extLst>
          </p:cNvPr>
          <p:cNvSpPr>
            <a:spLocks noGrp="1"/>
          </p:cNvSpPr>
          <p:nvPr/>
        </p:nvSpPr>
        <p:spPr>
          <a:xfrm>
            <a:off x="609600" y="781050"/>
            <a:ext cx="10858500" cy="857250"/>
          </a:xfrm>
          <a:prstGeom prst="rect">
            <a:avLst/>
          </a:prstGeom>
          <a:noFill/>
          <a:ln w="0">
            <a:noFill/>
          </a:ln>
        </p:spPr>
        <p:txBody>
          <a:bodyPr lIns="0" tIns="0" rIns="0" bIns="0">
            <a:noAutofit/>
          </a:bodyPr>
          <a:lstStyle>
            <a:defPPr algn="l">
              <a:defRPr sz="3450" b="1">
                <a:solidFill>
                  <a:srgbClr val="102B46"/>
                </a:solidFill>
                <a:latin typeface="Helvetica Neue"/>
                <a:ea typeface="Helvetica Neue"/>
                <a:cs typeface="Helvetica Neue"/>
              </a:defRPr>
            </a:defPPr>
          </a:lstStyle>
          <a:p>
            <a:pPr algn="l">
              <a:buNone/>
              <a:defRPr sz="3450" b="1">
                <a:solidFill>
                  <a:srgbClr val="102B46"/>
                </a:solidFill>
                <a:latin typeface="Helvetica Neue"/>
                <a:ea typeface="Helvetica Neue"/>
                <a:cs typeface="Helvetica Neue"/>
              </a:defRPr>
            </a:pPr>
            <a:r>
              <a:rPr sz="3450" b="1">
                <a:solidFill>
                  <a:srgbClr val="102B46"/>
                </a:solidFill>
                <a:latin typeface="Helvetica Neue"/>
                <a:ea typeface="Helvetica Neue"/>
                <a:cs typeface="Helvetica Neue"/>
              </a:rPr>
              <a:t>Integrated design checkpoint</a:t>
            </a:r>
          </a:p>
        </p:txBody>
      </p:sp>
      <p:sp>
        <p:nvSpPr>
          <p:cNvPr id="3" name="subtitle">
            <a:extLst>
              <a:ext uri="{FF2B5EF4-FFF2-40B4-BE49-F238E27FC236}">
                <a16:creationId xmlns:a16="http://schemas.microsoft.com/office/drawing/2014/main" id="{0FB077BC-4D6C-4381-9D29-AD94FD85F192}"/>
              </a:ext>
            </a:extLst>
          </p:cNvPr>
          <p:cNvSpPr>
            <a:spLocks noGrp="1"/>
          </p:cNvSpPr>
          <p:nvPr/>
        </p:nvSpPr>
        <p:spPr>
          <a:xfrm>
            <a:off x="609600" y="1524000"/>
            <a:ext cx="10858500" cy="428625"/>
          </a:xfrm>
          <a:prstGeom prst="rect">
            <a:avLst/>
          </a:prstGeom>
          <a:noFill/>
          <a:ln w="0">
            <a:noFill/>
          </a:ln>
        </p:spPr>
        <p:txBody>
          <a:bodyPr lIns="0" tIns="0" rIns="0" bIns="0">
            <a:noAutofit/>
          </a:bodyPr>
          <a:lstStyle>
            <a:defPPr algn="l">
              <a:defRPr sz="1800" b="0">
                <a:solidFill>
                  <a:srgbClr val="607482"/>
                </a:solidFill>
                <a:latin typeface="Helvetica Neue"/>
                <a:ea typeface="Helvetica Neue"/>
                <a:cs typeface="Helvetica Neue"/>
              </a:defRPr>
            </a:defPPr>
          </a:lstStyle>
          <a:p>
            <a:pPr algn="l">
              <a:buNone/>
              <a:defRPr sz="1800" b="0">
                <a:solidFill>
                  <a:srgbClr val="607482"/>
                </a:solidFill>
                <a:latin typeface="Helvetica Neue"/>
                <a:ea typeface="Helvetica Neue"/>
                <a:cs typeface="Helvetica Neue"/>
              </a:defRPr>
            </a:pPr>
            <a:r>
              <a:rPr sz="1800" b="0">
                <a:solidFill>
                  <a:srgbClr val="607482"/>
                </a:solidFill>
                <a:latin typeface="Helvetica Neue"/>
                <a:ea typeface="Helvetica Neue"/>
                <a:cs typeface="Helvetica Neue"/>
              </a:rPr>
              <a:t>Step 2E. Shared Project + Knowledge Agent</a:t>
            </a:r>
          </a:p>
        </p:txBody>
      </p:sp>
      <p:sp>
        <p:nvSpPr>
          <p:cNvPr id="4" name="page-number">
            <a:extLst>
              <a:ext uri="{FF2B5EF4-FFF2-40B4-BE49-F238E27FC236}">
                <a16:creationId xmlns:a16="http://schemas.microsoft.com/office/drawing/2014/main" id="{9DB1FDF1-2A54-4062-8FE8-0051B4EDDEED}"/>
              </a:ext>
            </a:extLst>
          </p:cNvPr>
          <p:cNvSpPr>
            <a:spLocks noGrp="1"/>
          </p:cNvSpPr>
          <p:nvPr/>
        </p:nvSpPr>
        <p:spPr>
          <a:xfrm>
            <a:off x="10953750" y="6438900"/>
            <a:ext cx="666750" cy="228600"/>
          </a:xfrm>
          <a:prstGeom prst="rect">
            <a:avLst/>
          </a:prstGeom>
          <a:noFill/>
          <a:ln w="0">
            <a:noFill/>
          </a:ln>
        </p:spPr>
        <p:txBody>
          <a:bodyPr lIns="0" tIns="0" rIns="0" bIns="0">
            <a:noAutofit/>
          </a:bodyPr>
          <a:lstStyle>
            <a:defPPr algn="r">
              <a:defRPr sz="1125" b="0">
                <a:solidFill>
                  <a:srgbClr val="607482"/>
                </a:solidFill>
                <a:latin typeface="Helvetica Neue"/>
                <a:ea typeface="Helvetica Neue"/>
                <a:cs typeface="Helvetica Neue"/>
              </a:defRPr>
            </a:defPPr>
          </a:lstStyle>
          <a:p>
            <a:pPr algn="r">
              <a:buNone/>
              <a:defRPr sz="1125" b="0">
                <a:solidFill>
                  <a:srgbClr val="607482"/>
                </a:solidFill>
                <a:latin typeface="Helvetica Neue"/>
                <a:ea typeface="Helvetica Neue"/>
                <a:cs typeface="Helvetica Neue"/>
              </a:defRPr>
            </a:pPr>
            <a:r>
              <a:rPr sz="1125" b="0">
                <a:solidFill>
                  <a:srgbClr val="607482"/>
                </a:solidFill>
                <a:latin typeface="Helvetica Neue"/>
                <a:ea typeface="Helvetica Neue"/>
                <a:cs typeface="Helvetica Neue"/>
              </a:rPr>
              <a:t>A11</a:t>
            </a:r>
          </a:p>
        </p:txBody>
      </p:sp>
      <p:sp>
        <p:nvSpPr>
          <p:cNvPr id="5" name="action-list">
            <a:extLst>
              <a:ext uri="{FF2B5EF4-FFF2-40B4-BE49-F238E27FC236}">
                <a16:creationId xmlns:a16="http://schemas.microsoft.com/office/drawing/2014/main" id="{3061194C-DF16-4174-A80B-20C0C70B8E8C}"/>
              </a:ext>
            </a:extLst>
          </p:cNvPr>
          <p:cNvSpPr>
            <a:spLocks noGrp="1"/>
          </p:cNvSpPr>
          <p:nvPr/>
        </p:nvSpPr>
        <p:spPr>
          <a:xfrm>
            <a:off x="609600" y="2333625"/>
            <a:ext cx="7048500" cy="2047875"/>
          </a:xfrm>
          <a:prstGeom prst="rect">
            <a:avLst/>
          </a:prstGeom>
          <a:noFill/>
          <a:ln w="0">
            <a:noFill/>
          </a:ln>
        </p:spPr>
        <p:txBody>
          <a:bodyPr lIns="0" tIns="0" rIns="0" bIns="0">
            <a:noAutofit/>
          </a:bodyPr>
          <a:lstStyle>
            <a:defPPr algn="l">
              <a:defRPr sz="2100" b="0">
                <a:solidFill>
                  <a:srgbClr val="233A4B"/>
                </a:solidFill>
                <a:latin typeface="Helvetica Neue"/>
                <a:ea typeface="Helvetica Neue"/>
                <a:cs typeface="Helvetica Neue"/>
              </a:defRPr>
            </a:defPPr>
          </a:lstStyle>
          <a:p>
            <a:pPr marL="228600" indent="-114300" algn="l">
              <a:spcAft>
                <a:spcPts val="1800"/>
              </a:spcAft>
              <a:buChar char="•"/>
              <a:defRPr sz="2100" b="0">
                <a:solidFill>
                  <a:srgbClr val="233A4B"/>
                </a:solidFill>
                <a:latin typeface="Helvetica Neue"/>
                <a:ea typeface="Helvetica Neue"/>
                <a:cs typeface="Helvetica Neue"/>
              </a:defRPr>
            </a:pPr>
            <a:endParaRPr/>
          </a:p>
        </p:txBody>
      </p:sp>
      <p:sp>
        <p:nvSpPr>
          <p:cNvPr id="6" name="step-output">
            <a:extLst>
              <a:ext uri="{FF2B5EF4-FFF2-40B4-BE49-F238E27FC236}">
                <a16:creationId xmlns:a16="http://schemas.microsoft.com/office/drawing/2014/main" id="{31C444CD-6E26-4A37-8983-3E642669C59E}"/>
              </a:ext>
            </a:extLst>
          </p:cNvPr>
          <p:cNvSpPr>
            <a:spLocks noGrp="1"/>
          </p:cNvSpPr>
          <p:nvPr/>
        </p:nvSpPr>
        <p:spPr>
          <a:xfrm>
            <a:off x="8248650" y="2238375"/>
            <a:ext cx="3333750" cy="2000250"/>
          </a:xfrm>
          <a:prstGeom prst="rect">
            <a:avLst/>
          </a:prstGeom>
          <a:solidFill>
            <a:srgbClr val="F3F7FA"/>
          </a:solidFill>
          <a:ln w="9525">
            <a:solidFill>
              <a:srgbClr val="087E83"/>
            </a:solidFill>
            <a:prstDash val="solid"/>
          </a:ln>
        </p:spPr>
      </p:sp>
      <p:sp>
        <p:nvSpPr>
          <p:cNvPr id="7" name="output-label">
            <a:extLst>
              <a:ext uri="{FF2B5EF4-FFF2-40B4-BE49-F238E27FC236}">
                <a16:creationId xmlns:a16="http://schemas.microsoft.com/office/drawing/2014/main" id="{33E43095-2AFF-48E8-A7AC-2A04EBE3F119}"/>
              </a:ext>
            </a:extLst>
          </p:cNvPr>
          <p:cNvSpPr>
            <a:spLocks noGrp="1"/>
          </p:cNvSpPr>
          <p:nvPr/>
        </p:nvSpPr>
        <p:spPr>
          <a:xfrm>
            <a:off x="8477250" y="2438400"/>
            <a:ext cx="2857500" cy="285750"/>
          </a:xfrm>
          <a:prstGeom prst="rect">
            <a:avLst/>
          </a:prstGeom>
          <a:noFill/>
          <a:ln w="0">
            <a:noFill/>
          </a:ln>
        </p:spPr>
        <p:txBody>
          <a:bodyPr lIns="0" tIns="0" rIns="0" bIns="0">
            <a:noAutofit/>
          </a:bodyPr>
          <a:lstStyle>
            <a:defPPr algn="l">
              <a:defRPr sz="1275" b="1">
                <a:solidFill>
                  <a:srgbClr val="087E83"/>
                </a:solidFill>
                <a:latin typeface="Helvetica Neue"/>
                <a:ea typeface="Helvetica Neue"/>
                <a:cs typeface="Helvetica Neue"/>
              </a:defRPr>
            </a:defPPr>
          </a:lstStyle>
          <a:p>
            <a:pPr algn="l">
              <a:buNone/>
              <a:defRPr sz="1275" b="1">
                <a:solidFill>
                  <a:srgbClr val="087E83"/>
                </a:solidFill>
                <a:latin typeface="Helvetica Neue"/>
                <a:ea typeface="Helvetica Neue"/>
                <a:cs typeface="Helvetica Neue"/>
              </a:defRPr>
            </a:pPr>
            <a:r>
              <a:rPr sz="1275" b="1">
                <a:solidFill>
                  <a:srgbClr val="087E83"/>
                </a:solidFill>
                <a:latin typeface="Helvetica Neue"/>
                <a:ea typeface="Helvetica Neue"/>
                <a:cs typeface="Helvetica Neue"/>
              </a:rPr>
              <a:t>OUTPUT</a:t>
            </a:r>
          </a:p>
        </p:txBody>
      </p:sp>
      <p:sp>
        <p:nvSpPr>
          <p:cNvPr id="8" name="output-description">
            <a:extLst>
              <a:ext uri="{FF2B5EF4-FFF2-40B4-BE49-F238E27FC236}">
                <a16:creationId xmlns:a16="http://schemas.microsoft.com/office/drawing/2014/main" id="{1D9B64D6-036B-454A-AD0C-BDD5806C1DC6}"/>
              </a:ext>
            </a:extLst>
          </p:cNvPr>
          <p:cNvSpPr>
            <a:spLocks noGrp="1"/>
          </p:cNvSpPr>
          <p:nvPr/>
        </p:nvSpPr>
        <p:spPr>
          <a:xfrm>
            <a:off x="8477250" y="2876550"/>
            <a:ext cx="2857500" cy="1219200"/>
          </a:xfrm>
          <a:prstGeom prst="rect">
            <a:avLst/>
          </a:prstGeom>
          <a:noFill/>
          <a:ln w="0">
            <a:noFill/>
          </a:ln>
        </p:spPr>
        <p:txBody>
          <a:bodyPr lIns="0" tIns="0" rIns="0" bIns="0">
            <a:noAutofit/>
          </a:bodyPr>
          <a:lstStyle>
            <a:defPPr algn="l">
              <a:defRPr sz="2100" b="1">
                <a:solidFill>
                  <a:srgbClr val="102B46"/>
                </a:solidFill>
                <a:latin typeface="Helvetica Neue"/>
                <a:ea typeface="Helvetica Neue"/>
                <a:cs typeface="Helvetica Neue"/>
              </a:defRPr>
            </a:defPPr>
          </a:lstStyle>
          <a:p>
            <a:pPr algn="l">
              <a:buNone/>
              <a:defRPr sz="2100" b="1">
                <a:solidFill>
                  <a:srgbClr val="102B46"/>
                </a:solidFill>
                <a:latin typeface="Helvetica Neue"/>
                <a:ea typeface="Helvetica Neue"/>
                <a:cs typeface="Helvetica Neue"/>
              </a:defRPr>
            </a:pPr>
            <a:r>
              <a:rPr sz="2100" b="1">
                <a:solidFill>
                  <a:srgbClr val="102B46"/>
                </a:solidFill>
                <a:latin typeface="Helvetica Neue"/>
                <a:ea typeface="Helvetica Neue"/>
                <a:cs typeface="Helvetica Neue"/>
              </a:rPr>
              <a:t>Solution V2</a:t>
            </a:r>
          </a:p>
          <a:p>
            <a:pPr algn="l">
              <a:buNone/>
              <a:defRPr sz="2100" b="1">
                <a:solidFill>
                  <a:srgbClr val="102B46"/>
                </a:solidFill>
                <a:latin typeface="Helvetica Neue"/>
                <a:ea typeface="Helvetica Neue"/>
                <a:cs typeface="Helvetica Neue"/>
              </a:defRPr>
            </a:pPr>
            <a:r>
              <a:rPr sz="2100" b="1">
                <a:solidFill>
                  <a:srgbClr val="102B46"/>
                </a:solidFill>
                <a:latin typeface="Helvetica Neue"/>
                <a:ea typeface="Helvetica Neue"/>
                <a:cs typeface="Helvetica Neue"/>
              </a:rPr>
              <a:t>Review material</a:t>
            </a:r>
          </a:p>
        </p:txBody>
      </p:sp>
      <p:sp>
        <p:nvSpPr>
          <p:cNvPr id="9" name="prompt-reference">
            <a:extLst>
              <a:ext uri="{FF2B5EF4-FFF2-40B4-BE49-F238E27FC236}">
                <a16:creationId xmlns:a16="http://schemas.microsoft.com/office/drawing/2014/main" id="{71FCF544-E949-477C-88D6-61867BED1F5D}"/>
              </a:ext>
            </a:extLst>
          </p:cNvPr>
          <p:cNvSpPr>
            <a:spLocks noGrp="1"/>
          </p:cNvSpPr>
          <p:nvPr/>
        </p:nvSpPr>
        <p:spPr>
          <a:xfrm>
            <a:off x="609600" y="4524375"/>
            <a:ext cx="10972800" cy="1381125"/>
          </a:xfrm>
          <a:prstGeom prst="rect">
            <a:avLst/>
          </a:prstGeom>
          <a:solidFill>
            <a:srgbClr val="F6F0FA"/>
          </a:solidFill>
          <a:ln w="0">
            <a:solidFill>
              <a:srgbClr val="F6F0FA"/>
            </a:solidFill>
          </a:ln>
        </p:spPr>
      </p:sp>
      <p:sp>
        <p:nvSpPr>
          <p:cNvPr id="10" name="prompt-label">
            <a:extLst>
              <a:ext uri="{FF2B5EF4-FFF2-40B4-BE49-F238E27FC236}">
                <a16:creationId xmlns:a16="http://schemas.microsoft.com/office/drawing/2014/main" id="{81DC9512-43CA-4FFA-81D6-BDDBDC47D141}"/>
              </a:ext>
            </a:extLst>
          </p:cNvPr>
          <p:cNvSpPr>
            <a:spLocks noGrp="1"/>
          </p:cNvSpPr>
          <p:nvPr/>
        </p:nvSpPr>
        <p:spPr>
          <a:xfrm>
            <a:off x="800100" y="4686300"/>
            <a:ext cx="10525125" cy="228600"/>
          </a:xfrm>
          <a:prstGeom prst="rect">
            <a:avLst/>
          </a:prstGeom>
          <a:noFill/>
          <a:ln w="0">
            <a:noFill/>
          </a:ln>
        </p:spPr>
        <p:txBody>
          <a:bodyPr lIns="0" tIns="0" rIns="0" bIns="0">
            <a:noAutofit/>
          </a:bodyPr>
          <a:lstStyle>
            <a:defPPr algn="l">
              <a:defRPr sz="1200" b="1">
                <a:solidFill>
                  <a:srgbClr val="6C2B91"/>
                </a:solidFill>
                <a:latin typeface="Helvetica Neue"/>
                <a:ea typeface="Helvetica Neue"/>
                <a:cs typeface="Helvetica Neue"/>
              </a:defRPr>
            </a:defPPr>
          </a:lstStyle>
          <a:p>
            <a:pPr algn="l">
              <a:buNone/>
              <a:defRPr sz="1200" b="1">
                <a:solidFill>
                  <a:srgbClr val="6C2B91"/>
                </a:solidFill>
                <a:latin typeface="Helvetica Neue"/>
                <a:ea typeface="Helvetica Neue"/>
                <a:cs typeface="Helvetica Neue"/>
              </a:defRPr>
            </a:pPr>
            <a:r>
              <a:rPr sz="1200" b="1">
                <a:solidFill>
                  <a:srgbClr val="6C2B91"/>
                </a:solidFill>
                <a:latin typeface="Helvetica Neue"/>
                <a:ea typeface="Helvetica Neue"/>
                <a:cs typeface="Helvetica Neue"/>
              </a:rPr>
              <a:t>EXAMPLE PROMPT</a:t>
            </a:r>
          </a:p>
        </p:txBody>
      </p:sp>
      <p:sp>
        <p:nvSpPr>
          <p:cNvPr id="11" name="prompt-content">
            <a:extLst>
              <a:ext uri="{FF2B5EF4-FFF2-40B4-BE49-F238E27FC236}">
                <a16:creationId xmlns:a16="http://schemas.microsoft.com/office/drawing/2014/main" id="{EA045F5F-82A0-4236-A81A-1ED1BF0A5297}"/>
              </a:ext>
            </a:extLst>
          </p:cNvPr>
          <p:cNvSpPr>
            <a:spLocks noGrp="1"/>
          </p:cNvSpPr>
          <p:nvPr/>
        </p:nvSpPr>
        <p:spPr>
          <a:xfrm>
            <a:off x="800100" y="5019675"/>
            <a:ext cx="10525125" cy="819150"/>
          </a:xfrm>
          <a:prstGeom prst="rect">
            <a:avLst/>
          </a:prstGeom>
          <a:noFill/>
          <a:ln w="0">
            <a:noFill/>
          </a:ln>
        </p:spPr>
        <p:txBody>
          <a:bodyPr lIns="0" tIns="0" rIns="0" bIns="0">
            <a:noAutofit/>
          </a:bodyPr>
          <a:lstStyle>
            <a:defPPr algn="l">
              <a:defRPr sz="1875" b="0">
                <a:solidFill>
                  <a:srgbClr val="6C2B91"/>
                </a:solidFill>
                <a:latin typeface="Helvetica Neue"/>
                <a:ea typeface="Helvetica Neue"/>
                <a:cs typeface="Helvetica Neue"/>
              </a:defRPr>
            </a:defPPr>
          </a:lstStyle>
          <a:p>
            <a:pPr algn="l">
              <a:buNone/>
              <a:defRPr sz="1875" b="0">
                <a:solidFill>
                  <a:srgbClr val="6C2B91"/>
                </a:solidFill>
                <a:latin typeface="Helvetica Neue"/>
                <a:ea typeface="Helvetica Neue"/>
                <a:cs typeface="Helvetica Neue"/>
              </a:defRPr>
            </a:pPr>
            <a:r>
              <a:rPr sz="1875" b="0">
                <a:solidFill>
                  <a:srgbClr val="6C2B91"/>
                </a:solidFill>
                <a:latin typeface="Helvetica Neue"/>
                <a:ea typeface="Helvetica Neue"/>
                <a:cs typeface="Helvetica Neue"/>
              </a:rPr>
              <a:t>"Combine our findings into Solution V2. Flag inconsistencies, evidence gaps and expert questions."</a:t>
            </a:r>
          </a:p>
        </p:txBody>
      </p:sp>
      <p:sp>
        <p:nvSpPr>
          <p:cNvPr id="12" name="discussion-cue">
            <a:extLst>
              <a:ext uri="{FF2B5EF4-FFF2-40B4-BE49-F238E27FC236}">
                <a16:creationId xmlns:a16="http://schemas.microsoft.com/office/drawing/2014/main" id="{9533F2A1-4D01-4098-A274-4E7FDB659E0A}"/>
              </a:ext>
            </a:extLst>
          </p:cNvPr>
          <p:cNvSpPr>
            <a:spLocks noGrp="1"/>
          </p:cNvSpPr>
          <p:nvPr/>
        </p:nvSpPr>
        <p:spPr>
          <a:xfrm>
            <a:off x="609600" y="6067425"/>
            <a:ext cx="10668000" cy="266700"/>
          </a:xfrm>
          <a:prstGeom prst="rect">
            <a:avLst/>
          </a:prstGeom>
          <a:noFill/>
          <a:ln w="0">
            <a:noFill/>
          </a:ln>
        </p:spPr>
        <p:txBody>
          <a:bodyPr lIns="0" tIns="0" rIns="0" bIns="0">
            <a:noAutofit/>
          </a:bodyPr>
          <a:lstStyle>
            <a:defPPr algn="l">
              <a:defRPr sz="1500" b="0">
                <a:solidFill>
                  <a:srgbClr val="607482"/>
                </a:solidFill>
                <a:latin typeface="Helvetica Neue"/>
                <a:ea typeface="Helvetica Neue"/>
                <a:cs typeface="Helvetica Neue"/>
              </a:defRPr>
            </a:defPPr>
          </a:lstStyle>
          <a:p>
            <a:pPr algn="l">
              <a:buNone/>
              <a:defRPr sz="1500" b="0">
                <a:solidFill>
                  <a:srgbClr val="607482"/>
                </a:solidFill>
                <a:latin typeface="Helvetica Neue"/>
                <a:ea typeface="Helvetica Neue"/>
                <a:cs typeface="Helvetica Neue"/>
              </a:defRPr>
            </a:pPr>
            <a:endParaRPr/>
          </a:p>
        </p:txBody>
      </p:sp>
      <p:pic>
        <p:nvPicPr>
          <p:cNvPr id="14" name="Picture 13">
            <a:extLst>
              <a:ext uri="{FF2B5EF4-FFF2-40B4-BE49-F238E27FC236}">
                <a16:creationId xmlns:a16="http://schemas.microsoft.com/office/drawing/2014/main" id="{9675AC3F-C3DB-4125-B8A7-4A0D9D181399}"/>
              </a:ext>
            </a:extLst>
          </p:cNvPr>
          <p:cNvPicPr>
            <a:picLocks noChangeAspect="1"/>
          </p:cNvPicPr>
          <p:nvPr/>
        </p:nvPicPr>
        <p:blipFill>
          <a:blip r:embed="rId3"/>
          <a:stretch/>
        </p:blipFill>
        <p:spPr>
          <a:xfrm>
            <a:off x="638175" y="2305050"/>
            <a:ext cx="400050" cy="400050"/>
          </a:xfrm>
          <a:prstGeom prst="rect">
            <a:avLst/>
          </a:prstGeom>
        </p:spPr>
      </p:pic>
      <p:sp>
        <p:nvSpPr>
          <p:cNvPr id="15" name="action-1">
            <a:extLst>
              <a:ext uri="{FF2B5EF4-FFF2-40B4-BE49-F238E27FC236}">
                <a16:creationId xmlns:a16="http://schemas.microsoft.com/office/drawing/2014/main" id="{4E4B4330-49AA-4FE4-99EA-3B85830F966F}"/>
              </a:ext>
            </a:extLst>
          </p:cNvPr>
          <p:cNvSpPr>
            <a:spLocks noGrp="1"/>
          </p:cNvSpPr>
          <p:nvPr/>
        </p:nvSpPr>
        <p:spPr>
          <a:xfrm>
            <a:off x="1276350" y="2343150"/>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Check all three dimensions together</a:t>
            </a:r>
          </a:p>
        </p:txBody>
      </p:sp>
      <p:pic>
        <p:nvPicPr>
          <p:cNvPr id="16" name="Picture 15">
            <a:extLst>
              <a:ext uri="{FF2B5EF4-FFF2-40B4-BE49-F238E27FC236}">
                <a16:creationId xmlns:a16="http://schemas.microsoft.com/office/drawing/2014/main" id="{74E6BA59-E34A-4791-BEDF-5AEBD1629278}"/>
              </a:ext>
            </a:extLst>
          </p:cNvPr>
          <p:cNvPicPr>
            <a:picLocks noChangeAspect="1"/>
          </p:cNvPicPr>
          <p:nvPr/>
        </p:nvPicPr>
        <p:blipFill>
          <a:blip r:embed="rId4"/>
          <a:stretch/>
        </p:blipFill>
        <p:spPr>
          <a:xfrm>
            <a:off x="638175" y="2924175"/>
            <a:ext cx="400050" cy="400050"/>
          </a:xfrm>
          <a:prstGeom prst="rect">
            <a:avLst/>
          </a:prstGeom>
        </p:spPr>
      </p:pic>
      <p:sp>
        <p:nvSpPr>
          <p:cNvPr id="17" name="action-2">
            <a:extLst>
              <a:ext uri="{FF2B5EF4-FFF2-40B4-BE49-F238E27FC236}">
                <a16:creationId xmlns:a16="http://schemas.microsoft.com/office/drawing/2014/main" id="{F2A7B145-8A25-4EA0-97E5-15A1801CAF0A}"/>
              </a:ext>
            </a:extLst>
          </p:cNvPr>
          <p:cNvSpPr>
            <a:spLocks noGrp="1"/>
          </p:cNvSpPr>
          <p:nvPr/>
        </p:nvSpPr>
        <p:spPr>
          <a:xfrm>
            <a:off x="1276350" y="2962275"/>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Update the shared working document</a:t>
            </a:r>
          </a:p>
        </p:txBody>
      </p:sp>
      <p:pic>
        <p:nvPicPr>
          <p:cNvPr id="18" name="Picture 17">
            <a:extLst>
              <a:ext uri="{FF2B5EF4-FFF2-40B4-BE49-F238E27FC236}">
                <a16:creationId xmlns:a16="http://schemas.microsoft.com/office/drawing/2014/main" id="{724CA087-DEF8-4C00-A680-8CFCD1865852}"/>
              </a:ext>
            </a:extLst>
          </p:cNvPr>
          <p:cNvPicPr>
            <a:picLocks noChangeAspect="1"/>
          </p:cNvPicPr>
          <p:nvPr/>
        </p:nvPicPr>
        <p:blipFill>
          <a:blip r:embed="rId5"/>
          <a:stretch/>
        </p:blipFill>
        <p:spPr>
          <a:xfrm>
            <a:off x="638175" y="3543300"/>
            <a:ext cx="400050" cy="400050"/>
          </a:xfrm>
          <a:prstGeom prst="rect">
            <a:avLst/>
          </a:prstGeom>
        </p:spPr>
      </p:pic>
      <p:sp>
        <p:nvSpPr>
          <p:cNvPr id="19" name="action-3">
            <a:extLst>
              <a:ext uri="{FF2B5EF4-FFF2-40B4-BE49-F238E27FC236}">
                <a16:creationId xmlns:a16="http://schemas.microsoft.com/office/drawing/2014/main" id="{089C5A5D-6CC6-4D5C-A26D-0F46154BB4DA}"/>
              </a:ext>
            </a:extLst>
          </p:cNvPr>
          <p:cNvSpPr>
            <a:spLocks noGrp="1"/>
          </p:cNvSpPr>
          <p:nvPr/>
        </p:nvSpPr>
        <p:spPr>
          <a:xfrm>
            <a:off x="1276350" y="3581400"/>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Present changes and open questions</a:t>
            </a:r>
          </a:p>
        </p:txBody>
      </p:sp>
    </p:spTree>
    <p:extLst>
      <p:ext uri="{BB962C8B-B14F-4D97-AF65-F5344CB8AC3E}">
        <p14:creationId xmlns:p14="http://schemas.microsoft.com/office/powerpoint/2010/main" val="18084955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3" name="section-label">
            <a:extLst>
              <a:ext uri="{FF2B5EF4-FFF2-40B4-BE49-F238E27FC236}">
                <a16:creationId xmlns:a16="http://schemas.microsoft.com/office/drawing/2014/main" id="{B5B8C494-F16C-4301-99F4-B848652A587B}"/>
              </a:ext>
            </a:extLst>
          </p:cNvPr>
          <p:cNvSpPr>
            <a:spLocks noGrp="1"/>
          </p:cNvSpPr>
          <p:nvPr/>
        </p:nvSpPr>
        <p:spPr>
          <a:xfrm>
            <a:off x="609600" y="285750"/>
            <a:ext cx="10668000" cy="285750"/>
          </a:xfrm>
          <a:prstGeom prst="rect">
            <a:avLst/>
          </a:prstGeom>
          <a:noFill/>
          <a:ln w="0">
            <a:noFill/>
          </a:ln>
        </p:spPr>
        <p:txBody>
          <a:bodyPr lIns="0" tIns="0" rIns="0" bIns="0">
            <a:noAutofit/>
          </a:bodyPr>
          <a:lstStyle>
            <a:defPPr algn="l">
              <a:defRPr sz="1200" b="1">
                <a:solidFill>
                  <a:srgbClr val="7455B4"/>
                </a:solidFill>
                <a:latin typeface="Helvetica Neue"/>
                <a:ea typeface="Helvetica Neue"/>
                <a:cs typeface="Helvetica Neue"/>
              </a:defRPr>
            </a:defPPr>
          </a:lstStyle>
          <a:p>
            <a:pPr algn="l">
              <a:buNone/>
              <a:defRPr sz="1200" b="1">
                <a:solidFill>
                  <a:srgbClr val="7455B4"/>
                </a:solidFill>
                <a:latin typeface="Helvetica Neue"/>
                <a:ea typeface="Helvetica Neue"/>
                <a:cs typeface="Helvetica Neue"/>
              </a:defRPr>
            </a:pPr>
            <a:r>
              <a:rPr sz="1200" b="1">
                <a:solidFill>
                  <a:srgbClr val="7455B4"/>
                </a:solidFill>
                <a:latin typeface="Helvetica Neue"/>
                <a:ea typeface="Helvetica Neue"/>
                <a:cs typeface="Helvetica Neue"/>
              </a:rPr>
              <a:t>APPENDIX: SESSION 3: PROPOSAL AND EXECUTION PLAN</a:t>
            </a:r>
          </a:p>
        </p:txBody>
      </p:sp>
      <p:sp>
        <p:nvSpPr>
          <p:cNvPr id="2" name="slide-title">
            <a:extLst>
              <a:ext uri="{FF2B5EF4-FFF2-40B4-BE49-F238E27FC236}">
                <a16:creationId xmlns:a16="http://schemas.microsoft.com/office/drawing/2014/main" id="{5654281D-5BF5-4CE1-ACB8-3322011FBA09}"/>
              </a:ext>
            </a:extLst>
          </p:cNvPr>
          <p:cNvSpPr>
            <a:spLocks noGrp="1"/>
          </p:cNvSpPr>
          <p:nvPr/>
        </p:nvSpPr>
        <p:spPr>
          <a:xfrm>
            <a:off x="609600" y="781050"/>
            <a:ext cx="10858500" cy="857250"/>
          </a:xfrm>
          <a:prstGeom prst="rect">
            <a:avLst/>
          </a:prstGeom>
          <a:noFill/>
          <a:ln w="0">
            <a:noFill/>
          </a:ln>
        </p:spPr>
        <p:txBody>
          <a:bodyPr lIns="0" tIns="0" rIns="0" bIns="0">
            <a:noAutofit/>
          </a:bodyPr>
          <a:lstStyle>
            <a:defPPr algn="l">
              <a:defRPr sz="3450" b="1">
                <a:solidFill>
                  <a:srgbClr val="102B46"/>
                </a:solidFill>
                <a:latin typeface="Helvetica Neue"/>
                <a:ea typeface="Helvetica Neue"/>
                <a:cs typeface="Helvetica Neue"/>
              </a:defRPr>
            </a:defPPr>
          </a:lstStyle>
          <a:p>
            <a:pPr algn="l">
              <a:buNone/>
              <a:defRPr sz="3450" b="1">
                <a:solidFill>
                  <a:srgbClr val="102B46"/>
                </a:solidFill>
                <a:latin typeface="Helvetica Neue"/>
                <a:ea typeface="Helvetica Neue"/>
                <a:cs typeface="Helvetica Neue"/>
              </a:defRPr>
            </a:pPr>
            <a:r>
              <a:rPr sz="3450" b="1">
                <a:solidFill>
                  <a:srgbClr val="102B46"/>
                </a:solidFill>
                <a:latin typeface="Helvetica Neue"/>
                <a:ea typeface="Helvetica Neue"/>
                <a:cs typeface="Helvetica Neue"/>
              </a:rPr>
              <a:t>Proposal grounding and feedback integration</a:t>
            </a:r>
          </a:p>
        </p:txBody>
      </p:sp>
      <p:sp>
        <p:nvSpPr>
          <p:cNvPr id="3" name="subtitle">
            <a:extLst>
              <a:ext uri="{FF2B5EF4-FFF2-40B4-BE49-F238E27FC236}">
                <a16:creationId xmlns:a16="http://schemas.microsoft.com/office/drawing/2014/main" id="{9650053A-2AEF-4D93-B367-75F874ACF339}"/>
              </a:ext>
            </a:extLst>
          </p:cNvPr>
          <p:cNvSpPr>
            <a:spLocks noGrp="1"/>
          </p:cNvSpPr>
          <p:nvPr/>
        </p:nvSpPr>
        <p:spPr>
          <a:xfrm>
            <a:off x="609600" y="1524000"/>
            <a:ext cx="10858500" cy="428625"/>
          </a:xfrm>
          <a:prstGeom prst="rect">
            <a:avLst/>
          </a:prstGeom>
          <a:noFill/>
          <a:ln w="0">
            <a:noFill/>
          </a:ln>
        </p:spPr>
        <p:txBody>
          <a:bodyPr lIns="0" tIns="0" rIns="0" bIns="0">
            <a:noAutofit/>
          </a:bodyPr>
          <a:lstStyle>
            <a:defPPr algn="l">
              <a:defRPr sz="1800" b="0">
                <a:solidFill>
                  <a:srgbClr val="607482"/>
                </a:solidFill>
                <a:latin typeface="Helvetica Neue"/>
                <a:ea typeface="Helvetica Neue"/>
                <a:cs typeface="Helvetica Neue"/>
              </a:defRPr>
            </a:defPPr>
          </a:lstStyle>
          <a:p>
            <a:pPr algn="l">
              <a:buNone/>
              <a:defRPr sz="1800" b="0">
                <a:solidFill>
                  <a:srgbClr val="607482"/>
                </a:solidFill>
                <a:latin typeface="Helvetica Neue"/>
                <a:ea typeface="Helvetica Neue"/>
                <a:cs typeface="Helvetica Neue"/>
              </a:defRPr>
            </a:pPr>
            <a:r>
              <a:rPr sz="1800" b="0">
                <a:solidFill>
                  <a:srgbClr val="607482"/>
                </a:solidFill>
                <a:latin typeface="Helvetica Neue"/>
                <a:ea typeface="Helvetica Neue"/>
                <a:cs typeface="Helvetica Neue"/>
              </a:rPr>
              <a:t>Step 3A. Sagan: Grounding</a:t>
            </a:r>
          </a:p>
        </p:txBody>
      </p:sp>
      <p:sp>
        <p:nvSpPr>
          <p:cNvPr id="4" name="page-number">
            <a:extLst>
              <a:ext uri="{FF2B5EF4-FFF2-40B4-BE49-F238E27FC236}">
                <a16:creationId xmlns:a16="http://schemas.microsoft.com/office/drawing/2014/main" id="{52A081B3-1FAA-45A6-A4D7-10B68299FFA1}"/>
              </a:ext>
            </a:extLst>
          </p:cNvPr>
          <p:cNvSpPr>
            <a:spLocks noGrp="1"/>
          </p:cNvSpPr>
          <p:nvPr/>
        </p:nvSpPr>
        <p:spPr>
          <a:xfrm>
            <a:off x="10953750" y="6438900"/>
            <a:ext cx="666750" cy="228600"/>
          </a:xfrm>
          <a:prstGeom prst="rect">
            <a:avLst/>
          </a:prstGeom>
          <a:noFill/>
          <a:ln w="0">
            <a:noFill/>
          </a:ln>
        </p:spPr>
        <p:txBody>
          <a:bodyPr lIns="0" tIns="0" rIns="0" bIns="0">
            <a:noAutofit/>
          </a:bodyPr>
          <a:lstStyle>
            <a:defPPr algn="r">
              <a:defRPr sz="1125" b="0">
                <a:solidFill>
                  <a:srgbClr val="607482"/>
                </a:solidFill>
                <a:latin typeface="Helvetica Neue"/>
                <a:ea typeface="Helvetica Neue"/>
                <a:cs typeface="Helvetica Neue"/>
              </a:defRPr>
            </a:defPPr>
          </a:lstStyle>
          <a:p>
            <a:pPr algn="r">
              <a:buNone/>
              <a:defRPr sz="1125" b="0">
                <a:solidFill>
                  <a:srgbClr val="607482"/>
                </a:solidFill>
                <a:latin typeface="Helvetica Neue"/>
                <a:ea typeface="Helvetica Neue"/>
                <a:cs typeface="Helvetica Neue"/>
              </a:defRPr>
            </a:pPr>
            <a:r>
              <a:rPr sz="1125" b="0">
                <a:solidFill>
                  <a:srgbClr val="607482"/>
                </a:solidFill>
                <a:latin typeface="Helvetica Neue"/>
                <a:ea typeface="Helvetica Neue"/>
                <a:cs typeface="Helvetica Neue"/>
              </a:rPr>
              <a:t>A12</a:t>
            </a:r>
          </a:p>
        </p:txBody>
      </p:sp>
      <p:sp>
        <p:nvSpPr>
          <p:cNvPr id="5" name="action-list">
            <a:extLst>
              <a:ext uri="{FF2B5EF4-FFF2-40B4-BE49-F238E27FC236}">
                <a16:creationId xmlns:a16="http://schemas.microsoft.com/office/drawing/2014/main" id="{49F37610-F80D-4B3B-A8DD-38DC690C45A2}"/>
              </a:ext>
            </a:extLst>
          </p:cNvPr>
          <p:cNvSpPr>
            <a:spLocks noGrp="1"/>
          </p:cNvSpPr>
          <p:nvPr/>
        </p:nvSpPr>
        <p:spPr>
          <a:xfrm>
            <a:off x="609600" y="2333625"/>
            <a:ext cx="7048500" cy="2047875"/>
          </a:xfrm>
          <a:prstGeom prst="rect">
            <a:avLst/>
          </a:prstGeom>
          <a:noFill/>
          <a:ln w="0">
            <a:noFill/>
          </a:ln>
        </p:spPr>
        <p:txBody>
          <a:bodyPr lIns="0" tIns="0" rIns="0" bIns="0">
            <a:noAutofit/>
          </a:bodyPr>
          <a:lstStyle>
            <a:defPPr algn="l">
              <a:defRPr sz="2100" b="0">
                <a:solidFill>
                  <a:srgbClr val="233A4B"/>
                </a:solidFill>
                <a:latin typeface="Helvetica Neue"/>
                <a:ea typeface="Helvetica Neue"/>
                <a:cs typeface="Helvetica Neue"/>
              </a:defRPr>
            </a:defPPr>
          </a:lstStyle>
          <a:p>
            <a:pPr marL="228600" indent="-114300" algn="l">
              <a:spcAft>
                <a:spcPts val="1800"/>
              </a:spcAft>
              <a:buChar char="•"/>
              <a:defRPr sz="2100" b="0">
                <a:solidFill>
                  <a:srgbClr val="233A4B"/>
                </a:solidFill>
                <a:latin typeface="Helvetica Neue"/>
                <a:ea typeface="Helvetica Neue"/>
                <a:cs typeface="Helvetica Neue"/>
              </a:defRPr>
            </a:pPr>
            <a:endParaRPr/>
          </a:p>
        </p:txBody>
      </p:sp>
      <p:sp>
        <p:nvSpPr>
          <p:cNvPr id="6" name="step-output">
            <a:extLst>
              <a:ext uri="{FF2B5EF4-FFF2-40B4-BE49-F238E27FC236}">
                <a16:creationId xmlns:a16="http://schemas.microsoft.com/office/drawing/2014/main" id="{8FD775CC-3F3A-41E5-92D0-4EA9EEBAAF01}"/>
              </a:ext>
            </a:extLst>
          </p:cNvPr>
          <p:cNvSpPr>
            <a:spLocks noGrp="1"/>
          </p:cNvSpPr>
          <p:nvPr/>
        </p:nvSpPr>
        <p:spPr>
          <a:xfrm>
            <a:off x="8248650" y="2238375"/>
            <a:ext cx="3333750" cy="2000250"/>
          </a:xfrm>
          <a:prstGeom prst="rect">
            <a:avLst/>
          </a:prstGeom>
          <a:solidFill>
            <a:srgbClr val="F3F7FA"/>
          </a:solidFill>
          <a:ln w="9525">
            <a:solidFill>
              <a:srgbClr val="7455B4"/>
            </a:solidFill>
            <a:prstDash val="solid"/>
          </a:ln>
        </p:spPr>
      </p:sp>
      <p:sp>
        <p:nvSpPr>
          <p:cNvPr id="7" name="output-label">
            <a:extLst>
              <a:ext uri="{FF2B5EF4-FFF2-40B4-BE49-F238E27FC236}">
                <a16:creationId xmlns:a16="http://schemas.microsoft.com/office/drawing/2014/main" id="{91934589-A965-4E54-86D3-2A83CA03AD4F}"/>
              </a:ext>
            </a:extLst>
          </p:cNvPr>
          <p:cNvSpPr>
            <a:spLocks noGrp="1"/>
          </p:cNvSpPr>
          <p:nvPr/>
        </p:nvSpPr>
        <p:spPr>
          <a:xfrm>
            <a:off x="8477250" y="2438400"/>
            <a:ext cx="2857500" cy="285750"/>
          </a:xfrm>
          <a:prstGeom prst="rect">
            <a:avLst/>
          </a:prstGeom>
          <a:noFill/>
          <a:ln w="0">
            <a:noFill/>
          </a:ln>
        </p:spPr>
        <p:txBody>
          <a:bodyPr lIns="0" tIns="0" rIns="0" bIns="0">
            <a:noAutofit/>
          </a:bodyPr>
          <a:lstStyle>
            <a:defPPr algn="l">
              <a:defRPr sz="1275" b="1">
                <a:solidFill>
                  <a:srgbClr val="7455B4"/>
                </a:solidFill>
                <a:latin typeface="Helvetica Neue"/>
                <a:ea typeface="Helvetica Neue"/>
                <a:cs typeface="Helvetica Neue"/>
              </a:defRPr>
            </a:defPPr>
          </a:lstStyle>
          <a:p>
            <a:pPr algn="l">
              <a:buNone/>
              <a:defRPr sz="1275" b="1">
                <a:solidFill>
                  <a:srgbClr val="7455B4"/>
                </a:solidFill>
                <a:latin typeface="Helvetica Neue"/>
                <a:ea typeface="Helvetica Neue"/>
                <a:cs typeface="Helvetica Neue"/>
              </a:defRPr>
            </a:pPr>
            <a:r>
              <a:rPr sz="1275" b="1">
                <a:solidFill>
                  <a:srgbClr val="7455B4"/>
                </a:solidFill>
                <a:latin typeface="Helvetica Neue"/>
                <a:ea typeface="Helvetica Neue"/>
                <a:cs typeface="Helvetica Neue"/>
              </a:rPr>
              <a:t>OUTPUT</a:t>
            </a:r>
          </a:p>
        </p:txBody>
      </p:sp>
      <p:sp>
        <p:nvSpPr>
          <p:cNvPr id="8" name="output-description">
            <a:extLst>
              <a:ext uri="{FF2B5EF4-FFF2-40B4-BE49-F238E27FC236}">
                <a16:creationId xmlns:a16="http://schemas.microsoft.com/office/drawing/2014/main" id="{F7FA4181-4D86-4E86-B822-A49688569C54}"/>
              </a:ext>
            </a:extLst>
          </p:cNvPr>
          <p:cNvSpPr>
            <a:spLocks noGrp="1"/>
          </p:cNvSpPr>
          <p:nvPr/>
        </p:nvSpPr>
        <p:spPr>
          <a:xfrm>
            <a:off x="8477250" y="2876550"/>
            <a:ext cx="2857500" cy="1219200"/>
          </a:xfrm>
          <a:prstGeom prst="rect">
            <a:avLst/>
          </a:prstGeom>
          <a:noFill/>
          <a:ln w="0">
            <a:noFill/>
          </a:ln>
        </p:spPr>
        <p:txBody>
          <a:bodyPr lIns="0" tIns="0" rIns="0" bIns="0">
            <a:noAutofit/>
          </a:bodyPr>
          <a:lstStyle>
            <a:defPPr algn="l">
              <a:defRPr sz="2100" b="1">
                <a:solidFill>
                  <a:srgbClr val="102B46"/>
                </a:solidFill>
                <a:latin typeface="Helvetica Neue"/>
                <a:ea typeface="Helvetica Neue"/>
                <a:cs typeface="Helvetica Neue"/>
              </a:defRPr>
            </a:defPPr>
          </a:lstStyle>
          <a:p>
            <a:pPr algn="l">
              <a:buNone/>
              <a:defRPr sz="2100" b="1">
                <a:solidFill>
                  <a:srgbClr val="102B46"/>
                </a:solidFill>
                <a:latin typeface="Helvetica Neue"/>
                <a:ea typeface="Helvetica Neue"/>
                <a:cs typeface="Helvetica Neue"/>
              </a:defRPr>
            </a:pPr>
            <a:r>
              <a:rPr sz="2100" b="1">
                <a:solidFill>
                  <a:srgbClr val="102B46"/>
                </a:solidFill>
                <a:latin typeface="Helvetica Neue"/>
                <a:ea typeface="Helvetica Neue"/>
                <a:cs typeface="Helvetica Neue"/>
              </a:rPr>
              <a:t>Document map</a:t>
            </a:r>
          </a:p>
          <a:p>
            <a:pPr algn="l">
              <a:buNone/>
              <a:defRPr sz="2100" b="1">
                <a:solidFill>
                  <a:srgbClr val="102B46"/>
                </a:solidFill>
                <a:latin typeface="Helvetica Neue"/>
                <a:ea typeface="Helvetica Neue"/>
                <a:cs typeface="Helvetica Neue"/>
              </a:defRPr>
            </a:pPr>
            <a:r>
              <a:rPr sz="2100" b="1">
                <a:solidFill>
                  <a:srgbClr val="102B46"/>
                </a:solidFill>
                <a:latin typeface="Helvetica Neue"/>
                <a:ea typeface="Helvetica Neue"/>
                <a:cs typeface="Helvetica Neue"/>
              </a:rPr>
              <a:t>Evidence gaps</a:t>
            </a:r>
          </a:p>
        </p:txBody>
      </p:sp>
      <p:sp>
        <p:nvSpPr>
          <p:cNvPr id="9" name="prompt-reference">
            <a:extLst>
              <a:ext uri="{FF2B5EF4-FFF2-40B4-BE49-F238E27FC236}">
                <a16:creationId xmlns:a16="http://schemas.microsoft.com/office/drawing/2014/main" id="{6A56C443-3BF0-4065-82B0-781562738907}"/>
              </a:ext>
            </a:extLst>
          </p:cNvPr>
          <p:cNvSpPr>
            <a:spLocks noGrp="1"/>
          </p:cNvSpPr>
          <p:nvPr/>
        </p:nvSpPr>
        <p:spPr>
          <a:xfrm>
            <a:off x="609600" y="4524375"/>
            <a:ext cx="10972800" cy="1381125"/>
          </a:xfrm>
          <a:prstGeom prst="rect">
            <a:avLst/>
          </a:prstGeom>
          <a:solidFill>
            <a:srgbClr val="F6F0FA"/>
          </a:solidFill>
          <a:ln w="0">
            <a:solidFill>
              <a:srgbClr val="F6F0FA"/>
            </a:solidFill>
          </a:ln>
        </p:spPr>
      </p:sp>
      <p:sp>
        <p:nvSpPr>
          <p:cNvPr id="10" name="prompt-label">
            <a:extLst>
              <a:ext uri="{FF2B5EF4-FFF2-40B4-BE49-F238E27FC236}">
                <a16:creationId xmlns:a16="http://schemas.microsoft.com/office/drawing/2014/main" id="{3367A343-D909-49CE-99F2-21F971A8AFBB}"/>
              </a:ext>
            </a:extLst>
          </p:cNvPr>
          <p:cNvSpPr>
            <a:spLocks noGrp="1"/>
          </p:cNvSpPr>
          <p:nvPr/>
        </p:nvSpPr>
        <p:spPr>
          <a:xfrm>
            <a:off x="800100" y="4686300"/>
            <a:ext cx="10525125" cy="228600"/>
          </a:xfrm>
          <a:prstGeom prst="rect">
            <a:avLst/>
          </a:prstGeom>
          <a:noFill/>
          <a:ln w="0">
            <a:noFill/>
          </a:ln>
        </p:spPr>
        <p:txBody>
          <a:bodyPr lIns="0" tIns="0" rIns="0" bIns="0">
            <a:noAutofit/>
          </a:bodyPr>
          <a:lstStyle>
            <a:defPPr algn="l">
              <a:defRPr sz="1200" b="1">
                <a:solidFill>
                  <a:srgbClr val="6C2B91"/>
                </a:solidFill>
                <a:latin typeface="Helvetica Neue"/>
                <a:ea typeface="Helvetica Neue"/>
                <a:cs typeface="Helvetica Neue"/>
              </a:defRPr>
            </a:defPPr>
          </a:lstStyle>
          <a:p>
            <a:pPr algn="l">
              <a:buNone/>
              <a:defRPr sz="1200" b="1">
                <a:solidFill>
                  <a:srgbClr val="6C2B91"/>
                </a:solidFill>
                <a:latin typeface="Helvetica Neue"/>
                <a:ea typeface="Helvetica Neue"/>
                <a:cs typeface="Helvetica Neue"/>
              </a:defRPr>
            </a:pPr>
            <a:r>
              <a:rPr sz="1200" b="1">
                <a:solidFill>
                  <a:srgbClr val="6C2B91"/>
                </a:solidFill>
                <a:latin typeface="Helvetica Neue"/>
                <a:ea typeface="Helvetica Neue"/>
                <a:cs typeface="Helvetica Neue"/>
              </a:rPr>
              <a:t>EXAMPLE PROMPT</a:t>
            </a:r>
          </a:p>
        </p:txBody>
      </p:sp>
      <p:sp>
        <p:nvSpPr>
          <p:cNvPr id="11" name="prompt-content">
            <a:extLst>
              <a:ext uri="{FF2B5EF4-FFF2-40B4-BE49-F238E27FC236}">
                <a16:creationId xmlns:a16="http://schemas.microsoft.com/office/drawing/2014/main" id="{D43005F2-BAF0-42B1-A3D9-C7AAC7F5EDF6}"/>
              </a:ext>
            </a:extLst>
          </p:cNvPr>
          <p:cNvSpPr>
            <a:spLocks noGrp="1"/>
          </p:cNvSpPr>
          <p:nvPr/>
        </p:nvSpPr>
        <p:spPr>
          <a:xfrm>
            <a:off x="800100" y="5019675"/>
            <a:ext cx="10525125" cy="819150"/>
          </a:xfrm>
          <a:prstGeom prst="rect">
            <a:avLst/>
          </a:prstGeom>
          <a:noFill/>
          <a:ln w="0">
            <a:noFill/>
          </a:ln>
        </p:spPr>
        <p:txBody>
          <a:bodyPr lIns="0" tIns="0" rIns="0" bIns="0">
            <a:noAutofit/>
          </a:bodyPr>
          <a:lstStyle>
            <a:defPPr algn="l">
              <a:defRPr sz="1875" b="0">
                <a:solidFill>
                  <a:srgbClr val="6C2B91"/>
                </a:solidFill>
                <a:latin typeface="Helvetica Neue"/>
                <a:ea typeface="Helvetica Neue"/>
                <a:cs typeface="Helvetica Neue"/>
              </a:defRPr>
            </a:defPPr>
          </a:lstStyle>
          <a:p>
            <a:pPr algn="l">
              <a:buNone/>
              <a:defRPr sz="1875" b="0">
                <a:solidFill>
                  <a:srgbClr val="6C2B91"/>
                </a:solidFill>
                <a:latin typeface="Helvetica Neue"/>
                <a:ea typeface="Helvetica Neue"/>
                <a:cs typeface="Helvetica Neue"/>
              </a:defRPr>
            </a:pPr>
            <a:r>
              <a:rPr sz="1875" b="0">
                <a:solidFill>
                  <a:srgbClr val="6C2B91"/>
                </a:solidFill>
                <a:latin typeface="Helvetica Neue"/>
                <a:ea typeface="Helvetica Neue"/>
                <a:cs typeface="Helvetica Neue"/>
              </a:rPr>
              <a:t>"Use [proposal template] to organise our agreed solution. Identify gaps and actions from feedback."</a:t>
            </a:r>
          </a:p>
        </p:txBody>
      </p:sp>
      <p:sp>
        <p:nvSpPr>
          <p:cNvPr id="12" name="discussion-cue">
            <a:extLst>
              <a:ext uri="{FF2B5EF4-FFF2-40B4-BE49-F238E27FC236}">
                <a16:creationId xmlns:a16="http://schemas.microsoft.com/office/drawing/2014/main" id="{21F19484-EB53-48CF-9512-E985FF9C10C2}"/>
              </a:ext>
            </a:extLst>
          </p:cNvPr>
          <p:cNvSpPr>
            <a:spLocks noGrp="1"/>
          </p:cNvSpPr>
          <p:nvPr/>
        </p:nvSpPr>
        <p:spPr>
          <a:xfrm>
            <a:off x="609600" y="6067425"/>
            <a:ext cx="10668000" cy="266700"/>
          </a:xfrm>
          <a:prstGeom prst="rect">
            <a:avLst/>
          </a:prstGeom>
          <a:noFill/>
          <a:ln w="0">
            <a:noFill/>
          </a:ln>
        </p:spPr>
        <p:txBody>
          <a:bodyPr lIns="0" tIns="0" rIns="0" bIns="0">
            <a:noAutofit/>
          </a:bodyPr>
          <a:lstStyle>
            <a:defPPr algn="l">
              <a:defRPr sz="1500" b="0">
                <a:solidFill>
                  <a:srgbClr val="607482"/>
                </a:solidFill>
                <a:latin typeface="Helvetica Neue"/>
                <a:ea typeface="Helvetica Neue"/>
                <a:cs typeface="Helvetica Neue"/>
              </a:defRPr>
            </a:defPPr>
          </a:lstStyle>
          <a:p>
            <a:pPr algn="l">
              <a:buNone/>
              <a:defRPr sz="1500" b="0">
                <a:solidFill>
                  <a:srgbClr val="607482"/>
                </a:solidFill>
                <a:latin typeface="Helvetica Neue"/>
                <a:ea typeface="Helvetica Neue"/>
                <a:cs typeface="Helvetica Neue"/>
              </a:defRPr>
            </a:pPr>
            <a:endParaRPr/>
          </a:p>
        </p:txBody>
      </p:sp>
      <p:pic>
        <p:nvPicPr>
          <p:cNvPr id="14" name="Picture 13">
            <a:extLst>
              <a:ext uri="{FF2B5EF4-FFF2-40B4-BE49-F238E27FC236}">
                <a16:creationId xmlns:a16="http://schemas.microsoft.com/office/drawing/2014/main" id="{699C0773-B03F-4255-B729-9581C7A06530}"/>
              </a:ext>
            </a:extLst>
          </p:cNvPr>
          <p:cNvPicPr>
            <a:picLocks noChangeAspect="1"/>
          </p:cNvPicPr>
          <p:nvPr/>
        </p:nvPicPr>
        <p:blipFill>
          <a:blip r:embed="rId3"/>
          <a:stretch/>
        </p:blipFill>
        <p:spPr>
          <a:xfrm>
            <a:off x="638175" y="2305050"/>
            <a:ext cx="400050" cy="400050"/>
          </a:xfrm>
          <a:prstGeom prst="rect">
            <a:avLst/>
          </a:prstGeom>
        </p:spPr>
      </p:pic>
      <p:sp>
        <p:nvSpPr>
          <p:cNvPr id="15" name="action-1">
            <a:extLst>
              <a:ext uri="{FF2B5EF4-FFF2-40B4-BE49-F238E27FC236}">
                <a16:creationId xmlns:a16="http://schemas.microsoft.com/office/drawing/2014/main" id="{14CD3880-1988-46E5-A1E0-D73AF5190E1F}"/>
              </a:ext>
            </a:extLst>
          </p:cNvPr>
          <p:cNvSpPr>
            <a:spLocks noGrp="1"/>
          </p:cNvSpPr>
          <p:nvPr/>
        </p:nvSpPr>
        <p:spPr>
          <a:xfrm>
            <a:off x="1276350" y="2343150"/>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Incorporate the second review</a:t>
            </a:r>
          </a:p>
        </p:txBody>
      </p:sp>
      <p:pic>
        <p:nvPicPr>
          <p:cNvPr id="16" name="Picture 15">
            <a:extLst>
              <a:ext uri="{FF2B5EF4-FFF2-40B4-BE49-F238E27FC236}">
                <a16:creationId xmlns:a16="http://schemas.microsoft.com/office/drawing/2014/main" id="{31D4A6E4-E65E-46D2-8C95-738F078E2961}"/>
              </a:ext>
            </a:extLst>
          </p:cNvPr>
          <p:cNvPicPr>
            <a:picLocks noChangeAspect="1"/>
          </p:cNvPicPr>
          <p:nvPr/>
        </p:nvPicPr>
        <p:blipFill>
          <a:blip r:embed="rId4"/>
          <a:stretch/>
        </p:blipFill>
        <p:spPr>
          <a:xfrm>
            <a:off x="638175" y="2924175"/>
            <a:ext cx="400050" cy="400050"/>
          </a:xfrm>
          <a:prstGeom prst="rect">
            <a:avLst/>
          </a:prstGeom>
        </p:spPr>
      </p:pic>
      <p:sp>
        <p:nvSpPr>
          <p:cNvPr id="17" name="action-2">
            <a:extLst>
              <a:ext uri="{FF2B5EF4-FFF2-40B4-BE49-F238E27FC236}">
                <a16:creationId xmlns:a16="http://schemas.microsoft.com/office/drawing/2014/main" id="{0A321B1A-97C3-4B93-B35D-EB297F959DA1}"/>
              </a:ext>
            </a:extLst>
          </p:cNvPr>
          <p:cNvSpPr>
            <a:spLocks noGrp="1"/>
          </p:cNvSpPr>
          <p:nvPr/>
        </p:nvSpPr>
        <p:spPr>
          <a:xfrm>
            <a:off x="1276350" y="2962275"/>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Extract the proposal structure</a:t>
            </a:r>
          </a:p>
        </p:txBody>
      </p:sp>
      <p:pic>
        <p:nvPicPr>
          <p:cNvPr id="18" name="Picture 17">
            <a:extLst>
              <a:ext uri="{FF2B5EF4-FFF2-40B4-BE49-F238E27FC236}">
                <a16:creationId xmlns:a16="http://schemas.microsoft.com/office/drawing/2014/main" id="{B863A56B-B4EB-464F-A796-DC63D25F477D}"/>
              </a:ext>
            </a:extLst>
          </p:cNvPr>
          <p:cNvPicPr>
            <a:picLocks noChangeAspect="1"/>
          </p:cNvPicPr>
          <p:nvPr/>
        </p:nvPicPr>
        <p:blipFill>
          <a:blip r:embed="rId5"/>
          <a:stretch/>
        </p:blipFill>
        <p:spPr>
          <a:xfrm>
            <a:off x="638175" y="3543300"/>
            <a:ext cx="400050" cy="400050"/>
          </a:xfrm>
          <a:prstGeom prst="rect">
            <a:avLst/>
          </a:prstGeom>
        </p:spPr>
      </p:pic>
      <p:sp>
        <p:nvSpPr>
          <p:cNvPr id="19" name="action-3">
            <a:extLst>
              <a:ext uri="{FF2B5EF4-FFF2-40B4-BE49-F238E27FC236}">
                <a16:creationId xmlns:a16="http://schemas.microsoft.com/office/drawing/2014/main" id="{C70A782B-1A65-4636-B872-C52E2A87C162}"/>
              </a:ext>
            </a:extLst>
          </p:cNvPr>
          <p:cNvSpPr>
            <a:spLocks noGrp="1"/>
          </p:cNvSpPr>
          <p:nvPr/>
        </p:nvSpPr>
        <p:spPr>
          <a:xfrm>
            <a:off x="1276350" y="3581400"/>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Assign evidence to each section</a:t>
            </a:r>
          </a:p>
        </p:txBody>
      </p:sp>
    </p:spTree>
    <p:extLst>
      <p:ext uri="{BB962C8B-B14F-4D97-AF65-F5344CB8AC3E}">
        <p14:creationId xmlns:p14="http://schemas.microsoft.com/office/powerpoint/2010/main" val="16403095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3" name="section-label">
            <a:extLst>
              <a:ext uri="{FF2B5EF4-FFF2-40B4-BE49-F238E27FC236}">
                <a16:creationId xmlns:a16="http://schemas.microsoft.com/office/drawing/2014/main" id="{3E73A914-FFAB-4C35-823A-ADE79491C0C6}"/>
              </a:ext>
            </a:extLst>
          </p:cNvPr>
          <p:cNvSpPr>
            <a:spLocks noGrp="1"/>
          </p:cNvSpPr>
          <p:nvPr/>
        </p:nvSpPr>
        <p:spPr>
          <a:xfrm>
            <a:off x="609600" y="285750"/>
            <a:ext cx="10668000" cy="285750"/>
          </a:xfrm>
          <a:prstGeom prst="rect">
            <a:avLst/>
          </a:prstGeom>
          <a:noFill/>
          <a:ln w="0">
            <a:noFill/>
          </a:ln>
        </p:spPr>
        <p:txBody>
          <a:bodyPr lIns="0" tIns="0" rIns="0" bIns="0">
            <a:noAutofit/>
          </a:bodyPr>
          <a:lstStyle>
            <a:defPPr algn="l">
              <a:defRPr sz="1200" b="1">
                <a:solidFill>
                  <a:srgbClr val="7455B4"/>
                </a:solidFill>
                <a:latin typeface="Helvetica Neue"/>
                <a:ea typeface="Helvetica Neue"/>
                <a:cs typeface="Helvetica Neue"/>
              </a:defRPr>
            </a:defPPr>
          </a:lstStyle>
          <a:p>
            <a:pPr algn="l">
              <a:buNone/>
              <a:defRPr sz="1200" b="1">
                <a:solidFill>
                  <a:srgbClr val="7455B4"/>
                </a:solidFill>
                <a:latin typeface="Helvetica Neue"/>
                <a:ea typeface="Helvetica Neue"/>
                <a:cs typeface="Helvetica Neue"/>
              </a:defRPr>
            </a:pPr>
            <a:r>
              <a:rPr sz="1200" b="1">
                <a:solidFill>
                  <a:srgbClr val="7455B4"/>
                </a:solidFill>
                <a:latin typeface="Helvetica Neue"/>
                <a:ea typeface="Helvetica Neue"/>
                <a:cs typeface="Helvetica Neue"/>
              </a:rPr>
              <a:t>APPENDIX: SESSION 3: PROPOSAL AND EXECUTION PLAN</a:t>
            </a:r>
          </a:p>
        </p:txBody>
      </p:sp>
      <p:sp>
        <p:nvSpPr>
          <p:cNvPr id="2" name="slide-title">
            <a:extLst>
              <a:ext uri="{FF2B5EF4-FFF2-40B4-BE49-F238E27FC236}">
                <a16:creationId xmlns:a16="http://schemas.microsoft.com/office/drawing/2014/main" id="{C5A5DC27-B011-43B3-A10B-C78BE23886F1}"/>
              </a:ext>
            </a:extLst>
          </p:cNvPr>
          <p:cNvSpPr>
            <a:spLocks noGrp="1"/>
          </p:cNvSpPr>
          <p:nvPr/>
        </p:nvSpPr>
        <p:spPr>
          <a:xfrm>
            <a:off x="609600" y="781050"/>
            <a:ext cx="10858500" cy="857250"/>
          </a:xfrm>
          <a:prstGeom prst="rect">
            <a:avLst/>
          </a:prstGeom>
          <a:noFill/>
          <a:ln w="0">
            <a:noFill/>
          </a:ln>
        </p:spPr>
        <p:txBody>
          <a:bodyPr lIns="0" tIns="0" rIns="0" bIns="0">
            <a:noAutofit/>
          </a:bodyPr>
          <a:lstStyle>
            <a:defPPr algn="l">
              <a:defRPr sz="3450" b="1">
                <a:solidFill>
                  <a:srgbClr val="102B46"/>
                </a:solidFill>
                <a:latin typeface="Helvetica Neue"/>
                <a:ea typeface="Helvetica Neue"/>
                <a:cs typeface="Helvetica Neue"/>
              </a:defRPr>
            </a:defPPr>
          </a:lstStyle>
          <a:p>
            <a:pPr algn="l">
              <a:buNone/>
              <a:defRPr sz="3450" b="1">
                <a:solidFill>
                  <a:srgbClr val="102B46"/>
                </a:solidFill>
                <a:latin typeface="Helvetica Neue"/>
                <a:ea typeface="Helvetica Neue"/>
                <a:cs typeface="Helvetica Neue"/>
              </a:defRPr>
            </a:pPr>
            <a:r>
              <a:rPr sz="3450" b="1">
                <a:solidFill>
                  <a:srgbClr val="102B46"/>
                </a:solidFill>
                <a:latin typeface="Helvetica Neue"/>
                <a:ea typeface="Helvetica Neue"/>
                <a:cs typeface="Helvetica Neue"/>
              </a:rPr>
              <a:t>Solution refinement and team capabilities</a:t>
            </a:r>
          </a:p>
        </p:txBody>
      </p:sp>
      <p:sp>
        <p:nvSpPr>
          <p:cNvPr id="3" name="subtitle">
            <a:extLst>
              <a:ext uri="{FF2B5EF4-FFF2-40B4-BE49-F238E27FC236}">
                <a16:creationId xmlns:a16="http://schemas.microsoft.com/office/drawing/2014/main" id="{0C3ADD16-3C53-483F-A9AB-6F1AFAB9E751}"/>
              </a:ext>
            </a:extLst>
          </p:cNvPr>
          <p:cNvSpPr>
            <a:spLocks noGrp="1"/>
          </p:cNvSpPr>
          <p:nvPr/>
        </p:nvSpPr>
        <p:spPr>
          <a:xfrm>
            <a:off x="609600" y="1524000"/>
            <a:ext cx="10858500" cy="428625"/>
          </a:xfrm>
          <a:prstGeom prst="rect">
            <a:avLst/>
          </a:prstGeom>
          <a:noFill/>
          <a:ln w="0">
            <a:noFill/>
          </a:ln>
        </p:spPr>
        <p:txBody>
          <a:bodyPr lIns="0" tIns="0" rIns="0" bIns="0">
            <a:noAutofit/>
          </a:bodyPr>
          <a:lstStyle>
            <a:defPPr algn="l">
              <a:defRPr sz="1800" b="0">
                <a:solidFill>
                  <a:srgbClr val="607482"/>
                </a:solidFill>
                <a:latin typeface="Helvetica Neue"/>
                <a:ea typeface="Helvetica Neue"/>
                <a:cs typeface="Helvetica Neue"/>
              </a:defRPr>
            </a:defPPr>
          </a:lstStyle>
          <a:p>
            <a:pPr algn="l">
              <a:buNone/>
              <a:defRPr sz="1800" b="0">
                <a:solidFill>
                  <a:srgbClr val="607482"/>
                </a:solidFill>
                <a:latin typeface="Helvetica Neue"/>
                <a:ea typeface="Helvetica Neue"/>
                <a:cs typeface="Helvetica Neue"/>
              </a:defRPr>
            </a:pPr>
            <a:r>
              <a:rPr sz="1800" b="0">
                <a:solidFill>
                  <a:srgbClr val="607482"/>
                </a:solidFill>
                <a:latin typeface="Helvetica Neue"/>
                <a:ea typeface="Helvetica Neue"/>
                <a:cs typeface="Helvetica Neue"/>
              </a:rPr>
              <a:t>Step 3B. Sagan: Proposal Ideation</a:t>
            </a:r>
          </a:p>
        </p:txBody>
      </p:sp>
      <p:sp>
        <p:nvSpPr>
          <p:cNvPr id="4" name="page-number">
            <a:extLst>
              <a:ext uri="{FF2B5EF4-FFF2-40B4-BE49-F238E27FC236}">
                <a16:creationId xmlns:a16="http://schemas.microsoft.com/office/drawing/2014/main" id="{CE6C3234-9EBD-4CA9-A0F4-14BC2983CB9D}"/>
              </a:ext>
            </a:extLst>
          </p:cNvPr>
          <p:cNvSpPr>
            <a:spLocks noGrp="1"/>
          </p:cNvSpPr>
          <p:nvPr/>
        </p:nvSpPr>
        <p:spPr>
          <a:xfrm>
            <a:off x="10953750" y="6438900"/>
            <a:ext cx="666750" cy="228600"/>
          </a:xfrm>
          <a:prstGeom prst="rect">
            <a:avLst/>
          </a:prstGeom>
          <a:noFill/>
          <a:ln w="0">
            <a:noFill/>
          </a:ln>
        </p:spPr>
        <p:txBody>
          <a:bodyPr lIns="0" tIns="0" rIns="0" bIns="0">
            <a:noAutofit/>
          </a:bodyPr>
          <a:lstStyle>
            <a:defPPr algn="r">
              <a:defRPr sz="1125" b="0">
                <a:solidFill>
                  <a:srgbClr val="607482"/>
                </a:solidFill>
                <a:latin typeface="Helvetica Neue"/>
                <a:ea typeface="Helvetica Neue"/>
                <a:cs typeface="Helvetica Neue"/>
              </a:defRPr>
            </a:defPPr>
          </a:lstStyle>
          <a:p>
            <a:pPr algn="r">
              <a:buNone/>
              <a:defRPr sz="1125" b="0">
                <a:solidFill>
                  <a:srgbClr val="607482"/>
                </a:solidFill>
                <a:latin typeface="Helvetica Neue"/>
                <a:ea typeface="Helvetica Neue"/>
                <a:cs typeface="Helvetica Neue"/>
              </a:defRPr>
            </a:pPr>
            <a:r>
              <a:rPr sz="1125" b="0">
                <a:solidFill>
                  <a:srgbClr val="607482"/>
                </a:solidFill>
                <a:latin typeface="Helvetica Neue"/>
                <a:ea typeface="Helvetica Neue"/>
                <a:cs typeface="Helvetica Neue"/>
              </a:rPr>
              <a:t>A13</a:t>
            </a:r>
          </a:p>
        </p:txBody>
      </p:sp>
      <p:sp>
        <p:nvSpPr>
          <p:cNvPr id="5" name="action-list">
            <a:extLst>
              <a:ext uri="{FF2B5EF4-FFF2-40B4-BE49-F238E27FC236}">
                <a16:creationId xmlns:a16="http://schemas.microsoft.com/office/drawing/2014/main" id="{BAFF695D-DC45-43FD-9C94-5DA52FB8D39C}"/>
              </a:ext>
            </a:extLst>
          </p:cNvPr>
          <p:cNvSpPr>
            <a:spLocks noGrp="1"/>
          </p:cNvSpPr>
          <p:nvPr/>
        </p:nvSpPr>
        <p:spPr>
          <a:xfrm>
            <a:off x="609600" y="2333625"/>
            <a:ext cx="7048500" cy="2047875"/>
          </a:xfrm>
          <a:prstGeom prst="rect">
            <a:avLst/>
          </a:prstGeom>
          <a:noFill/>
          <a:ln w="0">
            <a:noFill/>
          </a:ln>
        </p:spPr>
        <p:txBody>
          <a:bodyPr lIns="0" tIns="0" rIns="0" bIns="0">
            <a:noAutofit/>
          </a:bodyPr>
          <a:lstStyle>
            <a:defPPr algn="l">
              <a:defRPr sz="2100" b="0">
                <a:solidFill>
                  <a:srgbClr val="233A4B"/>
                </a:solidFill>
                <a:latin typeface="Helvetica Neue"/>
                <a:ea typeface="Helvetica Neue"/>
                <a:cs typeface="Helvetica Neue"/>
              </a:defRPr>
            </a:defPPr>
          </a:lstStyle>
          <a:p>
            <a:pPr marL="228600" indent="-114300" algn="l">
              <a:spcAft>
                <a:spcPts val="1800"/>
              </a:spcAft>
              <a:buChar char="•"/>
              <a:defRPr sz="2100" b="0">
                <a:solidFill>
                  <a:srgbClr val="233A4B"/>
                </a:solidFill>
                <a:latin typeface="Helvetica Neue"/>
                <a:ea typeface="Helvetica Neue"/>
                <a:cs typeface="Helvetica Neue"/>
              </a:defRPr>
            </a:pPr>
            <a:endParaRPr/>
          </a:p>
        </p:txBody>
      </p:sp>
      <p:sp>
        <p:nvSpPr>
          <p:cNvPr id="6" name="step-output">
            <a:extLst>
              <a:ext uri="{FF2B5EF4-FFF2-40B4-BE49-F238E27FC236}">
                <a16:creationId xmlns:a16="http://schemas.microsoft.com/office/drawing/2014/main" id="{2D4409D3-B82A-45C0-9A0D-4A65AE9A2D46}"/>
              </a:ext>
            </a:extLst>
          </p:cNvPr>
          <p:cNvSpPr>
            <a:spLocks noGrp="1"/>
          </p:cNvSpPr>
          <p:nvPr/>
        </p:nvSpPr>
        <p:spPr>
          <a:xfrm>
            <a:off x="8248650" y="2238375"/>
            <a:ext cx="3333750" cy="2000250"/>
          </a:xfrm>
          <a:prstGeom prst="rect">
            <a:avLst/>
          </a:prstGeom>
          <a:solidFill>
            <a:srgbClr val="F3F7FA"/>
          </a:solidFill>
          <a:ln w="9525">
            <a:solidFill>
              <a:srgbClr val="7455B4"/>
            </a:solidFill>
            <a:prstDash val="solid"/>
          </a:ln>
        </p:spPr>
      </p:sp>
      <p:sp>
        <p:nvSpPr>
          <p:cNvPr id="7" name="output-label">
            <a:extLst>
              <a:ext uri="{FF2B5EF4-FFF2-40B4-BE49-F238E27FC236}">
                <a16:creationId xmlns:a16="http://schemas.microsoft.com/office/drawing/2014/main" id="{DBB89D71-A582-4906-9F1F-BDF3637C14EA}"/>
              </a:ext>
            </a:extLst>
          </p:cNvPr>
          <p:cNvSpPr>
            <a:spLocks noGrp="1"/>
          </p:cNvSpPr>
          <p:nvPr/>
        </p:nvSpPr>
        <p:spPr>
          <a:xfrm>
            <a:off x="8477250" y="2438400"/>
            <a:ext cx="2857500" cy="285750"/>
          </a:xfrm>
          <a:prstGeom prst="rect">
            <a:avLst/>
          </a:prstGeom>
          <a:noFill/>
          <a:ln w="0">
            <a:noFill/>
          </a:ln>
        </p:spPr>
        <p:txBody>
          <a:bodyPr lIns="0" tIns="0" rIns="0" bIns="0">
            <a:noAutofit/>
          </a:bodyPr>
          <a:lstStyle>
            <a:defPPr algn="l">
              <a:defRPr sz="1275" b="1">
                <a:solidFill>
                  <a:srgbClr val="7455B4"/>
                </a:solidFill>
                <a:latin typeface="Helvetica Neue"/>
                <a:ea typeface="Helvetica Neue"/>
                <a:cs typeface="Helvetica Neue"/>
              </a:defRPr>
            </a:defPPr>
          </a:lstStyle>
          <a:p>
            <a:pPr algn="l">
              <a:buNone/>
              <a:defRPr sz="1275" b="1">
                <a:solidFill>
                  <a:srgbClr val="7455B4"/>
                </a:solidFill>
                <a:latin typeface="Helvetica Neue"/>
                <a:ea typeface="Helvetica Neue"/>
                <a:cs typeface="Helvetica Neue"/>
              </a:defRPr>
            </a:pPr>
            <a:r>
              <a:rPr sz="1275" b="1">
                <a:solidFill>
                  <a:srgbClr val="7455B4"/>
                </a:solidFill>
                <a:latin typeface="Helvetica Neue"/>
                <a:ea typeface="Helvetica Neue"/>
                <a:cs typeface="Helvetica Neue"/>
              </a:rPr>
              <a:t>OUTPUT</a:t>
            </a:r>
          </a:p>
        </p:txBody>
      </p:sp>
      <p:sp>
        <p:nvSpPr>
          <p:cNvPr id="8" name="output-description">
            <a:extLst>
              <a:ext uri="{FF2B5EF4-FFF2-40B4-BE49-F238E27FC236}">
                <a16:creationId xmlns:a16="http://schemas.microsoft.com/office/drawing/2014/main" id="{E14DC29E-1065-4EFC-A801-A4C2B96D717F}"/>
              </a:ext>
            </a:extLst>
          </p:cNvPr>
          <p:cNvSpPr>
            <a:spLocks noGrp="1"/>
          </p:cNvSpPr>
          <p:nvPr/>
        </p:nvSpPr>
        <p:spPr>
          <a:xfrm>
            <a:off x="8477250" y="2876550"/>
            <a:ext cx="2857500" cy="1219200"/>
          </a:xfrm>
          <a:prstGeom prst="rect">
            <a:avLst/>
          </a:prstGeom>
          <a:noFill/>
          <a:ln w="0">
            <a:noFill/>
          </a:ln>
        </p:spPr>
        <p:txBody>
          <a:bodyPr lIns="0" tIns="0" rIns="0" bIns="0">
            <a:noAutofit/>
          </a:bodyPr>
          <a:lstStyle>
            <a:defPPr algn="l">
              <a:defRPr sz="2100" b="1">
                <a:solidFill>
                  <a:srgbClr val="102B46"/>
                </a:solidFill>
                <a:latin typeface="Helvetica Neue"/>
                <a:ea typeface="Helvetica Neue"/>
                <a:cs typeface="Helvetica Neue"/>
              </a:defRPr>
            </a:defPPr>
          </a:lstStyle>
          <a:p>
            <a:pPr algn="l">
              <a:buNone/>
              <a:defRPr sz="2100" b="1">
                <a:solidFill>
                  <a:srgbClr val="102B46"/>
                </a:solidFill>
                <a:latin typeface="Helvetica Neue"/>
                <a:ea typeface="Helvetica Neue"/>
                <a:cs typeface="Helvetica Neue"/>
              </a:defRPr>
            </a:pPr>
            <a:r>
              <a:rPr sz="2100" b="1">
                <a:solidFill>
                  <a:srgbClr val="102B46"/>
                </a:solidFill>
                <a:latin typeface="Helvetica Neue"/>
                <a:ea typeface="Helvetica Neue"/>
                <a:cs typeface="Helvetica Neue"/>
              </a:rPr>
              <a:t>Refined solution</a:t>
            </a:r>
          </a:p>
          <a:p>
            <a:pPr algn="l">
              <a:buNone/>
              <a:defRPr sz="2100" b="1">
                <a:solidFill>
                  <a:srgbClr val="102B46"/>
                </a:solidFill>
                <a:latin typeface="Helvetica Neue"/>
                <a:ea typeface="Helvetica Neue"/>
                <a:cs typeface="Helvetica Neue"/>
              </a:defRPr>
            </a:pPr>
            <a:r>
              <a:rPr sz="2100" b="1">
                <a:solidFill>
                  <a:srgbClr val="102B46"/>
                </a:solidFill>
                <a:latin typeface="Helvetica Neue"/>
                <a:ea typeface="Helvetica Neue"/>
                <a:cs typeface="Helvetica Neue"/>
              </a:rPr>
              <a:t>Partner needs</a:t>
            </a:r>
          </a:p>
        </p:txBody>
      </p:sp>
      <p:sp>
        <p:nvSpPr>
          <p:cNvPr id="9" name="prompt-reference">
            <a:extLst>
              <a:ext uri="{FF2B5EF4-FFF2-40B4-BE49-F238E27FC236}">
                <a16:creationId xmlns:a16="http://schemas.microsoft.com/office/drawing/2014/main" id="{94C4985F-A597-4B65-B522-02ED70209684}"/>
              </a:ext>
            </a:extLst>
          </p:cNvPr>
          <p:cNvSpPr>
            <a:spLocks noGrp="1"/>
          </p:cNvSpPr>
          <p:nvPr/>
        </p:nvSpPr>
        <p:spPr>
          <a:xfrm>
            <a:off x="609600" y="4524375"/>
            <a:ext cx="10972800" cy="1381125"/>
          </a:xfrm>
          <a:prstGeom prst="rect">
            <a:avLst/>
          </a:prstGeom>
          <a:solidFill>
            <a:srgbClr val="F6F0FA"/>
          </a:solidFill>
          <a:ln w="0">
            <a:solidFill>
              <a:srgbClr val="F6F0FA"/>
            </a:solidFill>
          </a:ln>
        </p:spPr>
      </p:sp>
      <p:sp>
        <p:nvSpPr>
          <p:cNvPr id="10" name="prompt-label">
            <a:extLst>
              <a:ext uri="{FF2B5EF4-FFF2-40B4-BE49-F238E27FC236}">
                <a16:creationId xmlns:a16="http://schemas.microsoft.com/office/drawing/2014/main" id="{E0B304A3-C5BA-4095-9E1F-3E633B17A822}"/>
              </a:ext>
            </a:extLst>
          </p:cNvPr>
          <p:cNvSpPr>
            <a:spLocks noGrp="1"/>
          </p:cNvSpPr>
          <p:nvPr/>
        </p:nvSpPr>
        <p:spPr>
          <a:xfrm>
            <a:off x="800100" y="4686300"/>
            <a:ext cx="10525125" cy="228600"/>
          </a:xfrm>
          <a:prstGeom prst="rect">
            <a:avLst/>
          </a:prstGeom>
          <a:noFill/>
          <a:ln w="0">
            <a:noFill/>
          </a:ln>
        </p:spPr>
        <p:txBody>
          <a:bodyPr lIns="0" tIns="0" rIns="0" bIns="0">
            <a:noAutofit/>
          </a:bodyPr>
          <a:lstStyle>
            <a:defPPr algn="l">
              <a:defRPr sz="1200" b="1">
                <a:solidFill>
                  <a:srgbClr val="6C2B91"/>
                </a:solidFill>
                <a:latin typeface="Helvetica Neue"/>
                <a:ea typeface="Helvetica Neue"/>
                <a:cs typeface="Helvetica Neue"/>
              </a:defRPr>
            </a:defPPr>
          </a:lstStyle>
          <a:p>
            <a:pPr algn="l">
              <a:buNone/>
              <a:defRPr sz="1200" b="1">
                <a:solidFill>
                  <a:srgbClr val="6C2B91"/>
                </a:solidFill>
                <a:latin typeface="Helvetica Neue"/>
                <a:ea typeface="Helvetica Neue"/>
                <a:cs typeface="Helvetica Neue"/>
              </a:defRPr>
            </a:pPr>
            <a:r>
              <a:rPr sz="1200" b="1">
                <a:solidFill>
                  <a:srgbClr val="6C2B91"/>
                </a:solidFill>
                <a:latin typeface="Helvetica Neue"/>
                <a:ea typeface="Helvetica Neue"/>
                <a:cs typeface="Helvetica Neue"/>
              </a:rPr>
              <a:t>EXAMPLE PROMPT</a:t>
            </a:r>
          </a:p>
        </p:txBody>
      </p:sp>
      <p:sp>
        <p:nvSpPr>
          <p:cNvPr id="11" name="prompt-content">
            <a:extLst>
              <a:ext uri="{FF2B5EF4-FFF2-40B4-BE49-F238E27FC236}">
                <a16:creationId xmlns:a16="http://schemas.microsoft.com/office/drawing/2014/main" id="{64D8B731-599D-4067-92B8-853F9DD4025C}"/>
              </a:ext>
            </a:extLst>
          </p:cNvPr>
          <p:cNvSpPr>
            <a:spLocks noGrp="1"/>
          </p:cNvSpPr>
          <p:nvPr/>
        </p:nvSpPr>
        <p:spPr>
          <a:xfrm>
            <a:off x="800100" y="5019675"/>
            <a:ext cx="10525125" cy="819150"/>
          </a:xfrm>
          <a:prstGeom prst="rect">
            <a:avLst/>
          </a:prstGeom>
          <a:noFill/>
          <a:ln w="0">
            <a:noFill/>
          </a:ln>
        </p:spPr>
        <p:txBody>
          <a:bodyPr lIns="0" tIns="0" rIns="0" bIns="0">
            <a:noAutofit/>
          </a:bodyPr>
          <a:lstStyle>
            <a:defPPr algn="l">
              <a:defRPr sz="1875" b="0">
                <a:solidFill>
                  <a:srgbClr val="6C2B91"/>
                </a:solidFill>
                <a:latin typeface="Helvetica Neue"/>
                <a:ea typeface="Helvetica Neue"/>
                <a:cs typeface="Helvetica Neue"/>
              </a:defRPr>
            </a:defPPr>
          </a:lstStyle>
          <a:p>
            <a:pPr algn="l">
              <a:buNone/>
              <a:defRPr sz="1875" b="0">
                <a:solidFill>
                  <a:srgbClr val="6C2B91"/>
                </a:solidFill>
                <a:latin typeface="Helvetica Neue"/>
                <a:ea typeface="Helvetica Neue"/>
                <a:cs typeface="Helvetica Neue"/>
              </a:defRPr>
            </a:pPr>
            <a:r>
              <a:rPr sz="1875" b="0">
                <a:solidFill>
                  <a:srgbClr val="6C2B91"/>
                </a:solidFill>
                <a:latin typeface="Helvetica Neue"/>
                <a:ea typeface="Helvetica Neue"/>
                <a:cs typeface="Helvetica Neue"/>
              </a:rPr>
              <a:t>"Refine [Solution V2] using [feedback]. Resolve technical, business and regulatory gaps. Identify partner needs."</a:t>
            </a:r>
          </a:p>
        </p:txBody>
      </p:sp>
      <p:sp>
        <p:nvSpPr>
          <p:cNvPr id="12" name="discussion-cue">
            <a:extLst>
              <a:ext uri="{FF2B5EF4-FFF2-40B4-BE49-F238E27FC236}">
                <a16:creationId xmlns:a16="http://schemas.microsoft.com/office/drawing/2014/main" id="{31524FB7-7EA2-4F48-8D64-6E53E5D0BAD9}"/>
              </a:ext>
            </a:extLst>
          </p:cNvPr>
          <p:cNvSpPr>
            <a:spLocks noGrp="1"/>
          </p:cNvSpPr>
          <p:nvPr/>
        </p:nvSpPr>
        <p:spPr>
          <a:xfrm>
            <a:off x="609600" y="6067425"/>
            <a:ext cx="10668000" cy="266700"/>
          </a:xfrm>
          <a:prstGeom prst="rect">
            <a:avLst/>
          </a:prstGeom>
          <a:noFill/>
          <a:ln w="0">
            <a:noFill/>
          </a:ln>
        </p:spPr>
        <p:txBody>
          <a:bodyPr lIns="0" tIns="0" rIns="0" bIns="0">
            <a:noAutofit/>
          </a:bodyPr>
          <a:lstStyle>
            <a:defPPr algn="l">
              <a:defRPr sz="1500" b="0">
                <a:solidFill>
                  <a:srgbClr val="607482"/>
                </a:solidFill>
                <a:latin typeface="Helvetica Neue"/>
                <a:ea typeface="Helvetica Neue"/>
                <a:cs typeface="Helvetica Neue"/>
              </a:defRPr>
            </a:defPPr>
          </a:lstStyle>
          <a:p>
            <a:pPr algn="l">
              <a:buNone/>
              <a:defRPr sz="1500" b="0">
                <a:solidFill>
                  <a:srgbClr val="607482"/>
                </a:solidFill>
                <a:latin typeface="Helvetica Neue"/>
                <a:ea typeface="Helvetica Neue"/>
                <a:cs typeface="Helvetica Neue"/>
              </a:defRPr>
            </a:pPr>
            <a:endParaRPr/>
          </a:p>
        </p:txBody>
      </p:sp>
      <p:pic>
        <p:nvPicPr>
          <p:cNvPr id="14" name="Picture 13">
            <a:extLst>
              <a:ext uri="{FF2B5EF4-FFF2-40B4-BE49-F238E27FC236}">
                <a16:creationId xmlns:a16="http://schemas.microsoft.com/office/drawing/2014/main" id="{7ECFEF01-0E74-48E1-8080-6EA661BD0C20}"/>
              </a:ext>
            </a:extLst>
          </p:cNvPr>
          <p:cNvPicPr>
            <a:picLocks noChangeAspect="1"/>
          </p:cNvPicPr>
          <p:nvPr/>
        </p:nvPicPr>
        <p:blipFill>
          <a:blip r:embed="rId3"/>
          <a:stretch/>
        </p:blipFill>
        <p:spPr>
          <a:xfrm>
            <a:off x="638175" y="2305050"/>
            <a:ext cx="400050" cy="400050"/>
          </a:xfrm>
          <a:prstGeom prst="rect">
            <a:avLst/>
          </a:prstGeom>
        </p:spPr>
      </p:pic>
      <p:sp>
        <p:nvSpPr>
          <p:cNvPr id="15" name="action-1">
            <a:extLst>
              <a:ext uri="{FF2B5EF4-FFF2-40B4-BE49-F238E27FC236}">
                <a16:creationId xmlns:a16="http://schemas.microsoft.com/office/drawing/2014/main" id="{293F1D8B-F147-4968-9EFD-4BFCA86141A4}"/>
              </a:ext>
            </a:extLst>
          </p:cNvPr>
          <p:cNvSpPr>
            <a:spLocks noGrp="1"/>
          </p:cNvSpPr>
          <p:nvPr/>
        </p:nvSpPr>
        <p:spPr>
          <a:xfrm>
            <a:off x="1276350" y="2343150"/>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Refine technical and commercial choices</a:t>
            </a:r>
          </a:p>
        </p:txBody>
      </p:sp>
      <p:pic>
        <p:nvPicPr>
          <p:cNvPr id="16" name="Picture 15">
            <a:extLst>
              <a:ext uri="{FF2B5EF4-FFF2-40B4-BE49-F238E27FC236}">
                <a16:creationId xmlns:a16="http://schemas.microsoft.com/office/drawing/2014/main" id="{C163ADA6-860E-411B-BDCE-A300DCB2BBB3}"/>
              </a:ext>
            </a:extLst>
          </p:cNvPr>
          <p:cNvPicPr>
            <a:picLocks noChangeAspect="1"/>
          </p:cNvPicPr>
          <p:nvPr/>
        </p:nvPicPr>
        <p:blipFill>
          <a:blip r:embed="rId4"/>
          <a:stretch/>
        </p:blipFill>
        <p:spPr>
          <a:xfrm>
            <a:off x="638175" y="2924175"/>
            <a:ext cx="400050" cy="400050"/>
          </a:xfrm>
          <a:prstGeom prst="rect">
            <a:avLst/>
          </a:prstGeom>
        </p:spPr>
      </p:pic>
      <p:sp>
        <p:nvSpPr>
          <p:cNvPr id="17" name="action-2">
            <a:extLst>
              <a:ext uri="{FF2B5EF4-FFF2-40B4-BE49-F238E27FC236}">
                <a16:creationId xmlns:a16="http://schemas.microsoft.com/office/drawing/2014/main" id="{A74FFEE0-BB71-47A8-A2CA-3A8BDBCACC9F}"/>
              </a:ext>
            </a:extLst>
          </p:cNvPr>
          <p:cNvSpPr>
            <a:spLocks noGrp="1"/>
          </p:cNvSpPr>
          <p:nvPr/>
        </p:nvSpPr>
        <p:spPr>
          <a:xfrm>
            <a:off x="1276350" y="2962275"/>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Resolve business and regulatory questions</a:t>
            </a:r>
          </a:p>
        </p:txBody>
      </p:sp>
      <p:pic>
        <p:nvPicPr>
          <p:cNvPr id="18" name="Picture 17">
            <a:extLst>
              <a:ext uri="{FF2B5EF4-FFF2-40B4-BE49-F238E27FC236}">
                <a16:creationId xmlns:a16="http://schemas.microsoft.com/office/drawing/2014/main" id="{E296CCB8-A203-4293-AA8D-1168714CC1AF}"/>
              </a:ext>
            </a:extLst>
          </p:cNvPr>
          <p:cNvPicPr>
            <a:picLocks noChangeAspect="1"/>
          </p:cNvPicPr>
          <p:nvPr/>
        </p:nvPicPr>
        <p:blipFill>
          <a:blip r:embed="rId5"/>
          <a:stretch/>
        </p:blipFill>
        <p:spPr>
          <a:xfrm>
            <a:off x="638175" y="3543300"/>
            <a:ext cx="400050" cy="400050"/>
          </a:xfrm>
          <a:prstGeom prst="rect">
            <a:avLst/>
          </a:prstGeom>
        </p:spPr>
      </p:pic>
      <p:sp>
        <p:nvSpPr>
          <p:cNvPr id="19" name="action-3">
            <a:extLst>
              <a:ext uri="{FF2B5EF4-FFF2-40B4-BE49-F238E27FC236}">
                <a16:creationId xmlns:a16="http://schemas.microsoft.com/office/drawing/2014/main" id="{FEBDEA16-A65A-454B-B4EF-A56EDCB140AD}"/>
              </a:ext>
            </a:extLst>
          </p:cNvPr>
          <p:cNvSpPr>
            <a:spLocks noGrp="1"/>
          </p:cNvSpPr>
          <p:nvPr/>
        </p:nvSpPr>
        <p:spPr>
          <a:xfrm>
            <a:off x="1276350" y="3581400"/>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Identify capability and partner gaps</a:t>
            </a:r>
          </a:p>
        </p:txBody>
      </p:sp>
    </p:spTree>
    <p:extLst>
      <p:ext uri="{BB962C8B-B14F-4D97-AF65-F5344CB8AC3E}">
        <p14:creationId xmlns:p14="http://schemas.microsoft.com/office/powerpoint/2010/main" val="1895097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3" name="section-label">
            <a:extLst>
              <a:ext uri="{FF2B5EF4-FFF2-40B4-BE49-F238E27FC236}">
                <a16:creationId xmlns:a16="http://schemas.microsoft.com/office/drawing/2014/main" id="{C54FFCC3-BC7A-4591-A228-E03F7AFBEF19}"/>
              </a:ext>
            </a:extLst>
          </p:cNvPr>
          <p:cNvSpPr>
            <a:spLocks noGrp="1"/>
          </p:cNvSpPr>
          <p:nvPr/>
        </p:nvSpPr>
        <p:spPr>
          <a:xfrm>
            <a:off x="609600" y="285750"/>
            <a:ext cx="10668000" cy="285750"/>
          </a:xfrm>
          <a:prstGeom prst="rect">
            <a:avLst/>
          </a:prstGeom>
          <a:noFill/>
          <a:ln w="0">
            <a:noFill/>
          </a:ln>
        </p:spPr>
        <p:txBody>
          <a:bodyPr lIns="0" tIns="0" rIns="0" bIns="0">
            <a:noAutofit/>
          </a:bodyPr>
          <a:lstStyle>
            <a:defPPr algn="l">
              <a:defRPr sz="1200" b="1">
                <a:solidFill>
                  <a:srgbClr val="7455B4"/>
                </a:solidFill>
                <a:latin typeface="Helvetica Neue"/>
                <a:ea typeface="Helvetica Neue"/>
                <a:cs typeface="Helvetica Neue"/>
              </a:defRPr>
            </a:defPPr>
          </a:lstStyle>
          <a:p>
            <a:pPr algn="l">
              <a:buNone/>
              <a:defRPr sz="1200" b="1">
                <a:solidFill>
                  <a:srgbClr val="7455B4"/>
                </a:solidFill>
                <a:latin typeface="Helvetica Neue"/>
                <a:ea typeface="Helvetica Neue"/>
                <a:cs typeface="Helvetica Neue"/>
              </a:defRPr>
            </a:pPr>
            <a:r>
              <a:rPr sz="1200" b="1">
                <a:solidFill>
                  <a:srgbClr val="7455B4"/>
                </a:solidFill>
                <a:latin typeface="Helvetica Neue"/>
                <a:ea typeface="Helvetica Neue"/>
                <a:cs typeface="Helvetica Neue"/>
              </a:rPr>
              <a:t>APPENDIX: SESSION 3: PROPOSAL AND EXECUTION PLAN</a:t>
            </a:r>
          </a:p>
        </p:txBody>
      </p:sp>
      <p:sp>
        <p:nvSpPr>
          <p:cNvPr id="2" name="slide-title">
            <a:extLst>
              <a:ext uri="{FF2B5EF4-FFF2-40B4-BE49-F238E27FC236}">
                <a16:creationId xmlns:a16="http://schemas.microsoft.com/office/drawing/2014/main" id="{9FD9E964-F989-4C72-A6C1-1A27247A586C}"/>
              </a:ext>
            </a:extLst>
          </p:cNvPr>
          <p:cNvSpPr>
            <a:spLocks noGrp="1"/>
          </p:cNvSpPr>
          <p:nvPr/>
        </p:nvSpPr>
        <p:spPr>
          <a:xfrm>
            <a:off x="609600" y="781050"/>
            <a:ext cx="10858500" cy="857250"/>
          </a:xfrm>
          <a:prstGeom prst="rect">
            <a:avLst/>
          </a:prstGeom>
          <a:noFill/>
          <a:ln w="0">
            <a:noFill/>
          </a:ln>
        </p:spPr>
        <p:txBody>
          <a:bodyPr lIns="0" tIns="0" rIns="0" bIns="0">
            <a:noAutofit/>
          </a:bodyPr>
          <a:lstStyle>
            <a:defPPr algn="l">
              <a:defRPr sz="3450" b="1">
                <a:solidFill>
                  <a:srgbClr val="102B46"/>
                </a:solidFill>
                <a:latin typeface="Helvetica Neue"/>
                <a:ea typeface="Helvetica Neue"/>
                <a:cs typeface="Helvetica Neue"/>
              </a:defRPr>
            </a:defPPr>
          </a:lstStyle>
          <a:p>
            <a:pPr algn="l">
              <a:buNone/>
              <a:defRPr sz="3450" b="1">
                <a:solidFill>
                  <a:srgbClr val="102B46"/>
                </a:solidFill>
                <a:latin typeface="Helvetica Neue"/>
                <a:ea typeface="Helvetica Neue"/>
                <a:cs typeface="Helvetica Neue"/>
              </a:defRPr>
            </a:pPr>
            <a:r>
              <a:rPr sz="3450" b="1">
                <a:solidFill>
                  <a:srgbClr val="102B46"/>
                </a:solidFill>
                <a:latin typeface="Helvetica Neue"/>
                <a:ea typeface="Helvetica Neue"/>
                <a:cs typeface="Helvetica Neue"/>
              </a:rPr>
              <a:t>R&amp;D plan and use of funds</a:t>
            </a:r>
          </a:p>
        </p:txBody>
      </p:sp>
      <p:sp>
        <p:nvSpPr>
          <p:cNvPr id="3" name="subtitle">
            <a:extLst>
              <a:ext uri="{FF2B5EF4-FFF2-40B4-BE49-F238E27FC236}">
                <a16:creationId xmlns:a16="http://schemas.microsoft.com/office/drawing/2014/main" id="{0EB46B2A-D9BF-4A9A-91A2-038E4A68CF36}"/>
              </a:ext>
            </a:extLst>
          </p:cNvPr>
          <p:cNvSpPr>
            <a:spLocks noGrp="1"/>
          </p:cNvSpPr>
          <p:nvPr/>
        </p:nvSpPr>
        <p:spPr>
          <a:xfrm>
            <a:off x="609600" y="1524000"/>
            <a:ext cx="10858500" cy="428625"/>
          </a:xfrm>
          <a:prstGeom prst="rect">
            <a:avLst/>
          </a:prstGeom>
          <a:noFill/>
          <a:ln w="0">
            <a:noFill/>
          </a:ln>
        </p:spPr>
        <p:txBody>
          <a:bodyPr lIns="0" tIns="0" rIns="0" bIns="0">
            <a:noAutofit/>
          </a:bodyPr>
          <a:lstStyle>
            <a:defPPr algn="l">
              <a:defRPr sz="1800" b="0">
                <a:solidFill>
                  <a:srgbClr val="607482"/>
                </a:solidFill>
                <a:latin typeface="Helvetica Neue"/>
                <a:ea typeface="Helvetica Neue"/>
                <a:cs typeface="Helvetica Neue"/>
              </a:defRPr>
            </a:defPPr>
          </a:lstStyle>
          <a:p>
            <a:pPr algn="l">
              <a:buNone/>
              <a:defRPr sz="1800" b="0">
                <a:solidFill>
                  <a:srgbClr val="607482"/>
                </a:solidFill>
                <a:latin typeface="Helvetica Neue"/>
                <a:ea typeface="Helvetica Neue"/>
                <a:cs typeface="Helvetica Neue"/>
              </a:defRPr>
            </a:pPr>
            <a:r>
              <a:rPr sz="1800" b="0">
                <a:solidFill>
                  <a:srgbClr val="607482"/>
                </a:solidFill>
                <a:latin typeface="Helvetica Neue"/>
                <a:ea typeface="Helvetica Neue"/>
                <a:cs typeface="Helvetica Neue"/>
              </a:rPr>
              <a:t>Step 3C. Sagan: Artifacts</a:t>
            </a:r>
          </a:p>
        </p:txBody>
      </p:sp>
      <p:sp>
        <p:nvSpPr>
          <p:cNvPr id="4" name="page-number">
            <a:extLst>
              <a:ext uri="{FF2B5EF4-FFF2-40B4-BE49-F238E27FC236}">
                <a16:creationId xmlns:a16="http://schemas.microsoft.com/office/drawing/2014/main" id="{7CD7AD12-F185-48A1-AFFD-038ECF6DDE78}"/>
              </a:ext>
            </a:extLst>
          </p:cNvPr>
          <p:cNvSpPr>
            <a:spLocks noGrp="1"/>
          </p:cNvSpPr>
          <p:nvPr/>
        </p:nvSpPr>
        <p:spPr>
          <a:xfrm>
            <a:off x="10953750" y="6438900"/>
            <a:ext cx="666750" cy="228600"/>
          </a:xfrm>
          <a:prstGeom prst="rect">
            <a:avLst/>
          </a:prstGeom>
          <a:noFill/>
          <a:ln w="0">
            <a:noFill/>
          </a:ln>
        </p:spPr>
        <p:txBody>
          <a:bodyPr lIns="0" tIns="0" rIns="0" bIns="0">
            <a:noAutofit/>
          </a:bodyPr>
          <a:lstStyle>
            <a:defPPr algn="r">
              <a:defRPr sz="1125" b="0">
                <a:solidFill>
                  <a:srgbClr val="607482"/>
                </a:solidFill>
                <a:latin typeface="Helvetica Neue"/>
                <a:ea typeface="Helvetica Neue"/>
                <a:cs typeface="Helvetica Neue"/>
              </a:defRPr>
            </a:defPPr>
          </a:lstStyle>
          <a:p>
            <a:pPr algn="r">
              <a:buNone/>
              <a:defRPr sz="1125" b="0">
                <a:solidFill>
                  <a:srgbClr val="607482"/>
                </a:solidFill>
                <a:latin typeface="Helvetica Neue"/>
                <a:ea typeface="Helvetica Neue"/>
                <a:cs typeface="Helvetica Neue"/>
              </a:defRPr>
            </a:pPr>
            <a:r>
              <a:rPr sz="1125" b="0">
                <a:solidFill>
                  <a:srgbClr val="607482"/>
                </a:solidFill>
                <a:latin typeface="Helvetica Neue"/>
                <a:ea typeface="Helvetica Neue"/>
                <a:cs typeface="Helvetica Neue"/>
              </a:rPr>
              <a:t>A14</a:t>
            </a:r>
          </a:p>
        </p:txBody>
      </p:sp>
      <p:sp>
        <p:nvSpPr>
          <p:cNvPr id="5" name="action-list">
            <a:extLst>
              <a:ext uri="{FF2B5EF4-FFF2-40B4-BE49-F238E27FC236}">
                <a16:creationId xmlns:a16="http://schemas.microsoft.com/office/drawing/2014/main" id="{AD203000-346A-4D3F-91D2-CF0ABDBF2B99}"/>
              </a:ext>
            </a:extLst>
          </p:cNvPr>
          <p:cNvSpPr>
            <a:spLocks noGrp="1"/>
          </p:cNvSpPr>
          <p:nvPr/>
        </p:nvSpPr>
        <p:spPr>
          <a:xfrm>
            <a:off x="609600" y="2333625"/>
            <a:ext cx="7048500" cy="2047875"/>
          </a:xfrm>
          <a:prstGeom prst="rect">
            <a:avLst/>
          </a:prstGeom>
          <a:noFill/>
          <a:ln w="0">
            <a:noFill/>
          </a:ln>
        </p:spPr>
        <p:txBody>
          <a:bodyPr lIns="0" tIns="0" rIns="0" bIns="0">
            <a:noAutofit/>
          </a:bodyPr>
          <a:lstStyle>
            <a:defPPr algn="l">
              <a:defRPr sz="2100" b="0">
                <a:solidFill>
                  <a:srgbClr val="233A4B"/>
                </a:solidFill>
                <a:latin typeface="Helvetica Neue"/>
                <a:ea typeface="Helvetica Neue"/>
                <a:cs typeface="Helvetica Neue"/>
              </a:defRPr>
            </a:defPPr>
          </a:lstStyle>
          <a:p>
            <a:pPr marL="228600" indent="-114300" algn="l">
              <a:spcAft>
                <a:spcPts val="1800"/>
              </a:spcAft>
              <a:buChar char="•"/>
              <a:defRPr sz="2100" b="0">
                <a:solidFill>
                  <a:srgbClr val="233A4B"/>
                </a:solidFill>
                <a:latin typeface="Helvetica Neue"/>
                <a:ea typeface="Helvetica Neue"/>
                <a:cs typeface="Helvetica Neue"/>
              </a:defRPr>
            </a:pPr>
            <a:endParaRPr/>
          </a:p>
        </p:txBody>
      </p:sp>
      <p:sp>
        <p:nvSpPr>
          <p:cNvPr id="6" name="step-output">
            <a:extLst>
              <a:ext uri="{FF2B5EF4-FFF2-40B4-BE49-F238E27FC236}">
                <a16:creationId xmlns:a16="http://schemas.microsoft.com/office/drawing/2014/main" id="{4651A7DE-E636-406D-8F7B-F9C58B90647B}"/>
              </a:ext>
            </a:extLst>
          </p:cNvPr>
          <p:cNvSpPr>
            <a:spLocks noGrp="1"/>
          </p:cNvSpPr>
          <p:nvPr/>
        </p:nvSpPr>
        <p:spPr>
          <a:xfrm>
            <a:off x="8248650" y="2238375"/>
            <a:ext cx="3333750" cy="2000250"/>
          </a:xfrm>
          <a:prstGeom prst="rect">
            <a:avLst/>
          </a:prstGeom>
          <a:solidFill>
            <a:srgbClr val="F3F7FA"/>
          </a:solidFill>
          <a:ln w="9525">
            <a:solidFill>
              <a:srgbClr val="7455B4"/>
            </a:solidFill>
            <a:prstDash val="solid"/>
          </a:ln>
        </p:spPr>
      </p:sp>
      <p:sp>
        <p:nvSpPr>
          <p:cNvPr id="7" name="output-label">
            <a:extLst>
              <a:ext uri="{FF2B5EF4-FFF2-40B4-BE49-F238E27FC236}">
                <a16:creationId xmlns:a16="http://schemas.microsoft.com/office/drawing/2014/main" id="{55CCADA3-896D-4877-B1A7-AC53167538C5}"/>
              </a:ext>
            </a:extLst>
          </p:cNvPr>
          <p:cNvSpPr>
            <a:spLocks noGrp="1"/>
          </p:cNvSpPr>
          <p:nvPr/>
        </p:nvSpPr>
        <p:spPr>
          <a:xfrm>
            <a:off x="8477250" y="2438400"/>
            <a:ext cx="2857500" cy="285750"/>
          </a:xfrm>
          <a:prstGeom prst="rect">
            <a:avLst/>
          </a:prstGeom>
          <a:noFill/>
          <a:ln w="0">
            <a:noFill/>
          </a:ln>
        </p:spPr>
        <p:txBody>
          <a:bodyPr lIns="0" tIns="0" rIns="0" bIns="0">
            <a:noAutofit/>
          </a:bodyPr>
          <a:lstStyle>
            <a:defPPr algn="l">
              <a:defRPr sz="1275" b="1">
                <a:solidFill>
                  <a:srgbClr val="7455B4"/>
                </a:solidFill>
                <a:latin typeface="Helvetica Neue"/>
                <a:ea typeface="Helvetica Neue"/>
                <a:cs typeface="Helvetica Neue"/>
              </a:defRPr>
            </a:defPPr>
          </a:lstStyle>
          <a:p>
            <a:pPr algn="l">
              <a:buNone/>
              <a:defRPr sz="1275" b="1">
                <a:solidFill>
                  <a:srgbClr val="7455B4"/>
                </a:solidFill>
                <a:latin typeface="Helvetica Neue"/>
                <a:ea typeface="Helvetica Neue"/>
                <a:cs typeface="Helvetica Neue"/>
              </a:defRPr>
            </a:pPr>
            <a:r>
              <a:rPr sz="1275" b="1">
                <a:solidFill>
                  <a:srgbClr val="7455B4"/>
                </a:solidFill>
                <a:latin typeface="Helvetica Neue"/>
                <a:ea typeface="Helvetica Neue"/>
                <a:cs typeface="Helvetica Neue"/>
              </a:rPr>
              <a:t>OUTPUT</a:t>
            </a:r>
          </a:p>
        </p:txBody>
      </p:sp>
      <p:sp>
        <p:nvSpPr>
          <p:cNvPr id="8" name="output-description">
            <a:extLst>
              <a:ext uri="{FF2B5EF4-FFF2-40B4-BE49-F238E27FC236}">
                <a16:creationId xmlns:a16="http://schemas.microsoft.com/office/drawing/2014/main" id="{759444F6-1855-46B3-AC74-176D0A66D217}"/>
              </a:ext>
            </a:extLst>
          </p:cNvPr>
          <p:cNvSpPr>
            <a:spLocks noGrp="1"/>
          </p:cNvSpPr>
          <p:nvPr/>
        </p:nvSpPr>
        <p:spPr>
          <a:xfrm>
            <a:off x="8477250" y="2876550"/>
            <a:ext cx="2857500" cy="1219200"/>
          </a:xfrm>
          <a:prstGeom prst="rect">
            <a:avLst/>
          </a:prstGeom>
          <a:noFill/>
          <a:ln w="0">
            <a:noFill/>
          </a:ln>
        </p:spPr>
        <p:txBody>
          <a:bodyPr lIns="0" tIns="0" rIns="0" bIns="0">
            <a:noAutofit/>
          </a:bodyPr>
          <a:lstStyle>
            <a:defPPr algn="l">
              <a:defRPr sz="2100" b="1">
                <a:solidFill>
                  <a:srgbClr val="102B46"/>
                </a:solidFill>
                <a:latin typeface="Helvetica Neue"/>
                <a:ea typeface="Helvetica Neue"/>
                <a:cs typeface="Helvetica Neue"/>
              </a:defRPr>
            </a:defPPr>
          </a:lstStyle>
          <a:p>
            <a:pPr algn="l">
              <a:buNone/>
              <a:defRPr sz="2100" b="1">
                <a:solidFill>
                  <a:srgbClr val="102B46"/>
                </a:solidFill>
                <a:latin typeface="Helvetica Neue"/>
                <a:ea typeface="Helvetica Neue"/>
                <a:cs typeface="Helvetica Neue"/>
              </a:defRPr>
            </a:pPr>
            <a:r>
              <a:rPr sz="2100" b="1">
                <a:solidFill>
                  <a:srgbClr val="102B46"/>
                </a:solidFill>
                <a:latin typeface="Helvetica Neue"/>
                <a:ea typeface="Helvetica Neue"/>
                <a:cs typeface="Helvetica Neue"/>
              </a:rPr>
              <a:t>Work plan</a:t>
            </a:r>
          </a:p>
          <a:p>
            <a:pPr algn="l">
              <a:buNone/>
              <a:defRPr sz="2100" b="1">
                <a:solidFill>
                  <a:srgbClr val="102B46"/>
                </a:solidFill>
                <a:latin typeface="Helvetica Neue"/>
                <a:ea typeface="Helvetica Neue"/>
                <a:cs typeface="Helvetica Neue"/>
              </a:defRPr>
            </a:pPr>
            <a:r>
              <a:rPr sz="2100" b="1">
                <a:solidFill>
                  <a:srgbClr val="102B46"/>
                </a:solidFill>
                <a:latin typeface="Helvetica Neue"/>
                <a:ea typeface="Helvetica Neue"/>
                <a:cs typeface="Helvetica Neue"/>
              </a:rPr>
              <a:t>Budget</a:t>
            </a:r>
          </a:p>
        </p:txBody>
      </p:sp>
      <p:sp>
        <p:nvSpPr>
          <p:cNvPr id="9" name="prompt-reference">
            <a:extLst>
              <a:ext uri="{FF2B5EF4-FFF2-40B4-BE49-F238E27FC236}">
                <a16:creationId xmlns:a16="http://schemas.microsoft.com/office/drawing/2014/main" id="{787B6003-2B8E-4C49-BCF9-415EA5602670}"/>
              </a:ext>
            </a:extLst>
          </p:cNvPr>
          <p:cNvSpPr>
            <a:spLocks noGrp="1"/>
          </p:cNvSpPr>
          <p:nvPr/>
        </p:nvSpPr>
        <p:spPr>
          <a:xfrm>
            <a:off x="609600" y="4524375"/>
            <a:ext cx="10972800" cy="1381125"/>
          </a:xfrm>
          <a:prstGeom prst="rect">
            <a:avLst/>
          </a:prstGeom>
          <a:solidFill>
            <a:srgbClr val="F6F0FA"/>
          </a:solidFill>
          <a:ln w="0">
            <a:solidFill>
              <a:srgbClr val="F6F0FA"/>
            </a:solidFill>
          </a:ln>
        </p:spPr>
      </p:sp>
      <p:sp>
        <p:nvSpPr>
          <p:cNvPr id="10" name="prompt-label">
            <a:extLst>
              <a:ext uri="{FF2B5EF4-FFF2-40B4-BE49-F238E27FC236}">
                <a16:creationId xmlns:a16="http://schemas.microsoft.com/office/drawing/2014/main" id="{35E2A006-AAC6-408B-805C-A2DFA3FBC6A4}"/>
              </a:ext>
            </a:extLst>
          </p:cNvPr>
          <p:cNvSpPr>
            <a:spLocks noGrp="1"/>
          </p:cNvSpPr>
          <p:nvPr/>
        </p:nvSpPr>
        <p:spPr>
          <a:xfrm>
            <a:off x="800100" y="4686300"/>
            <a:ext cx="10525125" cy="228600"/>
          </a:xfrm>
          <a:prstGeom prst="rect">
            <a:avLst/>
          </a:prstGeom>
          <a:noFill/>
          <a:ln w="0">
            <a:noFill/>
          </a:ln>
        </p:spPr>
        <p:txBody>
          <a:bodyPr lIns="0" tIns="0" rIns="0" bIns="0">
            <a:noAutofit/>
          </a:bodyPr>
          <a:lstStyle>
            <a:defPPr algn="l">
              <a:defRPr sz="1200" b="1">
                <a:solidFill>
                  <a:srgbClr val="6C2B91"/>
                </a:solidFill>
                <a:latin typeface="Helvetica Neue"/>
                <a:ea typeface="Helvetica Neue"/>
                <a:cs typeface="Helvetica Neue"/>
              </a:defRPr>
            </a:defPPr>
          </a:lstStyle>
          <a:p>
            <a:pPr algn="l">
              <a:buNone/>
              <a:defRPr sz="1200" b="1">
                <a:solidFill>
                  <a:srgbClr val="6C2B91"/>
                </a:solidFill>
                <a:latin typeface="Helvetica Neue"/>
                <a:ea typeface="Helvetica Neue"/>
                <a:cs typeface="Helvetica Neue"/>
              </a:defRPr>
            </a:pPr>
            <a:r>
              <a:rPr sz="1200" b="1">
                <a:solidFill>
                  <a:srgbClr val="6C2B91"/>
                </a:solidFill>
                <a:latin typeface="Helvetica Neue"/>
                <a:ea typeface="Helvetica Neue"/>
                <a:cs typeface="Helvetica Neue"/>
              </a:rPr>
              <a:t>EXAMPLE PROMPT</a:t>
            </a:r>
          </a:p>
        </p:txBody>
      </p:sp>
      <p:sp>
        <p:nvSpPr>
          <p:cNvPr id="11" name="prompt-content">
            <a:extLst>
              <a:ext uri="{FF2B5EF4-FFF2-40B4-BE49-F238E27FC236}">
                <a16:creationId xmlns:a16="http://schemas.microsoft.com/office/drawing/2014/main" id="{DBF619C2-FBFC-477E-867C-E3B482162709}"/>
              </a:ext>
            </a:extLst>
          </p:cNvPr>
          <p:cNvSpPr>
            <a:spLocks noGrp="1"/>
          </p:cNvSpPr>
          <p:nvPr/>
        </p:nvSpPr>
        <p:spPr>
          <a:xfrm>
            <a:off x="800100" y="5019675"/>
            <a:ext cx="10525125" cy="819150"/>
          </a:xfrm>
          <a:prstGeom prst="rect">
            <a:avLst/>
          </a:prstGeom>
          <a:noFill/>
          <a:ln w="0">
            <a:noFill/>
          </a:ln>
        </p:spPr>
        <p:txBody>
          <a:bodyPr lIns="0" tIns="0" rIns="0" bIns="0">
            <a:noAutofit/>
          </a:bodyPr>
          <a:lstStyle>
            <a:defPPr algn="l">
              <a:defRPr sz="1875" b="0">
                <a:solidFill>
                  <a:srgbClr val="6C2B91"/>
                </a:solidFill>
                <a:latin typeface="Helvetica Neue"/>
                <a:ea typeface="Helvetica Neue"/>
                <a:cs typeface="Helvetica Neue"/>
              </a:defRPr>
            </a:defPPr>
          </a:lstStyle>
          <a:p>
            <a:pPr algn="l">
              <a:buNone/>
              <a:defRPr sz="1875" b="0">
                <a:solidFill>
                  <a:srgbClr val="6C2B91"/>
                </a:solidFill>
                <a:latin typeface="Helvetica Neue"/>
                <a:ea typeface="Helvetica Neue"/>
                <a:cs typeface="Helvetica Neue"/>
              </a:defRPr>
            </a:pPr>
            <a:r>
              <a:rPr sz="1875" b="0">
                <a:solidFill>
                  <a:srgbClr val="6C2B91"/>
                </a:solidFill>
                <a:latin typeface="Helvetica Neue"/>
                <a:ea typeface="Helvetica Neue"/>
                <a:cs typeface="Helvetica Neue"/>
              </a:rPr>
              <a:t>"Plan work packages, milestones and tests for [target TRL]. Explain the budget and use of funds."</a:t>
            </a:r>
          </a:p>
        </p:txBody>
      </p:sp>
      <p:sp>
        <p:nvSpPr>
          <p:cNvPr id="12" name="discussion-cue">
            <a:extLst>
              <a:ext uri="{FF2B5EF4-FFF2-40B4-BE49-F238E27FC236}">
                <a16:creationId xmlns:a16="http://schemas.microsoft.com/office/drawing/2014/main" id="{09E322DE-745C-4852-9EFA-94AB908D5D11}"/>
              </a:ext>
            </a:extLst>
          </p:cNvPr>
          <p:cNvSpPr>
            <a:spLocks noGrp="1"/>
          </p:cNvSpPr>
          <p:nvPr/>
        </p:nvSpPr>
        <p:spPr>
          <a:xfrm>
            <a:off x="609600" y="6067425"/>
            <a:ext cx="10668000" cy="266700"/>
          </a:xfrm>
          <a:prstGeom prst="rect">
            <a:avLst/>
          </a:prstGeom>
          <a:noFill/>
          <a:ln w="0">
            <a:noFill/>
          </a:ln>
        </p:spPr>
        <p:txBody>
          <a:bodyPr lIns="0" tIns="0" rIns="0" bIns="0">
            <a:noAutofit/>
          </a:bodyPr>
          <a:lstStyle>
            <a:defPPr algn="l">
              <a:defRPr sz="1650" b="0">
                <a:solidFill>
                  <a:srgbClr val="607482"/>
                </a:solidFill>
                <a:latin typeface="Helvetica Neue"/>
                <a:ea typeface="Helvetica Neue"/>
                <a:cs typeface="Helvetica Neue"/>
              </a:defRPr>
            </a:defPPr>
          </a:lstStyle>
          <a:p>
            <a:pPr algn="l">
              <a:buNone/>
              <a:defRPr sz="1650" b="0">
                <a:solidFill>
                  <a:srgbClr val="607482"/>
                </a:solidFill>
                <a:latin typeface="Helvetica Neue"/>
                <a:ea typeface="Helvetica Neue"/>
                <a:cs typeface="Helvetica Neue"/>
              </a:defRPr>
            </a:pPr>
            <a:r>
              <a:rPr sz="1650" b="0">
                <a:solidFill>
                  <a:srgbClr val="607482"/>
                </a:solidFill>
                <a:latin typeface="Helvetica Neue"/>
                <a:ea typeface="Helvetica Neue"/>
                <a:cs typeface="Helvetica Neue"/>
              </a:rPr>
              <a:t>Current and target TRL + validation criteria</a:t>
            </a:r>
          </a:p>
        </p:txBody>
      </p:sp>
      <p:pic>
        <p:nvPicPr>
          <p:cNvPr id="14" name="Picture 13">
            <a:extLst>
              <a:ext uri="{FF2B5EF4-FFF2-40B4-BE49-F238E27FC236}">
                <a16:creationId xmlns:a16="http://schemas.microsoft.com/office/drawing/2014/main" id="{8094425C-5C91-488E-87CD-796E401E799F}"/>
              </a:ext>
            </a:extLst>
          </p:cNvPr>
          <p:cNvPicPr>
            <a:picLocks noChangeAspect="1"/>
          </p:cNvPicPr>
          <p:nvPr/>
        </p:nvPicPr>
        <p:blipFill>
          <a:blip r:embed="rId3"/>
          <a:stretch/>
        </p:blipFill>
        <p:spPr>
          <a:xfrm>
            <a:off x="638175" y="2305050"/>
            <a:ext cx="400050" cy="400050"/>
          </a:xfrm>
          <a:prstGeom prst="rect">
            <a:avLst/>
          </a:prstGeom>
        </p:spPr>
      </p:pic>
      <p:sp>
        <p:nvSpPr>
          <p:cNvPr id="15" name="action-1">
            <a:extLst>
              <a:ext uri="{FF2B5EF4-FFF2-40B4-BE49-F238E27FC236}">
                <a16:creationId xmlns:a16="http://schemas.microsoft.com/office/drawing/2014/main" id="{DF0C7E90-5C49-4C4C-B919-345DCC3A7786}"/>
              </a:ext>
            </a:extLst>
          </p:cNvPr>
          <p:cNvSpPr>
            <a:spLocks noGrp="1"/>
          </p:cNvSpPr>
          <p:nvPr/>
        </p:nvSpPr>
        <p:spPr>
          <a:xfrm>
            <a:off x="1276350" y="2343150"/>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Define work packages and milestones</a:t>
            </a:r>
          </a:p>
        </p:txBody>
      </p:sp>
      <p:pic>
        <p:nvPicPr>
          <p:cNvPr id="16" name="Picture 15">
            <a:extLst>
              <a:ext uri="{FF2B5EF4-FFF2-40B4-BE49-F238E27FC236}">
                <a16:creationId xmlns:a16="http://schemas.microsoft.com/office/drawing/2014/main" id="{A10D4259-DBDA-4E9D-ACCC-6C666A14F5C9}"/>
              </a:ext>
            </a:extLst>
          </p:cNvPr>
          <p:cNvPicPr>
            <a:picLocks noChangeAspect="1"/>
          </p:cNvPicPr>
          <p:nvPr/>
        </p:nvPicPr>
        <p:blipFill>
          <a:blip r:embed="rId4"/>
          <a:stretch/>
        </p:blipFill>
        <p:spPr>
          <a:xfrm>
            <a:off x="638175" y="2924175"/>
            <a:ext cx="400050" cy="400050"/>
          </a:xfrm>
          <a:prstGeom prst="rect">
            <a:avLst/>
          </a:prstGeom>
        </p:spPr>
      </p:pic>
      <p:sp>
        <p:nvSpPr>
          <p:cNvPr id="17" name="action-2">
            <a:extLst>
              <a:ext uri="{FF2B5EF4-FFF2-40B4-BE49-F238E27FC236}">
                <a16:creationId xmlns:a16="http://schemas.microsoft.com/office/drawing/2014/main" id="{F6DEF9B1-A165-4CA5-9B8E-FB3B014B12D4}"/>
              </a:ext>
            </a:extLst>
          </p:cNvPr>
          <p:cNvSpPr>
            <a:spLocks noGrp="1"/>
          </p:cNvSpPr>
          <p:nvPr/>
        </p:nvSpPr>
        <p:spPr>
          <a:xfrm>
            <a:off x="1276350" y="2962275"/>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Plan resources and validation</a:t>
            </a:r>
          </a:p>
        </p:txBody>
      </p:sp>
      <p:pic>
        <p:nvPicPr>
          <p:cNvPr id="18" name="Picture 17">
            <a:extLst>
              <a:ext uri="{FF2B5EF4-FFF2-40B4-BE49-F238E27FC236}">
                <a16:creationId xmlns:a16="http://schemas.microsoft.com/office/drawing/2014/main" id="{5AAB1751-63FA-407E-A0F6-E3804121A3EE}"/>
              </a:ext>
            </a:extLst>
          </p:cNvPr>
          <p:cNvPicPr>
            <a:picLocks noChangeAspect="1"/>
          </p:cNvPicPr>
          <p:nvPr/>
        </p:nvPicPr>
        <p:blipFill>
          <a:blip r:embed="rId5"/>
          <a:stretch/>
        </p:blipFill>
        <p:spPr>
          <a:xfrm>
            <a:off x="638175" y="3543300"/>
            <a:ext cx="400050" cy="400050"/>
          </a:xfrm>
          <a:prstGeom prst="rect">
            <a:avLst/>
          </a:prstGeom>
        </p:spPr>
      </p:pic>
      <p:sp>
        <p:nvSpPr>
          <p:cNvPr id="19" name="action-3">
            <a:extLst>
              <a:ext uri="{FF2B5EF4-FFF2-40B4-BE49-F238E27FC236}">
                <a16:creationId xmlns:a16="http://schemas.microsoft.com/office/drawing/2014/main" id="{B87F09C6-3769-4124-BFF9-DE30869E5576}"/>
              </a:ext>
            </a:extLst>
          </p:cNvPr>
          <p:cNvSpPr>
            <a:spLocks noGrp="1"/>
          </p:cNvSpPr>
          <p:nvPr/>
        </p:nvSpPr>
        <p:spPr>
          <a:xfrm>
            <a:off x="1276350" y="3581400"/>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Explain the budget and use of funds</a:t>
            </a:r>
          </a:p>
        </p:txBody>
      </p:sp>
    </p:spTree>
    <p:extLst>
      <p:ext uri="{BB962C8B-B14F-4D97-AF65-F5344CB8AC3E}">
        <p14:creationId xmlns:p14="http://schemas.microsoft.com/office/powerpoint/2010/main" val="8359520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3" name="section-label">
            <a:extLst>
              <a:ext uri="{FF2B5EF4-FFF2-40B4-BE49-F238E27FC236}">
                <a16:creationId xmlns:a16="http://schemas.microsoft.com/office/drawing/2014/main" id="{F15FDE5C-DE9C-4BB0-8A43-3314700DEC1E}"/>
              </a:ext>
            </a:extLst>
          </p:cNvPr>
          <p:cNvSpPr>
            <a:spLocks noGrp="1"/>
          </p:cNvSpPr>
          <p:nvPr/>
        </p:nvSpPr>
        <p:spPr>
          <a:xfrm>
            <a:off x="609600" y="285750"/>
            <a:ext cx="10668000" cy="285750"/>
          </a:xfrm>
          <a:prstGeom prst="rect">
            <a:avLst/>
          </a:prstGeom>
          <a:noFill/>
          <a:ln w="0">
            <a:noFill/>
          </a:ln>
        </p:spPr>
        <p:txBody>
          <a:bodyPr lIns="0" tIns="0" rIns="0" bIns="0">
            <a:noAutofit/>
          </a:bodyPr>
          <a:lstStyle>
            <a:defPPr algn="l">
              <a:defRPr sz="1200" b="1">
                <a:solidFill>
                  <a:srgbClr val="7455B4"/>
                </a:solidFill>
                <a:latin typeface="Helvetica Neue"/>
                <a:ea typeface="Helvetica Neue"/>
                <a:cs typeface="Helvetica Neue"/>
              </a:defRPr>
            </a:defPPr>
          </a:lstStyle>
          <a:p>
            <a:pPr algn="l">
              <a:buNone/>
              <a:defRPr sz="1200" b="1">
                <a:solidFill>
                  <a:srgbClr val="7455B4"/>
                </a:solidFill>
                <a:latin typeface="Helvetica Neue"/>
                <a:ea typeface="Helvetica Neue"/>
                <a:cs typeface="Helvetica Neue"/>
              </a:defRPr>
            </a:pPr>
            <a:r>
              <a:rPr sz="1200" b="1">
                <a:solidFill>
                  <a:srgbClr val="7455B4"/>
                </a:solidFill>
                <a:latin typeface="Helvetica Neue"/>
                <a:ea typeface="Helvetica Neue"/>
                <a:cs typeface="Helvetica Neue"/>
              </a:rPr>
              <a:t>APPENDIX: SESSION 3: PROPOSAL AND EXECUTION PLAN</a:t>
            </a:r>
          </a:p>
        </p:txBody>
      </p:sp>
      <p:sp>
        <p:nvSpPr>
          <p:cNvPr id="2" name="slide-title">
            <a:extLst>
              <a:ext uri="{FF2B5EF4-FFF2-40B4-BE49-F238E27FC236}">
                <a16:creationId xmlns:a16="http://schemas.microsoft.com/office/drawing/2014/main" id="{0E708128-B278-4127-95B5-88516783BE75}"/>
              </a:ext>
            </a:extLst>
          </p:cNvPr>
          <p:cNvSpPr>
            <a:spLocks noGrp="1"/>
          </p:cNvSpPr>
          <p:nvPr/>
        </p:nvSpPr>
        <p:spPr>
          <a:xfrm>
            <a:off x="609600" y="781050"/>
            <a:ext cx="10858500" cy="857250"/>
          </a:xfrm>
          <a:prstGeom prst="rect">
            <a:avLst/>
          </a:prstGeom>
          <a:noFill/>
          <a:ln w="0">
            <a:noFill/>
          </a:ln>
        </p:spPr>
        <p:txBody>
          <a:bodyPr lIns="0" tIns="0" rIns="0" bIns="0">
            <a:noAutofit/>
          </a:bodyPr>
          <a:lstStyle>
            <a:defPPr algn="l">
              <a:defRPr sz="3450" b="1">
                <a:solidFill>
                  <a:srgbClr val="102B46"/>
                </a:solidFill>
                <a:latin typeface="Helvetica Neue"/>
                <a:ea typeface="Helvetica Neue"/>
                <a:cs typeface="Helvetica Neue"/>
              </a:defRPr>
            </a:defPPr>
          </a:lstStyle>
          <a:p>
            <a:pPr algn="l">
              <a:buNone/>
              <a:defRPr sz="3450" b="1">
                <a:solidFill>
                  <a:srgbClr val="102B46"/>
                </a:solidFill>
                <a:latin typeface="Helvetica Neue"/>
                <a:ea typeface="Helvetica Neue"/>
                <a:cs typeface="Helvetica Neue"/>
              </a:defRPr>
            </a:pPr>
            <a:r>
              <a:rPr sz="3450" b="1">
                <a:solidFill>
                  <a:srgbClr val="102B46"/>
                </a:solidFill>
                <a:latin typeface="Helvetica Neue"/>
                <a:ea typeface="Helvetica Neue"/>
                <a:cs typeface="Helvetica Neue"/>
              </a:rPr>
              <a:t>Proposal drafting</a:t>
            </a:r>
          </a:p>
        </p:txBody>
      </p:sp>
      <p:sp>
        <p:nvSpPr>
          <p:cNvPr id="3" name="subtitle">
            <a:extLst>
              <a:ext uri="{FF2B5EF4-FFF2-40B4-BE49-F238E27FC236}">
                <a16:creationId xmlns:a16="http://schemas.microsoft.com/office/drawing/2014/main" id="{3DCD4221-6046-49F5-8A44-7E5625C11DD1}"/>
              </a:ext>
            </a:extLst>
          </p:cNvPr>
          <p:cNvSpPr>
            <a:spLocks noGrp="1"/>
          </p:cNvSpPr>
          <p:nvPr/>
        </p:nvSpPr>
        <p:spPr>
          <a:xfrm>
            <a:off x="609600" y="1524000"/>
            <a:ext cx="10858500" cy="428625"/>
          </a:xfrm>
          <a:prstGeom prst="rect">
            <a:avLst/>
          </a:prstGeom>
          <a:noFill/>
          <a:ln w="0">
            <a:noFill/>
          </a:ln>
        </p:spPr>
        <p:txBody>
          <a:bodyPr lIns="0" tIns="0" rIns="0" bIns="0">
            <a:noAutofit/>
          </a:bodyPr>
          <a:lstStyle>
            <a:defPPr algn="l">
              <a:defRPr sz="1800" b="0">
                <a:solidFill>
                  <a:srgbClr val="607482"/>
                </a:solidFill>
                <a:latin typeface="Helvetica Neue"/>
                <a:ea typeface="Helvetica Neue"/>
                <a:cs typeface="Helvetica Neue"/>
              </a:defRPr>
            </a:defPPr>
          </a:lstStyle>
          <a:p>
            <a:pPr algn="l">
              <a:buNone/>
              <a:defRPr sz="1800" b="0">
                <a:solidFill>
                  <a:srgbClr val="607482"/>
                </a:solidFill>
                <a:latin typeface="Helvetica Neue"/>
                <a:ea typeface="Helvetica Neue"/>
                <a:cs typeface="Helvetica Neue"/>
              </a:defRPr>
            </a:pPr>
            <a:r>
              <a:rPr sz="1800" b="0">
                <a:solidFill>
                  <a:srgbClr val="607482"/>
                </a:solidFill>
                <a:latin typeface="Helvetica Neue"/>
                <a:ea typeface="Helvetica Neue"/>
                <a:cs typeface="Helvetica Neue"/>
              </a:rPr>
              <a:t>Step 3D. Sagan: Drafting</a:t>
            </a:r>
          </a:p>
        </p:txBody>
      </p:sp>
      <p:sp>
        <p:nvSpPr>
          <p:cNvPr id="4" name="page-number">
            <a:extLst>
              <a:ext uri="{FF2B5EF4-FFF2-40B4-BE49-F238E27FC236}">
                <a16:creationId xmlns:a16="http://schemas.microsoft.com/office/drawing/2014/main" id="{64A5FDF1-B595-4400-AEA1-32E1F3AA9D6F}"/>
              </a:ext>
            </a:extLst>
          </p:cNvPr>
          <p:cNvSpPr>
            <a:spLocks noGrp="1"/>
          </p:cNvSpPr>
          <p:nvPr/>
        </p:nvSpPr>
        <p:spPr>
          <a:xfrm>
            <a:off x="10953750" y="6438900"/>
            <a:ext cx="666750" cy="228600"/>
          </a:xfrm>
          <a:prstGeom prst="rect">
            <a:avLst/>
          </a:prstGeom>
          <a:noFill/>
          <a:ln w="0">
            <a:noFill/>
          </a:ln>
        </p:spPr>
        <p:txBody>
          <a:bodyPr lIns="0" tIns="0" rIns="0" bIns="0">
            <a:noAutofit/>
          </a:bodyPr>
          <a:lstStyle>
            <a:defPPr algn="r">
              <a:defRPr sz="1125" b="0">
                <a:solidFill>
                  <a:srgbClr val="607482"/>
                </a:solidFill>
                <a:latin typeface="Helvetica Neue"/>
                <a:ea typeface="Helvetica Neue"/>
                <a:cs typeface="Helvetica Neue"/>
              </a:defRPr>
            </a:defPPr>
          </a:lstStyle>
          <a:p>
            <a:pPr algn="r">
              <a:buNone/>
              <a:defRPr sz="1125" b="0">
                <a:solidFill>
                  <a:srgbClr val="607482"/>
                </a:solidFill>
                <a:latin typeface="Helvetica Neue"/>
                <a:ea typeface="Helvetica Neue"/>
                <a:cs typeface="Helvetica Neue"/>
              </a:defRPr>
            </a:pPr>
            <a:r>
              <a:rPr sz="1125" b="0">
                <a:solidFill>
                  <a:srgbClr val="607482"/>
                </a:solidFill>
                <a:latin typeface="Helvetica Neue"/>
                <a:ea typeface="Helvetica Neue"/>
                <a:cs typeface="Helvetica Neue"/>
              </a:rPr>
              <a:t>A15</a:t>
            </a:r>
          </a:p>
        </p:txBody>
      </p:sp>
      <p:sp>
        <p:nvSpPr>
          <p:cNvPr id="5" name="action-list">
            <a:extLst>
              <a:ext uri="{FF2B5EF4-FFF2-40B4-BE49-F238E27FC236}">
                <a16:creationId xmlns:a16="http://schemas.microsoft.com/office/drawing/2014/main" id="{0DE52956-9FB4-4554-99DD-6E38924934E7}"/>
              </a:ext>
            </a:extLst>
          </p:cNvPr>
          <p:cNvSpPr>
            <a:spLocks noGrp="1"/>
          </p:cNvSpPr>
          <p:nvPr/>
        </p:nvSpPr>
        <p:spPr>
          <a:xfrm>
            <a:off x="609600" y="2333625"/>
            <a:ext cx="7048500" cy="2047875"/>
          </a:xfrm>
          <a:prstGeom prst="rect">
            <a:avLst/>
          </a:prstGeom>
          <a:noFill/>
          <a:ln w="0">
            <a:noFill/>
          </a:ln>
        </p:spPr>
        <p:txBody>
          <a:bodyPr lIns="0" tIns="0" rIns="0" bIns="0">
            <a:noAutofit/>
          </a:bodyPr>
          <a:lstStyle>
            <a:defPPr algn="l">
              <a:defRPr sz="2100" b="0">
                <a:solidFill>
                  <a:srgbClr val="233A4B"/>
                </a:solidFill>
                <a:latin typeface="Helvetica Neue"/>
                <a:ea typeface="Helvetica Neue"/>
                <a:cs typeface="Helvetica Neue"/>
              </a:defRPr>
            </a:defPPr>
          </a:lstStyle>
          <a:p>
            <a:pPr marL="228600" indent="-114300" algn="l">
              <a:spcAft>
                <a:spcPts val="1800"/>
              </a:spcAft>
              <a:buChar char="•"/>
              <a:defRPr sz="2100" b="0">
                <a:solidFill>
                  <a:srgbClr val="233A4B"/>
                </a:solidFill>
                <a:latin typeface="Helvetica Neue"/>
                <a:ea typeface="Helvetica Neue"/>
                <a:cs typeface="Helvetica Neue"/>
              </a:defRPr>
            </a:pPr>
            <a:endParaRPr/>
          </a:p>
        </p:txBody>
      </p:sp>
      <p:sp>
        <p:nvSpPr>
          <p:cNvPr id="6" name="step-output">
            <a:extLst>
              <a:ext uri="{FF2B5EF4-FFF2-40B4-BE49-F238E27FC236}">
                <a16:creationId xmlns:a16="http://schemas.microsoft.com/office/drawing/2014/main" id="{7EB86D17-4905-4911-9CED-E38670E6293D}"/>
              </a:ext>
            </a:extLst>
          </p:cNvPr>
          <p:cNvSpPr>
            <a:spLocks noGrp="1"/>
          </p:cNvSpPr>
          <p:nvPr/>
        </p:nvSpPr>
        <p:spPr>
          <a:xfrm>
            <a:off x="8248650" y="2238375"/>
            <a:ext cx="3333750" cy="2000250"/>
          </a:xfrm>
          <a:prstGeom prst="rect">
            <a:avLst/>
          </a:prstGeom>
          <a:solidFill>
            <a:srgbClr val="F3F7FA"/>
          </a:solidFill>
          <a:ln w="9525">
            <a:solidFill>
              <a:srgbClr val="7455B4"/>
            </a:solidFill>
            <a:prstDash val="solid"/>
          </a:ln>
        </p:spPr>
      </p:sp>
      <p:sp>
        <p:nvSpPr>
          <p:cNvPr id="7" name="output-label">
            <a:extLst>
              <a:ext uri="{FF2B5EF4-FFF2-40B4-BE49-F238E27FC236}">
                <a16:creationId xmlns:a16="http://schemas.microsoft.com/office/drawing/2014/main" id="{3A7C3CF3-8E0D-443E-AFAF-B959962A079C}"/>
              </a:ext>
            </a:extLst>
          </p:cNvPr>
          <p:cNvSpPr>
            <a:spLocks noGrp="1"/>
          </p:cNvSpPr>
          <p:nvPr/>
        </p:nvSpPr>
        <p:spPr>
          <a:xfrm>
            <a:off x="8477250" y="2438400"/>
            <a:ext cx="2857500" cy="285750"/>
          </a:xfrm>
          <a:prstGeom prst="rect">
            <a:avLst/>
          </a:prstGeom>
          <a:noFill/>
          <a:ln w="0">
            <a:noFill/>
          </a:ln>
        </p:spPr>
        <p:txBody>
          <a:bodyPr lIns="0" tIns="0" rIns="0" bIns="0">
            <a:noAutofit/>
          </a:bodyPr>
          <a:lstStyle>
            <a:defPPr algn="l">
              <a:defRPr sz="1275" b="1">
                <a:solidFill>
                  <a:srgbClr val="7455B4"/>
                </a:solidFill>
                <a:latin typeface="Helvetica Neue"/>
                <a:ea typeface="Helvetica Neue"/>
                <a:cs typeface="Helvetica Neue"/>
              </a:defRPr>
            </a:defPPr>
          </a:lstStyle>
          <a:p>
            <a:pPr algn="l">
              <a:buNone/>
              <a:defRPr sz="1275" b="1">
                <a:solidFill>
                  <a:srgbClr val="7455B4"/>
                </a:solidFill>
                <a:latin typeface="Helvetica Neue"/>
                <a:ea typeface="Helvetica Neue"/>
                <a:cs typeface="Helvetica Neue"/>
              </a:defRPr>
            </a:pPr>
            <a:r>
              <a:rPr sz="1275" b="1">
                <a:solidFill>
                  <a:srgbClr val="7455B4"/>
                </a:solidFill>
                <a:latin typeface="Helvetica Neue"/>
                <a:ea typeface="Helvetica Neue"/>
                <a:cs typeface="Helvetica Neue"/>
              </a:rPr>
              <a:t>OUTPUT</a:t>
            </a:r>
          </a:p>
        </p:txBody>
      </p:sp>
      <p:sp>
        <p:nvSpPr>
          <p:cNvPr id="8" name="output-description">
            <a:extLst>
              <a:ext uri="{FF2B5EF4-FFF2-40B4-BE49-F238E27FC236}">
                <a16:creationId xmlns:a16="http://schemas.microsoft.com/office/drawing/2014/main" id="{F9B51F01-A77C-4F1B-8A89-D251FCAE17B3}"/>
              </a:ext>
            </a:extLst>
          </p:cNvPr>
          <p:cNvSpPr>
            <a:spLocks noGrp="1"/>
          </p:cNvSpPr>
          <p:nvPr/>
        </p:nvSpPr>
        <p:spPr>
          <a:xfrm>
            <a:off x="8477250" y="2876550"/>
            <a:ext cx="2857500" cy="1219200"/>
          </a:xfrm>
          <a:prstGeom prst="rect">
            <a:avLst/>
          </a:prstGeom>
          <a:noFill/>
          <a:ln w="0">
            <a:noFill/>
          </a:ln>
        </p:spPr>
        <p:txBody>
          <a:bodyPr lIns="0" tIns="0" rIns="0" bIns="0">
            <a:noAutofit/>
          </a:bodyPr>
          <a:lstStyle>
            <a:defPPr algn="l">
              <a:defRPr sz="2100" b="1">
                <a:solidFill>
                  <a:srgbClr val="102B46"/>
                </a:solidFill>
                <a:latin typeface="Helvetica Neue"/>
                <a:ea typeface="Helvetica Neue"/>
                <a:cs typeface="Helvetica Neue"/>
              </a:defRPr>
            </a:defPPr>
          </a:lstStyle>
          <a:p>
            <a:pPr algn="l">
              <a:buNone/>
              <a:defRPr sz="2100" b="1">
                <a:solidFill>
                  <a:srgbClr val="102B46"/>
                </a:solidFill>
                <a:latin typeface="Helvetica Neue"/>
                <a:ea typeface="Helvetica Neue"/>
                <a:cs typeface="Helvetica Neue"/>
              </a:defRPr>
            </a:pPr>
            <a:r>
              <a:rPr sz="2100" b="1">
                <a:solidFill>
                  <a:srgbClr val="102B46"/>
                </a:solidFill>
                <a:latin typeface="Helvetica Neue"/>
                <a:ea typeface="Helvetica Neue"/>
                <a:cs typeface="Helvetica Neue"/>
              </a:rPr>
              <a:t>10–15-page draft</a:t>
            </a:r>
          </a:p>
          <a:p>
            <a:pPr algn="l">
              <a:buNone/>
              <a:defRPr sz="2100" b="1">
                <a:solidFill>
                  <a:srgbClr val="102B46"/>
                </a:solidFill>
                <a:latin typeface="Helvetica Neue"/>
                <a:ea typeface="Helvetica Neue"/>
                <a:cs typeface="Helvetica Neue"/>
              </a:defRPr>
            </a:pPr>
            <a:r>
              <a:rPr sz="2100" b="1">
                <a:solidFill>
                  <a:srgbClr val="102B46"/>
                </a:solidFill>
                <a:latin typeface="Helvetica Neue"/>
                <a:ea typeface="Helvetica Neue"/>
                <a:cs typeface="Helvetica Neue"/>
              </a:rPr>
              <a:t>Sources retained</a:t>
            </a:r>
          </a:p>
        </p:txBody>
      </p:sp>
      <p:sp>
        <p:nvSpPr>
          <p:cNvPr id="9" name="prompt-reference">
            <a:extLst>
              <a:ext uri="{FF2B5EF4-FFF2-40B4-BE49-F238E27FC236}">
                <a16:creationId xmlns:a16="http://schemas.microsoft.com/office/drawing/2014/main" id="{7B794140-568E-4CD1-8959-4B7BB4CA2016}"/>
              </a:ext>
            </a:extLst>
          </p:cNvPr>
          <p:cNvSpPr>
            <a:spLocks noGrp="1"/>
          </p:cNvSpPr>
          <p:nvPr/>
        </p:nvSpPr>
        <p:spPr>
          <a:xfrm>
            <a:off x="609600" y="4524375"/>
            <a:ext cx="10972800" cy="1381125"/>
          </a:xfrm>
          <a:prstGeom prst="rect">
            <a:avLst/>
          </a:prstGeom>
          <a:solidFill>
            <a:srgbClr val="F6F0FA"/>
          </a:solidFill>
          <a:ln w="0">
            <a:solidFill>
              <a:srgbClr val="F6F0FA"/>
            </a:solidFill>
          </a:ln>
        </p:spPr>
      </p:sp>
      <p:sp>
        <p:nvSpPr>
          <p:cNvPr id="10" name="prompt-label">
            <a:extLst>
              <a:ext uri="{FF2B5EF4-FFF2-40B4-BE49-F238E27FC236}">
                <a16:creationId xmlns:a16="http://schemas.microsoft.com/office/drawing/2014/main" id="{F9BE2C35-F6E7-4F49-A146-403AA1F2A50F}"/>
              </a:ext>
            </a:extLst>
          </p:cNvPr>
          <p:cNvSpPr>
            <a:spLocks noGrp="1"/>
          </p:cNvSpPr>
          <p:nvPr/>
        </p:nvSpPr>
        <p:spPr>
          <a:xfrm>
            <a:off x="800100" y="4686300"/>
            <a:ext cx="10525125" cy="228600"/>
          </a:xfrm>
          <a:prstGeom prst="rect">
            <a:avLst/>
          </a:prstGeom>
          <a:noFill/>
          <a:ln w="0">
            <a:noFill/>
          </a:ln>
        </p:spPr>
        <p:txBody>
          <a:bodyPr lIns="0" tIns="0" rIns="0" bIns="0">
            <a:noAutofit/>
          </a:bodyPr>
          <a:lstStyle>
            <a:defPPr algn="l">
              <a:defRPr sz="1200" b="1">
                <a:solidFill>
                  <a:srgbClr val="6C2B91"/>
                </a:solidFill>
                <a:latin typeface="Helvetica Neue"/>
                <a:ea typeface="Helvetica Neue"/>
                <a:cs typeface="Helvetica Neue"/>
              </a:defRPr>
            </a:defPPr>
          </a:lstStyle>
          <a:p>
            <a:pPr algn="l">
              <a:buNone/>
              <a:defRPr sz="1200" b="1">
                <a:solidFill>
                  <a:srgbClr val="6C2B91"/>
                </a:solidFill>
                <a:latin typeface="Helvetica Neue"/>
                <a:ea typeface="Helvetica Neue"/>
                <a:cs typeface="Helvetica Neue"/>
              </a:defRPr>
            </a:pPr>
            <a:r>
              <a:rPr sz="1200" b="1">
                <a:solidFill>
                  <a:srgbClr val="6C2B91"/>
                </a:solidFill>
                <a:latin typeface="Helvetica Neue"/>
                <a:ea typeface="Helvetica Neue"/>
                <a:cs typeface="Helvetica Neue"/>
              </a:rPr>
              <a:t>EXAMPLE PROMPT</a:t>
            </a:r>
          </a:p>
        </p:txBody>
      </p:sp>
      <p:sp>
        <p:nvSpPr>
          <p:cNvPr id="11" name="prompt-content">
            <a:extLst>
              <a:ext uri="{FF2B5EF4-FFF2-40B4-BE49-F238E27FC236}">
                <a16:creationId xmlns:a16="http://schemas.microsoft.com/office/drawing/2014/main" id="{B0FBC4E6-D0B8-4D7F-9140-1A8806391CD5}"/>
              </a:ext>
            </a:extLst>
          </p:cNvPr>
          <p:cNvSpPr>
            <a:spLocks noGrp="1"/>
          </p:cNvSpPr>
          <p:nvPr/>
        </p:nvSpPr>
        <p:spPr>
          <a:xfrm>
            <a:off x="800100" y="5019675"/>
            <a:ext cx="10525125" cy="819150"/>
          </a:xfrm>
          <a:prstGeom prst="rect">
            <a:avLst/>
          </a:prstGeom>
          <a:noFill/>
          <a:ln w="0">
            <a:noFill/>
          </a:ln>
        </p:spPr>
        <p:txBody>
          <a:bodyPr lIns="0" tIns="0" rIns="0" bIns="0">
            <a:noAutofit/>
          </a:bodyPr>
          <a:lstStyle>
            <a:defPPr algn="l">
              <a:defRPr sz="1875" b="0">
                <a:solidFill>
                  <a:srgbClr val="6C2B91"/>
                </a:solidFill>
                <a:latin typeface="Helvetica Neue"/>
                <a:ea typeface="Helvetica Neue"/>
                <a:cs typeface="Helvetica Neue"/>
              </a:defRPr>
            </a:defPPr>
          </a:lstStyle>
          <a:p>
            <a:pPr algn="l">
              <a:buNone/>
              <a:defRPr sz="1875" b="0">
                <a:solidFill>
                  <a:srgbClr val="6C2B91"/>
                </a:solidFill>
                <a:latin typeface="Helvetica Neue"/>
                <a:ea typeface="Helvetica Neue"/>
                <a:cs typeface="Helvetica Neue"/>
              </a:defRPr>
            </a:pPr>
            <a:r>
              <a:rPr sz="1875" b="0">
                <a:solidFill>
                  <a:srgbClr val="6C2B91"/>
                </a:solidFill>
                <a:latin typeface="Helvetica Neue"/>
                <a:ea typeface="Helvetica Neue"/>
                <a:cs typeface="Helvetica Neue"/>
              </a:rPr>
              <a:t>"Draft [section] using our agreed solution and [template]. Flag gaps and inconsistencies."</a:t>
            </a:r>
          </a:p>
        </p:txBody>
      </p:sp>
      <p:sp>
        <p:nvSpPr>
          <p:cNvPr id="12" name="discussion-cue">
            <a:extLst>
              <a:ext uri="{FF2B5EF4-FFF2-40B4-BE49-F238E27FC236}">
                <a16:creationId xmlns:a16="http://schemas.microsoft.com/office/drawing/2014/main" id="{8B3C9078-FAF3-4487-A8DD-B41129B8D060}"/>
              </a:ext>
            </a:extLst>
          </p:cNvPr>
          <p:cNvSpPr>
            <a:spLocks noGrp="1"/>
          </p:cNvSpPr>
          <p:nvPr/>
        </p:nvSpPr>
        <p:spPr>
          <a:xfrm>
            <a:off x="609600" y="6067425"/>
            <a:ext cx="10668000" cy="266700"/>
          </a:xfrm>
          <a:prstGeom prst="rect">
            <a:avLst/>
          </a:prstGeom>
          <a:noFill/>
          <a:ln w="0">
            <a:noFill/>
          </a:ln>
        </p:spPr>
        <p:txBody>
          <a:bodyPr lIns="0" tIns="0" rIns="0" bIns="0">
            <a:noAutofit/>
          </a:bodyPr>
          <a:lstStyle>
            <a:defPPr algn="l">
              <a:defRPr sz="1500" b="0">
                <a:solidFill>
                  <a:srgbClr val="607482"/>
                </a:solidFill>
                <a:latin typeface="Helvetica Neue"/>
                <a:ea typeface="Helvetica Neue"/>
                <a:cs typeface="Helvetica Neue"/>
              </a:defRPr>
            </a:defPPr>
          </a:lstStyle>
          <a:p>
            <a:pPr algn="l">
              <a:buNone/>
              <a:defRPr sz="1500" b="0">
                <a:solidFill>
                  <a:srgbClr val="607482"/>
                </a:solidFill>
                <a:latin typeface="Helvetica Neue"/>
                <a:ea typeface="Helvetica Neue"/>
                <a:cs typeface="Helvetica Neue"/>
              </a:defRPr>
            </a:pPr>
            <a:endParaRPr/>
          </a:p>
        </p:txBody>
      </p:sp>
      <p:pic>
        <p:nvPicPr>
          <p:cNvPr id="14" name="Picture 13">
            <a:extLst>
              <a:ext uri="{FF2B5EF4-FFF2-40B4-BE49-F238E27FC236}">
                <a16:creationId xmlns:a16="http://schemas.microsoft.com/office/drawing/2014/main" id="{F47A97D7-06F8-49CB-BB7E-10CFD22E2E58}"/>
              </a:ext>
            </a:extLst>
          </p:cNvPr>
          <p:cNvPicPr>
            <a:picLocks noChangeAspect="1"/>
          </p:cNvPicPr>
          <p:nvPr/>
        </p:nvPicPr>
        <p:blipFill>
          <a:blip r:embed="rId3"/>
          <a:stretch/>
        </p:blipFill>
        <p:spPr>
          <a:xfrm>
            <a:off x="638175" y="2305050"/>
            <a:ext cx="400050" cy="400050"/>
          </a:xfrm>
          <a:prstGeom prst="rect">
            <a:avLst/>
          </a:prstGeom>
        </p:spPr>
      </p:pic>
      <p:sp>
        <p:nvSpPr>
          <p:cNvPr id="15" name="action-1">
            <a:extLst>
              <a:ext uri="{FF2B5EF4-FFF2-40B4-BE49-F238E27FC236}">
                <a16:creationId xmlns:a16="http://schemas.microsoft.com/office/drawing/2014/main" id="{BA2FEC05-0A0B-4274-8C07-63E933D34A4B}"/>
              </a:ext>
            </a:extLst>
          </p:cNvPr>
          <p:cNvSpPr>
            <a:spLocks noGrp="1"/>
          </p:cNvSpPr>
          <p:nvPr/>
        </p:nvSpPr>
        <p:spPr>
          <a:xfrm>
            <a:off x="1276350" y="2343150"/>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Draft and resolve evidence gaps</a:t>
            </a:r>
          </a:p>
        </p:txBody>
      </p:sp>
      <p:pic>
        <p:nvPicPr>
          <p:cNvPr id="16" name="Picture 15">
            <a:extLst>
              <a:ext uri="{FF2B5EF4-FFF2-40B4-BE49-F238E27FC236}">
                <a16:creationId xmlns:a16="http://schemas.microsoft.com/office/drawing/2014/main" id="{A78A0CCF-C856-471B-A3DD-7DCD45F91037}"/>
              </a:ext>
            </a:extLst>
          </p:cNvPr>
          <p:cNvPicPr>
            <a:picLocks noChangeAspect="1"/>
          </p:cNvPicPr>
          <p:nvPr/>
        </p:nvPicPr>
        <p:blipFill>
          <a:blip r:embed="rId4"/>
          <a:stretch/>
        </p:blipFill>
        <p:spPr>
          <a:xfrm>
            <a:off x="638175" y="2924175"/>
            <a:ext cx="400050" cy="400050"/>
          </a:xfrm>
          <a:prstGeom prst="rect">
            <a:avLst/>
          </a:prstGeom>
        </p:spPr>
      </p:pic>
      <p:sp>
        <p:nvSpPr>
          <p:cNvPr id="17" name="action-2">
            <a:extLst>
              <a:ext uri="{FF2B5EF4-FFF2-40B4-BE49-F238E27FC236}">
                <a16:creationId xmlns:a16="http://schemas.microsoft.com/office/drawing/2014/main" id="{6C298AAB-01E8-45E5-859B-879FF8865378}"/>
              </a:ext>
            </a:extLst>
          </p:cNvPr>
          <p:cNvSpPr>
            <a:spLocks noGrp="1"/>
          </p:cNvSpPr>
          <p:nvPr/>
        </p:nvSpPr>
        <p:spPr>
          <a:xfrm>
            <a:off x="1276350" y="2962275"/>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Cover all three dimensions</a:t>
            </a:r>
          </a:p>
        </p:txBody>
      </p:sp>
      <p:pic>
        <p:nvPicPr>
          <p:cNvPr id="18" name="Picture 17">
            <a:extLst>
              <a:ext uri="{FF2B5EF4-FFF2-40B4-BE49-F238E27FC236}">
                <a16:creationId xmlns:a16="http://schemas.microsoft.com/office/drawing/2014/main" id="{0046685F-B661-404B-BB4E-BCB165F18227}"/>
              </a:ext>
            </a:extLst>
          </p:cNvPr>
          <p:cNvPicPr>
            <a:picLocks noChangeAspect="1"/>
          </p:cNvPicPr>
          <p:nvPr/>
        </p:nvPicPr>
        <p:blipFill>
          <a:blip r:embed="rId5"/>
          <a:stretch/>
        </p:blipFill>
        <p:spPr>
          <a:xfrm>
            <a:off x="638175" y="3543300"/>
            <a:ext cx="400050" cy="400050"/>
          </a:xfrm>
          <a:prstGeom prst="rect">
            <a:avLst/>
          </a:prstGeom>
        </p:spPr>
      </p:pic>
      <p:sp>
        <p:nvSpPr>
          <p:cNvPr id="19" name="action-3">
            <a:extLst>
              <a:ext uri="{FF2B5EF4-FFF2-40B4-BE49-F238E27FC236}">
                <a16:creationId xmlns:a16="http://schemas.microsoft.com/office/drawing/2014/main" id="{77B5DD67-87EE-4828-9242-BE8CCABB2445}"/>
              </a:ext>
            </a:extLst>
          </p:cNvPr>
          <p:cNvSpPr>
            <a:spLocks noGrp="1"/>
          </p:cNvSpPr>
          <p:nvPr/>
        </p:nvSpPr>
        <p:spPr>
          <a:xfrm>
            <a:off x="1276350" y="3581400"/>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Include delivery, costs and risks</a:t>
            </a:r>
          </a:p>
        </p:txBody>
      </p:sp>
    </p:spTree>
    <p:extLst>
      <p:ext uri="{BB962C8B-B14F-4D97-AF65-F5344CB8AC3E}">
        <p14:creationId xmlns:p14="http://schemas.microsoft.com/office/powerpoint/2010/main" val="745155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3" name="section-label">
            <a:extLst>
              <a:ext uri="{FF2B5EF4-FFF2-40B4-BE49-F238E27FC236}">
                <a16:creationId xmlns:a16="http://schemas.microsoft.com/office/drawing/2014/main" id="{20BC2056-E1FA-456A-8181-C8892782CA01}"/>
              </a:ext>
            </a:extLst>
          </p:cNvPr>
          <p:cNvSpPr>
            <a:spLocks noGrp="1"/>
          </p:cNvSpPr>
          <p:nvPr/>
        </p:nvSpPr>
        <p:spPr>
          <a:xfrm>
            <a:off x="609600" y="285750"/>
            <a:ext cx="10668000" cy="285750"/>
          </a:xfrm>
          <a:prstGeom prst="rect">
            <a:avLst/>
          </a:prstGeom>
          <a:noFill/>
          <a:ln w="0">
            <a:noFill/>
          </a:ln>
        </p:spPr>
        <p:txBody>
          <a:bodyPr lIns="0" tIns="0" rIns="0" bIns="0">
            <a:noAutofit/>
          </a:bodyPr>
          <a:lstStyle>
            <a:defPPr algn="l">
              <a:defRPr sz="1200" b="1">
                <a:solidFill>
                  <a:srgbClr val="7455B4"/>
                </a:solidFill>
                <a:latin typeface="Helvetica Neue"/>
                <a:ea typeface="Helvetica Neue"/>
                <a:cs typeface="Helvetica Neue"/>
              </a:defRPr>
            </a:defPPr>
          </a:lstStyle>
          <a:p>
            <a:pPr algn="l">
              <a:buNone/>
              <a:defRPr sz="1200" b="1">
                <a:solidFill>
                  <a:srgbClr val="7455B4"/>
                </a:solidFill>
                <a:latin typeface="Helvetica Neue"/>
                <a:ea typeface="Helvetica Neue"/>
                <a:cs typeface="Helvetica Neue"/>
              </a:defRPr>
            </a:pPr>
            <a:r>
              <a:rPr sz="1200" b="1">
                <a:solidFill>
                  <a:srgbClr val="7455B4"/>
                </a:solidFill>
                <a:latin typeface="Helvetica Neue"/>
                <a:ea typeface="Helvetica Neue"/>
                <a:cs typeface="Helvetica Neue"/>
              </a:rPr>
              <a:t>APPENDIX: SESSION 3: PROPOSAL AND EXECUTION PLAN</a:t>
            </a:r>
          </a:p>
        </p:txBody>
      </p:sp>
      <p:sp>
        <p:nvSpPr>
          <p:cNvPr id="2" name="slide-title">
            <a:extLst>
              <a:ext uri="{FF2B5EF4-FFF2-40B4-BE49-F238E27FC236}">
                <a16:creationId xmlns:a16="http://schemas.microsoft.com/office/drawing/2014/main" id="{A6161A88-4DB0-40E0-906B-0CA57E1F7137}"/>
              </a:ext>
            </a:extLst>
          </p:cNvPr>
          <p:cNvSpPr>
            <a:spLocks noGrp="1"/>
          </p:cNvSpPr>
          <p:nvPr/>
        </p:nvSpPr>
        <p:spPr>
          <a:xfrm>
            <a:off x="609600" y="781050"/>
            <a:ext cx="10858500" cy="857250"/>
          </a:xfrm>
          <a:prstGeom prst="rect">
            <a:avLst/>
          </a:prstGeom>
          <a:noFill/>
          <a:ln w="0">
            <a:noFill/>
          </a:ln>
        </p:spPr>
        <p:txBody>
          <a:bodyPr lIns="0" tIns="0" rIns="0" bIns="0">
            <a:noAutofit/>
          </a:bodyPr>
          <a:lstStyle>
            <a:defPPr algn="l">
              <a:defRPr sz="3450" b="1">
                <a:solidFill>
                  <a:srgbClr val="102B46"/>
                </a:solidFill>
                <a:latin typeface="Helvetica Neue"/>
                <a:ea typeface="Helvetica Neue"/>
                <a:cs typeface="Helvetica Neue"/>
              </a:defRPr>
            </a:defPPr>
          </a:lstStyle>
          <a:p>
            <a:pPr algn="l">
              <a:buNone/>
              <a:defRPr sz="3450" b="1">
                <a:solidFill>
                  <a:srgbClr val="102B46"/>
                </a:solidFill>
                <a:latin typeface="Helvetica Neue"/>
                <a:ea typeface="Helvetica Neue"/>
                <a:cs typeface="Helvetica Neue"/>
              </a:defRPr>
            </a:pPr>
            <a:r>
              <a:rPr sz="3450" b="1">
                <a:solidFill>
                  <a:srgbClr val="102B46"/>
                </a:solidFill>
                <a:latin typeface="Helvetica Neue"/>
                <a:ea typeface="Helvetica Neue"/>
                <a:cs typeface="Helvetica Neue"/>
              </a:rPr>
              <a:t>Proposal consistency and pitch preparation</a:t>
            </a:r>
          </a:p>
        </p:txBody>
      </p:sp>
      <p:sp>
        <p:nvSpPr>
          <p:cNvPr id="3" name="subtitle">
            <a:extLst>
              <a:ext uri="{FF2B5EF4-FFF2-40B4-BE49-F238E27FC236}">
                <a16:creationId xmlns:a16="http://schemas.microsoft.com/office/drawing/2014/main" id="{B656B67D-5FF5-4B71-8A4B-CB056CEAD7AC}"/>
              </a:ext>
            </a:extLst>
          </p:cNvPr>
          <p:cNvSpPr>
            <a:spLocks noGrp="1"/>
          </p:cNvSpPr>
          <p:nvPr/>
        </p:nvSpPr>
        <p:spPr>
          <a:xfrm>
            <a:off x="609600" y="1524000"/>
            <a:ext cx="10858500" cy="428625"/>
          </a:xfrm>
          <a:prstGeom prst="rect">
            <a:avLst/>
          </a:prstGeom>
          <a:noFill/>
          <a:ln w="0">
            <a:noFill/>
          </a:ln>
        </p:spPr>
        <p:txBody>
          <a:bodyPr lIns="0" tIns="0" rIns="0" bIns="0">
            <a:noAutofit/>
          </a:bodyPr>
          <a:lstStyle>
            <a:defPPr algn="l">
              <a:defRPr sz="1800" b="0">
                <a:solidFill>
                  <a:srgbClr val="607482"/>
                </a:solidFill>
                <a:latin typeface="Helvetica Neue"/>
                <a:ea typeface="Helvetica Neue"/>
                <a:cs typeface="Helvetica Neue"/>
              </a:defRPr>
            </a:defPPr>
          </a:lstStyle>
          <a:p>
            <a:pPr algn="l">
              <a:buNone/>
              <a:defRPr sz="1800" b="0">
                <a:solidFill>
                  <a:srgbClr val="607482"/>
                </a:solidFill>
                <a:latin typeface="Helvetica Neue"/>
                <a:ea typeface="Helvetica Neue"/>
                <a:cs typeface="Helvetica Neue"/>
              </a:defRPr>
            </a:pPr>
            <a:r>
              <a:rPr sz="1800" b="0">
                <a:solidFill>
                  <a:srgbClr val="607482"/>
                </a:solidFill>
                <a:latin typeface="Helvetica Neue"/>
                <a:ea typeface="Helvetica Neue"/>
                <a:cs typeface="Helvetica Neue"/>
              </a:rPr>
              <a:t>Step 3E. Sagan: Finalization + team review</a:t>
            </a:r>
          </a:p>
        </p:txBody>
      </p:sp>
      <p:sp>
        <p:nvSpPr>
          <p:cNvPr id="4" name="page-number">
            <a:extLst>
              <a:ext uri="{FF2B5EF4-FFF2-40B4-BE49-F238E27FC236}">
                <a16:creationId xmlns:a16="http://schemas.microsoft.com/office/drawing/2014/main" id="{7A7D7802-D6CA-4751-B8D3-205AF8B286A2}"/>
              </a:ext>
            </a:extLst>
          </p:cNvPr>
          <p:cNvSpPr>
            <a:spLocks noGrp="1"/>
          </p:cNvSpPr>
          <p:nvPr/>
        </p:nvSpPr>
        <p:spPr>
          <a:xfrm>
            <a:off x="10953750" y="6438900"/>
            <a:ext cx="666750" cy="228600"/>
          </a:xfrm>
          <a:prstGeom prst="rect">
            <a:avLst/>
          </a:prstGeom>
          <a:noFill/>
          <a:ln w="0">
            <a:noFill/>
          </a:ln>
        </p:spPr>
        <p:txBody>
          <a:bodyPr lIns="0" tIns="0" rIns="0" bIns="0">
            <a:noAutofit/>
          </a:bodyPr>
          <a:lstStyle>
            <a:defPPr algn="r">
              <a:defRPr sz="1125" b="0">
                <a:solidFill>
                  <a:srgbClr val="607482"/>
                </a:solidFill>
                <a:latin typeface="Helvetica Neue"/>
                <a:ea typeface="Helvetica Neue"/>
                <a:cs typeface="Helvetica Neue"/>
              </a:defRPr>
            </a:defPPr>
          </a:lstStyle>
          <a:p>
            <a:pPr algn="r">
              <a:buNone/>
              <a:defRPr sz="1125" b="0">
                <a:solidFill>
                  <a:srgbClr val="607482"/>
                </a:solidFill>
                <a:latin typeface="Helvetica Neue"/>
                <a:ea typeface="Helvetica Neue"/>
                <a:cs typeface="Helvetica Neue"/>
              </a:defRPr>
            </a:pPr>
            <a:r>
              <a:rPr sz="1125" b="0">
                <a:solidFill>
                  <a:srgbClr val="607482"/>
                </a:solidFill>
                <a:latin typeface="Helvetica Neue"/>
                <a:ea typeface="Helvetica Neue"/>
                <a:cs typeface="Helvetica Neue"/>
              </a:rPr>
              <a:t>A16</a:t>
            </a:r>
          </a:p>
        </p:txBody>
      </p:sp>
      <p:sp>
        <p:nvSpPr>
          <p:cNvPr id="5" name="action-list">
            <a:extLst>
              <a:ext uri="{FF2B5EF4-FFF2-40B4-BE49-F238E27FC236}">
                <a16:creationId xmlns:a16="http://schemas.microsoft.com/office/drawing/2014/main" id="{9E85A5A9-58C4-46D3-899E-21221FF25D0B}"/>
              </a:ext>
            </a:extLst>
          </p:cNvPr>
          <p:cNvSpPr>
            <a:spLocks noGrp="1"/>
          </p:cNvSpPr>
          <p:nvPr/>
        </p:nvSpPr>
        <p:spPr>
          <a:xfrm>
            <a:off x="609600" y="2333625"/>
            <a:ext cx="7048500" cy="2047875"/>
          </a:xfrm>
          <a:prstGeom prst="rect">
            <a:avLst/>
          </a:prstGeom>
          <a:noFill/>
          <a:ln w="0">
            <a:noFill/>
          </a:ln>
        </p:spPr>
        <p:txBody>
          <a:bodyPr lIns="0" tIns="0" rIns="0" bIns="0">
            <a:noAutofit/>
          </a:bodyPr>
          <a:lstStyle>
            <a:defPPr algn="l">
              <a:defRPr sz="2100" b="0">
                <a:solidFill>
                  <a:srgbClr val="233A4B"/>
                </a:solidFill>
                <a:latin typeface="Helvetica Neue"/>
                <a:ea typeface="Helvetica Neue"/>
                <a:cs typeface="Helvetica Neue"/>
              </a:defRPr>
            </a:defPPr>
          </a:lstStyle>
          <a:p>
            <a:pPr marL="228600" indent="-114300" algn="l">
              <a:spcAft>
                <a:spcPts val="1800"/>
              </a:spcAft>
              <a:buChar char="•"/>
              <a:defRPr sz="2100" b="0">
                <a:solidFill>
                  <a:srgbClr val="233A4B"/>
                </a:solidFill>
                <a:latin typeface="Helvetica Neue"/>
                <a:ea typeface="Helvetica Neue"/>
                <a:cs typeface="Helvetica Neue"/>
              </a:defRPr>
            </a:pPr>
            <a:endParaRPr/>
          </a:p>
        </p:txBody>
      </p:sp>
      <p:sp>
        <p:nvSpPr>
          <p:cNvPr id="6" name="step-output">
            <a:extLst>
              <a:ext uri="{FF2B5EF4-FFF2-40B4-BE49-F238E27FC236}">
                <a16:creationId xmlns:a16="http://schemas.microsoft.com/office/drawing/2014/main" id="{0C951FAB-C16A-4260-A359-8DE9583DE6F6}"/>
              </a:ext>
            </a:extLst>
          </p:cNvPr>
          <p:cNvSpPr>
            <a:spLocks noGrp="1"/>
          </p:cNvSpPr>
          <p:nvPr/>
        </p:nvSpPr>
        <p:spPr>
          <a:xfrm>
            <a:off x="8248650" y="2238375"/>
            <a:ext cx="3333750" cy="2000250"/>
          </a:xfrm>
          <a:prstGeom prst="rect">
            <a:avLst/>
          </a:prstGeom>
          <a:solidFill>
            <a:srgbClr val="F3F7FA"/>
          </a:solidFill>
          <a:ln w="9525">
            <a:solidFill>
              <a:srgbClr val="7455B4"/>
            </a:solidFill>
            <a:prstDash val="solid"/>
          </a:ln>
        </p:spPr>
      </p:sp>
      <p:sp>
        <p:nvSpPr>
          <p:cNvPr id="7" name="output-label">
            <a:extLst>
              <a:ext uri="{FF2B5EF4-FFF2-40B4-BE49-F238E27FC236}">
                <a16:creationId xmlns:a16="http://schemas.microsoft.com/office/drawing/2014/main" id="{E5D4BC9C-DDF3-4A14-B1C8-AC88F42F06D3}"/>
              </a:ext>
            </a:extLst>
          </p:cNvPr>
          <p:cNvSpPr>
            <a:spLocks noGrp="1"/>
          </p:cNvSpPr>
          <p:nvPr/>
        </p:nvSpPr>
        <p:spPr>
          <a:xfrm>
            <a:off x="8477250" y="2438400"/>
            <a:ext cx="2857500" cy="285750"/>
          </a:xfrm>
          <a:prstGeom prst="rect">
            <a:avLst/>
          </a:prstGeom>
          <a:noFill/>
          <a:ln w="0">
            <a:noFill/>
          </a:ln>
        </p:spPr>
        <p:txBody>
          <a:bodyPr lIns="0" tIns="0" rIns="0" bIns="0">
            <a:noAutofit/>
          </a:bodyPr>
          <a:lstStyle>
            <a:defPPr algn="l">
              <a:defRPr sz="1275" b="1">
                <a:solidFill>
                  <a:srgbClr val="7455B4"/>
                </a:solidFill>
                <a:latin typeface="Helvetica Neue"/>
                <a:ea typeface="Helvetica Neue"/>
                <a:cs typeface="Helvetica Neue"/>
              </a:defRPr>
            </a:defPPr>
          </a:lstStyle>
          <a:p>
            <a:pPr algn="l">
              <a:buNone/>
              <a:defRPr sz="1275" b="1">
                <a:solidFill>
                  <a:srgbClr val="7455B4"/>
                </a:solidFill>
                <a:latin typeface="Helvetica Neue"/>
                <a:ea typeface="Helvetica Neue"/>
                <a:cs typeface="Helvetica Neue"/>
              </a:defRPr>
            </a:pPr>
            <a:r>
              <a:rPr sz="1275" b="1">
                <a:solidFill>
                  <a:srgbClr val="7455B4"/>
                </a:solidFill>
                <a:latin typeface="Helvetica Neue"/>
                <a:ea typeface="Helvetica Neue"/>
                <a:cs typeface="Helvetica Neue"/>
              </a:rPr>
              <a:t>OUTPUT</a:t>
            </a:r>
          </a:p>
        </p:txBody>
      </p:sp>
      <p:sp>
        <p:nvSpPr>
          <p:cNvPr id="8" name="output-description">
            <a:extLst>
              <a:ext uri="{FF2B5EF4-FFF2-40B4-BE49-F238E27FC236}">
                <a16:creationId xmlns:a16="http://schemas.microsoft.com/office/drawing/2014/main" id="{30069F7A-EE3C-44C4-ABB2-E5F48188F311}"/>
              </a:ext>
            </a:extLst>
          </p:cNvPr>
          <p:cNvSpPr>
            <a:spLocks noGrp="1"/>
          </p:cNvSpPr>
          <p:nvPr/>
        </p:nvSpPr>
        <p:spPr>
          <a:xfrm>
            <a:off x="8477250" y="2876550"/>
            <a:ext cx="2857500" cy="1219200"/>
          </a:xfrm>
          <a:prstGeom prst="rect">
            <a:avLst/>
          </a:prstGeom>
          <a:noFill/>
          <a:ln w="0">
            <a:noFill/>
          </a:ln>
        </p:spPr>
        <p:txBody>
          <a:bodyPr lIns="0" tIns="0" rIns="0" bIns="0">
            <a:noAutofit/>
          </a:bodyPr>
          <a:lstStyle>
            <a:defPPr algn="l">
              <a:defRPr sz="2100" b="1">
                <a:solidFill>
                  <a:srgbClr val="102B46"/>
                </a:solidFill>
                <a:latin typeface="Helvetica Neue"/>
                <a:ea typeface="Helvetica Neue"/>
                <a:cs typeface="Helvetica Neue"/>
              </a:defRPr>
            </a:defPPr>
          </a:lstStyle>
          <a:p>
            <a:pPr algn="l">
              <a:buNone/>
              <a:defRPr sz="2100" b="1">
                <a:solidFill>
                  <a:srgbClr val="102B46"/>
                </a:solidFill>
                <a:latin typeface="Helvetica Neue"/>
                <a:ea typeface="Helvetica Neue"/>
                <a:cs typeface="Helvetica Neue"/>
              </a:defRPr>
            </a:pPr>
            <a:r>
              <a:rPr sz="2100" b="1">
                <a:solidFill>
                  <a:srgbClr val="102B46"/>
                </a:solidFill>
                <a:latin typeface="Helvetica Neue"/>
                <a:ea typeface="Helvetica Neue"/>
                <a:cs typeface="Helvetica Neue"/>
              </a:rPr>
              <a:t>10–15-page proposal</a:t>
            </a:r>
          </a:p>
          <a:p>
            <a:pPr algn="l">
              <a:buNone/>
              <a:defRPr sz="2100" b="1">
                <a:solidFill>
                  <a:srgbClr val="102B46"/>
                </a:solidFill>
                <a:latin typeface="Helvetica Neue"/>
                <a:ea typeface="Helvetica Neue"/>
                <a:cs typeface="Helvetica Neue"/>
              </a:defRPr>
            </a:pPr>
            <a:r>
              <a:rPr sz="2100" b="1">
                <a:solidFill>
                  <a:srgbClr val="102B46"/>
                </a:solidFill>
                <a:latin typeface="Helvetica Neue"/>
                <a:ea typeface="Helvetica Neue"/>
                <a:cs typeface="Helvetica Neue"/>
              </a:rPr>
              <a:t>Pitch material</a:t>
            </a:r>
          </a:p>
        </p:txBody>
      </p:sp>
      <p:sp>
        <p:nvSpPr>
          <p:cNvPr id="9" name="prompt-reference">
            <a:extLst>
              <a:ext uri="{FF2B5EF4-FFF2-40B4-BE49-F238E27FC236}">
                <a16:creationId xmlns:a16="http://schemas.microsoft.com/office/drawing/2014/main" id="{7CE48E7A-5AFD-4973-BA39-DF083ADEE52D}"/>
              </a:ext>
            </a:extLst>
          </p:cNvPr>
          <p:cNvSpPr>
            <a:spLocks noGrp="1"/>
          </p:cNvSpPr>
          <p:nvPr/>
        </p:nvSpPr>
        <p:spPr>
          <a:xfrm>
            <a:off x="609600" y="4524375"/>
            <a:ext cx="10972800" cy="1381125"/>
          </a:xfrm>
          <a:prstGeom prst="rect">
            <a:avLst/>
          </a:prstGeom>
          <a:solidFill>
            <a:srgbClr val="F6F0FA"/>
          </a:solidFill>
          <a:ln w="0">
            <a:solidFill>
              <a:srgbClr val="F6F0FA"/>
            </a:solidFill>
          </a:ln>
        </p:spPr>
      </p:sp>
      <p:sp>
        <p:nvSpPr>
          <p:cNvPr id="10" name="prompt-label">
            <a:extLst>
              <a:ext uri="{FF2B5EF4-FFF2-40B4-BE49-F238E27FC236}">
                <a16:creationId xmlns:a16="http://schemas.microsoft.com/office/drawing/2014/main" id="{32FEEE84-0FA1-4761-A6E2-C6679783E98C}"/>
              </a:ext>
            </a:extLst>
          </p:cNvPr>
          <p:cNvSpPr>
            <a:spLocks noGrp="1"/>
          </p:cNvSpPr>
          <p:nvPr/>
        </p:nvSpPr>
        <p:spPr>
          <a:xfrm>
            <a:off x="800100" y="4686300"/>
            <a:ext cx="10525125" cy="228600"/>
          </a:xfrm>
          <a:prstGeom prst="rect">
            <a:avLst/>
          </a:prstGeom>
          <a:noFill/>
          <a:ln w="0">
            <a:noFill/>
          </a:ln>
        </p:spPr>
        <p:txBody>
          <a:bodyPr lIns="0" tIns="0" rIns="0" bIns="0">
            <a:noAutofit/>
          </a:bodyPr>
          <a:lstStyle>
            <a:defPPr algn="l">
              <a:defRPr sz="1200" b="1">
                <a:solidFill>
                  <a:srgbClr val="6C2B91"/>
                </a:solidFill>
                <a:latin typeface="Helvetica Neue"/>
                <a:ea typeface="Helvetica Neue"/>
                <a:cs typeface="Helvetica Neue"/>
              </a:defRPr>
            </a:defPPr>
          </a:lstStyle>
          <a:p>
            <a:pPr algn="l">
              <a:buNone/>
              <a:defRPr sz="1200" b="1">
                <a:solidFill>
                  <a:srgbClr val="6C2B91"/>
                </a:solidFill>
                <a:latin typeface="Helvetica Neue"/>
                <a:ea typeface="Helvetica Neue"/>
                <a:cs typeface="Helvetica Neue"/>
              </a:defRPr>
            </a:pPr>
            <a:r>
              <a:rPr sz="1200" b="1">
                <a:solidFill>
                  <a:srgbClr val="6C2B91"/>
                </a:solidFill>
                <a:latin typeface="Helvetica Neue"/>
                <a:ea typeface="Helvetica Neue"/>
                <a:cs typeface="Helvetica Neue"/>
              </a:rPr>
              <a:t>EXAMPLE PROMPT</a:t>
            </a:r>
          </a:p>
        </p:txBody>
      </p:sp>
      <p:sp>
        <p:nvSpPr>
          <p:cNvPr id="11" name="prompt-content">
            <a:extLst>
              <a:ext uri="{FF2B5EF4-FFF2-40B4-BE49-F238E27FC236}">
                <a16:creationId xmlns:a16="http://schemas.microsoft.com/office/drawing/2014/main" id="{5CC0C00B-F0C6-4119-964E-2D62F70483EC}"/>
              </a:ext>
            </a:extLst>
          </p:cNvPr>
          <p:cNvSpPr>
            <a:spLocks noGrp="1"/>
          </p:cNvSpPr>
          <p:nvPr/>
        </p:nvSpPr>
        <p:spPr>
          <a:xfrm>
            <a:off x="800100" y="5019675"/>
            <a:ext cx="10525125" cy="819150"/>
          </a:xfrm>
          <a:prstGeom prst="rect">
            <a:avLst/>
          </a:prstGeom>
          <a:noFill/>
          <a:ln w="0">
            <a:noFill/>
          </a:ln>
        </p:spPr>
        <p:txBody>
          <a:bodyPr lIns="0" tIns="0" rIns="0" bIns="0">
            <a:noAutofit/>
          </a:bodyPr>
          <a:lstStyle>
            <a:defPPr algn="l">
              <a:defRPr sz="1875" b="0">
                <a:solidFill>
                  <a:srgbClr val="6C2B91"/>
                </a:solidFill>
                <a:latin typeface="Helvetica Neue"/>
                <a:ea typeface="Helvetica Neue"/>
                <a:cs typeface="Helvetica Neue"/>
              </a:defRPr>
            </a:defPPr>
          </a:lstStyle>
          <a:p>
            <a:pPr algn="l">
              <a:buNone/>
              <a:defRPr sz="1875" b="0">
                <a:solidFill>
                  <a:srgbClr val="6C2B91"/>
                </a:solidFill>
                <a:latin typeface="Helvetica Neue"/>
                <a:ea typeface="Helvetica Neue"/>
                <a:cs typeface="Helvetica Neue"/>
              </a:defRPr>
            </a:pPr>
            <a:r>
              <a:rPr sz="1875" b="0">
                <a:solidFill>
                  <a:srgbClr val="6C2B91"/>
                </a:solidFill>
                <a:latin typeface="Helvetica Neue"/>
                <a:ea typeface="Helvetica Neue"/>
                <a:cs typeface="Helvetica Neue"/>
              </a:rPr>
              <a:t>"Check the consistency of the claims, schedule and budget. Assemble the proposal and outline the pitch."</a:t>
            </a:r>
          </a:p>
        </p:txBody>
      </p:sp>
      <p:sp>
        <p:nvSpPr>
          <p:cNvPr id="12" name="discussion-cue">
            <a:extLst>
              <a:ext uri="{FF2B5EF4-FFF2-40B4-BE49-F238E27FC236}">
                <a16:creationId xmlns:a16="http://schemas.microsoft.com/office/drawing/2014/main" id="{EADDBDB0-7A49-4259-B88F-9EA71C40B328}"/>
              </a:ext>
            </a:extLst>
          </p:cNvPr>
          <p:cNvSpPr>
            <a:spLocks noGrp="1"/>
          </p:cNvSpPr>
          <p:nvPr/>
        </p:nvSpPr>
        <p:spPr>
          <a:xfrm>
            <a:off x="609600" y="6067425"/>
            <a:ext cx="10668000" cy="266700"/>
          </a:xfrm>
          <a:prstGeom prst="rect">
            <a:avLst/>
          </a:prstGeom>
          <a:noFill/>
          <a:ln w="0">
            <a:noFill/>
          </a:ln>
        </p:spPr>
        <p:txBody>
          <a:bodyPr lIns="0" tIns="0" rIns="0" bIns="0">
            <a:noAutofit/>
          </a:bodyPr>
          <a:lstStyle>
            <a:defPPr algn="l">
              <a:defRPr sz="1500" b="0">
                <a:solidFill>
                  <a:srgbClr val="607482"/>
                </a:solidFill>
                <a:latin typeface="Helvetica Neue"/>
                <a:ea typeface="Helvetica Neue"/>
                <a:cs typeface="Helvetica Neue"/>
              </a:defRPr>
            </a:defPPr>
          </a:lstStyle>
          <a:p>
            <a:pPr algn="l">
              <a:buNone/>
              <a:defRPr sz="1500" b="0">
                <a:solidFill>
                  <a:srgbClr val="607482"/>
                </a:solidFill>
                <a:latin typeface="Helvetica Neue"/>
                <a:ea typeface="Helvetica Neue"/>
                <a:cs typeface="Helvetica Neue"/>
              </a:defRPr>
            </a:pPr>
            <a:endParaRPr/>
          </a:p>
        </p:txBody>
      </p:sp>
      <p:pic>
        <p:nvPicPr>
          <p:cNvPr id="14" name="Picture 13">
            <a:extLst>
              <a:ext uri="{FF2B5EF4-FFF2-40B4-BE49-F238E27FC236}">
                <a16:creationId xmlns:a16="http://schemas.microsoft.com/office/drawing/2014/main" id="{5DBE5490-32C4-4064-B0AE-DFC10A4B0DD4}"/>
              </a:ext>
            </a:extLst>
          </p:cNvPr>
          <p:cNvPicPr>
            <a:picLocks noChangeAspect="1"/>
          </p:cNvPicPr>
          <p:nvPr/>
        </p:nvPicPr>
        <p:blipFill>
          <a:blip r:embed="rId3"/>
          <a:stretch/>
        </p:blipFill>
        <p:spPr>
          <a:xfrm>
            <a:off x="638175" y="2305050"/>
            <a:ext cx="400050" cy="400050"/>
          </a:xfrm>
          <a:prstGeom prst="rect">
            <a:avLst/>
          </a:prstGeom>
        </p:spPr>
      </p:pic>
      <p:sp>
        <p:nvSpPr>
          <p:cNvPr id="15" name="action-1">
            <a:extLst>
              <a:ext uri="{FF2B5EF4-FFF2-40B4-BE49-F238E27FC236}">
                <a16:creationId xmlns:a16="http://schemas.microsoft.com/office/drawing/2014/main" id="{82463289-1329-4777-BA05-1403444AEF44}"/>
              </a:ext>
            </a:extLst>
          </p:cNvPr>
          <p:cNvSpPr>
            <a:spLocks noGrp="1"/>
          </p:cNvSpPr>
          <p:nvPr/>
        </p:nvSpPr>
        <p:spPr>
          <a:xfrm>
            <a:off x="1276350" y="2343150"/>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Check claims and budget totals</a:t>
            </a:r>
          </a:p>
        </p:txBody>
      </p:sp>
      <p:pic>
        <p:nvPicPr>
          <p:cNvPr id="16" name="Picture 15">
            <a:extLst>
              <a:ext uri="{FF2B5EF4-FFF2-40B4-BE49-F238E27FC236}">
                <a16:creationId xmlns:a16="http://schemas.microsoft.com/office/drawing/2014/main" id="{B09FD0EF-848D-44DC-B1F7-C7B33E3E62CE}"/>
              </a:ext>
            </a:extLst>
          </p:cNvPr>
          <p:cNvPicPr>
            <a:picLocks noChangeAspect="1"/>
          </p:cNvPicPr>
          <p:nvPr/>
        </p:nvPicPr>
        <p:blipFill>
          <a:blip r:embed="rId4"/>
          <a:stretch/>
        </p:blipFill>
        <p:spPr>
          <a:xfrm>
            <a:off x="638175" y="2924175"/>
            <a:ext cx="400050" cy="400050"/>
          </a:xfrm>
          <a:prstGeom prst="rect">
            <a:avLst/>
          </a:prstGeom>
        </p:spPr>
      </p:pic>
      <p:sp>
        <p:nvSpPr>
          <p:cNvPr id="17" name="action-2">
            <a:extLst>
              <a:ext uri="{FF2B5EF4-FFF2-40B4-BE49-F238E27FC236}">
                <a16:creationId xmlns:a16="http://schemas.microsoft.com/office/drawing/2014/main" id="{77EF27F8-9706-4F14-831D-9671DD7345BC}"/>
              </a:ext>
            </a:extLst>
          </p:cNvPr>
          <p:cNvSpPr>
            <a:spLocks noGrp="1"/>
          </p:cNvSpPr>
          <p:nvPr/>
        </p:nvSpPr>
        <p:spPr>
          <a:xfrm>
            <a:off x="1276350" y="2962275"/>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Assemble the proposal sections</a:t>
            </a:r>
          </a:p>
        </p:txBody>
      </p:sp>
      <p:pic>
        <p:nvPicPr>
          <p:cNvPr id="18" name="Picture 17">
            <a:extLst>
              <a:ext uri="{FF2B5EF4-FFF2-40B4-BE49-F238E27FC236}">
                <a16:creationId xmlns:a16="http://schemas.microsoft.com/office/drawing/2014/main" id="{4813FECF-7B0F-489F-8DAF-DD9861FA7D6D}"/>
              </a:ext>
            </a:extLst>
          </p:cNvPr>
          <p:cNvPicPr>
            <a:picLocks noChangeAspect="1"/>
          </p:cNvPicPr>
          <p:nvPr/>
        </p:nvPicPr>
        <p:blipFill>
          <a:blip r:embed="rId5"/>
          <a:stretch/>
        </p:blipFill>
        <p:spPr>
          <a:xfrm>
            <a:off x="638175" y="3543300"/>
            <a:ext cx="400050" cy="400050"/>
          </a:xfrm>
          <a:prstGeom prst="rect">
            <a:avLst/>
          </a:prstGeom>
        </p:spPr>
      </p:pic>
      <p:sp>
        <p:nvSpPr>
          <p:cNvPr id="19" name="action-3">
            <a:extLst>
              <a:ext uri="{FF2B5EF4-FFF2-40B4-BE49-F238E27FC236}">
                <a16:creationId xmlns:a16="http://schemas.microsoft.com/office/drawing/2014/main" id="{0C3D2DF5-69A5-41E5-90FC-8A1EBA8834E8}"/>
              </a:ext>
            </a:extLst>
          </p:cNvPr>
          <p:cNvSpPr>
            <a:spLocks noGrp="1"/>
          </p:cNvSpPr>
          <p:nvPr/>
        </p:nvSpPr>
        <p:spPr>
          <a:xfrm>
            <a:off x="1276350" y="3581400"/>
            <a:ext cx="6477000" cy="495300"/>
          </a:xfrm>
          <a:prstGeom prst="rect">
            <a:avLst/>
          </a:prstGeom>
          <a:noFill/>
          <a:ln w="0">
            <a:noFill/>
          </a:ln>
        </p:spPr>
        <p:txBody>
          <a:bodyPr lIns="0" tIns="0" rIns="0" bIns="0">
            <a:noAutofit/>
          </a:bodyPr>
          <a:lstStyle>
            <a:defPPr>
              <a:defRPr sz="2175" b="0">
                <a:solidFill>
                  <a:srgbClr val="233A4B"/>
                </a:solidFill>
                <a:latin typeface="Helvetica Neue"/>
                <a:ea typeface="Helvetica Neue"/>
                <a:cs typeface="Helvetica Neue"/>
              </a:defRPr>
            </a:defPPr>
          </a:lstStyle>
          <a:p>
            <a:pPr>
              <a:buNone/>
              <a:defRPr sz="2175" b="0">
                <a:solidFill>
                  <a:srgbClr val="233A4B"/>
                </a:solidFill>
                <a:latin typeface="Helvetica Neue"/>
                <a:ea typeface="Helvetica Neue"/>
                <a:cs typeface="Helvetica Neue"/>
              </a:defRPr>
            </a:pPr>
            <a:r>
              <a:rPr sz="2175" b="0">
                <a:solidFill>
                  <a:srgbClr val="233A4B"/>
                </a:solidFill>
                <a:latin typeface="Helvetica Neue"/>
                <a:ea typeface="Helvetica Neue"/>
                <a:cs typeface="Helvetica Neue"/>
              </a:rPr>
              <a:t>Prepare the pitch and review questions</a:t>
            </a:r>
          </a:p>
        </p:txBody>
      </p:sp>
    </p:spTree>
    <p:extLst>
      <p:ext uri="{BB962C8B-B14F-4D97-AF65-F5344CB8AC3E}">
        <p14:creationId xmlns:p14="http://schemas.microsoft.com/office/powerpoint/2010/main" val="73925688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6" name="section-label">
            <a:extLst>
              <a:ext uri="{FF2B5EF4-FFF2-40B4-BE49-F238E27FC236}">
                <a16:creationId xmlns:a16="http://schemas.microsoft.com/office/drawing/2014/main" id="{A217BD2C-1C23-4DF2-BA39-A059400C837D}"/>
              </a:ext>
            </a:extLst>
          </p:cNvPr>
          <p:cNvSpPr>
            <a:spLocks noGrp="1"/>
          </p:cNvSpPr>
          <p:nvPr/>
        </p:nvSpPr>
        <p:spPr>
          <a:xfrm>
            <a:off x="609600" y="285750"/>
            <a:ext cx="10668000" cy="285750"/>
          </a:xfrm>
          <a:prstGeom prst="rect">
            <a:avLst/>
          </a:prstGeom>
          <a:noFill/>
          <a:ln w="0">
            <a:noFill/>
          </a:ln>
        </p:spPr>
        <p:txBody>
          <a:bodyPr lIns="0" tIns="0" rIns="0" bIns="0">
            <a:noAutofit/>
          </a:bodyPr>
          <a:lstStyle>
            <a:defPPr>
              <a:defRPr sz="1200" b="1">
                <a:solidFill>
                  <a:srgbClr val="244653"/>
                </a:solidFill>
                <a:latin typeface="Helvetica Neue"/>
                <a:ea typeface="Helvetica Neue"/>
                <a:cs typeface="Helvetica Neue"/>
              </a:defRPr>
            </a:defPPr>
          </a:lstStyle>
          <a:p>
            <a:pPr>
              <a:buNone/>
              <a:defRPr sz="1200" b="1">
                <a:solidFill>
                  <a:srgbClr val="244653"/>
                </a:solidFill>
                <a:latin typeface="Helvetica Neue"/>
                <a:ea typeface="Helvetica Neue"/>
                <a:cs typeface="Helvetica Neue"/>
              </a:defRPr>
            </a:pPr>
            <a:r>
              <a:rPr sz="1200" b="1">
                <a:solidFill>
                  <a:srgbClr val="244653"/>
                </a:solidFill>
                <a:latin typeface="Helvetica Neue"/>
                <a:ea typeface="Helvetica Neue"/>
                <a:cs typeface="Helvetica Neue"/>
              </a:rPr>
              <a:t>APPENDIX: INTRODUCTION</a:t>
            </a:r>
          </a:p>
        </p:txBody>
      </p:sp>
      <p:sp>
        <p:nvSpPr>
          <p:cNvPr id="2" name="slide-title">
            <a:extLst>
              <a:ext uri="{FF2B5EF4-FFF2-40B4-BE49-F238E27FC236}">
                <a16:creationId xmlns:a16="http://schemas.microsoft.com/office/drawing/2014/main" id="{4B102124-C656-447B-AE0D-8DF185C15201}"/>
              </a:ext>
            </a:extLst>
          </p:cNvPr>
          <p:cNvSpPr>
            <a:spLocks noGrp="1"/>
          </p:cNvSpPr>
          <p:nvPr/>
        </p:nvSpPr>
        <p:spPr>
          <a:xfrm>
            <a:off x="609600" y="781050"/>
            <a:ext cx="10972800" cy="819150"/>
          </a:xfrm>
          <a:prstGeom prst="rect">
            <a:avLst/>
          </a:prstGeom>
          <a:noFill/>
          <a:ln w="0">
            <a:noFill/>
          </a:ln>
        </p:spPr>
        <p:txBody>
          <a:bodyPr lIns="0" tIns="0" rIns="0" bIns="0">
            <a:noAutofit/>
          </a:bodyPr>
          <a:lstStyle>
            <a:defPPr>
              <a:defRPr sz="3450" b="1">
                <a:solidFill>
                  <a:srgbClr val="102B46"/>
                </a:solidFill>
                <a:latin typeface="Helvetica Neue"/>
                <a:ea typeface="Helvetica Neue"/>
                <a:cs typeface="Helvetica Neue"/>
              </a:defRPr>
            </a:defPPr>
          </a:lstStyle>
          <a:p>
            <a:pPr>
              <a:buNone/>
              <a:defRPr sz="3450" b="1">
                <a:solidFill>
                  <a:srgbClr val="102B46"/>
                </a:solidFill>
                <a:latin typeface="Helvetica Neue"/>
                <a:ea typeface="Helvetica Neue"/>
                <a:cs typeface="Helvetica Neue"/>
              </a:defRPr>
            </a:pPr>
            <a:r>
              <a:rPr sz="3450" b="1">
                <a:solidFill>
                  <a:srgbClr val="102B46"/>
                </a:solidFill>
                <a:latin typeface="Helvetica Neue"/>
                <a:ea typeface="Helvetica Neue"/>
                <a:cs typeface="Helvetica Neue"/>
              </a:rPr>
              <a:t>Progress across the three workstreams</a:t>
            </a:r>
          </a:p>
        </p:txBody>
      </p:sp>
      <p:sp>
        <p:nvSpPr>
          <p:cNvPr id="3" name="subtitle">
            <a:extLst>
              <a:ext uri="{FF2B5EF4-FFF2-40B4-BE49-F238E27FC236}">
                <a16:creationId xmlns:a16="http://schemas.microsoft.com/office/drawing/2014/main" id="{2FB0AEB2-9E9D-4FF3-8F5F-7503612C153D}"/>
              </a:ext>
            </a:extLst>
          </p:cNvPr>
          <p:cNvSpPr>
            <a:spLocks noGrp="1"/>
          </p:cNvSpPr>
          <p:nvPr/>
        </p:nvSpPr>
        <p:spPr>
          <a:xfrm>
            <a:off x="609600" y="1581150"/>
            <a:ext cx="10972800" cy="419100"/>
          </a:xfrm>
          <a:prstGeom prst="rect">
            <a:avLst/>
          </a:prstGeom>
          <a:noFill/>
          <a:ln w="0">
            <a:noFill/>
          </a:ln>
        </p:spPr>
        <p:txBody>
          <a:bodyPr lIns="0" tIns="0" rIns="0" bIns="0">
            <a:noAutofit/>
          </a:bodyPr>
          <a:lstStyle>
            <a:defPPr>
              <a:defRPr sz="1800" b="0">
                <a:solidFill>
                  <a:srgbClr val="607482"/>
                </a:solidFill>
                <a:latin typeface="Helvetica Neue"/>
                <a:ea typeface="Helvetica Neue"/>
                <a:cs typeface="Helvetica Neue"/>
              </a:defRPr>
            </a:defPPr>
          </a:lstStyle>
          <a:p>
            <a:pPr>
              <a:buNone/>
              <a:defRPr sz="1800" b="0">
                <a:solidFill>
                  <a:srgbClr val="607482"/>
                </a:solidFill>
                <a:latin typeface="Helvetica Neue"/>
                <a:ea typeface="Helvetica Neue"/>
                <a:cs typeface="Helvetica Neue"/>
              </a:defRPr>
            </a:pPr>
            <a:r>
              <a:rPr sz="1800" b="0">
                <a:solidFill>
                  <a:srgbClr val="607482"/>
                </a:solidFill>
                <a:latin typeface="Helvetica Neue"/>
                <a:ea typeface="Helvetica Neue"/>
                <a:cs typeface="Helvetica Neue"/>
              </a:rPr>
              <a:t>All three begin in Session 1 and develop in every session</a:t>
            </a:r>
          </a:p>
        </p:txBody>
      </p:sp>
      <p:graphicFrame>
        <p:nvGraphicFramePr>
          <p:cNvPr id="4" name="Table 3">
            <a:extLst>
              <a:ext uri="{FF2B5EF4-FFF2-40B4-BE49-F238E27FC236}">
                <a16:creationId xmlns:a16="http://schemas.microsoft.com/office/drawing/2014/main" id="{51F261C5-57FD-437D-AEF1-26134F616D8F}"/>
              </a:ext>
            </a:extLst>
          </p:cNvPr>
          <p:cNvGraphicFramePr/>
          <p:nvPr/>
        </p:nvGraphicFramePr>
        <p:xfrm>
          <a:off x="609600" y="2228850"/>
          <a:ext cx="10972800" cy="3810000"/>
        </p:xfrm>
        <a:graphic>
          <a:graphicData uri="http://schemas.openxmlformats.org/drawingml/2006/table">
            <a:tbl>
              <a:tblPr/>
              <a:tblGrid>
                <a:gridCol w="205740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gridCol w="2971800">
                  <a:extLst>
                    <a:ext uri="{9D8B030D-6E8A-4147-A177-3AD203B41FA5}">
                      <a16:colId xmlns:a16="http://schemas.microsoft.com/office/drawing/2014/main" val="20003"/>
                    </a:ext>
                  </a:extLst>
                </a:gridCol>
              </a:tblGrid>
              <a:tr h="952500">
                <a:tc>
                  <a:txBody>
                    <a:bodyPr/>
                    <a:lstStyle/>
                    <a:p>
                      <a:r>
                        <a:rPr sz="1800" b="1">
                          <a:solidFill>
                            <a:srgbClr val="102B46"/>
                          </a:solidFill>
                          <a:latin typeface="Helvetica Neue"/>
                          <a:ea typeface="Helvetica Neue"/>
                          <a:cs typeface="Helvetica Neue"/>
                        </a:rPr>
                        <a:t>Workstream</a:t>
                      </a:r>
                    </a:p>
                  </a:txBody>
                  <a:tcPr marL="161925" marR="114300" marT="161925" marB="114300">
                    <a:solidFill>
                      <a:srgbClr val="F1F5F8"/>
                    </a:solidFill>
                  </a:tcPr>
                </a:tc>
                <a:tc>
                  <a:txBody>
                    <a:bodyPr/>
                    <a:lstStyle/>
                    <a:p>
                      <a:r>
                        <a:rPr sz="1800" b="1">
                          <a:solidFill>
                            <a:srgbClr val="102B46"/>
                          </a:solidFill>
                          <a:latin typeface="Helvetica Neue"/>
                          <a:ea typeface="Helvetica Neue"/>
                          <a:cs typeface="Helvetica Neue"/>
                        </a:rPr>
                        <a:t>Session 1</a:t>
                      </a:r>
                    </a:p>
                    <a:p>
                      <a:r>
                        <a:rPr sz="1800" b="1">
                          <a:solidFill>
                            <a:srgbClr val="102B46"/>
                          </a:solidFill>
                          <a:latin typeface="Helvetica Neue"/>
                          <a:ea typeface="Helvetica Neue"/>
                          <a:cs typeface="Helvetica Neue"/>
                        </a:rPr>
                        <a:t>Initial</a:t>
                      </a:r>
                    </a:p>
                  </a:txBody>
                  <a:tcPr marL="161925" marR="114300" marT="161925" marB="114300">
                    <a:solidFill>
                      <a:srgbClr val="F1F5F8"/>
                    </a:solidFill>
                  </a:tcPr>
                </a:tc>
                <a:tc>
                  <a:txBody>
                    <a:bodyPr/>
                    <a:lstStyle/>
                    <a:p>
                      <a:r>
                        <a:rPr sz="1800" b="1">
                          <a:solidFill>
                            <a:srgbClr val="102B46"/>
                          </a:solidFill>
                          <a:latin typeface="Helvetica Neue"/>
                          <a:ea typeface="Helvetica Neue"/>
                          <a:cs typeface="Helvetica Neue"/>
                        </a:rPr>
                        <a:t>Session 2</a:t>
                      </a:r>
                    </a:p>
                    <a:p>
                      <a:r>
                        <a:rPr sz="1800" b="1">
                          <a:solidFill>
                            <a:srgbClr val="102B46"/>
                          </a:solidFill>
                          <a:latin typeface="Helvetica Neue"/>
                          <a:ea typeface="Helvetica Neue"/>
                          <a:cs typeface="Helvetica Neue"/>
                        </a:rPr>
                        <a:t>Developed</a:t>
                      </a:r>
                    </a:p>
                  </a:txBody>
                  <a:tcPr marL="161925" marR="114300" marT="161925" marB="114300">
                    <a:solidFill>
                      <a:srgbClr val="F1F5F8"/>
                    </a:solidFill>
                  </a:tcPr>
                </a:tc>
                <a:tc>
                  <a:txBody>
                    <a:bodyPr/>
                    <a:lstStyle/>
                    <a:p>
                      <a:r>
                        <a:rPr sz="1800" b="1">
                          <a:solidFill>
                            <a:srgbClr val="102B46"/>
                          </a:solidFill>
                          <a:latin typeface="Helvetica Neue"/>
                          <a:ea typeface="Helvetica Neue"/>
                          <a:cs typeface="Helvetica Neue"/>
                        </a:rPr>
                        <a:t>Session 3</a:t>
                      </a:r>
                    </a:p>
                    <a:p>
                      <a:r>
                        <a:rPr sz="1800" b="1">
                          <a:solidFill>
                            <a:srgbClr val="102B46"/>
                          </a:solidFill>
                          <a:latin typeface="Helvetica Neue"/>
                          <a:ea typeface="Helvetica Neue"/>
                          <a:cs typeface="Helvetica Neue"/>
                        </a:rPr>
                        <a:t>Integrated</a:t>
                      </a:r>
                    </a:p>
                  </a:txBody>
                  <a:tcPr marL="161925" marR="114300" marT="161925" marB="114300">
                    <a:solidFill>
                      <a:srgbClr val="F1F5F8"/>
                    </a:solidFill>
                  </a:tcPr>
                </a:tc>
                <a:extLst>
                  <a:ext uri="{0D108BD9-81ED-4DB2-BD59-A6C34878D82A}">
                    <a16:rowId xmlns:a16="http://schemas.microsoft.com/office/drawing/2014/main" val="10000"/>
                  </a:ext>
                </a:extLst>
              </a:tr>
              <a:tr h="952500">
                <a:tc>
                  <a:txBody>
                    <a:bodyPr/>
                    <a:lstStyle/>
                    <a:p>
                      <a:r>
                        <a:rPr sz="1800" b="1">
                          <a:solidFill>
                            <a:srgbClr val="226FBB"/>
                          </a:solidFill>
                          <a:latin typeface="Helvetica Neue"/>
                          <a:ea typeface="Helvetica Neue"/>
                          <a:cs typeface="Helvetica Neue"/>
                        </a:rPr>
                        <a:t>Technology</a:t>
                      </a:r>
                    </a:p>
                  </a:txBody>
                  <a:tcPr marL="161925" marR="114300" marT="161925" marB="114300">
                    <a:solidFill>
                      <a:srgbClr val="EFF5FC"/>
                    </a:solidFill>
                  </a:tcPr>
                </a:tc>
                <a:tc>
                  <a:txBody>
                    <a:bodyPr/>
                    <a:lstStyle/>
                    <a:p>
                      <a:r>
                        <a:rPr sz="1725">
                          <a:solidFill>
                            <a:srgbClr val="233A4B"/>
                          </a:solidFill>
                          <a:latin typeface="Helvetica Neue"/>
                          <a:ea typeface="Helvetica Neue"/>
                          <a:cs typeface="Helvetica Neue"/>
                        </a:rPr>
                        <a:t>Users and scenarios</a:t>
                      </a:r>
                    </a:p>
                    <a:p>
                      <a:r>
                        <a:rPr sz="1725">
                          <a:solidFill>
                            <a:srgbClr val="233A4B"/>
                          </a:solidFill>
                          <a:latin typeface="Helvetica Neue"/>
                          <a:ea typeface="Helvetica Neue"/>
                          <a:cs typeface="Helvetica Neue"/>
                        </a:rPr>
                        <a:t>System sketch</a:t>
                      </a:r>
                    </a:p>
                  </a:txBody>
                  <a:tcPr marL="161925" marR="114300" marT="161925" marB="114300">
                    <a:solidFill>
                      <a:srgbClr val="FFFFFF"/>
                    </a:solidFill>
                  </a:tcPr>
                </a:tc>
                <a:tc>
                  <a:txBody>
                    <a:bodyPr/>
                    <a:lstStyle/>
                    <a:p>
                      <a:r>
                        <a:rPr sz="1725">
                          <a:solidFill>
                            <a:srgbClr val="233A4B"/>
                          </a:solidFill>
                          <a:latin typeface="Helvetica Neue"/>
                          <a:ea typeface="Helvetica Neue"/>
                          <a:cs typeface="Helvetica Neue"/>
                        </a:rPr>
                        <a:t>Interfaces and evidence</a:t>
                      </a:r>
                    </a:p>
                    <a:p>
                      <a:r>
                        <a:rPr sz="1725">
                          <a:solidFill>
                            <a:srgbClr val="233A4B"/>
                          </a:solidFill>
                          <a:latin typeface="Helvetica Neue"/>
                          <a:ea typeface="Helvetica Neue"/>
                          <a:cs typeface="Helvetica Neue"/>
                        </a:rPr>
                        <a:t>Feasibility</a:t>
                      </a:r>
                    </a:p>
                  </a:txBody>
                  <a:tcPr marL="161925" marR="114300" marT="161925" marB="114300">
                    <a:solidFill>
                      <a:srgbClr val="FFFFFF"/>
                    </a:solidFill>
                  </a:tcPr>
                </a:tc>
                <a:tc>
                  <a:txBody>
                    <a:bodyPr/>
                    <a:lstStyle/>
                    <a:p>
                      <a:r>
                        <a:rPr sz="1725">
                          <a:solidFill>
                            <a:srgbClr val="233A4B"/>
                          </a:solidFill>
                          <a:latin typeface="Helvetica Neue"/>
                          <a:ea typeface="Helvetica Neue"/>
                          <a:cs typeface="Helvetica Neue"/>
                        </a:rPr>
                        <a:t>Refined design</a:t>
                      </a:r>
                    </a:p>
                    <a:p>
                      <a:r>
                        <a:rPr sz="1725">
                          <a:solidFill>
                            <a:srgbClr val="233A4B"/>
                          </a:solidFill>
                          <a:latin typeface="Helvetica Neue"/>
                          <a:ea typeface="Helvetica Neue"/>
                          <a:cs typeface="Helvetica Neue"/>
                        </a:rPr>
                        <a:t>R&amp;D and validation</a:t>
                      </a:r>
                    </a:p>
                  </a:txBody>
                  <a:tcPr marL="161925" marR="114300" marT="161925" marB="114300">
                    <a:solidFill>
                      <a:srgbClr val="FFFFFF"/>
                    </a:solidFill>
                  </a:tcPr>
                </a:tc>
                <a:extLst>
                  <a:ext uri="{0D108BD9-81ED-4DB2-BD59-A6C34878D82A}">
                    <a16:rowId xmlns:a16="http://schemas.microsoft.com/office/drawing/2014/main" val="10001"/>
                  </a:ext>
                </a:extLst>
              </a:tr>
              <a:tr h="952500">
                <a:tc>
                  <a:txBody>
                    <a:bodyPr/>
                    <a:lstStyle/>
                    <a:p>
                      <a:r>
                        <a:rPr sz="1800" b="1">
                          <a:solidFill>
                            <a:srgbClr val="087E83"/>
                          </a:solidFill>
                          <a:latin typeface="Helvetica Neue"/>
                          <a:ea typeface="Helvetica Neue"/>
                          <a:cs typeface="Helvetica Neue"/>
                        </a:rPr>
                        <a:t>Regulation</a:t>
                      </a:r>
                    </a:p>
                  </a:txBody>
                  <a:tcPr marL="161925" marR="114300" marT="161925" marB="114300">
                    <a:solidFill>
                      <a:srgbClr val="EDF7F6"/>
                    </a:solidFill>
                  </a:tcPr>
                </a:tc>
                <a:tc>
                  <a:txBody>
                    <a:bodyPr/>
                    <a:lstStyle/>
                    <a:p>
                      <a:r>
                        <a:rPr sz="1725">
                          <a:solidFill>
                            <a:srgbClr val="233A4B"/>
                          </a:solidFill>
                          <a:latin typeface="Helvetica Neue"/>
                          <a:ea typeface="Helvetica Neue"/>
                          <a:cs typeface="Helvetica Neue"/>
                        </a:rPr>
                        <a:t>Relevant rules</a:t>
                      </a:r>
                    </a:p>
                    <a:p>
                      <a:r>
                        <a:rPr sz="1725">
                          <a:solidFill>
                            <a:srgbClr val="233A4B"/>
                          </a:solidFill>
                          <a:latin typeface="Helvetica Neue"/>
                          <a:ea typeface="Helvetica Neue"/>
                          <a:cs typeface="Helvetica Neue"/>
                        </a:rPr>
                        <a:t>Open questions</a:t>
                      </a:r>
                    </a:p>
                  </a:txBody>
                  <a:tcPr marL="161925" marR="114300" marT="161925" marB="114300">
                    <a:solidFill>
                      <a:srgbClr val="FFFFFF"/>
                    </a:solidFill>
                  </a:tcPr>
                </a:tc>
                <a:tc>
                  <a:txBody>
                    <a:bodyPr/>
                    <a:lstStyle/>
                    <a:p>
                      <a:r>
                        <a:rPr sz="1725">
                          <a:solidFill>
                            <a:srgbClr val="233A4B"/>
                          </a:solidFill>
                          <a:latin typeface="Helvetica Neue"/>
                          <a:ea typeface="Helvetica Neue"/>
                          <a:cs typeface="Helvetica Neue"/>
                        </a:rPr>
                        <a:t>Design implications</a:t>
                      </a:r>
                    </a:p>
                    <a:p>
                      <a:r>
                        <a:rPr sz="1725">
                          <a:solidFill>
                            <a:srgbClr val="233A4B"/>
                          </a:solidFill>
                          <a:latin typeface="Helvetica Neue"/>
                          <a:ea typeface="Helvetica Neue"/>
                          <a:cs typeface="Helvetica Neue"/>
                        </a:rPr>
                        <a:t>Compliance approach</a:t>
                      </a:r>
                    </a:p>
                  </a:txBody>
                  <a:tcPr marL="161925" marR="114300" marT="161925" marB="114300">
                    <a:solidFill>
                      <a:srgbClr val="FFFFFF"/>
                    </a:solidFill>
                  </a:tcPr>
                </a:tc>
                <a:tc>
                  <a:txBody>
                    <a:bodyPr/>
                    <a:lstStyle/>
                    <a:p>
                      <a:r>
                        <a:rPr sz="1725">
                          <a:solidFill>
                            <a:srgbClr val="233A4B"/>
                          </a:solidFill>
                          <a:latin typeface="Helvetica Neue"/>
                          <a:ea typeface="Helvetica Neue"/>
                          <a:cs typeface="Helvetica Neue"/>
                        </a:rPr>
                        <a:t>Actions and owners</a:t>
                      </a:r>
                    </a:p>
                    <a:p>
                      <a:r>
                        <a:rPr sz="1725">
                          <a:solidFill>
                            <a:srgbClr val="233A4B"/>
                          </a:solidFill>
                          <a:latin typeface="Helvetica Neue"/>
                          <a:ea typeface="Helvetica Neue"/>
                          <a:cs typeface="Helvetica Neue"/>
                        </a:rPr>
                        <a:t>Remaining gaps</a:t>
                      </a:r>
                    </a:p>
                  </a:txBody>
                  <a:tcPr marL="161925" marR="114300" marT="161925" marB="114300">
                    <a:solidFill>
                      <a:srgbClr val="FFFFFF"/>
                    </a:solidFill>
                  </a:tcPr>
                </a:tc>
                <a:extLst>
                  <a:ext uri="{0D108BD9-81ED-4DB2-BD59-A6C34878D82A}">
                    <a16:rowId xmlns:a16="http://schemas.microsoft.com/office/drawing/2014/main" val="10002"/>
                  </a:ext>
                </a:extLst>
              </a:tr>
              <a:tr h="952500">
                <a:tc>
                  <a:txBody>
                    <a:bodyPr/>
                    <a:lstStyle/>
                    <a:p>
                      <a:r>
                        <a:rPr sz="1800" b="1">
                          <a:solidFill>
                            <a:srgbClr val="A16C27"/>
                          </a:solidFill>
                          <a:latin typeface="Helvetica Neue"/>
                          <a:ea typeface="Helvetica Neue"/>
                          <a:cs typeface="Helvetica Neue"/>
                        </a:rPr>
                        <a:t>Business</a:t>
                      </a:r>
                    </a:p>
                  </a:txBody>
                  <a:tcPr marL="161925" marR="114300" marT="161925" marB="114300">
                    <a:solidFill>
                      <a:srgbClr val="FBF6ED"/>
                    </a:solidFill>
                  </a:tcPr>
                </a:tc>
                <a:tc>
                  <a:txBody>
                    <a:bodyPr/>
                    <a:lstStyle/>
                    <a:p>
                      <a:r>
                        <a:rPr sz="1725">
                          <a:solidFill>
                            <a:srgbClr val="233A4B"/>
                          </a:solidFill>
                          <a:latin typeface="Helvetica Neue"/>
                          <a:ea typeface="Helvetica Neue"/>
                          <a:cs typeface="Helvetica Neue"/>
                        </a:rPr>
                        <a:t>Existing offers</a:t>
                      </a:r>
                    </a:p>
                    <a:p>
                      <a:r>
                        <a:rPr sz="1725">
                          <a:solidFill>
                            <a:srgbClr val="233A4B"/>
                          </a:solidFill>
                          <a:latin typeface="Helvetica Neue"/>
                          <a:ea typeface="Helvetica Neue"/>
                          <a:cs typeface="Helvetica Neue"/>
                        </a:rPr>
                        <a:t>Buyer hypothesis</a:t>
                      </a:r>
                    </a:p>
                  </a:txBody>
                  <a:tcPr marL="161925" marR="114300" marT="161925" marB="114300">
                    <a:solidFill>
                      <a:srgbClr val="FFFFFF"/>
                    </a:solidFill>
                  </a:tcPr>
                </a:tc>
                <a:tc>
                  <a:txBody>
                    <a:bodyPr/>
                    <a:lstStyle/>
                    <a:p>
                      <a:r>
                        <a:rPr sz="1725">
                          <a:solidFill>
                            <a:srgbClr val="233A4B"/>
                          </a:solidFill>
                          <a:latin typeface="Helvetica Neue"/>
                          <a:ea typeface="Helvetica Neue"/>
                          <a:cs typeface="Helvetica Neue"/>
                        </a:rPr>
                        <a:t>Value and revenue</a:t>
                      </a:r>
                    </a:p>
                    <a:p>
                      <a:r>
                        <a:rPr sz="1725">
                          <a:solidFill>
                            <a:srgbClr val="233A4B"/>
                          </a:solidFill>
                          <a:latin typeface="Helvetica Neue"/>
                          <a:ea typeface="Helvetica Neue"/>
                          <a:cs typeface="Helvetica Neue"/>
                        </a:rPr>
                        <a:t>Costs and delivery</a:t>
                      </a:r>
                    </a:p>
                  </a:txBody>
                  <a:tcPr marL="161925" marR="114300" marT="161925" marB="114300">
                    <a:solidFill>
                      <a:srgbClr val="FFFFFF"/>
                    </a:solidFill>
                  </a:tcPr>
                </a:tc>
                <a:tc>
                  <a:txBody>
                    <a:bodyPr/>
                    <a:lstStyle/>
                    <a:p>
                      <a:r>
                        <a:rPr sz="1725">
                          <a:solidFill>
                            <a:srgbClr val="233A4B"/>
                          </a:solidFill>
                          <a:latin typeface="Helvetica Neue"/>
                          <a:ea typeface="Helvetica Neue"/>
                          <a:cs typeface="Helvetica Neue"/>
                        </a:rPr>
                        <a:t>Sales approach</a:t>
                      </a:r>
                    </a:p>
                    <a:p>
                      <a:r>
                        <a:rPr sz="1725">
                          <a:solidFill>
                            <a:srgbClr val="233A4B"/>
                          </a:solidFill>
                          <a:latin typeface="Helvetica Neue"/>
                          <a:ea typeface="Helvetica Neue"/>
                          <a:cs typeface="Helvetica Neue"/>
                        </a:rPr>
                        <a:t>Funding and execution</a:t>
                      </a:r>
                    </a:p>
                  </a:txBody>
                  <a:tcPr marL="161925" marR="114300" marT="161925" marB="114300">
                    <a:solidFill>
                      <a:srgbClr val="FFFFFF"/>
                    </a:solidFill>
                  </a:tcPr>
                </a:tc>
                <a:extLst>
                  <a:ext uri="{0D108BD9-81ED-4DB2-BD59-A6C34878D82A}">
                    <a16:rowId xmlns:a16="http://schemas.microsoft.com/office/drawing/2014/main" val="10003"/>
                  </a:ext>
                </a:extLst>
              </a:tr>
            </a:tbl>
          </a:graphicData>
        </a:graphic>
      </p:graphicFrame>
      <p:sp>
        <p:nvSpPr>
          <p:cNvPr id="5" name="page-number">
            <a:extLst>
              <a:ext uri="{FF2B5EF4-FFF2-40B4-BE49-F238E27FC236}">
                <a16:creationId xmlns:a16="http://schemas.microsoft.com/office/drawing/2014/main" id="{647118A8-D6CB-4D1F-A328-8F656B410B08}"/>
              </a:ext>
            </a:extLst>
          </p:cNvPr>
          <p:cNvSpPr>
            <a:spLocks noGrp="1"/>
          </p:cNvSpPr>
          <p:nvPr/>
        </p:nvSpPr>
        <p:spPr>
          <a:xfrm>
            <a:off x="10953750" y="6438900"/>
            <a:ext cx="619125" cy="238125"/>
          </a:xfrm>
          <a:prstGeom prst="rect">
            <a:avLst/>
          </a:prstGeom>
          <a:noFill/>
          <a:ln w="0">
            <a:noFill/>
          </a:ln>
        </p:spPr>
        <p:txBody>
          <a:bodyPr lIns="0" tIns="0" rIns="0" bIns="0">
            <a:noAutofit/>
          </a:bodyPr>
          <a:lstStyle>
            <a:defPPr>
              <a:defRPr sz="1125" b="0">
                <a:solidFill>
                  <a:srgbClr val="607482"/>
                </a:solidFill>
                <a:latin typeface="Helvetica Neue"/>
                <a:ea typeface="Helvetica Neue"/>
                <a:cs typeface="Helvetica Neue"/>
              </a:defRPr>
            </a:defPPr>
          </a:lstStyle>
          <a:p>
            <a:pPr>
              <a:buNone/>
              <a:defRPr sz="1125" b="0">
                <a:solidFill>
                  <a:srgbClr val="607482"/>
                </a:solidFill>
                <a:latin typeface="Helvetica Neue"/>
                <a:ea typeface="Helvetica Neue"/>
                <a:cs typeface="Helvetica Neue"/>
              </a:defRPr>
            </a:pPr>
            <a:r>
              <a:rPr sz="1125" b="0">
                <a:solidFill>
                  <a:srgbClr val="607482"/>
                </a:solidFill>
                <a:latin typeface="Helvetica Neue"/>
                <a:ea typeface="Helvetica Neue"/>
                <a:cs typeface="Helvetica Neue"/>
              </a:rPr>
              <a:t>A18</a:t>
            </a:r>
          </a:p>
        </p:txBody>
      </p:sp>
    </p:spTree>
    <p:extLst>
      <p:ext uri="{BB962C8B-B14F-4D97-AF65-F5344CB8AC3E}">
        <p14:creationId xmlns:p14="http://schemas.microsoft.com/office/powerpoint/2010/main" val="9164666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cxnSp>
        <p:nvCxnSpPr>
          <p:cNvPr id="15" name="Straight Arrow Connector 14">
            <a:extLst>
              <a:ext uri="{FF2B5EF4-FFF2-40B4-BE49-F238E27FC236}">
                <a16:creationId xmlns:a16="http://schemas.microsoft.com/office/drawing/2014/main" id="{142CE50A-EC8D-4104-8AAC-BF62C925A531}"/>
              </a:ext>
            </a:extLst>
          </p:cNvPr>
          <p:cNvCxnSpPr>
            <a:stCxn id="8" idx="3"/>
            <a:endCxn id="12" idx="1"/>
          </p:cNvCxnSpPr>
          <p:nvPr/>
        </p:nvCxnSpPr>
        <p:spPr>
          <a:xfrm>
            <a:off x="7639050" y="3181350"/>
            <a:ext cx="361950" cy="0"/>
          </a:xfrm>
          <a:prstGeom prst="straightConnector1">
            <a:avLst/>
          </a:prstGeom>
          <a:ln w="19050">
            <a:solidFill>
              <a:srgbClr val="A16C27"/>
            </a:solidFill>
            <a:prstDash val="solid"/>
            <a:tailEnd type="triangle" w="sm" len="sm"/>
          </a:ln>
        </p:spPr>
      </p:cxnSp>
      <p:cxnSp>
        <p:nvCxnSpPr>
          <p:cNvPr id="11" name="Straight Arrow Connector 10">
            <a:extLst>
              <a:ext uri="{FF2B5EF4-FFF2-40B4-BE49-F238E27FC236}">
                <a16:creationId xmlns:a16="http://schemas.microsoft.com/office/drawing/2014/main" id="{69C0497B-84F7-4863-9BF4-2CA7D918929F}"/>
              </a:ext>
            </a:extLst>
          </p:cNvPr>
          <p:cNvCxnSpPr>
            <a:stCxn id="5" idx="3"/>
            <a:endCxn id="8" idx="1"/>
          </p:cNvCxnSpPr>
          <p:nvPr/>
        </p:nvCxnSpPr>
        <p:spPr>
          <a:xfrm>
            <a:off x="3943350" y="3181350"/>
            <a:ext cx="361950" cy="0"/>
          </a:xfrm>
          <a:prstGeom prst="straightConnector1">
            <a:avLst/>
          </a:prstGeom>
          <a:ln w="19050">
            <a:solidFill>
              <a:srgbClr val="A16C27"/>
            </a:solidFill>
            <a:prstDash val="solid"/>
            <a:tailEnd type="triangle" w="sm" len="sm"/>
          </a:ln>
        </p:spPr>
      </p:cxnSp>
      <p:sp>
        <p:nvSpPr>
          <p:cNvPr id="19" name="section-label">
            <a:extLst>
              <a:ext uri="{FF2B5EF4-FFF2-40B4-BE49-F238E27FC236}">
                <a16:creationId xmlns:a16="http://schemas.microsoft.com/office/drawing/2014/main" id="{CC444040-3054-4848-996D-3D61FE613CCA}"/>
              </a:ext>
            </a:extLst>
          </p:cNvPr>
          <p:cNvSpPr>
            <a:spLocks noGrp="1"/>
          </p:cNvSpPr>
          <p:nvPr/>
        </p:nvSpPr>
        <p:spPr>
          <a:xfrm>
            <a:off x="609600" y="285750"/>
            <a:ext cx="10668000" cy="285750"/>
          </a:xfrm>
          <a:prstGeom prst="rect">
            <a:avLst/>
          </a:prstGeom>
          <a:noFill/>
          <a:ln w="0">
            <a:noFill/>
          </a:ln>
        </p:spPr>
        <p:txBody>
          <a:bodyPr lIns="0" tIns="0" rIns="0" bIns="0">
            <a:noAutofit/>
          </a:bodyPr>
          <a:lstStyle>
            <a:defPPr algn="l">
              <a:defRPr sz="1200" b="1">
                <a:solidFill>
                  <a:srgbClr val="A16C27"/>
                </a:solidFill>
                <a:latin typeface="Helvetica Neue"/>
                <a:ea typeface="Helvetica Neue"/>
                <a:cs typeface="Helvetica Neue"/>
              </a:defRPr>
            </a:defPPr>
          </a:lstStyle>
          <a:p>
            <a:pPr algn="l">
              <a:buNone/>
              <a:defRPr sz="1200" b="1">
                <a:solidFill>
                  <a:srgbClr val="A16C27"/>
                </a:solidFill>
                <a:latin typeface="Helvetica Neue"/>
                <a:ea typeface="Helvetica Neue"/>
                <a:cs typeface="Helvetica Neue"/>
              </a:defRPr>
            </a:pPr>
            <a:r>
              <a:rPr sz="1200" b="1">
                <a:solidFill>
                  <a:srgbClr val="A16C27"/>
                </a:solidFill>
                <a:latin typeface="Helvetica Neue"/>
                <a:ea typeface="Helvetica Neue"/>
                <a:cs typeface="Helvetica Neue"/>
              </a:rPr>
              <a:t>APPENDIX: PROMPT GUIDE</a:t>
            </a:r>
          </a:p>
        </p:txBody>
      </p:sp>
      <p:sp>
        <p:nvSpPr>
          <p:cNvPr id="2" name="slide-title">
            <a:extLst>
              <a:ext uri="{FF2B5EF4-FFF2-40B4-BE49-F238E27FC236}">
                <a16:creationId xmlns:a16="http://schemas.microsoft.com/office/drawing/2014/main" id="{035C7D72-4B95-4A7C-A7DA-DC7C64CB2A7B}"/>
              </a:ext>
            </a:extLst>
          </p:cNvPr>
          <p:cNvSpPr>
            <a:spLocks noGrp="1"/>
          </p:cNvSpPr>
          <p:nvPr/>
        </p:nvSpPr>
        <p:spPr>
          <a:xfrm>
            <a:off x="609600" y="781050"/>
            <a:ext cx="10858500" cy="857250"/>
          </a:xfrm>
          <a:prstGeom prst="rect">
            <a:avLst/>
          </a:prstGeom>
          <a:noFill/>
          <a:ln w="0">
            <a:noFill/>
          </a:ln>
        </p:spPr>
        <p:txBody>
          <a:bodyPr lIns="0" tIns="0" rIns="0" bIns="0">
            <a:noAutofit/>
          </a:bodyPr>
          <a:lstStyle>
            <a:defPPr algn="l">
              <a:defRPr sz="3450" b="1">
                <a:solidFill>
                  <a:srgbClr val="102B46"/>
                </a:solidFill>
                <a:latin typeface="Helvetica Neue"/>
                <a:ea typeface="Helvetica Neue"/>
                <a:cs typeface="Helvetica Neue"/>
              </a:defRPr>
            </a:defPPr>
          </a:lstStyle>
          <a:p>
            <a:pPr algn="l">
              <a:buNone/>
              <a:defRPr sz="3450" b="1">
                <a:solidFill>
                  <a:srgbClr val="102B46"/>
                </a:solidFill>
                <a:latin typeface="Helvetica Neue"/>
                <a:ea typeface="Helvetica Neue"/>
                <a:cs typeface="Helvetica Neue"/>
              </a:defRPr>
            </a:pPr>
            <a:r>
              <a:rPr sz="3450" b="1">
                <a:solidFill>
                  <a:srgbClr val="102B46"/>
                </a:solidFill>
                <a:latin typeface="Helvetica Neue"/>
                <a:ea typeface="Helvetica Neue"/>
                <a:cs typeface="Helvetica Neue"/>
              </a:rPr>
              <a:t>Prompt structure</a:t>
            </a:r>
          </a:p>
        </p:txBody>
      </p:sp>
      <p:sp>
        <p:nvSpPr>
          <p:cNvPr id="3" name="subtitle">
            <a:extLst>
              <a:ext uri="{FF2B5EF4-FFF2-40B4-BE49-F238E27FC236}">
                <a16:creationId xmlns:a16="http://schemas.microsoft.com/office/drawing/2014/main" id="{8A2B7754-F994-489E-BBF5-6E268A6C315E}"/>
              </a:ext>
            </a:extLst>
          </p:cNvPr>
          <p:cNvSpPr>
            <a:spLocks noGrp="1"/>
          </p:cNvSpPr>
          <p:nvPr/>
        </p:nvSpPr>
        <p:spPr>
          <a:xfrm>
            <a:off x="609600" y="1524000"/>
            <a:ext cx="10858500" cy="428625"/>
          </a:xfrm>
          <a:prstGeom prst="rect">
            <a:avLst/>
          </a:prstGeom>
          <a:noFill/>
          <a:ln w="0">
            <a:noFill/>
          </a:ln>
        </p:spPr>
        <p:txBody>
          <a:bodyPr lIns="0" tIns="0" rIns="0" bIns="0">
            <a:noAutofit/>
          </a:bodyPr>
          <a:lstStyle>
            <a:defPPr algn="l">
              <a:defRPr sz="1800" b="0">
                <a:solidFill>
                  <a:srgbClr val="607482"/>
                </a:solidFill>
                <a:latin typeface="Helvetica Neue"/>
                <a:ea typeface="Helvetica Neue"/>
                <a:cs typeface="Helvetica Neue"/>
              </a:defRPr>
            </a:defPPr>
          </a:lstStyle>
          <a:p>
            <a:pPr algn="l">
              <a:buNone/>
              <a:defRPr sz="1800" b="0">
                <a:solidFill>
                  <a:srgbClr val="607482"/>
                </a:solidFill>
                <a:latin typeface="Helvetica Neue"/>
                <a:ea typeface="Helvetica Neue"/>
                <a:cs typeface="Helvetica Neue"/>
              </a:defRPr>
            </a:pPr>
            <a:r>
              <a:rPr sz="1800" b="0">
                <a:solidFill>
                  <a:srgbClr val="607482"/>
                </a:solidFill>
                <a:latin typeface="Helvetica Neue"/>
                <a:ea typeface="Helvetica Neue"/>
                <a:cs typeface="Helvetica Neue"/>
              </a:rPr>
              <a:t>Use these references to guide discussion and research.</a:t>
            </a:r>
          </a:p>
        </p:txBody>
      </p:sp>
      <p:sp>
        <p:nvSpPr>
          <p:cNvPr id="4" name="page-number">
            <a:extLst>
              <a:ext uri="{FF2B5EF4-FFF2-40B4-BE49-F238E27FC236}">
                <a16:creationId xmlns:a16="http://schemas.microsoft.com/office/drawing/2014/main" id="{8E3625F6-25BA-495A-9EBE-2F3B84E78035}"/>
              </a:ext>
            </a:extLst>
          </p:cNvPr>
          <p:cNvSpPr>
            <a:spLocks noGrp="1"/>
          </p:cNvSpPr>
          <p:nvPr/>
        </p:nvSpPr>
        <p:spPr>
          <a:xfrm>
            <a:off x="10953750" y="6438900"/>
            <a:ext cx="666750" cy="228600"/>
          </a:xfrm>
          <a:prstGeom prst="rect">
            <a:avLst/>
          </a:prstGeom>
          <a:noFill/>
          <a:ln w="0">
            <a:noFill/>
          </a:ln>
        </p:spPr>
        <p:txBody>
          <a:bodyPr lIns="0" tIns="0" rIns="0" bIns="0">
            <a:noAutofit/>
          </a:bodyPr>
          <a:lstStyle>
            <a:defPPr algn="r">
              <a:defRPr sz="1125" b="0">
                <a:solidFill>
                  <a:srgbClr val="607482"/>
                </a:solidFill>
                <a:latin typeface="Helvetica Neue"/>
                <a:ea typeface="Helvetica Neue"/>
                <a:cs typeface="Helvetica Neue"/>
              </a:defRPr>
            </a:defPPr>
          </a:lstStyle>
          <a:p>
            <a:pPr algn="r">
              <a:buNone/>
              <a:defRPr sz="1125" b="0">
                <a:solidFill>
                  <a:srgbClr val="607482"/>
                </a:solidFill>
                <a:latin typeface="Helvetica Neue"/>
                <a:ea typeface="Helvetica Neue"/>
                <a:cs typeface="Helvetica Neue"/>
              </a:defRPr>
            </a:pPr>
            <a:r>
              <a:rPr sz="1125" b="0">
                <a:solidFill>
                  <a:srgbClr val="607482"/>
                </a:solidFill>
                <a:latin typeface="Helvetica Neue"/>
                <a:ea typeface="Helvetica Neue"/>
                <a:cs typeface="Helvetica Neue"/>
              </a:rPr>
              <a:t>A19</a:t>
            </a:r>
          </a:p>
        </p:txBody>
      </p:sp>
      <p:sp>
        <p:nvSpPr>
          <p:cNvPr id="5" name="process-step-1">
            <a:extLst>
              <a:ext uri="{FF2B5EF4-FFF2-40B4-BE49-F238E27FC236}">
                <a16:creationId xmlns:a16="http://schemas.microsoft.com/office/drawing/2014/main" id="{14F6C6F2-9828-4A3A-B72B-5DBD5A7B4DFF}"/>
              </a:ext>
            </a:extLst>
          </p:cNvPr>
          <p:cNvSpPr>
            <a:spLocks noGrp="1"/>
          </p:cNvSpPr>
          <p:nvPr/>
        </p:nvSpPr>
        <p:spPr>
          <a:xfrm>
            <a:off x="609600" y="2133600"/>
            <a:ext cx="3333750" cy="2095500"/>
          </a:xfrm>
          <a:prstGeom prst="rect">
            <a:avLst/>
          </a:prstGeom>
          <a:solidFill>
            <a:srgbClr val="F3F7FA"/>
          </a:solidFill>
          <a:ln w="9525">
            <a:solidFill>
              <a:srgbClr val="A16C27"/>
            </a:solidFill>
            <a:prstDash val="solid"/>
          </a:ln>
        </p:spPr>
      </p:sp>
      <p:sp>
        <p:nvSpPr>
          <p:cNvPr id="6" name="step-index-1">
            <a:extLst>
              <a:ext uri="{FF2B5EF4-FFF2-40B4-BE49-F238E27FC236}">
                <a16:creationId xmlns:a16="http://schemas.microsoft.com/office/drawing/2014/main" id="{9346E87B-442E-422C-9272-5BEA875AF10A}"/>
              </a:ext>
            </a:extLst>
          </p:cNvPr>
          <p:cNvSpPr>
            <a:spLocks noGrp="1"/>
          </p:cNvSpPr>
          <p:nvPr/>
        </p:nvSpPr>
        <p:spPr>
          <a:xfrm>
            <a:off x="800100" y="2305050"/>
            <a:ext cx="2952750" cy="552450"/>
          </a:xfrm>
          <a:prstGeom prst="rect">
            <a:avLst/>
          </a:prstGeom>
          <a:noFill/>
          <a:ln w="0">
            <a:noFill/>
          </a:ln>
        </p:spPr>
        <p:txBody>
          <a:bodyPr lIns="0" tIns="0" rIns="0" bIns="0">
            <a:noAutofit/>
          </a:bodyPr>
          <a:lstStyle>
            <a:defPPr algn="l">
              <a:defRPr sz="3300" b="1">
                <a:solidFill>
                  <a:srgbClr val="A16C27"/>
                </a:solidFill>
                <a:latin typeface="Helvetica Neue"/>
                <a:ea typeface="Helvetica Neue"/>
                <a:cs typeface="Helvetica Neue"/>
              </a:defRPr>
            </a:defPPr>
          </a:lstStyle>
          <a:p>
            <a:pPr algn="l">
              <a:buNone/>
              <a:defRPr sz="3300" b="1">
                <a:solidFill>
                  <a:srgbClr val="A16C27"/>
                </a:solidFill>
                <a:latin typeface="Helvetica Neue"/>
                <a:ea typeface="Helvetica Neue"/>
                <a:cs typeface="Helvetica Neue"/>
              </a:defRPr>
            </a:pPr>
            <a:r>
              <a:rPr sz="3300" b="1">
                <a:solidFill>
                  <a:srgbClr val="A16C27"/>
                </a:solidFill>
                <a:latin typeface="Helvetica Neue"/>
                <a:ea typeface="Helvetica Neue"/>
                <a:cs typeface="Helvetica Neue"/>
              </a:rPr>
              <a:t>01</a:t>
            </a:r>
          </a:p>
        </p:txBody>
      </p:sp>
      <p:sp>
        <p:nvSpPr>
          <p:cNvPr id="7" name="step-label-1">
            <a:extLst>
              <a:ext uri="{FF2B5EF4-FFF2-40B4-BE49-F238E27FC236}">
                <a16:creationId xmlns:a16="http://schemas.microsoft.com/office/drawing/2014/main" id="{7D212D11-CCAF-48CF-BB4F-8AD91FDA2FCF}"/>
              </a:ext>
            </a:extLst>
          </p:cNvPr>
          <p:cNvSpPr>
            <a:spLocks noGrp="1"/>
          </p:cNvSpPr>
          <p:nvPr/>
        </p:nvSpPr>
        <p:spPr>
          <a:xfrm>
            <a:off x="800100" y="3038475"/>
            <a:ext cx="2952750" cy="1028700"/>
          </a:xfrm>
          <a:prstGeom prst="rect">
            <a:avLst/>
          </a:prstGeom>
          <a:noFill/>
          <a:ln w="0">
            <a:noFill/>
          </a:ln>
        </p:spPr>
        <p:txBody>
          <a:bodyPr lIns="0" tIns="0" rIns="0" bIns="0">
            <a:noAutofit/>
          </a:bodyPr>
          <a:lstStyle>
            <a:defPPr algn="l">
              <a:defRPr sz="1875" b="1">
                <a:solidFill>
                  <a:srgbClr val="102B46"/>
                </a:solidFill>
                <a:latin typeface="Helvetica Neue"/>
                <a:ea typeface="Helvetica Neue"/>
                <a:cs typeface="Helvetica Neue"/>
              </a:defRPr>
            </a:defPPr>
          </a:lstStyle>
          <a:p>
            <a:pPr algn="l">
              <a:buNone/>
              <a:defRPr sz="1875" b="1">
                <a:solidFill>
                  <a:srgbClr val="102B46"/>
                </a:solidFill>
                <a:latin typeface="Helvetica Neue"/>
                <a:ea typeface="Helvetica Neue"/>
                <a:cs typeface="Helvetica Neue"/>
              </a:defRPr>
            </a:pPr>
            <a:r>
              <a:rPr sz="1875" b="1">
                <a:solidFill>
                  <a:srgbClr val="102B46"/>
                </a:solidFill>
                <a:latin typeface="Helvetica Neue"/>
                <a:ea typeface="Helvetica Neue"/>
                <a:cs typeface="Helvetica Neue"/>
              </a:rPr>
              <a:t>Context and</a:t>
            </a:r>
          </a:p>
          <a:p>
            <a:pPr algn="l">
              <a:buNone/>
              <a:defRPr sz="1875" b="1">
                <a:solidFill>
                  <a:srgbClr val="102B46"/>
                </a:solidFill>
                <a:latin typeface="Helvetica Neue"/>
                <a:ea typeface="Helvetica Neue"/>
                <a:cs typeface="Helvetica Neue"/>
              </a:defRPr>
            </a:pPr>
            <a:r>
              <a:rPr sz="1875" b="1">
                <a:solidFill>
                  <a:srgbClr val="102B46"/>
                </a:solidFill>
                <a:latin typeface="Helvetica Neue"/>
                <a:ea typeface="Helvetica Neue"/>
                <a:cs typeface="Helvetica Neue"/>
              </a:rPr>
              <a:t>question</a:t>
            </a:r>
          </a:p>
        </p:txBody>
      </p:sp>
      <p:sp>
        <p:nvSpPr>
          <p:cNvPr id="8" name="process-step-2">
            <a:extLst>
              <a:ext uri="{FF2B5EF4-FFF2-40B4-BE49-F238E27FC236}">
                <a16:creationId xmlns:a16="http://schemas.microsoft.com/office/drawing/2014/main" id="{4B688B42-F14E-4087-8F8C-407302FB1A77}"/>
              </a:ext>
            </a:extLst>
          </p:cNvPr>
          <p:cNvSpPr>
            <a:spLocks noGrp="1"/>
          </p:cNvSpPr>
          <p:nvPr/>
        </p:nvSpPr>
        <p:spPr>
          <a:xfrm>
            <a:off x="4305300" y="2133600"/>
            <a:ext cx="3333750" cy="2095500"/>
          </a:xfrm>
          <a:prstGeom prst="rect">
            <a:avLst/>
          </a:prstGeom>
          <a:solidFill>
            <a:srgbClr val="F3F7FA"/>
          </a:solidFill>
          <a:ln w="9525">
            <a:solidFill>
              <a:srgbClr val="A16C27"/>
            </a:solidFill>
            <a:prstDash val="solid"/>
          </a:ln>
        </p:spPr>
      </p:sp>
      <p:sp>
        <p:nvSpPr>
          <p:cNvPr id="9" name="step-index-2">
            <a:extLst>
              <a:ext uri="{FF2B5EF4-FFF2-40B4-BE49-F238E27FC236}">
                <a16:creationId xmlns:a16="http://schemas.microsoft.com/office/drawing/2014/main" id="{99CEA9A0-B503-4F29-B921-D23A27DB759F}"/>
              </a:ext>
            </a:extLst>
          </p:cNvPr>
          <p:cNvSpPr>
            <a:spLocks noGrp="1"/>
          </p:cNvSpPr>
          <p:nvPr/>
        </p:nvSpPr>
        <p:spPr>
          <a:xfrm>
            <a:off x="4495800" y="2305050"/>
            <a:ext cx="2952750" cy="552450"/>
          </a:xfrm>
          <a:prstGeom prst="rect">
            <a:avLst/>
          </a:prstGeom>
          <a:noFill/>
          <a:ln w="0">
            <a:noFill/>
          </a:ln>
        </p:spPr>
        <p:txBody>
          <a:bodyPr lIns="0" tIns="0" rIns="0" bIns="0">
            <a:noAutofit/>
          </a:bodyPr>
          <a:lstStyle>
            <a:defPPr algn="l">
              <a:defRPr sz="3300" b="1">
                <a:solidFill>
                  <a:srgbClr val="A16C27"/>
                </a:solidFill>
                <a:latin typeface="Helvetica Neue"/>
                <a:ea typeface="Helvetica Neue"/>
                <a:cs typeface="Helvetica Neue"/>
              </a:defRPr>
            </a:defPPr>
          </a:lstStyle>
          <a:p>
            <a:pPr algn="l">
              <a:buNone/>
              <a:defRPr sz="3300" b="1">
                <a:solidFill>
                  <a:srgbClr val="A16C27"/>
                </a:solidFill>
                <a:latin typeface="Helvetica Neue"/>
                <a:ea typeface="Helvetica Neue"/>
                <a:cs typeface="Helvetica Neue"/>
              </a:defRPr>
            </a:pPr>
            <a:r>
              <a:rPr sz="3300" b="1">
                <a:solidFill>
                  <a:srgbClr val="A16C27"/>
                </a:solidFill>
                <a:latin typeface="Helvetica Neue"/>
                <a:ea typeface="Helvetica Neue"/>
                <a:cs typeface="Helvetica Neue"/>
              </a:rPr>
              <a:t>02</a:t>
            </a:r>
          </a:p>
        </p:txBody>
      </p:sp>
      <p:sp>
        <p:nvSpPr>
          <p:cNvPr id="10" name="step-label-2">
            <a:extLst>
              <a:ext uri="{FF2B5EF4-FFF2-40B4-BE49-F238E27FC236}">
                <a16:creationId xmlns:a16="http://schemas.microsoft.com/office/drawing/2014/main" id="{CED27E9B-4F86-4E84-92EC-77D0B1BC0B32}"/>
              </a:ext>
            </a:extLst>
          </p:cNvPr>
          <p:cNvSpPr>
            <a:spLocks noGrp="1"/>
          </p:cNvSpPr>
          <p:nvPr/>
        </p:nvSpPr>
        <p:spPr>
          <a:xfrm>
            <a:off x="4495800" y="3038475"/>
            <a:ext cx="2952750" cy="1028700"/>
          </a:xfrm>
          <a:prstGeom prst="rect">
            <a:avLst/>
          </a:prstGeom>
          <a:noFill/>
          <a:ln w="0">
            <a:noFill/>
          </a:ln>
        </p:spPr>
        <p:txBody>
          <a:bodyPr lIns="0" tIns="0" rIns="0" bIns="0">
            <a:noAutofit/>
          </a:bodyPr>
          <a:lstStyle>
            <a:defPPr algn="l">
              <a:defRPr sz="1875" b="1">
                <a:solidFill>
                  <a:srgbClr val="102B46"/>
                </a:solidFill>
                <a:latin typeface="Helvetica Neue"/>
                <a:ea typeface="Helvetica Neue"/>
                <a:cs typeface="Helvetica Neue"/>
              </a:defRPr>
            </a:defPPr>
          </a:lstStyle>
          <a:p>
            <a:pPr algn="l">
              <a:buNone/>
              <a:defRPr sz="1875" b="1">
                <a:solidFill>
                  <a:srgbClr val="102B46"/>
                </a:solidFill>
                <a:latin typeface="Helvetica Neue"/>
                <a:ea typeface="Helvetica Neue"/>
                <a:cs typeface="Helvetica Neue"/>
              </a:defRPr>
            </a:pPr>
            <a:r>
              <a:rPr sz="1875" b="1">
                <a:solidFill>
                  <a:srgbClr val="102B46"/>
                </a:solidFill>
                <a:latin typeface="Helvetica Neue"/>
                <a:ea typeface="Helvetica Neue"/>
                <a:cs typeface="Helvetica Neue"/>
              </a:rPr>
              <a:t>Constraints and</a:t>
            </a:r>
          </a:p>
          <a:p>
            <a:pPr algn="l">
              <a:buNone/>
              <a:defRPr sz="1875" b="1">
                <a:solidFill>
                  <a:srgbClr val="102B46"/>
                </a:solidFill>
                <a:latin typeface="Helvetica Neue"/>
                <a:ea typeface="Helvetica Neue"/>
                <a:cs typeface="Helvetica Neue"/>
              </a:defRPr>
            </a:pPr>
            <a:r>
              <a:rPr sz="1875" b="1">
                <a:solidFill>
                  <a:srgbClr val="102B46"/>
                </a:solidFill>
                <a:latin typeface="Helvetica Neue"/>
                <a:ea typeface="Helvetica Neue"/>
                <a:cs typeface="Helvetica Neue"/>
              </a:rPr>
              <a:t>assumptions</a:t>
            </a:r>
          </a:p>
        </p:txBody>
      </p:sp>
      <p:sp>
        <p:nvSpPr>
          <p:cNvPr id="12" name="process-step-3">
            <a:extLst>
              <a:ext uri="{FF2B5EF4-FFF2-40B4-BE49-F238E27FC236}">
                <a16:creationId xmlns:a16="http://schemas.microsoft.com/office/drawing/2014/main" id="{8520B26F-6FD1-4E9A-B082-8471620B5C8C}"/>
              </a:ext>
            </a:extLst>
          </p:cNvPr>
          <p:cNvSpPr>
            <a:spLocks noGrp="1"/>
          </p:cNvSpPr>
          <p:nvPr/>
        </p:nvSpPr>
        <p:spPr>
          <a:xfrm>
            <a:off x="8001000" y="2133600"/>
            <a:ext cx="3333750" cy="2095500"/>
          </a:xfrm>
          <a:prstGeom prst="rect">
            <a:avLst/>
          </a:prstGeom>
          <a:solidFill>
            <a:srgbClr val="F3F7FA"/>
          </a:solidFill>
          <a:ln w="9525">
            <a:solidFill>
              <a:srgbClr val="A16C27"/>
            </a:solidFill>
            <a:prstDash val="solid"/>
          </a:ln>
        </p:spPr>
      </p:sp>
      <p:sp>
        <p:nvSpPr>
          <p:cNvPr id="13" name="step-index-3">
            <a:extLst>
              <a:ext uri="{FF2B5EF4-FFF2-40B4-BE49-F238E27FC236}">
                <a16:creationId xmlns:a16="http://schemas.microsoft.com/office/drawing/2014/main" id="{624A8B38-4EE2-46D4-A783-E0D6E46AF7F1}"/>
              </a:ext>
            </a:extLst>
          </p:cNvPr>
          <p:cNvSpPr>
            <a:spLocks noGrp="1"/>
          </p:cNvSpPr>
          <p:nvPr/>
        </p:nvSpPr>
        <p:spPr>
          <a:xfrm>
            <a:off x="8191500" y="2305050"/>
            <a:ext cx="2952750" cy="552450"/>
          </a:xfrm>
          <a:prstGeom prst="rect">
            <a:avLst/>
          </a:prstGeom>
          <a:noFill/>
          <a:ln w="0">
            <a:noFill/>
          </a:ln>
        </p:spPr>
        <p:txBody>
          <a:bodyPr lIns="0" tIns="0" rIns="0" bIns="0">
            <a:noAutofit/>
          </a:bodyPr>
          <a:lstStyle>
            <a:defPPr algn="l">
              <a:defRPr sz="3300" b="1">
                <a:solidFill>
                  <a:srgbClr val="A16C27"/>
                </a:solidFill>
                <a:latin typeface="Helvetica Neue"/>
                <a:ea typeface="Helvetica Neue"/>
                <a:cs typeface="Helvetica Neue"/>
              </a:defRPr>
            </a:defPPr>
          </a:lstStyle>
          <a:p>
            <a:pPr algn="l">
              <a:buNone/>
              <a:defRPr sz="3300" b="1">
                <a:solidFill>
                  <a:srgbClr val="A16C27"/>
                </a:solidFill>
                <a:latin typeface="Helvetica Neue"/>
                <a:ea typeface="Helvetica Neue"/>
                <a:cs typeface="Helvetica Neue"/>
              </a:defRPr>
            </a:pPr>
            <a:r>
              <a:rPr sz="3300" b="1">
                <a:solidFill>
                  <a:srgbClr val="A16C27"/>
                </a:solidFill>
                <a:latin typeface="Helvetica Neue"/>
                <a:ea typeface="Helvetica Neue"/>
                <a:cs typeface="Helvetica Neue"/>
              </a:rPr>
              <a:t>03</a:t>
            </a:r>
          </a:p>
        </p:txBody>
      </p:sp>
      <p:sp>
        <p:nvSpPr>
          <p:cNvPr id="14" name="step-label-3">
            <a:extLst>
              <a:ext uri="{FF2B5EF4-FFF2-40B4-BE49-F238E27FC236}">
                <a16:creationId xmlns:a16="http://schemas.microsoft.com/office/drawing/2014/main" id="{E812581F-2AFA-40E4-8342-93DE42AE1833}"/>
              </a:ext>
            </a:extLst>
          </p:cNvPr>
          <p:cNvSpPr>
            <a:spLocks noGrp="1"/>
          </p:cNvSpPr>
          <p:nvPr/>
        </p:nvSpPr>
        <p:spPr>
          <a:xfrm>
            <a:off x="8191500" y="3038475"/>
            <a:ext cx="2952750" cy="1028700"/>
          </a:xfrm>
          <a:prstGeom prst="rect">
            <a:avLst/>
          </a:prstGeom>
          <a:noFill/>
          <a:ln w="0">
            <a:noFill/>
          </a:ln>
        </p:spPr>
        <p:txBody>
          <a:bodyPr lIns="0" tIns="0" rIns="0" bIns="0">
            <a:noAutofit/>
          </a:bodyPr>
          <a:lstStyle>
            <a:defPPr algn="l">
              <a:defRPr sz="1875" b="1">
                <a:solidFill>
                  <a:srgbClr val="102B46"/>
                </a:solidFill>
                <a:latin typeface="Helvetica Neue"/>
                <a:ea typeface="Helvetica Neue"/>
                <a:cs typeface="Helvetica Neue"/>
              </a:defRPr>
            </a:defPPr>
          </a:lstStyle>
          <a:p>
            <a:pPr algn="l">
              <a:buNone/>
              <a:defRPr sz="1875" b="1">
                <a:solidFill>
                  <a:srgbClr val="102B46"/>
                </a:solidFill>
                <a:latin typeface="Helvetica Neue"/>
                <a:ea typeface="Helvetica Neue"/>
                <a:cs typeface="Helvetica Neue"/>
              </a:defRPr>
            </a:pPr>
            <a:r>
              <a:rPr sz="1875" b="1">
                <a:solidFill>
                  <a:srgbClr val="102B46"/>
                </a:solidFill>
                <a:latin typeface="Helvetica Neue"/>
                <a:ea typeface="Helvetica Neue"/>
                <a:cs typeface="Helvetica Neue"/>
              </a:rPr>
              <a:t>Requested</a:t>
            </a:r>
          </a:p>
          <a:p>
            <a:pPr algn="l">
              <a:buNone/>
              <a:defRPr sz="1875" b="1">
                <a:solidFill>
                  <a:srgbClr val="102B46"/>
                </a:solidFill>
                <a:latin typeface="Helvetica Neue"/>
                <a:ea typeface="Helvetica Neue"/>
                <a:cs typeface="Helvetica Neue"/>
              </a:defRPr>
            </a:pPr>
            <a:r>
              <a:rPr sz="1875" b="1">
                <a:solidFill>
                  <a:srgbClr val="102B46"/>
                </a:solidFill>
                <a:latin typeface="Helvetica Neue"/>
                <a:ea typeface="Helvetica Neue"/>
                <a:cs typeface="Helvetica Neue"/>
              </a:rPr>
              <a:t>output</a:t>
            </a:r>
          </a:p>
        </p:txBody>
      </p:sp>
      <p:sp>
        <p:nvSpPr>
          <p:cNvPr id="16" name="prompt-pattern">
            <a:extLst>
              <a:ext uri="{FF2B5EF4-FFF2-40B4-BE49-F238E27FC236}">
                <a16:creationId xmlns:a16="http://schemas.microsoft.com/office/drawing/2014/main" id="{867C980E-D348-495B-A565-CA14747BA35A}"/>
              </a:ext>
            </a:extLst>
          </p:cNvPr>
          <p:cNvSpPr>
            <a:spLocks noGrp="1"/>
          </p:cNvSpPr>
          <p:nvPr/>
        </p:nvSpPr>
        <p:spPr>
          <a:xfrm>
            <a:off x="609600" y="4676775"/>
            <a:ext cx="10972800" cy="1104900"/>
          </a:xfrm>
          <a:prstGeom prst="rect">
            <a:avLst/>
          </a:prstGeom>
          <a:solidFill>
            <a:srgbClr val="F8F5EF"/>
          </a:solidFill>
          <a:ln w="9525">
            <a:solidFill>
              <a:srgbClr val="E7DCCB"/>
            </a:solidFill>
            <a:prstDash val="solid"/>
          </a:ln>
        </p:spPr>
      </p:sp>
      <p:sp>
        <p:nvSpPr>
          <p:cNvPr id="17" name="pattern">
            <a:extLst>
              <a:ext uri="{FF2B5EF4-FFF2-40B4-BE49-F238E27FC236}">
                <a16:creationId xmlns:a16="http://schemas.microsoft.com/office/drawing/2014/main" id="{BBA0A3C4-BE09-4E46-8769-674E1ADF88D9}"/>
              </a:ext>
            </a:extLst>
          </p:cNvPr>
          <p:cNvSpPr>
            <a:spLocks noGrp="1"/>
          </p:cNvSpPr>
          <p:nvPr/>
        </p:nvSpPr>
        <p:spPr>
          <a:xfrm>
            <a:off x="800100" y="4876800"/>
            <a:ext cx="10525125" cy="781050"/>
          </a:xfrm>
          <a:prstGeom prst="rect">
            <a:avLst/>
          </a:prstGeom>
          <a:noFill/>
          <a:ln w="0">
            <a:noFill/>
          </a:ln>
        </p:spPr>
        <p:txBody>
          <a:bodyPr lIns="0" tIns="0" rIns="0" bIns="0">
            <a:noAutofit/>
          </a:bodyPr>
          <a:lstStyle>
            <a:defPPr algn="l">
              <a:defRPr sz="1950" b="0">
                <a:solidFill>
                  <a:srgbClr val="6C2B91"/>
                </a:solidFill>
                <a:latin typeface="Helvetica Neue"/>
                <a:ea typeface="Helvetica Neue"/>
                <a:cs typeface="Helvetica Neue"/>
              </a:defRPr>
            </a:defPPr>
          </a:lstStyle>
          <a:p>
            <a:pPr algn="l">
              <a:buNone/>
              <a:defRPr sz="1950" b="0">
                <a:solidFill>
                  <a:srgbClr val="6C2B91"/>
                </a:solidFill>
                <a:latin typeface="Helvetica Neue"/>
                <a:ea typeface="Helvetica Neue"/>
                <a:cs typeface="Helvetica Neue"/>
              </a:defRPr>
            </a:pPr>
            <a:r>
              <a:rPr sz="1950" b="0">
                <a:solidFill>
                  <a:srgbClr val="6C2B91"/>
                </a:solidFill>
                <a:latin typeface="Helvetica Neue"/>
                <a:ea typeface="Helvetica Neue"/>
                <a:cs typeface="Helvetica Neue"/>
              </a:rPr>
              <a:t>"For [challenge], answer [question] within [constraints].</a:t>
            </a:r>
          </a:p>
          <a:p>
            <a:pPr algn="l">
              <a:buNone/>
              <a:defRPr sz="1950" b="0">
                <a:solidFill>
                  <a:srgbClr val="6C2B91"/>
                </a:solidFill>
                <a:latin typeface="Helvetica Neue"/>
                <a:ea typeface="Helvetica Neue"/>
                <a:cs typeface="Helvetica Neue"/>
              </a:defRPr>
            </a:pPr>
            <a:r>
              <a:rPr sz="1950" b="0">
                <a:solidFill>
                  <a:srgbClr val="6C2B91"/>
                </a:solidFill>
                <a:latin typeface="Helvetica Neue"/>
                <a:ea typeface="Helvetica Neue"/>
                <a:cs typeface="Helvetica Neue"/>
              </a:rPr>
              <a:t>Return [format] and flag assumptions."</a:t>
            </a:r>
          </a:p>
        </p:txBody>
      </p:sp>
      <p:sp>
        <p:nvSpPr>
          <p:cNvPr id="18" name="prompt-use">
            <a:extLst>
              <a:ext uri="{FF2B5EF4-FFF2-40B4-BE49-F238E27FC236}">
                <a16:creationId xmlns:a16="http://schemas.microsoft.com/office/drawing/2014/main" id="{EE0C02CC-6B57-4E30-BC4C-879510E08B48}"/>
              </a:ext>
            </a:extLst>
          </p:cNvPr>
          <p:cNvSpPr>
            <a:spLocks noGrp="1"/>
          </p:cNvSpPr>
          <p:nvPr/>
        </p:nvSpPr>
        <p:spPr>
          <a:xfrm>
            <a:off x="609600" y="6057900"/>
            <a:ext cx="10668000" cy="304800"/>
          </a:xfrm>
          <a:prstGeom prst="rect">
            <a:avLst/>
          </a:prstGeom>
          <a:noFill/>
          <a:ln w="0">
            <a:noFill/>
          </a:ln>
        </p:spPr>
        <p:txBody>
          <a:bodyPr lIns="0" tIns="0" rIns="0" bIns="0">
            <a:noAutofit/>
          </a:bodyPr>
          <a:lstStyle>
            <a:defPPr algn="l">
              <a:defRPr sz="1650" b="0">
                <a:solidFill>
                  <a:srgbClr val="607482"/>
                </a:solidFill>
                <a:latin typeface="Helvetica Neue"/>
                <a:ea typeface="Helvetica Neue"/>
                <a:cs typeface="Helvetica Neue"/>
              </a:defRPr>
            </a:defPPr>
          </a:lstStyle>
          <a:p>
            <a:pPr algn="l">
              <a:buNone/>
              <a:defRPr sz="1650" b="0">
                <a:solidFill>
                  <a:srgbClr val="607482"/>
                </a:solidFill>
                <a:latin typeface="Helvetica Neue"/>
                <a:ea typeface="Helvetica Neue"/>
                <a:cs typeface="Helvetica Neue"/>
              </a:defRPr>
            </a:pPr>
            <a:r>
              <a:rPr sz="1650" b="0">
                <a:solidFill>
                  <a:srgbClr val="607482"/>
                </a:solidFill>
                <a:latin typeface="Helvetica Neue"/>
                <a:ea typeface="Helvetica Neue"/>
                <a:cs typeface="Helvetica Neue"/>
              </a:rPr>
              <a:t>Ask, check together, then refine.</a:t>
            </a:r>
          </a:p>
        </p:txBody>
      </p:sp>
      <p:pic>
        <p:nvPicPr>
          <p:cNvPr id="20" name="Picture 19">
            <a:extLst>
              <a:ext uri="{FF2B5EF4-FFF2-40B4-BE49-F238E27FC236}">
                <a16:creationId xmlns:a16="http://schemas.microsoft.com/office/drawing/2014/main" id="{4FC5F142-065C-4A37-AC5B-E00A8BC80816}"/>
              </a:ext>
            </a:extLst>
          </p:cNvPr>
          <p:cNvPicPr>
            <a:picLocks noChangeAspect="1"/>
          </p:cNvPicPr>
          <p:nvPr/>
        </p:nvPicPr>
        <p:blipFill>
          <a:blip r:embed="rId3"/>
          <a:stretch/>
        </p:blipFill>
        <p:spPr>
          <a:xfrm>
            <a:off x="3314700" y="2381250"/>
            <a:ext cx="400050" cy="400050"/>
          </a:xfrm>
          <a:prstGeom prst="rect">
            <a:avLst/>
          </a:prstGeom>
        </p:spPr>
      </p:pic>
      <p:pic>
        <p:nvPicPr>
          <p:cNvPr id="21" name="Picture 20">
            <a:extLst>
              <a:ext uri="{FF2B5EF4-FFF2-40B4-BE49-F238E27FC236}">
                <a16:creationId xmlns:a16="http://schemas.microsoft.com/office/drawing/2014/main" id="{9A5EA6B9-FBAC-4EE9-9041-4BB9A5E0A83B}"/>
              </a:ext>
            </a:extLst>
          </p:cNvPr>
          <p:cNvPicPr>
            <a:picLocks noChangeAspect="1"/>
          </p:cNvPicPr>
          <p:nvPr/>
        </p:nvPicPr>
        <p:blipFill>
          <a:blip r:embed="rId4"/>
          <a:stretch/>
        </p:blipFill>
        <p:spPr>
          <a:xfrm>
            <a:off x="7010400" y="2381250"/>
            <a:ext cx="400050" cy="400050"/>
          </a:xfrm>
          <a:prstGeom prst="rect">
            <a:avLst/>
          </a:prstGeom>
        </p:spPr>
      </p:pic>
      <p:pic>
        <p:nvPicPr>
          <p:cNvPr id="22" name="Picture 21">
            <a:extLst>
              <a:ext uri="{FF2B5EF4-FFF2-40B4-BE49-F238E27FC236}">
                <a16:creationId xmlns:a16="http://schemas.microsoft.com/office/drawing/2014/main" id="{A801A224-8E67-43B4-A259-7E2BC2388BEA}"/>
              </a:ext>
            </a:extLst>
          </p:cNvPr>
          <p:cNvPicPr>
            <a:picLocks noChangeAspect="1"/>
          </p:cNvPicPr>
          <p:nvPr/>
        </p:nvPicPr>
        <p:blipFill>
          <a:blip r:embed="rId5"/>
          <a:stretch/>
        </p:blipFill>
        <p:spPr>
          <a:xfrm>
            <a:off x="10706100" y="2381250"/>
            <a:ext cx="400050" cy="400050"/>
          </a:xfrm>
          <a:prstGeom prst="rect">
            <a:avLst/>
          </a:prstGeom>
        </p:spPr>
      </p:pic>
    </p:spTree>
    <p:extLst>
      <p:ext uri="{BB962C8B-B14F-4D97-AF65-F5344CB8AC3E}">
        <p14:creationId xmlns:p14="http://schemas.microsoft.com/office/powerpoint/2010/main" val="67124548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1" name="section-label">
            <a:extLst>
              <a:ext uri="{FF2B5EF4-FFF2-40B4-BE49-F238E27FC236}">
                <a16:creationId xmlns:a16="http://schemas.microsoft.com/office/drawing/2014/main" id="{964F460F-C48B-44C9-BEC2-2F2584011285}"/>
              </a:ext>
            </a:extLst>
          </p:cNvPr>
          <p:cNvSpPr>
            <a:spLocks noGrp="1"/>
          </p:cNvSpPr>
          <p:nvPr/>
        </p:nvSpPr>
        <p:spPr>
          <a:xfrm>
            <a:off x="609600" y="285750"/>
            <a:ext cx="10668000" cy="285750"/>
          </a:xfrm>
          <a:prstGeom prst="rect">
            <a:avLst/>
          </a:prstGeom>
          <a:noFill/>
          <a:ln w="0">
            <a:noFill/>
          </a:ln>
        </p:spPr>
        <p:txBody>
          <a:bodyPr lIns="0" tIns="0" rIns="0" bIns="0">
            <a:noAutofit/>
          </a:bodyPr>
          <a:lstStyle>
            <a:defPPr algn="l">
              <a:defRPr sz="1200" b="1">
                <a:solidFill>
                  <a:srgbClr val="A16C27"/>
                </a:solidFill>
                <a:latin typeface="Helvetica Neue"/>
                <a:ea typeface="Helvetica Neue"/>
                <a:cs typeface="Helvetica Neue"/>
              </a:defRPr>
            </a:defPPr>
          </a:lstStyle>
          <a:p>
            <a:pPr algn="l">
              <a:buNone/>
              <a:defRPr sz="1200" b="1">
                <a:solidFill>
                  <a:srgbClr val="A16C27"/>
                </a:solidFill>
                <a:latin typeface="Helvetica Neue"/>
                <a:ea typeface="Helvetica Neue"/>
                <a:cs typeface="Helvetica Neue"/>
              </a:defRPr>
            </a:pPr>
            <a:r>
              <a:rPr sz="1200" b="1">
                <a:solidFill>
                  <a:srgbClr val="A16C27"/>
                </a:solidFill>
                <a:latin typeface="Helvetica Neue"/>
                <a:ea typeface="Helvetica Neue"/>
                <a:cs typeface="Helvetica Neue"/>
              </a:rPr>
              <a:t>APPENDIX: PROMPT GUIDE</a:t>
            </a:r>
          </a:p>
        </p:txBody>
      </p:sp>
      <p:sp>
        <p:nvSpPr>
          <p:cNvPr id="2" name="slide-title">
            <a:extLst>
              <a:ext uri="{FF2B5EF4-FFF2-40B4-BE49-F238E27FC236}">
                <a16:creationId xmlns:a16="http://schemas.microsoft.com/office/drawing/2014/main" id="{BAE85DE6-BD12-44E9-ACFB-1CDAF4F12C9A}"/>
              </a:ext>
            </a:extLst>
          </p:cNvPr>
          <p:cNvSpPr>
            <a:spLocks noGrp="1"/>
          </p:cNvSpPr>
          <p:nvPr/>
        </p:nvSpPr>
        <p:spPr>
          <a:xfrm>
            <a:off x="609600" y="781050"/>
            <a:ext cx="10858500" cy="857250"/>
          </a:xfrm>
          <a:prstGeom prst="rect">
            <a:avLst/>
          </a:prstGeom>
          <a:noFill/>
          <a:ln w="0">
            <a:noFill/>
          </a:ln>
        </p:spPr>
        <p:txBody>
          <a:bodyPr lIns="0" tIns="0" rIns="0" bIns="0">
            <a:noAutofit/>
          </a:bodyPr>
          <a:lstStyle>
            <a:defPPr algn="l">
              <a:defRPr sz="3450" b="1">
                <a:solidFill>
                  <a:srgbClr val="102B46"/>
                </a:solidFill>
                <a:latin typeface="Helvetica Neue"/>
                <a:ea typeface="Helvetica Neue"/>
                <a:cs typeface="Helvetica Neue"/>
              </a:defRPr>
            </a:defPPr>
          </a:lstStyle>
          <a:p>
            <a:pPr algn="l">
              <a:buNone/>
              <a:defRPr sz="3450" b="1">
                <a:solidFill>
                  <a:srgbClr val="102B46"/>
                </a:solidFill>
                <a:latin typeface="Helvetica Neue"/>
                <a:ea typeface="Helvetica Neue"/>
                <a:cs typeface="Helvetica Neue"/>
              </a:defRPr>
            </a:pPr>
            <a:r>
              <a:rPr sz="3450" b="1">
                <a:solidFill>
                  <a:srgbClr val="102B46"/>
                </a:solidFill>
                <a:latin typeface="Helvetica Neue"/>
                <a:ea typeface="Helvetica Neue"/>
                <a:cs typeface="Helvetica Neue"/>
              </a:rPr>
              <a:t>Session 1 prompt references</a:t>
            </a:r>
          </a:p>
        </p:txBody>
      </p:sp>
      <p:sp>
        <p:nvSpPr>
          <p:cNvPr id="3" name="subtitle">
            <a:extLst>
              <a:ext uri="{FF2B5EF4-FFF2-40B4-BE49-F238E27FC236}">
                <a16:creationId xmlns:a16="http://schemas.microsoft.com/office/drawing/2014/main" id="{77223751-084D-493E-B157-FB3E3DACC3A1}"/>
              </a:ext>
            </a:extLst>
          </p:cNvPr>
          <p:cNvSpPr>
            <a:spLocks noGrp="1"/>
          </p:cNvSpPr>
          <p:nvPr/>
        </p:nvSpPr>
        <p:spPr>
          <a:xfrm>
            <a:off x="609600" y="1524000"/>
            <a:ext cx="10858500" cy="428625"/>
          </a:xfrm>
          <a:prstGeom prst="rect">
            <a:avLst/>
          </a:prstGeom>
          <a:noFill/>
          <a:ln w="0">
            <a:noFill/>
          </a:ln>
        </p:spPr>
        <p:txBody>
          <a:bodyPr lIns="0" tIns="0" rIns="0" bIns="0">
            <a:noAutofit/>
          </a:bodyPr>
          <a:lstStyle>
            <a:defPPr algn="l">
              <a:defRPr sz="1800" b="0">
                <a:solidFill>
                  <a:srgbClr val="607482"/>
                </a:solidFill>
                <a:latin typeface="Helvetica Neue"/>
                <a:ea typeface="Helvetica Neue"/>
                <a:cs typeface="Helvetica Neue"/>
              </a:defRPr>
            </a:defPPr>
          </a:lstStyle>
          <a:p>
            <a:pPr algn="l">
              <a:buNone/>
              <a:defRPr sz="1800" b="0">
                <a:solidFill>
                  <a:srgbClr val="607482"/>
                </a:solidFill>
                <a:latin typeface="Helvetica Neue"/>
                <a:ea typeface="Helvetica Neue"/>
                <a:cs typeface="Helvetica Neue"/>
              </a:defRPr>
            </a:pPr>
            <a:r>
              <a:rPr sz="1800" b="0">
                <a:solidFill>
                  <a:srgbClr val="607482"/>
                </a:solidFill>
                <a:latin typeface="Helvetica Neue"/>
                <a:ea typeface="Helvetica Neue"/>
                <a:cs typeface="Helvetica Neue"/>
              </a:rPr>
              <a:t>Knowledge Agent: adapt prompts to your concept and questions.</a:t>
            </a:r>
          </a:p>
        </p:txBody>
      </p:sp>
      <p:sp>
        <p:nvSpPr>
          <p:cNvPr id="4" name="page-number">
            <a:extLst>
              <a:ext uri="{FF2B5EF4-FFF2-40B4-BE49-F238E27FC236}">
                <a16:creationId xmlns:a16="http://schemas.microsoft.com/office/drawing/2014/main" id="{F8E0080B-BBDB-4EC6-9690-EAA5D032C742}"/>
              </a:ext>
            </a:extLst>
          </p:cNvPr>
          <p:cNvSpPr>
            <a:spLocks noGrp="1"/>
          </p:cNvSpPr>
          <p:nvPr/>
        </p:nvSpPr>
        <p:spPr>
          <a:xfrm>
            <a:off x="10953750" y="6438900"/>
            <a:ext cx="666750" cy="228600"/>
          </a:xfrm>
          <a:prstGeom prst="rect">
            <a:avLst/>
          </a:prstGeom>
          <a:noFill/>
          <a:ln w="0">
            <a:noFill/>
          </a:ln>
        </p:spPr>
        <p:txBody>
          <a:bodyPr lIns="0" tIns="0" rIns="0" bIns="0">
            <a:noAutofit/>
          </a:bodyPr>
          <a:lstStyle>
            <a:defPPr algn="r">
              <a:defRPr sz="1125" b="0">
                <a:solidFill>
                  <a:srgbClr val="607482"/>
                </a:solidFill>
                <a:latin typeface="Helvetica Neue"/>
                <a:ea typeface="Helvetica Neue"/>
                <a:cs typeface="Helvetica Neue"/>
              </a:defRPr>
            </a:defPPr>
          </a:lstStyle>
          <a:p>
            <a:pPr algn="r">
              <a:buNone/>
              <a:defRPr sz="1125" b="0">
                <a:solidFill>
                  <a:srgbClr val="607482"/>
                </a:solidFill>
                <a:latin typeface="Helvetica Neue"/>
                <a:ea typeface="Helvetica Neue"/>
                <a:cs typeface="Helvetica Neue"/>
              </a:defRPr>
            </a:pPr>
            <a:r>
              <a:rPr sz="1125" b="0">
                <a:solidFill>
                  <a:srgbClr val="607482"/>
                </a:solidFill>
                <a:latin typeface="Helvetica Neue"/>
                <a:ea typeface="Helvetica Neue"/>
                <a:cs typeface="Helvetica Neue"/>
              </a:rPr>
              <a:t>A20</a:t>
            </a:r>
          </a:p>
        </p:txBody>
      </p:sp>
      <p:sp>
        <p:nvSpPr>
          <p:cNvPr id="5" name="reference-index">
            <a:extLst>
              <a:ext uri="{FF2B5EF4-FFF2-40B4-BE49-F238E27FC236}">
                <a16:creationId xmlns:a16="http://schemas.microsoft.com/office/drawing/2014/main" id="{7103D4B8-434F-4D6C-B716-EF08CDF152EC}"/>
              </a:ext>
            </a:extLst>
          </p:cNvPr>
          <p:cNvSpPr>
            <a:spLocks noGrp="1"/>
          </p:cNvSpPr>
          <p:nvPr/>
        </p:nvSpPr>
        <p:spPr>
          <a:xfrm>
            <a:off x="609600" y="2133600"/>
            <a:ext cx="590550" cy="333375"/>
          </a:xfrm>
          <a:prstGeom prst="rect">
            <a:avLst/>
          </a:prstGeom>
          <a:noFill/>
          <a:ln w="0">
            <a:noFill/>
          </a:ln>
        </p:spPr>
        <p:txBody>
          <a:bodyPr lIns="0" tIns="0" rIns="0" bIns="0">
            <a:noAutofit/>
          </a:bodyPr>
          <a:lstStyle>
            <a:defPPr algn="l">
              <a:defRPr sz="1800" b="1">
                <a:solidFill>
                  <a:srgbClr val="226FBB"/>
                </a:solidFill>
                <a:latin typeface="Helvetica Neue"/>
                <a:ea typeface="Helvetica Neue"/>
                <a:cs typeface="Helvetica Neue"/>
              </a:defRPr>
            </a:defPPr>
          </a:lstStyle>
          <a:p>
            <a:pPr algn="l">
              <a:buNone/>
              <a:defRPr sz="1800" b="1">
                <a:solidFill>
                  <a:srgbClr val="226FBB"/>
                </a:solidFill>
                <a:latin typeface="Helvetica Neue"/>
                <a:ea typeface="Helvetica Neue"/>
                <a:cs typeface="Helvetica Neue"/>
              </a:defRPr>
            </a:pPr>
            <a:r>
              <a:rPr sz="1800" b="1">
                <a:solidFill>
                  <a:srgbClr val="226FBB"/>
                </a:solidFill>
                <a:latin typeface="Helvetica Neue"/>
                <a:ea typeface="Helvetica Neue"/>
                <a:cs typeface="Helvetica Neue"/>
              </a:rPr>
              <a:t>1A</a:t>
            </a:r>
          </a:p>
        </p:txBody>
      </p:sp>
      <p:sp>
        <p:nvSpPr>
          <p:cNvPr id="6" name="reference-label">
            <a:extLst>
              <a:ext uri="{FF2B5EF4-FFF2-40B4-BE49-F238E27FC236}">
                <a16:creationId xmlns:a16="http://schemas.microsoft.com/office/drawing/2014/main" id="{2BA03285-F53F-4C57-A8EB-AA45B2AEB5D3}"/>
              </a:ext>
            </a:extLst>
          </p:cNvPr>
          <p:cNvSpPr>
            <a:spLocks noGrp="1"/>
          </p:cNvSpPr>
          <p:nvPr/>
        </p:nvSpPr>
        <p:spPr>
          <a:xfrm>
            <a:off x="1333500" y="2124075"/>
            <a:ext cx="2428875" cy="504825"/>
          </a:xfrm>
          <a:prstGeom prst="rect">
            <a:avLst/>
          </a:prstGeom>
          <a:noFill/>
          <a:ln w="0">
            <a:noFill/>
          </a:ln>
        </p:spPr>
        <p:txBody>
          <a:bodyPr lIns="0" tIns="0" rIns="0" bIns="0">
            <a:noAutofit/>
          </a:bodyPr>
          <a:lstStyle>
            <a:defPPr algn="l">
              <a:defRPr sz="1725" b="1">
                <a:solidFill>
                  <a:srgbClr val="102B46"/>
                </a:solidFill>
                <a:latin typeface="Helvetica Neue"/>
                <a:ea typeface="Helvetica Neue"/>
                <a:cs typeface="Helvetica Neue"/>
              </a:defRPr>
            </a:defPPr>
          </a:lstStyle>
          <a:p>
            <a:pPr algn="l">
              <a:buNone/>
              <a:defRPr sz="1725" b="1">
                <a:solidFill>
                  <a:srgbClr val="102B46"/>
                </a:solidFill>
                <a:latin typeface="Helvetica Neue"/>
                <a:ea typeface="Helvetica Neue"/>
                <a:cs typeface="Helvetica Neue"/>
              </a:defRPr>
            </a:pPr>
            <a:r>
              <a:rPr sz="1725" b="1">
                <a:solidFill>
                  <a:srgbClr val="102B46"/>
                </a:solidFill>
                <a:latin typeface="Helvetica Neue"/>
                <a:ea typeface="Helvetica Neue"/>
                <a:cs typeface="Helvetica Neue"/>
              </a:rPr>
              <a:t>Project and problem</a:t>
            </a:r>
          </a:p>
        </p:txBody>
      </p:sp>
      <p:sp>
        <p:nvSpPr>
          <p:cNvPr id="7" name="reference-prompt">
            <a:extLst>
              <a:ext uri="{FF2B5EF4-FFF2-40B4-BE49-F238E27FC236}">
                <a16:creationId xmlns:a16="http://schemas.microsoft.com/office/drawing/2014/main" id="{78CB6425-58B5-4058-BB85-44FEB01C77DD}"/>
              </a:ext>
            </a:extLst>
          </p:cNvPr>
          <p:cNvSpPr>
            <a:spLocks noGrp="1"/>
          </p:cNvSpPr>
          <p:nvPr/>
        </p:nvSpPr>
        <p:spPr>
          <a:xfrm>
            <a:off x="4038600" y="2095500"/>
            <a:ext cx="7505700" cy="723900"/>
          </a:xfrm>
          <a:prstGeom prst="rect">
            <a:avLst/>
          </a:prstGeom>
          <a:noFill/>
          <a:ln w="0">
            <a:noFill/>
          </a:ln>
        </p:spPr>
        <p:txBody>
          <a:bodyPr lIns="0" tIns="0" rIns="0" bIns="0">
            <a:noAutofit/>
          </a:bodyPr>
          <a:lstStyle>
            <a:defPPr algn="l">
              <a:defRPr sz="1725" b="0">
                <a:solidFill>
                  <a:srgbClr val="6C2B91"/>
                </a:solidFill>
                <a:latin typeface="Helvetica Neue"/>
                <a:ea typeface="Helvetica Neue"/>
                <a:cs typeface="Helvetica Neue"/>
              </a:defRPr>
            </a:defPPr>
          </a:lstStyle>
          <a:p>
            <a:pPr algn="l">
              <a:buNone/>
              <a:defRPr sz="1725" b="0">
                <a:solidFill>
                  <a:srgbClr val="6C2B91"/>
                </a:solidFill>
                <a:latin typeface="Helvetica Neue"/>
                <a:ea typeface="Helvetica Neue"/>
                <a:cs typeface="Helvetica Neue"/>
              </a:defRPr>
            </a:pPr>
            <a:r>
              <a:rPr sz="1725" b="0">
                <a:solidFill>
                  <a:srgbClr val="6C2B91"/>
                </a:solidFill>
                <a:latin typeface="Helvetica Neue"/>
                <a:ea typeface="Helvetica Neue"/>
                <a:cs typeface="Helvetica Neue"/>
              </a:rPr>
              <a:t>"From [brief] and [concept], identify the users, problem and assumptions."</a:t>
            </a:r>
          </a:p>
        </p:txBody>
      </p:sp>
      <p:sp>
        <p:nvSpPr>
          <p:cNvPr id="8" name="reference-index">
            <a:extLst>
              <a:ext uri="{FF2B5EF4-FFF2-40B4-BE49-F238E27FC236}">
                <a16:creationId xmlns:a16="http://schemas.microsoft.com/office/drawing/2014/main" id="{0462842E-8653-4AC3-A239-712E54F36FBA}"/>
              </a:ext>
            </a:extLst>
          </p:cNvPr>
          <p:cNvSpPr>
            <a:spLocks noGrp="1"/>
          </p:cNvSpPr>
          <p:nvPr/>
        </p:nvSpPr>
        <p:spPr>
          <a:xfrm>
            <a:off x="609600" y="2914650"/>
            <a:ext cx="590550" cy="333375"/>
          </a:xfrm>
          <a:prstGeom prst="rect">
            <a:avLst/>
          </a:prstGeom>
          <a:noFill/>
          <a:ln w="0">
            <a:noFill/>
          </a:ln>
        </p:spPr>
        <p:txBody>
          <a:bodyPr lIns="0" tIns="0" rIns="0" bIns="0">
            <a:noAutofit/>
          </a:bodyPr>
          <a:lstStyle>
            <a:defPPr algn="l">
              <a:defRPr sz="1800" b="1">
                <a:solidFill>
                  <a:srgbClr val="226FBB"/>
                </a:solidFill>
                <a:latin typeface="Helvetica Neue"/>
                <a:ea typeface="Helvetica Neue"/>
                <a:cs typeface="Helvetica Neue"/>
              </a:defRPr>
            </a:defPPr>
          </a:lstStyle>
          <a:p>
            <a:pPr algn="l">
              <a:buNone/>
              <a:defRPr sz="1800" b="1">
                <a:solidFill>
                  <a:srgbClr val="226FBB"/>
                </a:solidFill>
                <a:latin typeface="Helvetica Neue"/>
                <a:ea typeface="Helvetica Neue"/>
                <a:cs typeface="Helvetica Neue"/>
              </a:defRPr>
            </a:pPr>
            <a:r>
              <a:rPr sz="1800" b="1">
                <a:solidFill>
                  <a:srgbClr val="226FBB"/>
                </a:solidFill>
                <a:latin typeface="Helvetica Neue"/>
                <a:ea typeface="Helvetica Neue"/>
                <a:cs typeface="Helvetica Neue"/>
              </a:rPr>
              <a:t>1B</a:t>
            </a:r>
          </a:p>
        </p:txBody>
      </p:sp>
      <p:sp>
        <p:nvSpPr>
          <p:cNvPr id="9" name="reference-label">
            <a:extLst>
              <a:ext uri="{FF2B5EF4-FFF2-40B4-BE49-F238E27FC236}">
                <a16:creationId xmlns:a16="http://schemas.microsoft.com/office/drawing/2014/main" id="{066993E4-EA8B-4B1C-BA11-375B68CC853E}"/>
              </a:ext>
            </a:extLst>
          </p:cNvPr>
          <p:cNvSpPr>
            <a:spLocks noGrp="1"/>
          </p:cNvSpPr>
          <p:nvPr/>
        </p:nvSpPr>
        <p:spPr>
          <a:xfrm>
            <a:off x="1333500" y="2905125"/>
            <a:ext cx="2428875" cy="504825"/>
          </a:xfrm>
          <a:prstGeom prst="rect">
            <a:avLst/>
          </a:prstGeom>
          <a:noFill/>
          <a:ln w="0">
            <a:noFill/>
          </a:ln>
        </p:spPr>
        <p:txBody>
          <a:bodyPr lIns="0" tIns="0" rIns="0" bIns="0">
            <a:noAutofit/>
          </a:bodyPr>
          <a:lstStyle>
            <a:defPPr algn="l">
              <a:defRPr sz="1725" b="1">
                <a:solidFill>
                  <a:srgbClr val="102B46"/>
                </a:solidFill>
                <a:latin typeface="Helvetica Neue"/>
                <a:ea typeface="Helvetica Neue"/>
                <a:cs typeface="Helvetica Neue"/>
              </a:defRPr>
            </a:defPPr>
          </a:lstStyle>
          <a:p>
            <a:pPr algn="l">
              <a:buNone/>
              <a:defRPr sz="1725" b="1">
                <a:solidFill>
                  <a:srgbClr val="102B46"/>
                </a:solidFill>
                <a:latin typeface="Helvetica Neue"/>
                <a:ea typeface="Helvetica Neue"/>
                <a:cs typeface="Helvetica Neue"/>
              </a:defRPr>
            </a:pPr>
            <a:r>
              <a:rPr sz="1725" b="1">
                <a:solidFill>
                  <a:srgbClr val="102B46"/>
                </a:solidFill>
                <a:latin typeface="Helvetica Neue"/>
                <a:ea typeface="Helvetica Neue"/>
                <a:cs typeface="Helvetica Neue"/>
              </a:rPr>
              <a:t>Operational scenario</a:t>
            </a:r>
          </a:p>
        </p:txBody>
      </p:sp>
      <p:sp>
        <p:nvSpPr>
          <p:cNvPr id="10" name="reference-prompt">
            <a:extLst>
              <a:ext uri="{FF2B5EF4-FFF2-40B4-BE49-F238E27FC236}">
                <a16:creationId xmlns:a16="http://schemas.microsoft.com/office/drawing/2014/main" id="{8D495151-61B8-47F8-8FCA-311A8E6862EF}"/>
              </a:ext>
            </a:extLst>
          </p:cNvPr>
          <p:cNvSpPr>
            <a:spLocks noGrp="1"/>
          </p:cNvSpPr>
          <p:nvPr/>
        </p:nvSpPr>
        <p:spPr>
          <a:xfrm>
            <a:off x="4038600" y="2876550"/>
            <a:ext cx="7505700" cy="723900"/>
          </a:xfrm>
          <a:prstGeom prst="rect">
            <a:avLst/>
          </a:prstGeom>
          <a:noFill/>
          <a:ln w="0">
            <a:noFill/>
          </a:ln>
        </p:spPr>
        <p:txBody>
          <a:bodyPr lIns="0" tIns="0" rIns="0" bIns="0">
            <a:noAutofit/>
          </a:bodyPr>
          <a:lstStyle>
            <a:defPPr algn="l">
              <a:defRPr sz="1725" b="0">
                <a:solidFill>
                  <a:srgbClr val="6C2B91"/>
                </a:solidFill>
                <a:latin typeface="Helvetica Neue"/>
                <a:ea typeface="Helvetica Neue"/>
                <a:cs typeface="Helvetica Neue"/>
              </a:defRPr>
            </a:defPPr>
          </a:lstStyle>
          <a:p>
            <a:pPr algn="l">
              <a:buNone/>
              <a:defRPr sz="1725" b="0">
                <a:solidFill>
                  <a:srgbClr val="6C2B91"/>
                </a:solidFill>
                <a:latin typeface="Helvetica Neue"/>
                <a:ea typeface="Helvetica Neue"/>
                <a:cs typeface="Helvetica Neue"/>
              </a:defRPr>
            </a:pPr>
            <a:r>
              <a:rPr sz="1725" b="0">
                <a:solidFill>
                  <a:srgbClr val="6C2B91"/>
                </a:solidFill>
                <a:latin typeface="Helvetica Neue"/>
                <a:ea typeface="Helvetica Neue"/>
                <a:cs typeface="Helvetica Neue"/>
              </a:rPr>
              <a:t>"Describe normal and disrupted use of [concept]. Identify actors, system actions and states."</a:t>
            </a:r>
          </a:p>
        </p:txBody>
      </p:sp>
      <p:sp>
        <p:nvSpPr>
          <p:cNvPr id="11" name="reference-index">
            <a:extLst>
              <a:ext uri="{FF2B5EF4-FFF2-40B4-BE49-F238E27FC236}">
                <a16:creationId xmlns:a16="http://schemas.microsoft.com/office/drawing/2014/main" id="{F2AE9CD9-DDED-43DA-8075-02C29B920BC9}"/>
              </a:ext>
            </a:extLst>
          </p:cNvPr>
          <p:cNvSpPr>
            <a:spLocks noGrp="1"/>
          </p:cNvSpPr>
          <p:nvPr/>
        </p:nvSpPr>
        <p:spPr>
          <a:xfrm>
            <a:off x="609600" y="3695700"/>
            <a:ext cx="590550" cy="333375"/>
          </a:xfrm>
          <a:prstGeom prst="rect">
            <a:avLst/>
          </a:prstGeom>
          <a:noFill/>
          <a:ln w="0">
            <a:noFill/>
          </a:ln>
        </p:spPr>
        <p:txBody>
          <a:bodyPr lIns="0" tIns="0" rIns="0" bIns="0">
            <a:noAutofit/>
          </a:bodyPr>
          <a:lstStyle>
            <a:defPPr algn="l">
              <a:defRPr sz="1800" b="1">
                <a:solidFill>
                  <a:srgbClr val="226FBB"/>
                </a:solidFill>
                <a:latin typeface="Helvetica Neue"/>
                <a:ea typeface="Helvetica Neue"/>
                <a:cs typeface="Helvetica Neue"/>
              </a:defRPr>
            </a:defPPr>
          </a:lstStyle>
          <a:p>
            <a:pPr algn="l">
              <a:buNone/>
              <a:defRPr sz="1800" b="1">
                <a:solidFill>
                  <a:srgbClr val="226FBB"/>
                </a:solidFill>
                <a:latin typeface="Helvetica Neue"/>
                <a:ea typeface="Helvetica Neue"/>
                <a:cs typeface="Helvetica Neue"/>
              </a:defRPr>
            </a:pPr>
            <a:r>
              <a:rPr sz="1800" b="1">
                <a:solidFill>
                  <a:srgbClr val="226FBB"/>
                </a:solidFill>
                <a:latin typeface="Helvetica Neue"/>
                <a:ea typeface="Helvetica Neue"/>
                <a:cs typeface="Helvetica Neue"/>
              </a:rPr>
              <a:t>1C</a:t>
            </a:r>
          </a:p>
        </p:txBody>
      </p:sp>
      <p:sp>
        <p:nvSpPr>
          <p:cNvPr id="12" name="reference-label">
            <a:extLst>
              <a:ext uri="{FF2B5EF4-FFF2-40B4-BE49-F238E27FC236}">
                <a16:creationId xmlns:a16="http://schemas.microsoft.com/office/drawing/2014/main" id="{70046649-18BE-4804-9439-86F356723210}"/>
              </a:ext>
            </a:extLst>
          </p:cNvPr>
          <p:cNvSpPr>
            <a:spLocks noGrp="1"/>
          </p:cNvSpPr>
          <p:nvPr/>
        </p:nvSpPr>
        <p:spPr>
          <a:xfrm>
            <a:off x="1333500" y="3686175"/>
            <a:ext cx="2428875" cy="504825"/>
          </a:xfrm>
          <a:prstGeom prst="rect">
            <a:avLst/>
          </a:prstGeom>
          <a:noFill/>
          <a:ln w="0">
            <a:noFill/>
          </a:ln>
        </p:spPr>
        <p:txBody>
          <a:bodyPr lIns="0" tIns="0" rIns="0" bIns="0">
            <a:noAutofit/>
          </a:bodyPr>
          <a:lstStyle>
            <a:defPPr algn="l">
              <a:defRPr sz="1725" b="1">
                <a:solidFill>
                  <a:srgbClr val="102B46"/>
                </a:solidFill>
                <a:latin typeface="Helvetica Neue"/>
                <a:ea typeface="Helvetica Neue"/>
                <a:cs typeface="Helvetica Neue"/>
              </a:defRPr>
            </a:defPPr>
          </a:lstStyle>
          <a:p>
            <a:pPr algn="l">
              <a:buNone/>
              <a:defRPr sz="1725" b="1">
                <a:solidFill>
                  <a:srgbClr val="102B46"/>
                </a:solidFill>
                <a:latin typeface="Helvetica Neue"/>
                <a:ea typeface="Helvetica Neue"/>
                <a:cs typeface="Helvetica Neue"/>
              </a:defRPr>
            </a:pPr>
            <a:r>
              <a:rPr sz="1725" b="1">
                <a:solidFill>
                  <a:srgbClr val="102B46"/>
                </a:solidFill>
                <a:latin typeface="Helvetica Neue"/>
                <a:ea typeface="Helvetica Neue"/>
                <a:cs typeface="Helvetica Neue"/>
              </a:rPr>
              <a:t>Existing solutions and market</a:t>
            </a:r>
          </a:p>
        </p:txBody>
      </p:sp>
      <p:sp>
        <p:nvSpPr>
          <p:cNvPr id="13" name="reference-prompt">
            <a:extLst>
              <a:ext uri="{FF2B5EF4-FFF2-40B4-BE49-F238E27FC236}">
                <a16:creationId xmlns:a16="http://schemas.microsoft.com/office/drawing/2014/main" id="{CD96CCB5-793E-4A5D-A796-8D894C2B53D3}"/>
              </a:ext>
            </a:extLst>
          </p:cNvPr>
          <p:cNvSpPr>
            <a:spLocks noGrp="1"/>
          </p:cNvSpPr>
          <p:nvPr/>
        </p:nvSpPr>
        <p:spPr>
          <a:xfrm>
            <a:off x="4038600" y="3657600"/>
            <a:ext cx="7505700" cy="723900"/>
          </a:xfrm>
          <a:prstGeom prst="rect">
            <a:avLst/>
          </a:prstGeom>
          <a:noFill/>
          <a:ln w="0">
            <a:noFill/>
          </a:ln>
        </p:spPr>
        <p:txBody>
          <a:bodyPr lIns="0" tIns="0" rIns="0" bIns="0">
            <a:noAutofit/>
          </a:bodyPr>
          <a:lstStyle>
            <a:defPPr algn="l">
              <a:defRPr sz="1725" b="0">
                <a:solidFill>
                  <a:srgbClr val="6C2B91"/>
                </a:solidFill>
                <a:latin typeface="Helvetica Neue"/>
                <a:ea typeface="Helvetica Neue"/>
                <a:cs typeface="Helvetica Neue"/>
              </a:defRPr>
            </a:defPPr>
          </a:lstStyle>
          <a:p>
            <a:pPr algn="l">
              <a:buNone/>
              <a:defRPr sz="1725" b="0">
                <a:solidFill>
                  <a:srgbClr val="6C2B91"/>
                </a:solidFill>
                <a:latin typeface="Helvetica Neue"/>
                <a:ea typeface="Helvetica Neue"/>
                <a:cs typeface="Helvetica Neue"/>
              </a:defRPr>
            </a:pPr>
            <a:r>
              <a:rPr sz="1725" b="0">
                <a:solidFill>
                  <a:srgbClr val="6C2B91"/>
                </a:solidFill>
                <a:latin typeface="Helvetica Neue"/>
                <a:ea typeface="Helvetica Neue"/>
                <a:cs typeface="Helvetica Neue"/>
              </a:rPr>
              <a:t>"Compare [concept] with relevant patents, products and companies. Identify alternatives and potential partners."</a:t>
            </a:r>
          </a:p>
        </p:txBody>
      </p:sp>
      <p:sp>
        <p:nvSpPr>
          <p:cNvPr id="14" name="reference-index">
            <a:extLst>
              <a:ext uri="{FF2B5EF4-FFF2-40B4-BE49-F238E27FC236}">
                <a16:creationId xmlns:a16="http://schemas.microsoft.com/office/drawing/2014/main" id="{3323330C-08AC-4B1B-8FA2-DC51608EFFF5}"/>
              </a:ext>
            </a:extLst>
          </p:cNvPr>
          <p:cNvSpPr>
            <a:spLocks noGrp="1"/>
          </p:cNvSpPr>
          <p:nvPr/>
        </p:nvSpPr>
        <p:spPr>
          <a:xfrm>
            <a:off x="609600" y="4476750"/>
            <a:ext cx="590550" cy="333375"/>
          </a:xfrm>
          <a:prstGeom prst="rect">
            <a:avLst/>
          </a:prstGeom>
          <a:noFill/>
          <a:ln w="0">
            <a:noFill/>
          </a:ln>
        </p:spPr>
        <p:txBody>
          <a:bodyPr lIns="0" tIns="0" rIns="0" bIns="0">
            <a:noAutofit/>
          </a:bodyPr>
          <a:lstStyle>
            <a:defPPr algn="l">
              <a:defRPr sz="1800" b="1">
                <a:solidFill>
                  <a:srgbClr val="226FBB"/>
                </a:solidFill>
                <a:latin typeface="Helvetica Neue"/>
                <a:ea typeface="Helvetica Neue"/>
                <a:cs typeface="Helvetica Neue"/>
              </a:defRPr>
            </a:defPPr>
          </a:lstStyle>
          <a:p>
            <a:pPr algn="l">
              <a:buNone/>
              <a:defRPr sz="1800" b="1">
                <a:solidFill>
                  <a:srgbClr val="226FBB"/>
                </a:solidFill>
                <a:latin typeface="Helvetica Neue"/>
                <a:ea typeface="Helvetica Neue"/>
                <a:cs typeface="Helvetica Neue"/>
              </a:defRPr>
            </a:pPr>
            <a:r>
              <a:rPr sz="1800" b="1">
                <a:solidFill>
                  <a:srgbClr val="226FBB"/>
                </a:solidFill>
                <a:latin typeface="Helvetica Neue"/>
                <a:ea typeface="Helvetica Neue"/>
                <a:cs typeface="Helvetica Neue"/>
              </a:rPr>
              <a:t>1D</a:t>
            </a:r>
          </a:p>
        </p:txBody>
      </p:sp>
      <p:sp>
        <p:nvSpPr>
          <p:cNvPr id="15" name="reference-label">
            <a:extLst>
              <a:ext uri="{FF2B5EF4-FFF2-40B4-BE49-F238E27FC236}">
                <a16:creationId xmlns:a16="http://schemas.microsoft.com/office/drawing/2014/main" id="{62F40A98-492C-448B-82F1-F19402D2FB1D}"/>
              </a:ext>
            </a:extLst>
          </p:cNvPr>
          <p:cNvSpPr>
            <a:spLocks noGrp="1"/>
          </p:cNvSpPr>
          <p:nvPr/>
        </p:nvSpPr>
        <p:spPr>
          <a:xfrm>
            <a:off x="1333500" y="4467225"/>
            <a:ext cx="2428875" cy="504825"/>
          </a:xfrm>
          <a:prstGeom prst="rect">
            <a:avLst/>
          </a:prstGeom>
          <a:noFill/>
          <a:ln w="0">
            <a:noFill/>
          </a:ln>
        </p:spPr>
        <p:txBody>
          <a:bodyPr lIns="0" tIns="0" rIns="0" bIns="0">
            <a:noAutofit/>
          </a:bodyPr>
          <a:lstStyle>
            <a:defPPr algn="l">
              <a:defRPr sz="1725" b="1">
                <a:solidFill>
                  <a:srgbClr val="102B46"/>
                </a:solidFill>
                <a:latin typeface="Helvetica Neue"/>
                <a:ea typeface="Helvetica Neue"/>
                <a:cs typeface="Helvetica Neue"/>
              </a:defRPr>
            </a:defPPr>
          </a:lstStyle>
          <a:p>
            <a:pPr algn="l">
              <a:buNone/>
              <a:defRPr sz="1725" b="1">
                <a:solidFill>
                  <a:srgbClr val="102B46"/>
                </a:solidFill>
                <a:latin typeface="Helvetica Neue"/>
                <a:ea typeface="Helvetica Neue"/>
                <a:cs typeface="Helvetica Neue"/>
              </a:defRPr>
            </a:pPr>
            <a:r>
              <a:rPr sz="1725" b="1">
                <a:solidFill>
                  <a:srgbClr val="102B46"/>
                </a:solidFill>
                <a:latin typeface="Helvetica Neue"/>
                <a:ea typeface="Helvetica Neue"/>
                <a:cs typeface="Helvetica Neue"/>
              </a:rPr>
              <a:t>Initial architecture</a:t>
            </a:r>
          </a:p>
        </p:txBody>
      </p:sp>
      <p:sp>
        <p:nvSpPr>
          <p:cNvPr id="16" name="reference-prompt">
            <a:extLst>
              <a:ext uri="{FF2B5EF4-FFF2-40B4-BE49-F238E27FC236}">
                <a16:creationId xmlns:a16="http://schemas.microsoft.com/office/drawing/2014/main" id="{F5809131-8AF7-4FE6-B09D-8415BF81B6FA}"/>
              </a:ext>
            </a:extLst>
          </p:cNvPr>
          <p:cNvSpPr>
            <a:spLocks noGrp="1"/>
          </p:cNvSpPr>
          <p:nvPr/>
        </p:nvSpPr>
        <p:spPr>
          <a:xfrm>
            <a:off x="4038600" y="4438650"/>
            <a:ext cx="7505700" cy="723900"/>
          </a:xfrm>
          <a:prstGeom prst="rect">
            <a:avLst/>
          </a:prstGeom>
          <a:noFill/>
          <a:ln w="0">
            <a:noFill/>
          </a:ln>
        </p:spPr>
        <p:txBody>
          <a:bodyPr lIns="0" tIns="0" rIns="0" bIns="0">
            <a:noAutofit/>
          </a:bodyPr>
          <a:lstStyle>
            <a:defPPr algn="l">
              <a:defRPr sz="1725" b="0">
                <a:solidFill>
                  <a:srgbClr val="6C2B91"/>
                </a:solidFill>
                <a:latin typeface="Helvetica Neue"/>
                <a:ea typeface="Helvetica Neue"/>
                <a:cs typeface="Helvetica Neue"/>
              </a:defRPr>
            </a:defPPr>
          </a:lstStyle>
          <a:p>
            <a:pPr algn="l">
              <a:buNone/>
              <a:defRPr sz="1725" b="0">
                <a:solidFill>
                  <a:srgbClr val="6C2B91"/>
                </a:solidFill>
                <a:latin typeface="Helvetica Neue"/>
                <a:ea typeface="Helvetica Neue"/>
                <a:cs typeface="Helvetica Neue"/>
              </a:defRPr>
            </a:pPr>
            <a:r>
              <a:rPr sz="1725" b="0">
                <a:solidFill>
                  <a:srgbClr val="6C2B91"/>
                </a:solidFill>
                <a:latin typeface="Helvetica Neue"/>
                <a:ea typeface="Helvetica Neue"/>
                <a:cs typeface="Helvetica Neue"/>
              </a:rPr>
              <a:t>"For [scenario], define components, data flows, deployment and human authority. Flag constraints."</a:t>
            </a:r>
          </a:p>
        </p:txBody>
      </p:sp>
      <p:sp>
        <p:nvSpPr>
          <p:cNvPr id="17" name="reference-index">
            <a:extLst>
              <a:ext uri="{FF2B5EF4-FFF2-40B4-BE49-F238E27FC236}">
                <a16:creationId xmlns:a16="http://schemas.microsoft.com/office/drawing/2014/main" id="{C9D2399B-4D66-427A-9473-2C6EA39CFCB9}"/>
              </a:ext>
            </a:extLst>
          </p:cNvPr>
          <p:cNvSpPr>
            <a:spLocks noGrp="1"/>
          </p:cNvSpPr>
          <p:nvPr/>
        </p:nvSpPr>
        <p:spPr>
          <a:xfrm>
            <a:off x="609600" y="5257800"/>
            <a:ext cx="590550" cy="333375"/>
          </a:xfrm>
          <a:prstGeom prst="rect">
            <a:avLst/>
          </a:prstGeom>
          <a:noFill/>
          <a:ln w="0">
            <a:noFill/>
          </a:ln>
        </p:spPr>
        <p:txBody>
          <a:bodyPr lIns="0" tIns="0" rIns="0" bIns="0">
            <a:noAutofit/>
          </a:bodyPr>
          <a:lstStyle>
            <a:defPPr algn="l">
              <a:defRPr sz="1800" b="1">
                <a:solidFill>
                  <a:srgbClr val="226FBB"/>
                </a:solidFill>
                <a:latin typeface="Helvetica Neue"/>
                <a:ea typeface="Helvetica Neue"/>
                <a:cs typeface="Helvetica Neue"/>
              </a:defRPr>
            </a:defPPr>
          </a:lstStyle>
          <a:p>
            <a:pPr algn="l">
              <a:buNone/>
              <a:defRPr sz="1800" b="1">
                <a:solidFill>
                  <a:srgbClr val="226FBB"/>
                </a:solidFill>
                <a:latin typeface="Helvetica Neue"/>
                <a:ea typeface="Helvetica Neue"/>
                <a:cs typeface="Helvetica Neue"/>
              </a:defRPr>
            </a:pPr>
            <a:r>
              <a:rPr sz="1800" b="1">
                <a:solidFill>
                  <a:srgbClr val="226FBB"/>
                </a:solidFill>
                <a:latin typeface="Helvetica Neue"/>
                <a:ea typeface="Helvetica Neue"/>
                <a:cs typeface="Helvetica Neue"/>
              </a:rPr>
              <a:t>1E</a:t>
            </a:r>
          </a:p>
        </p:txBody>
      </p:sp>
      <p:sp>
        <p:nvSpPr>
          <p:cNvPr id="18" name="reference-label">
            <a:extLst>
              <a:ext uri="{FF2B5EF4-FFF2-40B4-BE49-F238E27FC236}">
                <a16:creationId xmlns:a16="http://schemas.microsoft.com/office/drawing/2014/main" id="{A37AF569-39C6-48FE-B68E-FF14498BD9FE}"/>
              </a:ext>
            </a:extLst>
          </p:cNvPr>
          <p:cNvSpPr>
            <a:spLocks noGrp="1"/>
          </p:cNvSpPr>
          <p:nvPr/>
        </p:nvSpPr>
        <p:spPr>
          <a:xfrm>
            <a:off x="1333500" y="5248275"/>
            <a:ext cx="2428875" cy="504825"/>
          </a:xfrm>
          <a:prstGeom prst="rect">
            <a:avLst/>
          </a:prstGeom>
          <a:noFill/>
          <a:ln w="0">
            <a:noFill/>
          </a:ln>
        </p:spPr>
        <p:txBody>
          <a:bodyPr lIns="0" tIns="0" rIns="0" bIns="0">
            <a:noAutofit/>
          </a:bodyPr>
          <a:lstStyle>
            <a:defPPr algn="l">
              <a:defRPr sz="1725" b="1">
                <a:solidFill>
                  <a:srgbClr val="102B46"/>
                </a:solidFill>
                <a:latin typeface="Helvetica Neue"/>
                <a:ea typeface="Helvetica Neue"/>
                <a:cs typeface="Helvetica Neue"/>
              </a:defRPr>
            </a:defPPr>
          </a:lstStyle>
          <a:p>
            <a:pPr algn="l">
              <a:buNone/>
              <a:defRPr sz="1725" b="1">
                <a:solidFill>
                  <a:srgbClr val="102B46"/>
                </a:solidFill>
                <a:latin typeface="Helvetica Neue"/>
                <a:ea typeface="Helvetica Neue"/>
                <a:cs typeface="Helvetica Neue"/>
              </a:defRPr>
            </a:pPr>
            <a:r>
              <a:rPr sz="1725" b="1">
                <a:solidFill>
                  <a:srgbClr val="102B46"/>
                </a:solidFill>
                <a:latin typeface="Helvetica Neue"/>
                <a:ea typeface="Helvetica Neue"/>
                <a:cs typeface="Helvetica Neue"/>
              </a:rPr>
              <a:t>Concept checkpoint</a:t>
            </a:r>
          </a:p>
        </p:txBody>
      </p:sp>
      <p:sp>
        <p:nvSpPr>
          <p:cNvPr id="19" name="reference-prompt">
            <a:extLst>
              <a:ext uri="{FF2B5EF4-FFF2-40B4-BE49-F238E27FC236}">
                <a16:creationId xmlns:a16="http://schemas.microsoft.com/office/drawing/2014/main" id="{216160D7-8EBB-4E2C-AD01-49E372F84607}"/>
              </a:ext>
            </a:extLst>
          </p:cNvPr>
          <p:cNvSpPr>
            <a:spLocks noGrp="1"/>
          </p:cNvSpPr>
          <p:nvPr/>
        </p:nvSpPr>
        <p:spPr>
          <a:xfrm>
            <a:off x="4038600" y="5219700"/>
            <a:ext cx="7505700" cy="723900"/>
          </a:xfrm>
          <a:prstGeom prst="rect">
            <a:avLst/>
          </a:prstGeom>
          <a:noFill/>
          <a:ln w="0">
            <a:noFill/>
          </a:ln>
        </p:spPr>
        <p:txBody>
          <a:bodyPr lIns="0" tIns="0" rIns="0" bIns="0">
            <a:noAutofit/>
          </a:bodyPr>
          <a:lstStyle>
            <a:defPPr algn="l">
              <a:defRPr sz="1725" b="0">
                <a:solidFill>
                  <a:srgbClr val="6C2B91"/>
                </a:solidFill>
                <a:latin typeface="Helvetica Neue"/>
                <a:ea typeface="Helvetica Neue"/>
                <a:cs typeface="Helvetica Neue"/>
              </a:defRPr>
            </a:defPPr>
          </a:lstStyle>
          <a:p>
            <a:pPr algn="l">
              <a:buNone/>
              <a:defRPr sz="1725" b="0">
                <a:solidFill>
                  <a:srgbClr val="6C2B91"/>
                </a:solidFill>
                <a:latin typeface="Helvetica Neue"/>
                <a:ea typeface="Helvetica Neue"/>
                <a:cs typeface="Helvetica Neue"/>
              </a:defRPr>
            </a:pPr>
            <a:r>
              <a:rPr sz="1725" b="0">
                <a:solidFill>
                  <a:srgbClr val="6C2B91"/>
                </a:solidFill>
                <a:latin typeface="Helvetica Neue"/>
                <a:ea typeface="Helvetica Neue"/>
                <a:cs typeface="Helvetica Neue"/>
              </a:rPr>
              <a:t>"Summarise our agreed concept, decisions and open questions for expert feedback."</a:t>
            </a:r>
          </a:p>
        </p:txBody>
      </p:sp>
      <p:sp>
        <p:nvSpPr>
          <p:cNvPr id="20" name="reference-footer">
            <a:extLst>
              <a:ext uri="{FF2B5EF4-FFF2-40B4-BE49-F238E27FC236}">
                <a16:creationId xmlns:a16="http://schemas.microsoft.com/office/drawing/2014/main" id="{24441232-BDEE-4CAD-B8EF-069E1250C563}"/>
              </a:ext>
            </a:extLst>
          </p:cNvPr>
          <p:cNvSpPr>
            <a:spLocks noGrp="1"/>
          </p:cNvSpPr>
          <p:nvPr/>
        </p:nvSpPr>
        <p:spPr>
          <a:xfrm>
            <a:off x="609600" y="6115050"/>
            <a:ext cx="10668000" cy="285750"/>
          </a:xfrm>
          <a:prstGeom prst="rect">
            <a:avLst/>
          </a:prstGeom>
          <a:noFill/>
          <a:ln w="0">
            <a:noFill/>
          </a:ln>
        </p:spPr>
        <p:txBody>
          <a:bodyPr lIns="0" tIns="0" rIns="0" bIns="0">
            <a:noAutofit/>
          </a:bodyPr>
          <a:lstStyle>
            <a:defPPr algn="l">
              <a:defRPr sz="1650" b="0">
                <a:solidFill>
                  <a:srgbClr val="607482"/>
                </a:solidFill>
                <a:latin typeface="Helvetica Neue"/>
                <a:ea typeface="Helvetica Neue"/>
                <a:cs typeface="Helvetica Neue"/>
              </a:defRPr>
            </a:defPPr>
          </a:lstStyle>
          <a:p>
            <a:pPr algn="l">
              <a:buNone/>
              <a:defRPr sz="1650" b="0">
                <a:solidFill>
                  <a:srgbClr val="607482"/>
                </a:solidFill>
                <a:latin typeface="Helvetica Neue"/>
                <a:ea typeface="Helvetica Neue"/>
                <a:cs typeface="Helvetica Neue"/>
              </a:defRPr>
            </a:pPr>
            <a:r>
              <a:rPr sz="1650" b="0">
                <a:solidFill>
                  <a:srgbClr val="607482"/>
                </a:solidFill>
                <a:latin typeface="Helvetica Neue"/>
                <a:ea typeface="Helvetica Neue"/>
                <a:cs typeface="Helvetica Neue"/>
              </a:rPr>
              <a:t>Discuss answers and record decisions.</a:t>
            </a:r>
          </a:p>
        </p:txBody>
      </p:sp>
    </p:spTree>
    <p:extLst>
      <p:ext uri="{BB962C8B-B14F-4D97-AF65-F5344CB8AC3E}">
        <p14:creationId xmlns:p14="http://schemas.microsoft.com/office/powerpoint/2010/main" val="175449689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1" name="section-label">
            <a:extLst>
              <a:ext uri="{FF2B5EF4-FFF2-40B4-BE49-F238E27FC236}">
                <a16:creationId xmlns:a16="http://schemas.microsoft.com/office/drawing/2014/main" id="{6CC4F03A-B72D-4FB2-96ED-A2DF9F396A81}"/>
              </a:ext>
            </a:extLst>
          </p:cNvPr>
          <p:cNvSpPr>
            <a:spLocks noGrp="1"/>
          </p:cNvSpPr>
          <p:nvPr/>
        </p:nvSpPr>
        <p:spPr>
          <a:xfrm>
            <a:off x="609600" y="285750"/>
            <a:ext cx="10668000" cy="285750"/>
          </a:xfrm>
          <a:prstGeom prst="rect">
            <a:avLst/>
          </a:prstGeom>
          <a:noFill/>
          <a:ln w="0">
            <a:noFill/>
          </a:ln>
        </p:spPr>
        <p:txBody>
          <a:bodyPr lIns="0" tIns="0" rIns="0" bIns="0">
            <a:noAutofit/>
          </a:bodyPr>
          <a:lstStyle>
            <a:defPPr algn="l">
              <a:defRPr sz="1200" b="1">
                <a:solidFill>
                  <a:srgbClr val="A16C27"/>
                </a:solidFill>
                <a:latin typeface="Helvetica Neue"/>
                <a:ea typeface="Helvetica Neue"/>
                <a:cs typeface="Helvetica Neue"/>
              </a:defRPr>
            </a:defPPr>
          </a:lstStyle>
          <a:p>
            <a:pPr algn="l">
              <a:buNone/>
              <a:defRPr sz="1200" b="1">
                <a:solidFill>
                  <a:srgbClr val="A16C27"/>
                </a:solidFill>
                <a:latin typeface="Helvetica Neue"/>
                <a:ea typeface="Helvetica Neue"/>
                <a:cs typeface="Helvetica Neue"/>
              </a:defRPr>
            </a:pPr>
            <a:r>
              <a:rPr sz="1200" b="1">
                <a:solidFill>
                  <a:srgbClr val="A16C27"/>
                </a:solidFill>
                <a:latin typeface="Helvetica Neue"/>
                <a:ea typeface="Helvetica Neue"/>
                <a:cs typeface="Helvetica Neue"/>
              </a:rPr>
              <a:t>APPENDIX: PROMPT GUIDE</a:t>
            </a:r>
          </a:p>
        </p:txBody>
      </p:sp>
      <p:sp>
        <p:nvSpPr>
          <p:cNvPr id="2" name="slide-title">
            <a:extLst>
              <a:ext uri="{FF2B5EF4-FFF2-40B4-BE49-F238E27FC236}">
                <a16:creationId xmlns:a16="http://schemas.microsoft.com/office/drawing/2014/main" id="{B892DC69-16C1-4490-89FD-A3DC79EEFBD3}"/>
              </a:ext>
            </a:extLst>
          </p:cNvPr>
          <p:cNvSpPr>
            <a:spLocks noGrp="1"/>
          </p:cNvSpPr>
          <p:nvPr/>
        </p:nvSpPr>
        <p:spPr>
          <a:xfrm>
            <a:off x="609600" y="781050"/>
            <a:ext cx="10858500" cy="857250"/>
          </a:xfrm>
          <a:prstGeom prst="rect">
            <a:avLst/>
          </a:prstGeom>
          <a:noFill/>
          <a:ln w="0">
            <a:noFill/>
          </a:ln>
        </p:spPr>
        <p:txBody>
          <a:bodyPr lIns="0" tIns="0" rIns="0" bIns="0">
            <a:noAutofit/>
          </a:bodyPr>
          <a:lstStyle>
            <a:defPPr algn="l">
              <a:defRPr sz="3450" b="1">
                <a:solidFill>
                  <a:srgbClr val="102B46"/>
                </a:solidFill>
                <a:latin typeface="Helvetica Neue"/>
                <a:ea typeface="Helvetica Neue"/>
                <a:cs typeface="Helvetica Neue"/>
              </a:defRPr>
            </a:defPPr>
          </a:lstStyle>
          <a:p>
            <a:pPr algn="l">
              <a:buNone/>
              <a:defRPr sz="3450" b="1">
                <a:solidFill>
                  <a:srgbClr val="102B46"/>
                </a:solidFill>
                <a:latin typeface="Helvetica Neue"/>
                <a:ea typeface="Helvetica Neue"/>
                <a:cs typeface="Helvetica Neue"/>
              </a:defRPr>
            </a:pPr>
            <a:r>
              <a:rPr sz="3450" b="1">
                <a:solidFill>
                  <a:srgbClr val="102B46"/>
                </a:solidFill>
                <a:latin typeface="Helvetica Neue"/>
                <a:ea typeface="Helvetica Neue"/>
                <a:cs typeface="Helvetica Neue"/>
              </a:rPr>
              <a:t>Session 2 prompt references</a:t>
            </a:r>
          </a:p>
        </p:txBody>
      </p:sp>
      <p:sp>
        <p:nvSpPr>
          <p:cNvPr id="3" name="subtitle">
            <a:extLst>
              <a:ext uri="{FF2B5EF4-FFF2-40B4-BE49-F238E27FC236}">
                <a16:creationId xmlns:a16="http://schemas.microsoft.com/office/drawing/2014/main" id="{5E3DC5D0-A203-4CC9-B94C-08FEFE472ED0}"/>
              </a:ext>
            </a:extLst>
          </p:cNvPr>
          <p:cNvSpPr>
            <a:spLocks noGrp="1"/>
          </p:cNvSpPr>
          <p:nvPr/>
        </p:nvSpPr>
        <p:spPr>
          <a:xfrm>
            <a:off x="609600" y="1524000"/>
            <a:ext cx="10858500" cy="428625"/>
          </a:xfrm>
          <a:prstGeom prst="rect">
            <a:avLst/>
          </a:prstGeom>
          <a:noFill/>
          <a:ln w="0">
            <a:noFill/>
          </a:ln>
        </p:spPr>
        <p:txBody>
          <a:bodyPr lIns="0" tIns="0" rIns="0" bIns="0">
            <a:noAutofit/>
          </a:bodyPr>
          <a:lstStyle>
            <a:defPPr algn="l">
              <a:defRPr sz="1800" b="0">
                <a:solidFill>
                  <a:srgbClr val="607482"/>
                </a:solidFill>
                <a:latin typeface="Helvetica Neue"/>
                <a:ea typeface="Helvetica Neue"/>
                <a:cs typeface="Helvetica Neue"/>
              </a:defRPr>
            </a:defPPr>
          </a:lstStyle>
          <a:p>
            <a:pPr algn="l">
              <a:buNone/>
              <a:defRPr sz="1800" b="0">
                <a:solidFill>
                  <a:srgbClr val="607482"/>
                </a:solidFill>
                <a:latin typeface="Helvetica Neue"/>
                <a:ea typeface="Helvetica Neue"/>
                <a:cs typeface="Helvetica Neue"/>
              </a:defRPr>
            </a:pPr>
            <a:r>
              <a:rPr sz="1800" b="0">
                <a:solidFill>
                  <a:srgbClr val="607482"/>
                </a:solidFill>
                <a:latin typeface="Helvetica Neue"/>
                <a:ea typeface="Helvetica Neue"/>
                <a:cs typeface="Helvetica Neue"/>
              </a:rPr>
              <a:t>Knowledge Agent: adapt prompts to your concept and questions.</a:t>
            </a:r>
          </a:p>
        </p:txBody>
      </p:sp>
      <p:sp>
        <p:nvSpPr>
          <p:cNvPr id="4" name="page-number">
            <a:extLst>
              <a:ext uri="{FF2B5EF4-FFF2-40B4-BE49-F238E27FC236}">
                <a16:creationId xmlns:a16="http://schemas.microsoft.com/office/drawing/2014/main" id="{6F414585-5EED-4E04-ABE7-2039DA333D42}"/>
              </a:ext>
            </a:extLst>
          </p:cNvPr>
          <p:cNvSpPr>
            <a:spLocks noGrp="1"/>
          </p:cNvSpPr>
          <p:nvPr/>
        </p:nvSpPr>
        <p:spPr>
          <a:xfrm>
            <a:off x="10953750" y="6438900"/>
            <a:ext cx="666750" cy="228600"/>
          </a:xfrm>
          <a:prstGeom prst="rect">
            <a:avLst/>
          </a:prstGeom>
          <a:noFill/>
          <a:ln w="0">
            <a:noFill/>
          </a:ln>
        </p:spPr>
        <p:txBody>
          <a:bodyPr lIns="0" tIns="0" rIns="0" bIns="0">
            <a:noAutofit/>
          </a:bodyPr>
          <a:lstStyle>
            <a:defPPr algn="r">
              <a:defRPr sz="1125" b="0">
                <a:solidFill>
                  <a:srgbClr val="607482"/>
                </a:solidFill>
                <a:latin typeface="Helvetica Neue"/>
                <a:ea typeface="Helvetica Neue"/>
                <a:cs typeface="Helvetica Neue"/>
              </a:defRPr>
            </a:defPPr>
          </a:lstStyle>
          <a:p>
            <a:pPr algn="r">
              <a:buNone/>
              <a:defRPr sz="1125" b="0">
                <a:solidFill>
                  <a:srgbClr val="607482"/>
                </a:solidFill>
                <a:latin typeface="Helvetica Neue"/>
                <a:ea typeface="Helvetica Neue"/>
                <a:cs typeface="Helvetica Neue"/>
              </a:defRPr>
            </a:pPr>
            <a:r>
              <a:rPr sz="1125" b="0">
                <a:solidFill>
                  <a:srgbClr val="607482"/>
                </a:solidFill>
                <a:latin typeface="Helvetica Neue"/>
                <a:ea typeface="Helvetica Neue"/>
                <a:cs typeface="Helvetica Neue"/>
              </a:rPr>
              <a:t>A21</a:t>
            </a:r>
          </a:p>
        </p:txBody>
      </p:sp>
      <p:sp>
        <p:nvSpPr>
          <p:cNvPr id="5" name="reference-index">
            <a:extLst>
              <a:ext uri="{FF2B5EF4-FFF2-40B4-BE49-F238E27FC236}">
                <a16:creationId xmlns:a16="http://schemas.microsoft.com/office/drawing/2014/main" id="{0F6660E4-7DD7-48B7-925A-3793128BB5A3}"/>
              </a:ext>
            </a:extLst>
          </p:cNvPr>
          <p:cNvSpPr>
            <a:spLocks noGrp="1"/>
          </p:cNvSpPr>
          <p:nvPr/>
        </p:nvSpPr>
        <p:spPr>
          <a:xfrm>
            <a:off x="609600" y="2133600"/>
            <a:ext cx="590550" cy="333375"/>
          </a:xfrm>
          <a:prstGeom prst="rect">
            <a:avLst/>
          </a:prstGeom>
          <a:noFill/>
          <a:ln w="0">
            <a:noFill/>
          </a:ln>
        </p:spPr>
        <p:txBody>
          <a:bodyPr lIns="0" tIns="0" rIns="0" bIns="0">
            <a:noAutofit/>
          </a:bodyPr>
          <a:lstStyle>
            <a:defPPr algn="l">
              <a:defRPr sz="1800" b="1">
                <a:solidFill>
                  <a:srgbClr val="087E83"/>
                </a:solidFill>
                <a:latin typeface="Helvetica Neue"/>
                <a:ea typeface="Helvetica Neue"/>
                <a:cs typeface="Helvetica Neue"/>
              </a:defRPr>
            </a:defPPr>
          </a:lstStyle>
          <a:p>
            <a:pPr algn="l">
              <a:buNone/>
              <a:defRPr sz="1800" b="1">
                <a:solidFill>
                  <a:srgbClr val="087E83"/>
                </a:solidFill>
                <a:latin typeface="Helvetica Neue"/>
                <a:ea typeface="Helvetica Neue"/>
                <a:cs typeface="Helvetica Neue"/>
              </a:defRPr>
            </a:pPr>
            <a:r>
              <a:rPr sz="1800" b="1">
                <a:solidFill>
                  <a:srgbClr val="087E83"/>
                </a:solidFill>
                <a:latin typeface="Helvetica Neue"/>
                <a:ea typeface="Helvetica Neue"/>
                <a:cs typeface="Helvetica Neue"/>
              </a:rPr>
              <a:t>2A</a:t>
            </a:r>
          </a:p>
        </p:txBody>
      </p:sp>
      <p:sp>
        <p:nvSpPr>
          <p:cNvPr id="6" name="reference-label">
            <a:extLst>
              <a:ext uri="{FF2B5EF4-FFF2-40B4-BE49-F238E27FC236}">
                <a16:creationId xmlns:a16="http://schemas.microsoft.com/office/drawing/2014/main" id="{8433575C-D596-449F-8E7D-B63870AD0AD0}"/>
              </a:ext>
            </a:extLst>
          </p:cNvPr>
          <p:cNvSpPr>
            <a:spLocks noGrp="1"/>
          </p:cNvSpPr>
          <p:nvPr/>
        </p:nvSpPr>
        <p:spPr>
          <a:xfrm>
            <a:off x="1333500" y="2124075"/>
            <a:ext cx="2428875" cy="504825"/>
          </a:xfrm>
          <a:prstGeom prst="rect">
            <a:avLst/>
          </a:prstGeom>
          <a:noFill/>
          <a:ln w="0">
            <a:noFill/>
          </a:ln>
        </p:spPr>
        <p:txBody>
          <a:bodyPr lIns="0" tIns="0" rIns="0" bIns="0">
            <a:noAutofit/>
          </a:bodyPr>
          <a:lstStyle>
            <a:defPPr algn="l">
              <a:defRPr sz="1725" b="1">
                <a:solidFill>
                  <a:srgbClr val="102B46"/>
                </a:solidFill>
                <a:latin typeface="Helvetica Neue"/>
                <a:ea typeface="Helvetica Neue"/>
                <a:cs typeface="Helvetica Neue"/>
              </a:defRPr>
            </a:defPPr>
          </a:lstStyle>
          <a:p>
            <a:pPr algn="l">
              <a:buNone/>
              <a:defRPr sz="1725" b="1">
                <a:solidFill>
                  <a:srgbClr val="102B46"/>
                </a:solidFill>
                <a:latin typeface="Helvetica Neue"/>
                <a:ea typeface="Helvetica Neue"/>
                <a:cs typeface="Helvetica Neue"/>
              </a:defRPr>
            </a:pPr>
            <a:r>
              <a:rPr sz="1725" b="1">
                <a:solidFill>
                  <a:srgbClr val="102B46"/>
                </a:solidFill>
                <a:latin typeface="Helvetica Neue"/>
                <a:ea typeface="Helvetica Neue"/>
                <a:cs typeface="Helvetica Neue"/>
              </a:rPr>
              <a:t>Feedback actions</a:t>
            </a:r>
          </a:p>
        </p:txBody>
      </p:sp>
      <p:sp>
        <p:nvSpPr>
          <p:cNvPr id="7" name="reference-prompt">
            <a:extLst>
              <a:ext uri="{FF2B5EF4-FFF2-40B4-BE49-F238E27FC236}">
                <a16:creationId xmlns:a16="http://schemas.microsoft.com/office/drawing/2014/main" id="{B7E5E749-73B1-454D-953E-AA89E56FFAC8}"/>
              </a:ext>
            </a:extLst>
          </p:cNvPr>
          <p:cNvSpPr>
            <a:spLocks noGrp="1"/>
          </p:cNvSpPr>
          <p:nvPr/>
        </p:nvSpPr>
        <p:spPr>
          <a:xfrm>
            <a:off x="4038600" y="2095500"/>
            <a:ext cx="7505700" cy="723900"/>
          </a:xfrm>
          <a:prstGeom prst="rect">
            <a:avLst/>
          </a:prstGeom>
          <a:noFill/>
          <a:ln w="0">
            <a:noFill/>
          </a:ln>
        </p:spPr>
        <p:txBody>
          <a:bodyPr lIns="0" tIns="0" rIns="0" bIns="0">
            <a:noAutofit/>
          </a:bodyPr>
          <a:lstStyle>
            <a:defPPr algn="l">
              <a:defRPr sz="1725" b="0">
                <a:solidFill>
                  <a:srgbClr val="6C2B91"/>
                </a:solidFill>
                <a:latin typeface="Helvetica Neue"/>
                <a:ea typeface="Helvetica Neue"/>
                <a:cs typeface="Helvetica Neue"/>
              </a:defRPr>
            </a:defPPr>
          </a:lstStyle>
          <a:p>
            <a:pPr algn="l">
              <a:buNone/>
              <a:defRPr sz="1725" b="0">
                <a:solidFill>
                  <a:srgbClr val="6C2B91"/>
                </a:solidFill>
                <a:latin typeface="Helvetica Neue"/>
                <a:ea typeface="Helvetica Neue"/>
                <a:cs typeface="Helvetica Neue"/>
              </a:defRPr>
            </a:pPr>
            <a:r>
              <a:rPr sz="1725" b="0">
                <a:solidFill>
                  <a:srgbClr val="6C2B91"/>
                </a:solidFill>
                <a:latin typeface="Helvetica Neue"/>
                <a:ea typeface="Helvetica Neue"/>
                <a:cs typeface="Helvetica Neue"/>
              </a:rPr>
              <a:t>"Turn [feedback] into changes or investigations. Explain effects on technology, regulation and business."</a:t>
            </a:r>
          </a:p>
        </p:txBody>
      </p:sp>
      <p:sp>
        <p:nvSpPr>
          <p:cNvPr id="8" name="reference-index">
            <a:extLst>
              <a:ext uri="{FF2B5EF4-FFF2-40B4-BE49-F238E27FC236}">
                <a16:creationId xmlns:a16="http://schemas.microsoft.com/office/drawing/2014/main" id="{DCB3BEF5-854B-4A07-8E5D-9B5F74C35A69}"/>
              </a:ext>
            </a:extLst>
          </p:cNvPr>
          <p:cNvSpPr>
            <a:spLocks noGrp="1"/>
          </p:cNvSpPr>
          <p:nvPr/>
        </p:nvSpPr>
        <p:spPr>
          <a:xfrm>
            <a:off x="609600" y="2914650"/>
            <a:ext cx="590550" cy="333375"/>
          </a:xfrm>
          <a:prstGeom prst="rect">
            <a:avLst/>
          </a:prstGeom>
          <a:noFill/>
          <a:ln w="0">
            <a:noFill/>
          </a:ln>
        </p:spPr>
        <p:txBody>
          <a:bodyPr lIns="0" tIns="0" rIns="0" bIns="0">
            <a:noAutofit/>
          </a:bodyPr>
          <a:lstStyle>
            <a:defPPr algn="l">
              <a:defRPr sz="1800" b="1">
                <a:solidFill>
                  <a:srgbClr val="087E83"/>
                </a:solidFill>
                <a:latin typeface="Helvetica Neue"/>
                <a:ea typeface="Helvetica Neue"/>
                <a:cs typeface="Helvetica Neue"/>
              </a:defRPr>
            </a:defPPr>
          </a:lstStyle>
          <a:p>
            <a:pPr algn="l">
              <a:buNone/>
              <a:defRPr sz="1800" b="1">
                <a:solidFill>
                  <a:srgbClr val="087E83"/>
                </a:solidFill>
                <a:latin typeface="Helvetica Neue"/>
                <a:ea typeface="Helvetica Neue"/>
                <a:cs typeface="Helvetica Neue"/>
              </a:defRPr>
            </a:pPr>
            <a:r>
              <a:rPr sz="1800" b="1">
                <a:solidFill>
                  <a:srgbClr val="087E83"/>
                </a:solidFill>
                <a:latin typeface="Helvetica Neue"/>
                <a:ea typeface="Helvetica Neue"/>
                <a:cs typeface="Helvetica Neue"/>
              </a:rPr>
              <a:t>2B</a:t>
            </a:r>
          </a:p>
        </p:txBody>
      </p:sp>
      <p:sp>
        <p:nvSpPr>
          <p:cNvPr id="9" name="reference-label">
            <a:extLst>
              <a:ext uri="{FF2B5EF4-FFF2-40B4-BE49-F238E27FC236}">
                <a16:creationId xmlns:a16="http://schemas.microsoft.com/office/drawing/2014/main" id="{C976D879-BB9B-49D7-9B7F-575592ECEBCA}"/>
              </a:ext>
            </a:extLst>
          </p:cNvPr>
          <p:cNvSpPr>
            <a:spLocks noGrp="1"/>
          </p:cNvSpPr>
          <p:nvPr/>
        </p:nvSpPr>
        <p:spPr>
          <a:xfrm>
            <a:off x="1333500" y="2905125"/>
            <a:ext cx="2428875" cy="504825"/>
          </a:xfrm>
          <a:prstGeom prst="rect">
            <a:avLst/>
          </a:prstGeom>
          <a:noFill/>
          <a:ln w="0">
            <a:noFill/>
          </a:ln>
        </p:spPr>
        <p:txBody>
          <a:bodyPr lIns="0" tIns="0" rIns="0" bIns="0">
            <a:noAutofit/>
          </a:bodyPr>
          <a:lstStyle>
            <a:defPPr algn="l">
              <a:defRPr sz="1725" b="1">
                <a:solidFill>
                  <a:srgbClr val="102B46"/>
                </a:solidFill>
                <a:latin typeface="Helvetica Neue"/>
                <a:ea typeface="Helvetica Neue"/>
                <a:cs typeface="Helvetica Neue"/>
              </a:defRPr>
            </a:defPPr>
          </a:lstStyle>
          <a:p>
            <a:pPr algn="l">
              <a:buNone/>
              <a:defRPr sz="1725" b="1">
                <a:solidFill>
                  <a:srgbClr val="102B46"/>
                </a:solidFill>
                <a:latin typeface="Helvetica Neue"/>
                <a:ea typeface="Helvetica Neue"/>
                <a:cs typeface="Helvetica Neue"/>
              </a:defRPr>
            </a:pPr>
            <a:r>
              <a:rPr sz="1725" b="1">
                <a:solidFill>
                  <a:srgbClr val="102B46"/>
                </a:solidFill>
                <a:latin typeface="Helvetica Neue"/>
                <a:ea typeface="Helvetica Neue"/>
                <a:cs typeface="Helvetica Neue"/>
              </a:rPr>
              <a:t>Product and architecture</a:t>
            </a:r>
          </a:p>
        </p:txBody>
      </p:sp>
      <p:sp>
        <p:nvSpPr>
          <p:cNvPr id="10" name="reference-prompt">
            <a:extLst>
              <a:ext uri="{FF2B5EF4-FFF2-40B4-BE49-F238E27FC236}">
                <a16:creationId xmlns:a16="http://schemas.microsoft.com/office/drawing/2014/main" id="{886A6381-310A-480C-BF15-F73FBA08F9C1}"/>
              </a:ext>
            </a:extLst>
          </p:cNvPr>
          <p:cNvSpPr>
            <a:spLocks noGrp="1"/>
          </p:cNvSpPr>
          <p:nvPr/>
        </p:nvSpPr>
        <p:spPr>
          <a:xfrm>
            <a:off x="4038600" y="2876550"/>
            <a:ext cx="7505700" cy="723900"/>
          </a:xfrm>
          <a:prstGeom prst="rect">
            <a:avLst/>
          </a:prstGeom>
          <a:noFill/>
          <a:ln w="0">
            <a:noFill/>
          </a:ln>
        </p:spPr>
        <p:txBody>
          <a:bodyPr lIns="0" tIns="0" rIns="0" bIns="0">
            <a:noAutofit/>
          </a:bodyPr>
          <a:lstStyle>
            <a:defPPr algn="l">
              <a:defRPr sz="1725" b="0">
                <a:solidFill>
                  <a:srgbClr val="6C2B91"/>
                </a:solidFill>
                <a:latin typeface="Helvetica Neue"/>
                <a:ea typeface="Helvetica Neue"/>
                <a:cs typeface="Helvetica Neue"/>
              </a:defRPr>
            </a:defPPr>
          </a:lstStyle>
          <a:p>
            <a:pPr algn="l">
              <a:buNone/>
              <a:defRPr sz="1725" b="0">
                <a:solidFill>
                  <a:srgbClr val="6C2B91"/>
                </a:solidFill>
                <a:latin typeface="Helvetica Neue"/>
                <a:ea typeface="Helvetica Neue"/>
                <a:cs typeface="Helvetica Neue"/>
              </a:defRPr>
            </a:pPr>
            <a:r>
              <a:rPr sz="1725" b="0">
                <a:solidFill>
                  <a:srgbClr val="6C2B91"/>
                </a:solidFill>
                <a:latin typeface="Helvetica Neue"/>
                <a:ea typeface="Helvetica Neue"/>
                <a:cs typeface="Helvetica Neue"/>
              </a:rPr>
              <a:t>"Detail [architecture]: features, interfaces, deployment and failure handling. Link functions to requirements."</a:t>
            </a:r>
          </a:p>
        </p:txBody>
      </p:sp>
      <p:sp>
        <p:nvSpPr>
          <p:cNvPr id="11" name="reference-index">
            <a:extLst>
              <a:ext uri="{FF2B5EF4-FFF2-40B4-BE49-F238E27FC236}">
                <a16:creationId xmlns:a16="http://schemas.microsoft.com/office/drawing/2014/main" id="{8507DD35-2D1C-4395-8BF2-01C1C3FB9A06}"/>
              </a:ext>
            </a:extLst>
          </p:cNvPr>
          <p:cNvSpPr>
            <a:spLocks noGrp="1"/>
          </p:cNvSpPr>
          <p:nvPr/>
        </p:nvSpPr>
        <p:spPr>
          <a:xfrm>
            <a:off x="609600" y="3695700"/>
            <a:ext cx="590550" cy="333375"/>
          </a:xfrm>
          <a:prstGeom prst="rect">
            <a:avLst/>
          </a:prstGeom>
          <a:noFill/>
          <a:ln w="0">
            <a:noFill/>
          </a:ln>
        </p:spPr>
        <p:txBody>
          <a:bodyPr lIns="0" tIns="0" rIns="0" bIns="0">
            <a:noAutofit/>
          </a:bodyPr>
          <a:lstStyle>
            <a:defPPr algn="l">
              <a:defRPr sz="1800" b="1">
                <a:solidFill>
                  <a:srgbClr val="087E83"/>
                </a:solidFill>
                <a:latin typeface="Helvetica Neue"/>
                <a:ea typeface="Helvetica Neue"/>
                <a:cs typeface="Helvetica Neue"/>
              </a:defRPr>
            </a:defPPr>
          </a:lstStyle>
          <a:p>
            <a:pPr algn="l">
              <a:buNone/>
              <a:defRPr sz="1800" b="1">
                <a:solidFill>
                  <a:srgbClr val="087E83"/>
                </a:solidFill>
                <a:latin typeface="Helvetica Neue"/>
                <a:ea typeface="Helvetica Neue"/>
                <a:cs typeface="Helvetica Neue"/>
              </a:defRPr>
            </a:pPr>
            <a:r>
              <a:rPr sz="1800" b="1">
                <a:solidFill>
                  <a:srgbClr val="087E83"/>
                </a:solidFill>
                <a:latin typeface="Helvetica Neue"/>
                <a:ea typeface="Helvetica Neue"/>
                <a:cs typeface="Helvetica Neue"/>
              </a:rPr>
              <a:t>2C</a:t>
            </a:r>
          </a:p>
        </p:txBody>
      </p:sp>
      <p:sp>
        <p:nvSpPr>
          <p:cNvPr id="12" name="reference-label">
            <a:extLst>
              <a:ext uri="{FF2B5EF4-FFF2-40B4-BE49-F238E27FC236}">
                <a16:creationId xmlns:a16="http://schemas.microsoft.com/office/drawing/2014/main" id="{9D76FDA8-169F-4ADB-AEC5-0D97FF49059D}"/>
              </a:ext>
            </a:extLst>
          </p:cNvPr>
          <p:cNvSpPr>
            <a:spLocks noGrp="1"/>
          </p:cNvSpPr>
          <p:nvPr/>
        </p:nvSpPr>
        <p:spPr>
          <a:xfrm>
            <a:off x="1333500" y="3686175"/>
            <a:ext cx="2428875" cy="504825"/>
          </a:xfrm>
          <a:prstGeom prst="rect">
            <a:avLst/>
          </a:prstGeom>
          <a:noFill/>
          <a:ln w="0">
            <a:noFill/>
          </a:ln>
        </p:spPr>
        <p:txBody>
          <a:bodyPr lIns="0" tIns="0" rIns="0" bIns="0">
            <a:noAutofit/>
          </a:bodyPr>
          <a:lstStyle>
            <a:defPPr algn="l">
              <a:defRPr sz="1725" b="1">
                <a:solidFill>
                  <a:srgbClr val="102B46"/>
                </a:solidFill>
                <a:latin typeface="Helvetica Neue"/>
                <a:ea typeface="Helvetica Neue"/>
                <a:cs typeface="Helvetica Neue"/>
              </a:defRPr>
            </a:defPPr>
          </a:lstStyle>
          <a:p>
            <a:pPr algn="l">
              <a:buNone/>
              <a:defRPr sz="1725" b="1">
                <a:solidFill>
                  <a:srgbClr val="102B46"/>
                </a:solidFill>
                <a:latin typeface="Helvetica Neue"/>
                <a:ea typeface="Helvetica Neue"/>
                <a:cs typeface="Helvetica Neue"/>
              </a:defRPr>
            </a:pPr>
            <a:r>
              <a:rPr sz="1725" b="1">
                <a:solidFill>
                  <a:srgbClr val="102B46"/>
                </a:solidFill>
                <a:latin typeface="Helvetica Neue"/>
                <a:ea typeface="Helvetica Neue"/>
                <a:cs typeface="Helvetica Neue"/>
              </a:rPr>
              <a:t>Requirements and IP</a:t>
            </a:r>
          </a:p>
        </p:txBody>
      </p:sp>
      <p:sp>
        <p:nvSpPr>
          <p:cNvPr id="13" name="reference-prompt">
            <a:extLst>
              <a:ext uri="{FF2B5EF4-FFF2-40B4-BE49-F238E27FC236}">
                <a16:creationId xmlns:a16="http://schemas.microsoft.com/office/drawing/2014/main" id="{E5585C91-ACFE-48D1-ABE5-65802B4149E8}"/>
              </a:ext>
            </a:extLst>
          </p:cNvPr>
          <p:cNvSpPr>
            <a:spLocks noGrp="1"/>
          </p:cNvSpPr>
          <p:nvPr/>
        </p:nvSpPr>
        <p:spPr>
          <a:xfrm>
            <a:off x="4038600" y="3657600"/>
            <a:ext cx="7505700" cy="723900"/>
          </a:xfrm>
          <a:prstGeom prst="rect">
            <a:avLst/>
          </a:prstGeom>
          <a:noFill/>
          <a:ln w="0">
            <a:noFill/>
          </a:ln>
        </p:spPr>
        <p:txBody>
          <a:bodyPr lIns="0" tIns="0" rIns="0" bIns="0">
            <a:noAutofit/>
          </a:bodyPr>
          <a:lstStyle>
            <a:defPPr algn="l">
              <a:defRPr sz="1725" b="0">
                <a:solidFill>
                  <a:srgbClr val="6C2B91"/>
                </a:solidFill>
                <a:latin typeface="Helvetica Neue"/>
                <a:ea typeface="Helvetica Neue"/>
                <a:cs typeface="Helvetica Neue"/>
              </a:defRPr>
            </a:defPPr>
          </a:lstStyle>
          <a:p>
            <a:pPr algn="l">
              <a:buNone/>
              <a:defRPr sz="1725" b="0">
                <a:solidFill>
                  <a:srgbClr val="6C2B91"/>
                </a:solidFill>
                <a:latin typeface="Helvetica Neue"/>
                <a:ea typeface="Helvetica Neue"/>
                <a:cs typeface="Helvetica Neue"/>
              </a:defRPr>
            </a:pPr>
            <a:r>
              <a:rPr sz="1725" b="0">
                <a:solidFill>
                  <a:srgbClr val="6C2B91"/>
                </a:solidFill>
                <a:latin typeface="Helvetica Neue"/>
                <a:ea typeface="Helvetica Neue"/>
                <a:cs typeface="Helvetica Neue"/>
              </a:rPr>
              <a:t>"Map relevant requirements to [activity/location]. Compare patents and identify design implications."</a:t>
            </a:r>
          </a:p>
        </p:txBody>
      </p:sp>
      <p:sp>
        <p:nvSpPr>
          <p:cNvPr id="14" name="reference-index">
            <a:extLst>
              <a:ext uri="{FF2B5EF4-FFF2-40B4-BE49-F238E27FC236}">
                <a16:creationId xmlns:a16="http://schemas.microsoft.com/office/drawing/2014/main" id="{9A6085B5-0271-4588-8F0A-9586601DC970}"/>
              </a:ext>
            </a:extLst>
          </p:cNvPr>
          <p:cNvSpPr>
            <a:spLocks noGrp="1"/>
          </p:cNvSpPr>
          <p:nvPr/>
        </p:nvSpPr>
        <p:spPr>
          <a:xfrm>
            <a:off x="609600" y="4476750"/>
            <a:ext cx="590550" cy="333375"/>
          </a:xfrm>
          <a:prstGeom prst="rect">
            <a:avLst/>
          </a:prstGeom>
          <a:noFill/>
          <a:ln w="0">
            <a:noFill/>
          </a:ln>
        </p:spPr>
        <p:txBody>
          <a:bodyPr lIns="0" tIns="0" rIns="0" bIns="0">
            <a:noAutofit/>
          </a:bodyPr>
          <a:lstStyle>
            <a:defPPr algn="l">
              <a:defRPr sz="1800" b="1">
                <a:solidFill>
                  <a:srgbClr val="087E83"/>
                </a:solidFill>
                <a:latin typeface="Helvetica Neue"/>
                <a:ea typeface="Helvetica Neue"/>
                <a:cs typeface="Helvetica Neue"/>
              </a:defRPr>
            </a:defPPr>
          </a:lstStyle>
          <a:p>
            <a:pPr algn="l">
              <a:buNone/>
              <a:defRPr sz="1800" b="1">
                <a:solidFill>
                  <a:srgbClr val="087E83"/>
                </a:solidFill>
                <a:latin typeface="Helvetica Neue"/>
                <a:ea typeface="Helvetica Neue"/>
                <a:cs typeface="Helvetica Neue"/>
              </a:defRPr>
            </a:pPr>
            <a:r>
              <a:rPr sz="1800" b="1">
                <a:solidFill>
                  <a:srgbClr val="087E83"/>
                </a:solidFill>
                <a:latin typeface="Helvetica Neue"/>
                <a:ea typeface="Helvetica Neue"/>
                <a:cs typeface="Helvetica Neue"/>
              </a:rPr>
              <a:t>2D</a:t>
            </a:r>
          </a:p>
        </p:txBody>
      </p:sp>
      <p:sp>
        <p:nvSpPr>
          <p:cNvPr id="15" name="reference-label">
            <a:extLst>
              <a:ext uri="{FF2B5EF4-FFF2-40B4-BE49-F238E27FC236}">
                <a16:creationId xmlns:a16="http://schemas.microsoft.com/office/drawing/2014/main" id="{19023DD5-860A-40A7-B11D-B618C039B2A1}"/>
              </a:ext>
            </a:extLst>
          </p:cNvPr>
          <p:cNvSpPr>
            <a:spLocks noGrp="1"/>
          </p:cNvSpPr>
          <p:nvPr/>
        </p:nvSpPr>
        <p:spPr>
          <a:xfrm>
            <a:off x="1333500" y="4467225"/>
            <a:ext cx="2428875" cy="504825"/>
          </a:xfrm>
          <a:prstGeom prst="rect">
            <a:avLst/>
          </a:prstGeom>
          <a:noFill/>
          <a:ln w="0">
            <a:noFill/>
          </a:ln>
        </p:spPr>
        <p:txBody>
          <a:bodyPr lIns="0" tIns="0" rIns="0" bIns="0">
            <a:noAutofit/>
          </a:bodyPr>
          <a:lstStyle>
            <a:defPPr algn="l">
              <a:defRPr sz="1725" b="1">
                <a:solidFill>
                  <a:srgbClr val="102B46"/>
                </a:solidFill>
                <a:latin typeface="Helvetica Neue"/>
                <a:ea typeface="Helvetica Neue"/>
                <a:cs typeface="Helvetica Neue"/>
              </a:defRPr>
            </a:defPPr>
          </a:lstStyle>
          <a:p>
            <a:pPr algn="l">
              <a:buNone/>
              <a:defRPr sz="1725" b="1">
                <a:solidFill>
                  <a:srgbClr val="102B46"/>
                </a:solidFill>
                <a:latin typeface="Helvetica Neue"/>
                <a:ea typeface="Helvetica Neue"/>
                <a:cs typeface="Helvetica Neue"/>
              </a:defRPr>
            </a:pPr>
            <a:r>
              <a:rPr sz="1725" b="1">
                <a:solidFill>
                  <a:srgbClr val="102B46"/>
                </a:solidFill>
                <a:latin typeface="Helvetica Neue"/>
                <a:ea typeface="Helvetica Neue"/>
                <a:cs typeface="Helvetica Neue"/>
              </a:rPr>
              <a:t>Business and feasibility</a:t>
            </a:r>
          </a:p>
        </p:txBody>
      </p:sp>
      <p:sp>
        <p:nvSpPr>
          <p:cNvPr id="16" name="reference-prompt">
            <a:extLst>
              <a:ext uri="{FF2B5EF4-FFF2-40B4-BE49-F238E27FC236}">
                <a16:creationId xmlns:a16="http://schemas.microsoft.com/office/drawing/2014/main" id="{C0449688-0F36-40D7-A3BA-E135C18CC05E}"/>
              </a:ext>
            </a:extLst>
          </p:cNvPr>
          <p:cNvSpPr>
            <a:spLocks noGrp="1"/>
          </p:cNvSpPr>
          <p:nvPr/>
        </p:nvSpPr>
        <p:spPr>
          <a:xfrm>
            <a:off x="4038600" y="4438650"/>
            <a:ext cx="7505700" cy="723900"/>
          </a:xfrm>
          <a:prstGeom prst="rect">
            <a:avLst/>
          </a:prstGeom>
          <a:noFill/>
          <a:ln w="0">
            <a:noFill/>
          </a:ln>
        </p:spPr>
        <p:txBody>
          <a:bodyPr lIns="0" tIns="0" rIns="0" bIns="0">
            <a:noAutofit/>
          </a:bodyPr>
          <a:lstStyle>
            <a:defPPr algn="l">
              <a:defRPr sz="1725" b="0">
                <a:solidFill>
                  <a:srgbClr val="6C2B91"/>
                </a:solidFill>
                <a:latin typeface="Helvetica Neue"/>
                <a:ea typeface="Helvetica Neue"/>
                <a:cs typeface="Helvetica Neue"/>
              </a:defRPr>
            </a:defPPr>
          </a:lstStyle>
          <a:p>
            <a:pPr algn="l">
              <a:buNone/>
              <a:defRPr sz="1725" b="0">
                <a:solidFill>
                  <a:srgbClr val="6C2B91"/>
                </a:solidFill>
                <a:latin typeface="Helvetica Neue"/>
                <a:ea typeface="Helvetica Neue"/>
                <a:cs typeface="Helvetica Neue"/>
              </a:defRPr>
            </a:pPr>
            <a:r>
              <a:rPr sz="1725" b="0">
                <a:solidFill>
                  <a:srgbClr val="6C2B91"/>
                </a:solidFill>
                <a:latin typeface="Helvetica Neue"/>
                <a:ea typeface="Helvetica Neue"/>
                <a:cs typeface="Helvetica Neue"/>
              </a:rPr>
              <a:t>"Assess [business model]: buyer value, costs and delivery. Suggest a test for the key assumption."</a:t>
            </a:r>
          </a:p>
        </p:txBody>
      </p:sp>
      <p:sp>
        <p:nvSpPr>
          <p:cNvPr id="17" name="reference-index">
            <a:extLst>
              <a:ext uri="{FF2B5EF4-FFF2-40B4-BE49-F238E27FC236}">
                <a16:creationId xmlns:a16="http://schemas.microsoft.com/office/drawing/2014/main" id="{9F4FA947-0C59-4E56-8EA1-8C38A284F070}"/>
              </a:ext>
            </a:extLst>
          </p:cNvPr>
          <p:cNvSpPr>
            <a:spLocks noGrp="1"/>
          </p:cNvSpPr>
          <p:nvPr/>
        </p:nvSpPr>
        <p:spPr>
          <a:xfrm>
            <a:off x="609600" y="5257800"/>
            <a:ext cx="590550" cy="333375"/>
          </a:xfrm>
          <a:prstGeom prst="rect">
            <a:avLst/>
          </a:prstGeom>
          <a:noFill/>
          <a:ln w="0">
            <a:noFill/>
          </a:ln>
        </p:spPr>
        <p:txBody>
          <a:bodyPr lIns="0" tIns="0" rIns="0" bIns="0">
            <a:noAutofit/>
          </a:bodyPr>
          <a:lstStyle>
            <a:defPPr algn="l">
              <a:defRPr sz="1800" b="1">
                <a:solidFill>
                  <a:srgbClr val="087E83"/>
                </a:solidFill>
                <a:latin typeface="Helvetica Neue"/>
                <a:ea typeface="Helvetica Neue"/>
                <a:cs typeface="Helvetica Neue"/>
              </a:defRPr>
            </a:defPPr>
          </a:lstStyle>
          <a:p>
            <a:pPr algn="l">
              <a:buNone/>
              <a:defRPr sz="1800" b="1">
                <a:solidFill>
                  <a:srgbClr val="087E83"/>
                </a:solidFill>
                <a:latin typeface="Helvetica Neue"/>
                <a:ea typeface="Helvetica Neue"/>
                <a:cs typeface="Helvetica Neue"/>
              </a:defRPr>
            </a:pPr>
            <a:r>
              <a:rPr sz="1800" b="1">
                <a:solidFill>
                  <a:srgbClr val="087E83"/>
                </a:solidFill>
                <a:latin typeface="Helvetica Neue"/>
                <a:ea typeface="Helvetica Neue"/>
                <a:cs typeface="Helvetica Neue"/>
              </a:rPr>
              <a:t>2E</a:t>
            </a:r>
          </a:p>
        </p:txBody>
      </p:sp>
      <p:sp>
        <p:nvSpPr>
          <p:cNvPr id="18" name="reference-label">
            <a:extLst>
              <a:ext uri="{FF2B5EF4-FFF2-40B4-BE49-F238E27FC236}">
                <a16:creationId xmlns:a16="http://schemas.microsoft.com/office/drawing/2014/main" id="{DF362D8C-B441-4C37-886C-FD402F0531A9}"/>
              </a:ext>
            </a:extLst>
          </p:cNvPr>
          <p:cNvSpPr>
            <a:spLocks noGrp="1"/>
          </p:cNvSpPr>
          <p:nvPr/>
        </p:nvSpPr>
        <p:spPr>
          <a:xfrm>
            <a:off x="1333500" y="5248275"/>
            <a:ext cx="2428875" cy="504825"/>
          </a:xfrm>
          <a:prstGeom prst="rect">
            <a:avLst/>
          </a:prstGeom>
          <a:noFill/>
          <a:ln w="0">
            <a:noFill/>
          </a:ln>
        </p:spPr>
        <p:txBody>
          <a:bodyPr lIns="0" tIns="0" rIns="0" bIns="0">
            <a:noAutofit/>
          </a:bodyPr>
          <a:lstStyle>
            <a:defPPr algn="l">
              <a:defRPr sz="1725" b="1">
                <a:solidFill>
                  <a:srgbClr val="102B46"/>
                </a:solidFill>
                <a:latin typeface="Helvetica Neue"/>
                <a:ea typeface="Helvetica Neue"/>
                <a:cs typeface="Helvetica Neue"/>
              </a:defRPr>
            </a:defPPr>
          </a:lstStyle>
          <a:p>
            <a:pPr algn="l">
              <a:buNone/>
              <a:defRPr sz="1725" b="1">
                <a:solidFill>
                  <a:srgbClr val="102B46"/>
                </a:solidFill>
                <a:latin typeface="Helvetica Neue"/>
                <a:ea typeface="Helvetica Neue"/>
                <a:cs typeface="Helvetica Neue"/>
              </a:defRPr>
            </a:pPr>
            <a:r>
              <a:rPr sz="1725" b="1">
                <a:solidFill>
                  <a:srgbClr val="102B46"/>
                </a:solidFill>
                <a:latin typeface="Helvetica Neue"/>
                <a:ea typeface="Helvetica Neue"/>
                <a:cs typeface="Helvetica Neue"/>
              </a:rPr>
              <a:t>Design checkpoint</a:t>
            </a:r>
          </a:p>
        </p:txBody>
      </p:sp>
      <p:sp>
        <p:nvSpPr>
          <p:cNvPr id="19" name="reference-prompt">
            <a:extLst>
              <a:ext uri="{FF2B5EF4-FFF2-40B4-BE49-F238E27FC236}">
                <a16:creationId xmlns:a16="http://schemas.microsoft.com/office/drawing/2014/main" id="{E1445572-F23A-4191-BBD0-14C27C407F66}"/>
              </a:ext>
            </a:extLst>
          </p:cNvPr>
          <p:cNvSpPr>
            <a:spLocks noGrp="1"/>
          </p:cNvSpPr>
          <p:nvPr/>
        </p:nvSpPr>
        <p:spPr>
          <a:xfrm>
            <a:off x="4038600" y="5219700"/>
            <a:ext cx="7505700" cy="723900"/>
          </a:xfrm>
          <a:prstGeom prst="rect">
            <a:avLst/>
          </a:prstGeom>
          <a:noFill/>
          <a:ln w="0">
            <a:noFill/>
          </a:ln>
        </p:spPr>
        <p:txBody>
          <a:bodyPr lIns="0" tIns="0" rIns="0" bIns="0">
            <a:noAutofit/>
          </a:bodyPr>
          <a:lstStyle>
            <a:defPPr algn="l">
              <a:defRPr sz="1725" b="0">
                <a:solidFill>
                  <a:srgbClr val="6C2B91"/>
                </a:solidFill>
                <a:latin typeface="Helvetica Neue"/>
                <a:ea typeface="Helvetica Neue"/>
                <a:cs typeface="Helvetica Neue"/>
              </a:defRPr>
            </a:defPPr>
          </a:lstStyle>
          <a:p>
            <a:pPr algn="l">
              <a:buNone/>
              <a:defRPr sz="1725" b="0">
                <a:solidFill>
                  <a:srgbClr val="6C2B91"/>
                </a:solidFill>
                <a:latin typeface="Helvetica Neue"/>
                <a:ea typeface="Helvetica Neue"/>
                <a:cs typeface="Helvetica Neue"/>
              </a:defRPr>
            </a:pPr>
            <a:r>
              <a:rPr sz="1725" b="0">
                <a:solidFill>
                  <a:srgbClr val="6C2B91"/>
                </a:solidFill>
                <a:latin typeface="Helvetica Neue"/>
                <a:ea typeface="Helvetica Neue"/>
                <a:cs typeface="Helvetica Neue"/>
              </a:rPr>
              <a:t>"Combine our findings into Solution V2. Flag inconsistencies, evidence gaps and expert questions."</a:t>
            </a:r>
          </a:p>
        </p:txBody>
      </p:sp>
      <p:sp>
        <p:nvSpPr>
          <p:cNvPr id="20" name="reference-footer">
            <a:extLst>
              <a:ext uri="{FF2B5EF4-FFF2-40B4-BE49-F238E27FC236}">
                <a16:creationId xmlns:a16="http://schemas.microsoft.com/office/drawing/2014/main" id="{08DBC8F7-76A1-4900-9C2A-AF32E2951A92}"/>
              </a:ext>
            </a:extLst>
          </p:cNvPr>
          <p:cNvSpPr>
            <a:spLocks noGrp="1"/>
          </p:cNvSpPr>
          <p:nvPr/>
        </p:nvSpPr>
        <p:spPr>
          <a:xfrm>
            <a:off x="609600" y="6115050"/>
            <a:ext cx="10668000" cy="285750"/>
          </a:xfrm>
          <a:prstGeom prst="rect">
            <a:avLst/>
          </a:prstGeom>
          <a:noFill/>
          <a:ln w="0">
            <a:noFill/>
          </a:ln>
        </p:spPr>
        <p:txBody>
          <a:bodyPr lIns="0" tIns="0" rIns="0" bIns="0">
            <a:noAutofit/>
          </a:bodyPr>
          <a:lstStyle>
            <a:defPPr algn="l">
              <a:defRPr sz="1650" b="0">
                <a:solidFill>
                  <a:srgbClr val="607482"/>
                </a:solidFill>
                <a:latin typeface="Helvetica Neue"/>
                <a:ea typeface="Helvetica Neue"/>
                <a:cs typeface="Helvetica Neue"/>
              </a:defRPr>
            </a:defPPr>
          </a:lstStyle>
          <a:p>
            <a:pPr algn="l">
              <a:buNone/>
              <a:defRPr sz="1650" b="0">
                <a:solidFill>
                  <a:srgbClr val="607482"/>
                </a:solidFill>
                <a:latin typeface="Helvetica Neue"/>
                <a:ea typeface="Helvetica Neue"/>
                <a:cs typeface="Helvetica Neue"/>
              </a:defRPr>
            </a:pPr>
            <a:r>
              <a:rPr sz="1650" b="0">
                <a:solidFill>
                  <a:srgbClr val="607482"/>
                </a:solidFill>
                <a:latin typeface="Helvetica Neue"/>
                <a:ea typeface="Helvetica Neue"/>
                <a:cs typeface="Helvetica Neue"/>
              </a:rPr>
              <a:t>Discuss answers and record decisions.</a:t>
            </a:r>
          </a:p>
        </p:txBody>
      </p:sp>
    </p:spTree>
    <p:extLst>
      <p:ext uri="{BB962C8B-B14F-4D97-AF65-F5344CB8AC3E}">
        <p14:creationId xmlns:p14="http://schemas.microsoft.com/office/powerpoint/2010/main" val="169898810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1" name="section-label">
            <a:extLst>
              <a:ext uri="{FF2B5EF4-FFF2-40B4-BE49-F238E27FC236}">
                <a16:creationId xmlns:a16="http://schemas.microsoft.com/office/drawing/2014/main" id="{2CA72421-DC95-4C3C-ABCF-C258F83C1B63}"/>
              </a:ext>
            </a:extLst>
          </p:cNvPr>
          <p:cNvSpPr>
            <a:spLocks noGrp="1"/>
          </p:cNvSpPr>
          <p:nvPr/>
        </p:nvSpPr>
        <p:spPr>
          <a:xfrm>
            <a:off x="609600" y="285750"/>
            <a:ext cx="10668000" cy="285750"/>
          </a:xfrm>
          <a:prstGeom prst="rect">
            <a:avLst/>
          </a:prstGeom>
          <a:noFill/>
          <a:ln w="0">
            <a:noFill/>
          </a:ln>
        </p:spPr>
        <p:txBody>
          <a:bodyPr lIns="0" tIns="0" rIns="0" bIns="0">
            <a:noAutofit/>
          </a:bodyPr>
          <a:lstStyle>
            <a:defPPr algn="l">
              <a:defRPr sz="1200" b="1">
                <a:solidFill>
                  <a:srgbClr val="A16C27"/>
                </a:solidFill>
                <a:latin typeface="Helvetica Neue"/>
                <a:ea typeface="Helvetica Neue"/>
                <a:cs typeface="Helvetica Neue"/>
              </a:defRPr>
            </a:defPPr>
          </a:lstStyle>
          <a:p>
            <a:pPr algn="l">
              <a:buNone/>
              <a:defRPr sz="1200" b="1">
                <a:solidFill>
                  <a:srgbClr val="A16C27"/>
                </a:solidFill>
                <a:latin typeface="Helvetica Neue"/>
                <a:ea typeface="Helvetica Neue"/>
                <a:cs typeface="Helvetica Neue"/>
              </a:defRPr>
            </a:pPr>
            <a:r>
              <a:rPr sz="1200" b="1">
                <a:solidFill>
                  <a:srgbClr val="A16C27"/>
                </a:solidFill>
                <a:latin typeface="Helvetica Neue"/>
                <a:ea typeface="Helvetica Neue"/>
                <a:cs typeface="Helvetica Neue"/>
              </a:rPr>
              <a:t>APPENDIX: PROMPT GUIDE</a:t>
            </a:r>
          </a:p>
        </p:txBody>
      </p:sp>
      <p:sp>
        <p:nvSpPr>
          <p:cNvPr id="2" name="slide-title">
            <a:extLst>
              <a:ext uri="{FF2B5EF4-FFF2-40B4-BE49-F238E27FC236}">
                <a16:creationId xmlns:a16="http://schemas.microsoft.com/office/drawing/2014/main" id="{51A6B2CE-E6CB-4B54-82A5-B23822C9CBEC}"/>
              </a:ext>
            </a:extLst>
          </p:cNvPr>
          <p:cNvSpPr>
            <a:spLocks noGrp="1"/>
          </p:cNvSpPr>
          <p:nvPr/>
        </p:nvSpPr>
        <p:spPr>
          <a:xfrm>
            <a:off x="609600" y="781050"/>
            <a:ext cx="10858500" cy="857250"/>
          </a:xfrm>
          <a:prstGeom prst="rect">
            <a:avLst/>
          </a:prstGeom>
          <a:noFill/>
          <a:ln w="0">
            <a:noFill/>
          </a:ln>
        </p:spPr>
        <p:txBody>
          <a:bodyPr lIns="0" tIns="0" rIns="0" bIns="0">
            <a:noAutofit/>
          </a:bodyPr>
          <a:lstStyle>
            <a:defPPr algn="l">
              <a:defRPr sz="3450" b="1">
                <a:solidFill>
                  <a:srgbClr val="102B46"/>
                </a:solidFill>
                <a:latin typeface="Helvetica Neue"/>
                <a:ea typeface="Helvetica Neue"/>
                <a:cs typeface="Helvetica Neue"/>
              </a:defRPr>
            </a:defPPr>
          </a:lstStyle>
          <a:p>
            <a:pPr algn="l">
              <a:buNone/>
              <a:defRPr sz="3450" b="1">
                <a:solidFill>
                  <a:srgbClr val="102B46"/>
                </a:solidFill>
                <a:latin typeface="Helvetica Neue"/>
                <a:ea typeface="Helvetica Neue"/>
                <a:cs typeface="Helvetica Neue"/>
              </a:defRPr>
            </a:pPr>
            <a:r>
              <a:rPr sz="3450" b="1">
                <a:solidFill>
                  <a:srgbClr val="102B46"/>
                </a:solidFill>
                <a:latin typeface="Helvetica Neue"/>
                <a:ea typeface="Helvetica Neue"/>
                <a:cs typeface="Helvetica Neue"/>
              </a:rPr>
              <a:t>Session 3 prompt references</a:t>
            </a:r>
          </a:p>
        </p:txBody>
      </p:sp>
      <p:sp>
        <p:nvSpPr>
          <p:cNvPr id="3" name="subtitle">
            <a:extLst>
              <a:ext uri="{FF2B5EF4-FFF2-40B4-BE49-F238E27FC236}">
                <a16:creationId xmlns:a16="http://schemas.microsoft.com/office/drawing/2014/main" id="{1568D891-7D01-4D9B-B922-D678B996BAC6}"/>
              </a:ext>
            </a:extLst>
          </p:cNvPr>
          <p:cNvSpPr>
            <a:spLocks noGrp="1"/>
          </p:cNvSpPr>
          <p:nvPr/>
        </p:nvSpPr>
        <p:spPr>
          <a:xfrm>
            <a:off x="609600" y="1524000"/>
            <a:ext cx="10858500" cy="428625"/>
          </a:xfrm>
          <a:prstGeom prst="rect">
            <a:avLst/>
          </a:prstGeom>
          <a:noFill/>
          <a:ln w="0">
            <a:noFill/>
          </a:ln>
        </p:spPr>
        <p:txBody>
          <a:bodyPr lIns="0" tIns="0" rIns="0" bIns="0">
            <a:noAutofit/>
          </a:bodyPr>
          <a:lstStyle>
            <a:defPPr algn="l">
              <a:defRPr sz="1800" b="0">
                <a:solidFill>
                  <a:srgbClr val="607482"/>
                </a:solidFill>
                <a:latin typeface="Helvetica Neue"/>
                <a:ea typeface="Helvetica Neue"/>
                <a:cs typeface="Helvetica Neue"/>
              </a:defRPr>
            </a:defPPr>
          </a:lstStyle>
          <a:p>
            <a:pPr algn="l">
              <a:buNone/>
              <a:defRPr sz="1800" b="0">
                <a:solidFill>
                  <a:srgbClr val="607482"/>
                </a:solidFill>
                <a:latin typeface="Helvetica Neue"/>
                <a:ea typeface="Helvetica Neue"/>
                <a:cs typeface="Helvetica Neue"/>
              </a:defRPr>
            </a:pPr>
            <a:r>
              <a:rPr sz="1800" b="0">
                <a:solidFill>
                  <a:srgbClr val="607482"/>
                </a:solidFill>
                <a:latin typeface="Helvetica Neue"/>
                <a:ea typeface="Helvetica Neue"/>
                <a:cs typeface="Helvetica Neue"/>
              </a:rPr>
              <a:t>Sagan: adapt prompts to each proposal stage.</a:t>
            </a:r>
          </a:p>
        </p:txBody>
      </p:sp>
      <p:sp>
        <p:nvSpPr>
          <p:cNvPr id="4" name="page-number">
            <a:extLst>
              <a:ext uri="{FF2B5EF4-FFF2-40B4-BE49-F238E27FC236}">
                <a16:creationId xmlns:a16="http://schemas.microsoft.com/office/drawing/2014/main" id="{CB33F281-3E3E-4EB1-9188-2D85A0991BB5}"/>
              </a:ext>
            </a:extLst>
          </p:cNvPr>
          <p:cNvSpPr>
            <a:spLocks noGrp="1"/>
          </p:cNvSpPr>
          <p:nvPr/>
        </p:nvSpPr>
        <p:spPr>
          <a:xfrm>
            <a:off x="10953750" y="6438900"/>
            <a:ext cx="666750" cy="228600"/>
          </a:xfrm>
          <a:prstGeom prst="rect">
            <a:avLst/>
          </a:prstGeom>
          <a:noFill/>
          <a:ln w="0">
            <a:noFill/>
          </a:ln>
        </p:spPr>
        <p:txBody>
          <a:bodyPr lIns="0" tIns="0" rIns="0" bIns="0">
            <a:noAutofit/>
          </a:bodyPr>
          <a:lstStyle>
            <a:defPPr algn="r">
              <a:defRPr sz="1125" b="0">
                <a:solidFill>
                  <a:srgbClr val="607482"/>
                </a:solidFill>
                <a:latin typeface="Helvetica Neue"/>
                <a:ea typeface="Helvetica Neue"/>
                <a:cs typeface="Helvetica Neue"/>
              </a:defRPr>
            </a:defPPr>
          </a:lstStyle>
          <a:p>
            <a:pPr algn="r">
              <a:buNone/>
              <a:defRPr sz="1125" b="0">
                <a:solidFill>
                  <a:srgbClr val="607482"/>
                </a:solidFill>
                <a:latin typeface="Helvetica Neue"/>
                <a:ea typeface="Helvetica Neue"/>
                <a:cs typeface="Helvetica Neue"/>
              </a:defRPr>
            </a:pPr>
            <a:r>
              <a:rPr sz="1125" b="0">
                <a:solidFill>
                  <a:srgbClr val="607482"/>
                </a:solidFill>
                <a:latin typeface="Helvetica Neue"/>
                <a:ea typeface="Helvetica Neue"/>
                <a:cs typeface="Helvetica Neue"/>
              </a:rPr>
              <a:t>A22</a:t>
            </a:r>
          </a:p>
        </p:txBody>
      </p:sp>
      <p:sp>
        <p:nvSpPr>
          <p:cNvPr id="5" name="reference-index">
            <a:extLst>
              <a:ext uri="{FF2B5EF4-FFF2-40B4-BE49-F238E27FC236}">
                <a16:creationId xmlns:a16="http://schemas.microsoft.com/office/drawing/2014/main" id="{7BC48231-15FF-432F-B1A1-7D080C2BF9A5}"/>
              </a:ext>
            </a:extLst>
          </p:cNvPr>
          <p:cNvSpPr>
            <a:spLocks noGrp="1"/>
          </p:cNvSpPr>
          <p:nvPr/>
        </p:nvSpPr>
        <p:spPr>
          <a:xfrm>
            <a:off x="609600" y="2133600"/>
            <a:ext cx="590550" cy="333375"/>
          </a:xfrm>
          <a:prstGeom prst="rect">
            <a:avLst/>
          </a:prstGeom>
          <a:noFill/>
          <a:ln w="0">
            <a:noFill/>
          </a:ln>
        </p:spPr>
        <p:txBody>
          <a:bodyPr lIns="0" tIns="0" rIns="0" bIns="0">
            <a:noAutofit/>
          </a:bodyPr>
          <a:lstStyle>
            <a:defPPr algn="l">
              <a:defRPr sz="1800" b="1">
                <a:solidFill>
                  <a:srgbClr val="7455B4"/>
                </a:solidFill>
                <a:latin typeface="Helvetica Neue"/>
                <a:ea typeface="Helvetica Neue"/>
                <a:cs typeface="Helvetica Neue"/>
              </a:defRPr>
            </a:defPPr>
          </a:lstStyle>
          <a:p>
            <a:pPr algn="l">
              <a:buNone/>
              <a:defRPr sz="1800" b="1">
                <a:solidFill>
                  <a:srgbClr val="7455B4"/>
                </a:solidFill>
                <a:latin typeface="Helvetica Neue"/>
                <a:ea typeface="Helvetica Neue"/>
                <a:cs typeface="Helvetica Neue"/>
              </a:defRPr>
            </a:pPr>
            <a:r>
              <a:rPr sz="1800" b="1">
                <a:solidFill>
                  <a:srgbClr val="7455B4"/>
                </a:solidFill>
                <a:latin typeface="Helvetica Neue"/>
                <a:ea typeface="Helvetica Neue"/>
                <a:cs typeface="Helvetica Neue"/>
              </a:rPr>
              <a:t>3A</a:t>
            </a:r>
          </a:p>
        </p:txBody>
      </p:sp>
      <p:sp>
        <p:nvSpPr>
          <p:cNvPr id="6" name="reference-label">
            <a:extLst>
              <a:ext uri="{FF2B5EF4-FFF2-40B4-BE49-F238E27FC236}">
                <a16:creationId xmlns:a16="http://schemas.microsoft.com/office/drawing/2014/main" id="{C1036134-0853-4132-B648-619CF68FD360}"/>
              </a:ext>
            </a:extLst>
          </p:cNvPr>
          <p:cNvSpPr>
            <a:spLocks noGrp="1"/>
          </p:cNvSpPr>
          <p:nvPr/>
        </p:nvSpPr>
        <p:spPr>
          <a:xfrm>
            <a:off x="1333500" y="2124075"/>
            <a:ext cx="2428875" cy="504825"/>
          </a:xfrm>
          <a:prstGeom prst="rect">
            <a:avLst/>
          </a:prstGeom>
          <a:noFill/>
          <a:ln w="0">
            <a:noFill/>
          </a:ln>
        </p:spPr>
        <p:txBody>
          <a:bodyPr lIns="0" tIns="0" rIns="0" bIns="0">
            <a:noAutofit/>
          </a:bodyPr>
          <a:lstStyle>
            <a:defPPr algn="l">
              <a:defRPr sz="1725" b="1">
                <a:solidFill>
                  <a:srgbClr val="102B46"/>
                </a:solidFill>
                <a:latin typeface="Helvetica Neue"/>
                <a:ea typeface="Helvetica Neue"/>
                <a:cs typeface="Helvetica Neue"/>
              </a:defRPr>
            </a:defPPr>
          </a:lstStyle>
          <a:p>
            <a:pPr algn="l">
              <a:buNone/>
              <a:defRPr sz="1725" b="1">
                <a:solidFill>
                  <a:srgbClr val="102B46"/>
                </a:solidFill>
                <a:latin typeface="Helvetica Neue"/>
                <a:ea typeface="Helvetica Neue"/>
                <a:cs typeface="Helvetica Neue"/>
              </a:defRPr>
            </a:pPr>
            <a:r>
              <a:rPr sz="1725" b="1">
                <a:solidFill>
                  <a:srgbClr val="102B46"/>
                </a:solidFill>
                <a:latin typeface="Helvetica Neue"/>
                <a:ea typeface="Helvetica Neue"/>
                <a:cs typeface="Helvetica Neue"/>
              </a:rPr>
              <a:t>Grounding</a:t>
            </a:r>
          </a:p>
        </p:txBody>
      </p:sp>
      <p:sp>
        <p:nvSpPr>
          <p:cNvPr id="7" name="reference-prompt">
            <a:extLst>
              <a:ext uri="{FF2B5EF4-FFF2-40B4-BE49-F238E27FC236}">
                <a16:creationId xmlns:a16="http://schemas.microsoft.com/office/drawing/2014/main" id="{B686219F-91CB-4025-A06D-6B4018F0D183}"/>
              </a:ext>
            </a:extLst>
          </p:cNvPr>
          <p:cNvSpPr>
            <a:spLocks noGrp="1"/>
          </p:cNvSpPr>
          <p:nvPr/>
        </p:nvSpPr>
        <p:spPr>
          <a:xfrm>
            <a:off x="4038600" y="2095500"/>
            <a:ext cx="7505700" cy="723900"/>
          </a:xfrm>
          <a:prstGeom prst="rect">
            <a:avLst/>
          </a:prstGeom>
          <a:noFill/>
          <a:ln w="0">
            <a:noFill/>
          </a:ln>
        </p:spPr>
        <p:txBody>
          <a:bodyPr lIns="0" tIns="0" rIns="0" bIns="0">
            <a:noAutofit/>
          </a:bodyPr>
          <a:lstStyle>
            <a:defPPr algn="l">
              <a:defRPr sz="1725" b="0">
                <a:solidFill>
                  <a:srgbClr val="6C2B91"/>
                </a:solidFill>
                <a:latin typeface="Helvetica Neue"/>
                <a:ea typeface="Helvetica Neue"/>
                <a:cs typeface="Helvetica Neue"/>
              </a:defRPr>
            </a:defPPr>
          </a:lstStyle>
          <a:p>
            <a:pPr algn="l">
              <a:buNone/>
              <a:defRPr sz="1725" b="0">
                <a:solidFill>
                  <a:srgbClr val="6C2B91"/>
                </a:solidFill>
                <a:latin typeface="Helvetica Neue"/>
                <a:ea typeface="Helvetica Neue"/>
                <a:cs typeface="Helvetica Neue"/>
              </a:defRPr>
            </a:pPr>
            <a:r>
              <a:rPr sz="1725" b="0">
                <a:solidFill>
                  <a:srgbClr val="6C2B91"/>
                </a:solidFill>
                <a:latin typeface="Helvetica Neue"/>
                <a:ea typeface="Helvetica Neue"/>
                <a:cs typeface="Helvetica Neue"/>
              </a:rPr>
              <a:t>"Use [proposal template] to organise our agreed solution. Identify gaps and actions from feedback."</a:t>
            </a:r>
          </a:p>
        </p:txBody>
      </p:sp>
      <p:sp>
        <p:nvSpPr>
          <p:cNvPr id="8" name="reference-index">
            <a:extLst>
              <a:ext uri="{FF2B5EF4-FFF2-40B4-BE49-F238E27FC236}">
                <a16:creationId xmlns:a16="http://schemas.microsoft.com/office/drawing/2014/main" id="{8D073DD7-C7FE-44CA-8D4F-17A1CE303227}"/>
              </a:ext>
            </a:extLst>
          </p:cNvPr>
          <p:cNvSpPr>
            <a:spLocks noGrp="1"/>
          </p:cNvSpPr>
          <p:nvPr/>
        </p:nvSpPr>
        <p:spPr>
          <a:xfrm>
            <a:off x="609600" y="2914650"/>
            <a:ext cx="590550" cy="333375"/>
          </a:xfrm>
          <a:prstGeom prst="rect">
            <a:avLst/>
          </a:prstGeom>
          <a:noFill/>
          <a:ln w="0">
            <a:noFill/>
          </a:ln>
        </p:spPr>
        <p:txBody>
          <a:bodyPr lIns="0" tIns="0" rIns="0" bIns="0">
            <a:noAutofit/>
          </a:bodyPr>
          <a:lstStyle>
            <a:defPPr algn="l">
              <a:defRPr sz="1800" b="1">
                <a:solidFill>
                  <a:srgbClr val="7455B4"/>
                </a:solidFill>
                <a:latin typeface="Helvetica Neue"/>
                <a:ea typeface="Helvetica Neue"/>
                <a:cs typeface="Helvetica Neue"/>
              </a:defRPr>
            </a:defPPr>
          </a:lstStyle>
          <a:p>
            <a:pPr algn="l">
              <a:buNone/>
              <a:defRPr sz="1800" b="1">
                <a:solidFill>
                  <a:srgbClr val="7455B4"/>
                </a:solidFill>
                <a:latin typeface="Helvetica Neue"/>
                <a:ea typeface="Helvetica Neue"/>
                <a:cs typeface="Helvetica Neue"/>
              </a:defRPr>
            </a:pPr>
            <a:r>
              <a:rPr sz="1800" b="1">
                <a:solidFill>
                  <a:srgbClr val="7455B4"/>
                </a:solidFill>
                <a:latin typeface="Helvetica Neue"/>
                <a:ea typeface="Helvetica Neue"/>
                <a:cs typeface="Helvetica Neue"/>
              </a:rPr>
              <a:t>3B</a:t>
            </a:r>
          </a:p>
        </p:txBody>
      </p:sp>
      <p:sp>
        <p:nvSpPr>
          <p:cNvPr id="9" name="reference-label">
            <a:extLst>
              <a:ext uri="{FF2B5EF4-FFF2-40B4-BE49-F238E27FC236}">
                <a16:creationId xmlns:a16="http://schemas.microsoft.com/office/drawing/2014/main" id="{AEB463A8-84D3-41E3-B16F-F26361FF2712}"/>
              </a:ext>
            </a:extLst>
          </p:cNvPr>
          <p:cNvSpPr>
            <a:spLocks noGrp="1"/>
          </p:cNvSpPr>
          <p:nvPr/>
        </p:nvSpPr>
        <p:spPr>
          <a:xfrm>
            <a:off x="1333500" y="2905125"/>
            <a:ext cx="2428875" cy="504825"/>
          </a:xfrm>
          <a:prstGeom prst="rect">
            <a:avLst/>
          </a:prstGeom>
          <a:noFill/>
          <a:ln w="0">
            <a:noFill/>
          </a:ln>
        </p:spPr>
        <p:txBody>
          <a:bodyPr lIns="0" tIns="0" rIns="0" bIns="0">
            <a:noAutofit/>
          </a:bodyPr>
          <a:lstStyle>
            <a:defPPr algn="l">
              <a:defRPr sz="1725" b="1">
                <a:solidFill>
                  <a:srgbClr val="102B46"/>
                </a:solidFill>
                <a:latin typeface="Helvetica Neue"/>
                <a:ea typeface="Helvetica Neue"/>
                <a:cs typeface="Helvetica Neue"/>
              </a:defRPr>
            </a:defPPr>
          </a:lstStyle>
          <a:p>
            <a:pPr algn="l">
              <a:buNone/>
              <a:defRPr sz="1725" b="1">
                <a:solidFill>
                  <a:srgbClr val="102B46"/>
                </a:solidFill>
                <a:latin typeface="Helvetica Neue"/>
                <a:ea typeface="Helvetica Neue"/>
                <a:cs typeface="Helvetica Neue"/>
              </a:defRPr>
            </a:pPr>
            <a:r>
              <a:rPr sz="1725" b="1">
                <a:solidFill>
                  <a:srgbClr val="102B46"/>
                </a:solidFill>
                <a:latin typeface="Helvetica Neue"/>
                <a:ea typeface="Helvetica Neue"/>
                <a:cs typeface="Helvetica Neue"/>
              </a:rPr>
              <a:t>Proposal Ideation</a:t>
            </a:r>
          </a:p>
        </p:txBody>
      </p:sp>
      <p:sp>
        <p:nvSpPr>
          <p:cNvPr id="10" name="reference-prompt">
            <a:extLst>
              <a:ext uri="{FF2B5EF4-FFF2-40B4-BE49-F238E27FC236}">
                <a16:creationId xmlns:a16="http://schemas.microsoft.com/office/drawing/2014/main" id="{04EE0FC7-B4E1-4E2A-80E8-1C0697C1C795}"/>
              </a:ext>
            </a:extLst>
          </p:cNvPr>
          <p:cNvSpPr>
            <a:spLocks noGrp="1"/>
          </p:cNvSpPr>
          <p:nvPr/>
        </p:nvSpPr>
        <p:spPr>
          <a:xfrm>
            <a:off x="4038600" y="2876550"/>
            <a:ext cx="7505700" cy="723900"/>
          </a:xfrm>
          <a:prstGeom prst="rect">
            <a:avLst/>
          </a:prstGeom>
          <a:noFill/>
          <a:ln w="0">
            <a:noFill/>
          </a:ln>
        </p:spPr>
        <p:txBody>
          <a:bodyPr lIns="0" tIns="0" rIns="0" bIns="0">
            <a:noAutofit/>
          </a:bodyPr>
          <a:lstStyle>
            <a:defPPr algn="l">
              <a:defRPr sz="1725" b="0">
                <a:solidFill>
                  <a:srgbClr val="6C2B91"/>
                </a:solidFill>
                <a:latin typeface="Helvetica Neue"/>
                <a:ea typeface="Helvetica Neue"/>
                <a:cs typeface="Helvetica Neue"/>
              </a:defRPr>
            </a:defPPr>
          </a:lstStyle>
          <a:p>
            <a:pPr algn="l">
              <a:buNone/>
              <a:defRPr sz="1725" b="0">
                <a:solidFill>
                  <a:srgbClr val="6C2B91"/>
                </a:solidFill>
                <a:latin typeface="Helvetica Neue"/>
                <a:ea typeface="Helvetica Neue"/>
                <a:cs typeface="Helvetica Neue"/>
              </a:defRPr>
            </a:pPr>
            <a:r>
              <a:rPr sz="1725" b="0">
                <a:solidFill>
                  <a:srgbClr val="6C2B91"/>
                </a:solidFill>
                <a:latin typeface="Helvetica Neue"/>
                <a:ea typeface="Helvetica Neue"/>
                <a:cs typeface="Helvetica Neue"/>
              </a:rPr>
              <a:t>"Refine [Solution V2] using [feedback]. Resolve technical, business and regulatory gaps. Identify partner needs."</a:t>
            </a:r>
          </a:p>
        </p:txBody>
      </p:sp>
      <p:sp>
        <p:nvSpPr>
          <p:cNvPr id="11" name="reference-index">
            <a:extLst>
              <a:ext uri="{FF2B5EF4-FFF2-40B4-BE49-F238E27FC236}">
                <a16:creationId xmlns:a16="http://schemas.microsoft.com/office/drawing/2014/main" id="{959C6835-CAE5-40FB-992C-532C68DA77E0}"/>
              </a:ext>
            </a:extLst>
          </p:cNvPr>
          <p:cNvSpPr>
            <a:spLocks noGrp="1"/>
          </p:cNvSpPr>
          <p:nvPr/>
        </p:nvSpPr>
        <p:spPr>
          <a:xfrm>
            <a:off x="609600" y="3695700"/>
            <a:ext cx="590550" cy="333375"/>
          </a:xfrm>
          <a:prstGeom prst="rect">
            <a:avLst/>
          </a:prstGeom>
          <a:noFill/>
          <a:ln w="0">
            <a:noFill/>
          </a:ln>
        </p:spPr>
        <p:txBody>
          <a:bodyPr lIns="0" tIns="0" rIns="0" bIns="0">
            <a:noAutofit/>
          </a:bodyPr>
          <a:lstStyle>
            <a:defPPr algn="l">
              <a:defRPr sz="1800" b="1">
                <a:solidFill>
                  <a:srgbClr val="7455B4"/>
                </a:solidFill>
                <a:latin typeface="Helvetica Neue"/>
                <a:ea typeface="Helvetica Neue"/>
                <a:cs typeface="Helvetica Neue"/>
              </a:defRPr>
            </a:defPPr>
          </a:lstStyle>
          <a:p>
            <a:pPr algn="l">
              <a:buNone/>
              <a:defRPr sz="1800" b="1">
                <a:solidFill>
                  <a:srgbClr val="7455B4"/>
                </a:solidFill>
                <a:latin typeface="Helvetica Neue"/>
                <a:ea typeface="Helvetica Neue"/>
                <a:cs typeface="Helvetica Neue"/>
              </a:defRPr>
            </a:pPr>
            <a:r>
              <a:rPr sz="1800" b="1">
                <a:solidFill>
                  <a:srgbClr val="7455B4"/>
                </a:solidFill>
                <a:latin typeface="Helvetica Neue"/>
                <a:ea typeface="Helvetica Neue"/>
                <a:cs typeface="Helvetica Neue"/>
              </a:rPr>
              <a:t>3C</a:t>
            </a:r>
          </a:p>
        </p:txBody>
      </p:sp>
      <p:sp>
        <p:nvSpPr>
          <p:cNvPr id="12" name="reference-label">
            <a:extLst>
              <a:ext uri="{FF2B5EF4-FFF2-40B4-BE49-F238E27FC236}">
                <a16:creationId xmlns:a16="http://schemas.microsoft.com/office/drawing/2014/main" id="{0B2F0621-7F46-47D6-8636-15CC7AD47CF1}"/>
              </a:ext>
            </a:extLst>
          </p:cNvPr>
          <p:cNvSpPr>
            <a:spLocks noGrp="1"/>
          </p:cNvSpPr>
          <p:nvPr/>
        </p:nvSpPr>
        <p:spPr>
          <a:xfrm>
            <a:off x="1333500" y="3686175"/>
            <a:ext cx="2428875" cy="504825"/>
          </a:xfrm>
          <a:prstGeom prst="rect">
            <a:avLst/>
          </a:prstGeom>
          <a:noFill/>
          <a:ln w="0">
            <a:noFill/>
          </a:ln>
        </p:spPr>
        <p:txBody>
          <a:bodyPr lIns="0" tIns="0" rIns="0" bIns="0">
            <a:noAutofit/>
          </a:bodyPr>
          <a:lstStyle>
            <a:defPPr algn="l">
              <a:defRPr sz="1725" b="1">
                <a:solidFill>
                  <a:srgbClr val="102B46"/>
                </a:solidFill>
                <a:latin typeface="Helvetica Neue"/>
                <a:ea typeface="Helvetica Neue"/>
                <a:cs typeface="Helvetica Neue"/>
              </a:defRPr>
            </a:defPPr>
          </a:lstStyle>
          <a:p>
            <a:pPr algn="l">
              <a:buNone/>
              <a:defRPr sz="1725" b="1">
                <a:solidFill>
                  <a:srgbClr val="102B46"/>
                </a:solidFill>
                <a:latin typeface="Helvetica Neue"/>
                <a:ea typeface="Helvetica Neue"/>
                <a:cs typeface="Helvetica Neue"/>
              </a:defRPr>
            </a:pPr>
            <a:r>
              <a:rPr sz="1725" b="1">
                <a:solidFill>
                  <a:srgbClr val="102B46"/>
                </a:solidFill>
                <a:latin typeface="Helvetica Neue"/>
                <a:ea typeface="Helvetica Neue"/>
                <a:cs typeface="Helvetica Neue"/>
              </a:rPr>
              <a:t>Artifacts</a:t>
            </a:r>
          </a:p>
        </p:txBody>
      </p:sp>
      <p:sp>
        <p:nvSpPr>
          <p:cNvPr id="13" name="reference-prompt">
            <a:extLst>
              <a:ext uri="{FF2B5EF4-FFF2-40B4-BE49-F238E27FC236}">
                <a16:creationId xmlns:a16="http://schemas.microsoft.com/office/drawing/2014/main" id="{E1CF4AE9-70E7-4B50-84CC-BC5B5E00CF71}"/>
              </a:ext>
            </a:extLst>
          </p:cNvPr>
          <p:cNvSpPr>
            <a:spLocks noGrp="1"/>
          </p:cNvSpPr>
          <p:nvPr/>
        </p:nvSpPr>
        <p:spPr>
          <a:xfrm>
            <a:off x="4038600" y="3657600"/>
            <a:ext cx="7505700" cy="723900"/>
          </a:xfrm>
          <a:prstGeom prst="rect">
            <a:avLst/>
          </a:prstGeom>
          <a:noFill/>
          <a:ln w="0">
            <a:noFill/>
          </a:ln>
        </p:spPr>
        <p:txBody>
          <a:bodyPr lIns="0" tIns="0" rIns="0" bIns="0">
            <a:noAutofit/>
          </a:bodyPr>
          <a:lstStyle>
            <a:defPPr algn="l">
              <a:defRPr sz="1725" b="0">
                <a:solidFill>
                  <a:srgbClr val="6C2B91"/>
                </a:solidFill>
                <a:latin typeface="Helvetica Neue"/>
                <a:ea typeface="Helvetica Neue"/>
                <a:cs typeface="Helvetica Neue"/>
              </a:defRPr>
            </a:defPPr>
          </a:lstStyle>
          <a:p>
            <a:pPr algn="l">
              <a:buNone/>
              <a:defRPr sz="1725" b="0">
                <a:solidFill>
                  <a:srgbClr val="6C2B91"/>
                </a:solidFill>
                <a:latin typeface="Helvetica Neue"/>
                <a:ea typeface="Helvetica Neue"/>
                <a:cs typeface="Helvetica Neue"/>
              </a:defRPr>
            </a:pPr>
            <a:r>
              <a:rPr sz="1725" b="0">
                <a:solidFill>
                  <a:srgbClr val="6C2B91"/>
                </a:solidFill>
                <a:latin typeface="Helvetica Neue"/>
                <a:ea typeface="Helvetica Neue"/>
                <a:cs typeface="Helvetica Neue"/>
              </a:rPr>
              <a:t>"Plan work packages, milestones and tests for [target TRL]. Explain the budget and use of funds."</a:t>
            </a:r>
          </a:p>
        </p:txBody>
      </p:sp>
      <p:sp>
        <p:nvSpPr>
          <p:cNvPr id="14" name="reference-index">
            <a:extLst>
              <a:ext uri="{FF2B5EF4-FFF2-40B4-BE49-F238E27FC236}">
                <a16:creationId xmlns:a16="http://schemas.microsoft.com/office/drawing/2014/main" id="{0E348AD0-9424-4504-BA28-51BC1B352064}"/>
              </a:ext>
            </a:extLst>
          </p:cNvPr>
          <p:cNvSpPr>
            <a:spLocks noGrp="1"/>
          </p:cNvSpPr>
          <p:nvPr/>
        </p:nvSpPr>
        <p:spPr>
          <a:xfrm>
            <a:off x="609600" y="4476750"/>
            <a:ext cx="590550" cy="333375"/>
          </a:xfrm>
          <a:prstGeom prst="rect">
            <a:avLst/>
          </a:prstGeom>
          <a:noFill/>
          <a:ln w="0">
            <a:noFill/>
          </a:ln>
        </p:spPr>
        <p:txBody>
          <a:bodyPr lIns="0" tIns="0" rIns="0" bIns="0">
            <a:noAutofit/>
          </a:bodyPr>
          <a:lstStyle>
            <a:defPPr algn="l">
              <a:defRPr sz="1800" b="1">
                <a:solidFill>
                  <a:srgbClr val="7455B4"/>
                </a:solidFill>
                <a:latin typeface="Helvetica Neue"/>
                <a:ea typeface="Helvetica Neue"/>
                <a:cs typeface="Helvetica Neue"/>
              </a:defRPr>
            </a:defPPr>
          </a:lstStyle>
          <a:p>
            <a:pPr algn="l">
              <a:buNone/>
              <a:defRPr sz="1800" b="1">
                <a:solidFill>
                  <a:srgbClr val="7455B4"/>
                </a:solidFill>
                <a:latin typeface="Helvetica Neue"/>
                <a:ea typeface="Helvetica Neue"/>
                <a:cs typeface="Helvetica Neue"/>
              </a:defRPr>
            </a:pPr>
            <a:r>
              <a:rPr sz="1800" b="1">
                <a:solidFill>
                  <a:srgbClr val="7455B4"/>
                </a:solidFill>
                <a:latin typeface="Helvetica Neue"/>
                <a:ea typeface="Helvetica Neue"/>
                <a:cs typeface="Helvetica Neue"/>
              </a:rPr>
              <a:t>3D</a:t>
            </a:r>
          </a:p>
        </p:txBody>
      </p:sp>
      <p:sp>
        <p:nvSpPr>
          <p:cNvPr id="15" name="reference-label">
            <a:extLst>
              <a:ext uri="{FF2B5EF4-FFF2-40B4-BE49-F238E27FC236}">
                <a16:creationId xmlns:a16="http://schemas.microsoft.com/office/drawing/2014/main" id="{0040A6E0-55D7-4CE8-B0E1-84ED24D6C5E9}"/>
              </a:ext>
            </a:extLst>
          </p:cNvPr>
          <p:cNvSpPr>
            <a:spLocks noGrp="1"/>
          </p:cNvSpPr>
          <p:nvPr/>
        </p:nvSpPr>
        <p:spPr>
          <a:xfrm>
            <a:off x="1333500" y="4467225"/>
            <a:ext cx="2428875" cy="504825"/>
          </a:xfrm>
          <a:prstGeom prst="rect">
            <a:avLst/>
          </a:prstGeom>
          <a:noFill/>
          <a:ln w="0">
            <a:noFill/>
          </a:ln>
        </p:spPr>
        <p:txBody>
          <a:bodyPr lIns="0" tIns="0" rIns="0" bIns="0">
            <a:noAutofit/>
          </a:bodyPr>
          <a:lstStyle>
            <a:defPPr algn="l">
              <a:defRPr sz="1725" b="1">
                <a:solidFill>
                  <a:srgbClr val="102B46"/>
                </a:solidFill>
                <a:latin typeface="Helvetica Neue"/>
                <a:ea typeface="Helvetica Neue"/>
                <a:cs typeface="Helvetica Neue"/>
              </a:defRPr>
            </a:defPPr>
          </a:lstStyle>
          <a:p>
            <a:pPr algn="l">
              <a:buNone/>
              <a:defRPr sz="1725" b="1">
                <a:solidFill>
                  <a:srgbClr val="102B46"/>
                </a:solidFill>
                <a:latin typeface="Helvetica Neue"/>
                <a:ea typeface="Helvetica Neue"/>
                <a:cs typeface="Helvetica Neue"/>
              </a:defRPr>
            </a:pPr>
            <a:r>
              <a:rPr sz="1725" b="1">
                <a:solidFill>
                  <a:srgbClr val="102B46"/>
                </a:solidFill>
                <a:latin typeface="Helvetica Neue"/>
                <a:ea typeface="Helvetica Neue"/>
                <a:cs typeface="Helvetica Neue"/>
              </a:rPr>
              <a:t>Drafting</a:t>
            </a:r>
          </a:p>
        </p:txBody>
      </p:sp>
      <p:sp>
        <p:nvSpPr>
          <p:cNvPr id="16" name="reference-prompt">
            <a:extLst>
              <a:ext uri="{FF2B5EF4-FFF2-40B4-BE49-F238E27FC236}">
                <a16:creationId xmlns:a16="http://schemas.microsoft.com/office/drawing/2014/main" id="{92462821-108B-4497-939B-0D4EC23FBD64}"/>
              </a:ext>
            </a:extLst>
          </p:cNvPr>
          <p:cNvSpPr>
            <a:spLocks noGrp="1"/>
          </p:cNvSpPr>
          <p:nvPr/>
        </p:nvSpPr>
        <p:spPr>
          <a:xfrm>
            <a:off x="4038600" y="4438650"/>
            <a:ext cx="7505700" cy="723900"/>
          </a:xfrm>
          <a:prstGeom prst="rect">
            <a:avLst/>
          </a:prstGeom>
          <a:noFill/>
          <a:ln w="0">
            <a:noFill/>
          </a:ln>
        </p:spPr>
        <p:txBody>
          <a:bodyPr lIns="0" tIns="0" rIns="0" bIns="0">
            <a:noAutofit/>
          </a:bodyPr>
          <a:lstStyle>
            <a:defPPr algn="l">
              <a:defRPr sz="1725" b="0">
                <a:solidFill>
                  <a:srgbClr val="6C2B91"/>
                </a:solidFill>
                <a:latin typeface="Helvetica Neue"/>
                <a:ea typeface="Helvetica Neue"/>
                <a:cs typeface="Helvetica Neue"/>
              </a:defRPr>
            </a:defPPr>
          </a:lstStyle>
          <a:p>
            <a:pPr algn="l">
              <a:buNone/>
              <a:defRPr sz="1725" b="0">
                <a:solidFill>
                  <a:srgbClr val="6C2B91"/>
                </a:solidFill>
                <a:latin typeface="Helvetica Neue"/>
                <a:ea typeface="Helvetica Neue"/>
                <a:cs typeface="Helvetica Neue"/>
              </a:defRPr>
            </a:pPr>
            <a:r>
              <a:rPr sz="1725" b="0">
                <a:solidFill>
                  <a:srgbClr val="6C2B91"/>
                </a:solidFill>
                <a:latin typeface="Helvetica Neue"/>
                <a:ea typeface="Helvetica Neue"/>
                <a:cs typeface="Helvetica Neue"/>
              </a:rPr>
              <a:t>"Draft [section] using our agreed solution and [template]. Flag gaps and inconsistencies."</a:t>
            </a:r>
          </a:p>
        </p:txBody>
      </p:sp>
      <p:sp>
        <p:nvSpPr>
          <p:cNvPr id="17" name="reference-index">
            <a:extLst>
              <a:ext uri="{FF2B5EF4-FFF2-40B4-BE49-F238E27FC236}">
                <a16:creationId xmlns:a16="http://schemas.microsoft.com/office/drawing/2014/main" id="{9D759E74-7F3A-44CE-B375-796CFA8D13ED}"/>
              </a:ext>
            </a:extLst>
          </p:cNvPr>
          <p:cNvSpPr>
            <a:spLocks noGrp="1"/>
          </p:cNvSpPr>
          <p:nvPr/>
        </p:nvSpPr>
        <p:spPr>
          <a:xfrm>
            <a:off x="609600" y="5257800"/>
            <a:ext cx="590550" cy="333375"/>
          </a:xfrm>
          <a:prstGeom prst="rect">
            <a:avLst/>
          </a:prstGeom>
          <a:noFill/>
          <a:ln w="0">
            <a:noFill/>
          </a:ln>
        </p:spPr>
        <p:txBody>
          <a:bodyPr lIns="0" tIns="0" rIns="0" bIns="0">
            <a:noAutofit/>
          </a:bodyPr>
          <a:lstStyle>
            <a:defPPr algn="l">
              <a:defRPr sz="1800" b="1">
                <a:solidFill>
                  <a:srgbClr val="7455B4"/>
                </a:solidFill>
                <a:latin typeface="Helvetica Neue"/>
                <a:ea typeface="Helvetica Neue"/>
                <a:cs typeface="Helvetica Neue"/>
              </a:defRPr>
            </a:defPPr>
          </a:lstStyle>
          <a:p>
            <a:pPr algn="l">
              <a:buNone/>
              <a:defRPr sz="1800" b="1">
                <a:solidFill>
                  <a:srgbClr val="7455B4"/>
                </a:solidFill>
                <a:latin typeface="Helvetica Neue"/>
                <a:ea typeface="Helvetica Neue"/>
                <a:cs typeface="Helvetica Neue"/>
              </a:defRPr>
            </a:pPr>
            <a:r>
              <a:rPr sz="1800" b="1">
                <a:solidFill>
                  <a:srgbClr val="7455B4"/>
                </a:solidFill>
                <a:latin typeface="Helvetica Neue"/>
                <a:ea typeface="Helvetica Neue"/>
                <a:cs typeface="Helvetica Neue"/>
              </a:rPr>
              <a:t>3E</a:t>
            </a:r>
          </a:p>
        </p:txBody>
      </p:sp>
      <p:sp>
        <p:nvSpPr>
          <p:cNvPr id="18" name="reference-label">
            <a:extLst>
              <a:ext uri="{FF2B5EF4-FFF2-40B4-BE49-F238E27FC236}">
                <a16:creationId xmlns:a16="http://schemas.microsoft.com/office/drawing/2014/main" id="{0EE33C41-AD20-42E1-947E-D4784AC85E2C}"/>
              </a:ext>
            </a:extLst>
          </p:cNvPr>
          <p:cNvSpPr>
            <a:spLocks noGrp="1"/>
          </p:cNvSpPr>
          <p:nvPr/>
        </p:nvSpPr>
        <p:spPr>
          <a:xfrm>
            <a:off x="1333500" y="5248275"/>
            <a:ext cx="2428875" cy="504825"/>
          </a:xfrm>
          <a:prstGeom prst="rect">
            <a:avLst/>
          </a:prstGeom>
          <a:noFill/>
          <a:ln w="0">
            <a:noFill/>
          </a:ln>
        </p:spPr>
        <p:txBody>
          <a:bodyPr lIns="0" tIns="0" rIns="0" bIns="0">
            <a:noAutofit/>
          </a:bodyPr>
          <a:lstStyle>
            <a:defPPr algn="l">
              <a:defRPr sz="1725" b="1">
                <a:solidFill>
                  <a:srgbClr val="102B46"/>
                </a:solidFill>
                <a:latin typeface="Helvetica Neue"/>
                <a:ea typeface="Helvetica Neue"/>
                <a:cs typeface="Helvetica Neue"/>
              </a:defRPr>
            </a:defPPr>
          </a:lstStyle>
          <a:p>
            <a:pPr algn="l">
              <a:buNone/>
              <a:defRPr sz="1725" b="1">
                <a:solidFill>
                  <a:srgbClr val="102B46"/>
                </a:solidFill>
                <a:latin typeface="Helvetica Neue"/>
                <a:ea typeface="Helvetica Neue"/>
                <a:cs typeface="Helvetica Neue"/>
              </a:defRPr>
            </a:pPr>
            <a:r>
              <a:rPr sz="1725" b="1">
                <a:solidFill>
                  <a:srgbClr val="102B46"/>
                </a:solidFill>
                <a:latin typeface="Helvetica Neue"/>
                <a:ea typeface="Helvetica Neue"/>
                <a:cs typeface="Helvetica Neue"/>
              </a:rPr>
              <a:t>Finalization</a:t>
            </a:r>
          </a:p>
        </p:txBody>
      </p:sp>
      <p:sp>
        <p:nvSpPr>
          <p:cNvPr id="19" name="reference-prompt">
            <a:extLst>
              <a:ext uri="{FF2B5EF4-FFF2-40B4-BE49-F238E27FC236}">
                <a16:creationId xmlns:a16="http://schemas.microsoft.com/office/drawing/2014/main" id="{6F7AF80F-E951-4031-B426-8279B65A1EFD}"/>
              </a:ext>
            </a:extLst>
          </p:cNvPr>
          <p:cNvSpPr>
            <a:spLocks noGrp="1"/>
          </p:cNvSpPr>
          <p:nvPr/>
        </p:nvSpPr>
        <p:spPr>
          <a:xfrm>
            <a:off x="4038600" y="5219700"/>
            <a:ext cx="7505700" cy="723900"/>
          </a:xfrm>
          <a:prstGeom prst="rect">
            <a:avLst/>
          </a:prstGeom>
          <a:noFill/>
          <a:ln w="0">
            <a:noFill/>
          </a:ln>
        </p:spPr>
        <p:txBody>
          <a:bodyPr lIns="0" tIns="0" rIns="0" bIns="0">
            <a:noAutofit/>
          </a:bodyPr>
          <a:lstStyle>
            <a:defPPr algn="l">
              <a:defRPr sz="1725" b="0">
                <a:solidFill>
                  <a:srgbClr val="6C2B91"/>
                </a:solidFill>
                <a:latin typeface="Helvetica Neue"/>
                <a:ea typeface="Helvetica Neue"/>
                <a:cs typeface="Helvetica Neue"/>
              </a:defRPr>
            </a:defPPr>
          </a:lstStyle>
          <a:p>
            <a:pPr algn="l">
              <a:buNone/>
              <a:defRPr sz="1725" b="0">
                <a:solidFill>
                  <a:srgbClr val="6C2B91"/>
                </a:solidFill>
                <a:latin typeface="Helvetica Neue"/>
                <a:ea typeface="Helvetica Neue"/>
                <a:cs typeface="Helvetica Neue"/>
              </a:defRPr>
            </a:pPr>
            <a:r>
              <a:rPr sz="1725" b="0">
                <a:solidFill>
                  <a:srgbClr val="6C2B91"/>
                </a:solidFill>
                <a:latin typeface="Helvetica Neue"/>
                <a:ea typeface="Helvetica Neue"/>
                <a:cs typeface="Helvetica Neue"/>
              </a:rPr>
              <a:t>"Check the consistency of the claims, schedule and budget. Assemble the proposal and outline the pitch."</a:t>
            </a:r>
          </a:p>
        </p:txBody>
      </p:sp>
      <p:sp>
        <p:nvSpPr>
          <p:cNvPr id="20" name="reference-footer">
            <a:extLst>
              <a:ext uri="{FF2B5EF4-FFF2-40B4-BE49-F238E27FC236}">
                <a16:creationId xmlns:a16="http://schemas.microsoft.com/office/drawing/2014/main" id="{D6A8714A-AA72-4AAA-A4BC-0F2F3008E089}"/>
              </a:ext>
            </a:extLst>
          </p:cNvPr>
          <p:cNvSpPr>
            <a:spLocks noGrp="1"/>
          </p:cNvSpPr>
          <p:nvPr/>
        </p:nvSpPr>
        <p:spPr>
          <a:xfrm>
            <a:off x="609600" y="6115050"/>
            <a:ext cx="10668000" cy="285750"/>
          </a:xfrm>
          <a:prstGeom prst="rect">
            <a:avLst/>
          </a:prstGeom>
          <a:noFill/>
          <a:ln w="0">
            <a:noFill/>
          </a:ln>
        </p:spPr>
        <p:txBody>
          <a:bodyPr lIns="0" tIns="0" rIns="0" bIns="0">
            <a:noAutofit/>
          </a:bodyPr>
          <a:lstStyle>
            <a:defPPr algn="l">
              <a:defRPr sz="1650" b="0">
                <a:solidFill>
                  <a:srgbClr val="607482"/>
                </a:solidFill>
                <a:latin typeface="Helvetica Neue"/>
                <a:ea typeface="Helvetica Neue"/>
                <a:cs typeface="Helvetica Neue"/>
              </a:defRPr>
            </a:defPPr>
          </a:lstStyle>
          <a:p>
            <a:pPr algn="l">
              <a:buNone/>
              <a:defRPr sz="1650" b="0">
                <a:solidFill>
                  <a:srgbClr val="607482"/>
                </a:solidFill>
                <a:latin typeface="Helvetica Neue"/>
                <a:ea typeface="Helvetica Neue"/>
                <a:cs typeface="Helvetica Neue"/>
              </a:defRPr>
            </a:pPr>
            <a:r>
              <a:rPr sz="1650" b="0">
                <a:solidFill>
                  <a:srgbClr val="607482"/>
                </a:solidFill>
                <a:latin typeface="Helvetica Neue"/>
                <a:ea typeface="Helvetica Neue"/>
                <a:cs typeface="Helvetica Neue"/>
              </a:rPr>
              <a:t>Discuss answers and record decisions.</a:t>
            </a:r>
          </a:p>
        </p:txBody>
      </p:sp>
    </p:spTree>
    <p:extLst>
      <p:ext uri="{BB962C8B-B14F-4D97-AF65-F5344CB8AC3E}">
        <p14:creationId xmlns:p14="http://schemas.microsoft.com/office/powerpoint/2010/main" val="124583796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5" name="section-label">
            <a:extLst>
              <a:ext uri="{FF2B5EF4-FFF2-40B4-BE49-F238E27FC236}">
                <a16:creationId xmlns:a16="http://schemas.microsoft.com/office/drawing/2014/main" id="{79C43A3F-221D-47A5-873F-D7D23F1E6702}"/>
              </a:ext>
            </a:extLst>
          </p:cNvPr>
          <p:cNvSpPr>
            <a:spLocks noGrp="1"/>
          </p:cNvSpPr>
          <p:nvPr/>
        </p:nvSpPr>
        <p:spPr>
          <a:xfrm>
            <a:off x="609600" y="285750"/>
            <a:ext cx="10668000" cy="285750"/>
          </a:xfrm>
          <a:prstGeom prst="rect">
            <a:avLst/>
          </a:prstGeom>
          <a:noFill/>
          <a:ln w="0">
            <a:noFill/>
          </a:ln>
        </p:spPr>
        <p:txBody>
          <a:bodyPr lIns="0" tIns="0" rIns="0" bIns="0">
            <a:noAutofit/>
          </a:bodyPr>
          <a:lstStyle>
            <a:defPPr algn="l">
              <a:defRPr sz="1200" b="1">
                <a:solidFill>
                  <a:srgbClr val="A16C27"/>
                </a:solidFill>
                <a:latin typeface="Helvetica Neue"/>
                <a:ea typeface="Helvetica Neue"/>
                <a:cs typeface="Helvetica Neue"/>
              </a:defRPr>
            </a:defPPr>
          </a:lstStyle>
          <a:p>
            <a:pPr algn="l">
              <a:buNone/>
              <a:defRPr sz="1200" b="1">
                <a:solidFill>
                  <a:srgbClr val="A16C27"/>
                </a:solidFill>
                <a:latin typeface="Helvetica Neue"/>
                <a:ea typeface="Helvetica Neue"/>
                <a:cs typeface="Helvetica Neue"/>
              </a:defRPr>
            </a:pPr>
            <a:r>
              <a:rPr sz="1200" b="1">
                <a:solidFill>
                  <a:srgbClr val="A16C27"/>
                </a:solidFill>
                <a:latin typeface="Helvetica Neue"/>
                <a:ea typeface="Helvetica Neue"/>
                <a:cs typeface="Helvetica Neue"/>
              </a:rPr>
              <a:t>APPENDIX: PROMPT GUIDE</a:t>
            </a:r>
          </a:p>
        </p:txBody>
      </p:sp>
      <p:sp>
        <p:nvSpPr>
          <p:cNvPr id="2" name="slide-title">
            <a:extLst>
              <a:ext uri="{FF2B5EF4-FFF2-40B4-BE49-F238E27FC236}">
                <a16:creationId xmlns:a16="http://schemas.microsoft.com/office/drawing/2014/main" id="{DFFAE8B5-0F88-4E70-8356-BD2627CC4E13}"/>
              </a:ext>
            </a:extLst>
          </p:cNvPr>
          <p:cNvSpPr>
            <a:spLocks noGrp="1"/>
          </p:cNvSpPr>
          <p:nvPr/>
        </p:nvSpPr>
        <p:spPr>
          <a:xfrm>
            <a:off x="609600" y="781050"/>
            <a:ext cx="10858500" cy="857250"/>
          </a:xfrm>
          <a:prstGeom prst="rect">
            <a:avLst/>
          </a:prstGeom>
          <a:noFill/>
          <a:ln w="0">
            <a:noFill/>
          </a:ln>
        </p:spPr>
        <p:txBody>
          <a:bodyPr lIns="0" tIns="0" rIns="0" bIns="0">
            <a:noAutofit/>
          </a:bodyPr>
          <a:lstStyle>
            <a:defPPr algn="l">
              <a:defRPr sz="3450" b="1">
                <a:solidFill>
                  <a:srgbClr val="102B46"/>
                </a:solidFill>
                <a:latin typeface="Helvetica Neue"/>
                <a:ea typeface="Helvetica Neue"/>
                <a:cs typeface="Helvetica Neue"/>
              </a:defRPr>
            </a:defPPr>
          </a:lstStyle>
          <a:p>
            <a:pPr algn="l">
              <a:buNone/>
              <a:defRPr sz="3450" b="1">
                <a:solidFill>
                  <a:srgbClr val="102B46"/>
                </a:solidFill>
                <a:latin typeface="Helvetica Neue"/>
                <a:ea typeface="Helvetica Neue"/>
                <a:cs typeface="Helvetica Neue"/>
              </a:defRPr>
            </a:pPr>
            <a:r>
              <a:rPr sz="3450" b="1">
                <a:solidFill>
                  <a:srgbClr val="102B46"/>
                </a:solidFill>
                <a:latin typeface="Helvetica Neue"/>
                <a:ea typeface="Helvetica Neue"/>
                <a:cs typeface="Helvetica Neue"/>
              </a:rPr>
              <a:t>Follow-up prompts</a:t>
            </a:r>
          </a:p>
        </p:txBody>
      </p:sp>
      <p:sp>
        <p:nvSpPr>
          <p:cNvPr id="3" name="subtitle">
            <a:extLst>
              <a:ext uri="{FF2B5EF4-FFF2-40B4-BE49-F238E27FC236}">
                <a16:creationId xmlns:a16="http://schemas.microsoft.com/office/drawing/2014/main" id="{D03D3F2F-E44A-45F2-8289-13EA9959F04B}"/>
              </a:ext>
            </a:extLst>
          </p:cNvPr>
          <p:cNvSpPr>
            <a:spLocks noGrp="1"/>
          </p:cNvSpPr>
          <p:nvPr/>
        </p:nvSpPr>
        <p:spPr>
          <a:xfrm>
            <a:off x="609600" y="1524000"/>
            <a:ext cx="10858500" cy="428625"/>
          </a:xfrm>
          <a:prstGeom prst="rect">
            <a:avLst/>
          </a:prstGeom>
          <a:noFill/>
          <a:ln w="0">
            <a:noFill/>
          </a:ln>
        </p:spPr>
        <p:txBody>
          <a:bodyPr lIns="0" tIns="0" rIns="0" bIns="0">
            <a:noAutofit/>
          </a:bodyPr>
          <a:lstStyle>
            <a:defPPr algn="l">
              <a:defRPr sz="1800" b="0">
                <a:solidFill>
                  <a:srgbClr val="607482"/>
                </a:solidFill>
                <a:latin typeface="Helvetica Neue"/>
                <a:ea typeface="Helvetica Neue"/>
                <a:cs typeface="Helvetica Neue"/>
              </a:defRPr>
            </a:defPPr>
          </a:lstStyle>
          <a:p>
            <a:pPr algn="l">
              <a:buNone/>
              <a:defRPr sz="1800" b="0">
                <a:solidFill>
                  <a:srgbClr val="607482"/>
                </a:solidFill>
                <a:latin typeface="Helvetica Neue"/>
                <a:ea typeface="Helvetica Neue"/>
                <a:cs typeface="Helvetica Neue"/>
              </a:defRPr>
            </a:pPr>
            <a:r>
              <a:rPr sz="1800" b="0">
                <a:solidFill>
                  <a:srgbClr val="607482"/>
                </a:solidFill>
                <a:latin typeface="Helvetica Neue"/>
                <a:ea typeface="Helvetica Neue"/>
                <a:cs typeface="Helvetica Neue"/>
              </a:rPr>
              <a:t>Evidence, alternatives, validation and shared decisions</a:t>
            </a:r>
          </a:p>
        </p:txBody>
      </p:sp>
      <p:sp>
        <p:nvSpPr>
          <p:cNvPr id="4" name="page-number">
            <a:extLst>
              <a:ext uri="{FF2B5EF4-FFF2-40B4-BE49-F238E27FC236}">
                <a16:creationId xmlns:a16="http://schemas.microsoft.com/office/drawing/2014/main" id="{21EF59A4-692C-4366-B88E-F9039240843B}"/>
              </a:ext>
            </a:extLst>
          </p:cNvPr>
          <p:cNvSpPr>
            <a:spLocks noGrp="1"/>
          </p:cNvSpPr>
          <p:nvPr/>
        </p:nvSpPr>
        <p:spPr>
          <a:xfrm>
            <a:off x="10953750" y="6438900"/>
            <a:ext cx="666750" cy="228600"/>
          </a:xfrm>
          <a:prstGeom prst="rect">
            <a:avLst/>
          </a:prstGeom>
          <a:noFill/>
          <a:ln w="0">
            <a:noFill/>
          </a:ln>
        </p:spPr>
        <p:txBody>
          <a:bodyPr lIns="0" tIns="0" rIns="0" bIns="0">
            <a:noAutofit/>
          </a:bodyPr>
          <a:lstStyle>
            <a:defPPr algn="r">
              <a:defRPr sz="1125" b="0">
                <a:solidFill>
                  <a:srgbClr val="607482"/>
                </a:solidFill>
                <a:latin typeface="Helvetica Neue"/>
                <a:ea typeface="Helvetica Neue"/>
                <a:cs typeface="Helvetica Neue"/>
              </a:defRPr>
            </a:defPPr>
          </a:lstStyle>
          <a:p>
            <a:pPr algn="r">
              <a:buNone/>
              <a:defRPr sz="1125" b="0">
                <a:solidFill>
                  <a:srgbClr val="607482"/>
                </a:solidFill>
                <a:latin typeface="Helvetica Neue"/>
                <a:ea typeface="Helvetica Neue"/>
                <a:cs typeface="Helvetica Neue"/>
              </a:defRPr>
            </a:pPr>
            <a:r>
              <a:rPr sz="1125" b="0">
                <a:solidFill>
                  <a:srgbClr val="607482"/>
                </a:solidFill>
                <a:latin typeface="Helvetica Neue"/>
                <a:ea typeface="Helvetica Neue"/>
                <a:cs typeface="Helvetica Neue"/>
              </a:rPr>
              <a:t>A23</a:t>
            </a:r>
          </a:p>
        </p:txBody>
      </p:sp>
      <p:sp>
        <p:nvSpPr>
          <p:cNvPr id="5" name="followup-type">
            <a:extLst>
              <a:ext uri="{FF2B5EF4-FFF2-40B4-BE49-F238E27FC236}">
                <a16:creationId xmlns:a16="http://schemas.microsoft.com/office/drawing/2014/main" id="{7F93A24B-4691-4048-8CC7-958A7A197343}"/>
              </a:ext>
            </a:extLst>
          </p:cNvPr>
          <p:cNvSpPr>
            <a:spLocks noGrp="1"/>
          </p:cNvSpPr>
          <p:nvPr/>
        </p:nvSpPr>
        <p:spPr>
          <a:xfrm>
            <a:off x="609600" y="2171700"/>
            <a:ext cx="2428875" cy="495300"/>
          </a:xfrm>
          <a:prstGeom prst="rect">
            <a:avLst/>
          </a:prstGeom>
          <a:noFill/>
          <a:ln w="0">
            <a:noFill/>
          </a:ln>
        </p:spPr>
        <p:txBody>
          <a:bodyPr lIns="0" tIns="0" rIns="0" bIns="0">
            <a:noAutofit/>
          </a:bodyPr>
          <a:lstStyle>
            <a:defPPr algn="l">
              <a:defRPr sz="1875" b="1">
                <a:solidFill>
                  <a:srgbClr val="A16C27"/>
                </a:solidFill>
                <a:latin typeface="Helvetica Neue"/>
                <a:ea typeface="Helvetica Neue"/>
                <a:cs typeface="Helvetica Neue"/>
              </a:defRPr>
            </a:defPPr>
          </a:lstStyle>
          <a:p>
            <a:pPr algn="l">
              <a:buNone/>
              <a:defRPr sz="1875" b="1">
                <a:solidFill>
                  <a:srgbClr val="A16C27"/>
                </a:solidFill>
                <a:latin typeface="Helvetica Neue"/>
                <a:ea typeface="Helvetica Neue"/>
                <a:cs typeface="Helvetica Neue"/>
              </a:defRPr>
            </a:pPr>
            <a:r>
              <a:rPr sz="1875" b="1">
                <a:solidFill>
                  <a:srgbClr val="A16C27"/>
                </a:solidFill>
                <a:latin typeface="Helvetica Neue"/>
                <a:ea typeface="Helvetica Neue"/>
                <a:cs typeface="Helvetica Neue"/>
              </a:rPr>
              <a:t>Evidence</a:t>
            </a:r>
          </a:p>
        </p:txBody>
      </p:sp>
      <p:sp>
        <p:nvSpPr>
          <p:cNvPr id="6" name="followup-text">
            <a:extLst>
              <a:ext uri="{FF2B5EF4-FFF2-40B4-BE49-F238E27FC236}">
                <a16:creationId xmlns:a16="http://schemas.microsoft.com/office/drawing/2014/main" id="{0131832C-C194-4CC4-AA59-8BB7CE36D8E2}"/>
              </a:ext>
            </a:extLst>
          </p:cNvPr>
          <p:cNvSpPr>
            <a:spLocks noGrp="1"/>
          </p:cNvSpPr>
          <p:nvPr/>
        </p:nvSpPr>
        <p:spPr>
          <a:xfrm>
            <a:off x="3524250" y="2171700"/>
            <a:ext cx="7953375" cy="571500"/>
          </a:xfrm>
          <a:prstGeom prst="rect">
            <a:avLst/>
          </a:prstGeom>
          <a:noFill/>
          <a:ln w="0">
            <a:noFill/>
          </a:ln>
        </p:spPr>
        <p:txBody>
          <a:bodyPr lIns="0" tIns="0" rIns="0" bIns="0">
            <a:noAutofit/>
          </a:bodyPr>
          <a:lstStyle>
            <a:defPPr algn="l">
              <a:defRPr sz="1950" b="0">
                <a:solidFill>
                  <a:srgbClr val="6C2B91"/>
                </a:solidFill>
                <a:latin typeface="Helvetica Neue"/>
                <a:ea typeface="Helvetica Neue"/>
                <a:cs typeface="Helvetica Neue"/>
              </a:defRPr>
            </a:defPPr>
          </a:lstStyle>
          <a:p>
            <a:pPr algn="l">
              <a:buNone/>
              <a:defRPr sz="1950" b="0">
                <a:solidFill>
                  <a:srgbClr val="6C2B91"/>
                </a:solidFill>
                <a:latin typeface="Helvetica Neue"/>
                <a:ea typeface="Helvetica Neue"/>
                <a:cs typeface="Helvetica Neue"/>
              </a:defRPr>
            </a:pPr>
            <a:r>
              <a:rPr sz="1950" b="0">
                <a:solidFill>
                  <a:srgbClr val="6C2B91"/>
                </a:solidFill>
                <a:latin typeface="Helvetica Neue"/>
                <a:ea typeface="Helvetica Neue"/>
                <a:cs typeface="Helvetica Neue"/>
              </a:rPr>
              <a:t>"Which claim is least supported, and how can we test it?"</a:t>
            </a:r>
          </a:p>
        </p:txBody>
      </p:sp>
      <p:sp>
        <p:nvSpPr>
          <p:cNvPr id="7" name="followup-type">
            <a:extLst>
              <a:ext uri="{FF2B5EF4-FFF2-40B4-BE49-F238E27FC236}">
                <a16:creationId xmlns:a16="http://schemas.microsoft.com/office/drawing/2014/main" id="{949EAB19-FEB1-4A0A-8D2C-DDE9FBC9CB9F}"/>
              </a:ext>
            </a:extLst>
          </p:cNvPr>
          <p:cNvSpPr>
            <a:spLocks noGrp="1"/>
          </p:cNvSpPr>
          <p:nvPr/>
        </p:nvSpPr>
        <p:spPr>
          <a:xfrm>
            <a:off x="609600" y="2905125"/>
            <a:ext cx="2428875" cy="495300"/>
          </a:xfrm>
          <a:prstGeom prst="rect">
            <a:avLst/>
          </a:prstGeom>
          <a:noFill/>
          <a:ln w="0">
            <a:noFill/>
          </a:ln>
        </p:spPr>
        <p:txBody>
          <a:bodyPr lIns="0" tIns="0" rIns="0" bIns="0">
            <a:noAutofit/>
          </a:bodyPr>
          <a:lstStyle>
            <a:defPPr algn="l">
              <a:defRPr sz="1875" b="1">
                <a:solidFill>
                  <a:srgbClr val="A16C27"/>
                </a:solidFill>
                <a:latin typeface="Helvetica Neue"/>
                <a:ea typeface="Helvetica Neue"/>
                <a:cs typeface="Helvetica Neue"/>
              </a:defRPr>
            </a:defPPr>
          </a:lstStyle>
          <a:p>
            <a:pPr algn="l">
              <a:buNone/>
              <a:defRPr sz="1875" b="1">
                <a:solidFill>
                  <a:srgbClr val="A16C27"/>
                </a:solidFill>
                <a:latin typeface="Helvetica Neue"/>
                <a:ea typeface="Helvetica Neue"/>
                <a:cs typeface="Helvetica Neue"/>
              </a:defRPr>
            </a:pPr>
            <a:r>
              <a:rPr sz="1875" b="1">
                <a:solidFill>
                  <a:srgbClr val="A16C27"/>
                </a:solidFill>
                <a:latin typeface="Helvetica Neue"/>
                <a:ea typeface="Helvetica Neue"/>
                <a:cs typeface="Helvetica Neue"/>
              </a:rPr>
              <a:t>Alternatives</a:t>
            </a:r>
          </a:p>
        </p:txBody>
      </p:sp>
      <p:sp>
        <p:nvSpPr>
          <p:cNvPr id="8" name="followup-text">
            <a:extLst>
              <a:ext uri="{FF2B5EF4-FFF2-40B4-BE49-F238E27FC236}">
                <a16:creationId xmlns:a16="http://schemas.microsoft.com/office/drawing/2014/main" id="{E2DC4542-CDE2-4D98-96EB-97E813383FD3}"/>
              </a:ext>
            </a:extLst>
          </p:cNvPr>
          <p:cNvSpPr>
            <a:spLocks noGrp="1"/>
          </p:cNvSpPr>
          <p:nvPr/>
        </p:nvSpPr>
        <p:spPr>
          <a:xfrm>
            <a:off x="3524250" y="2905125"/>
            <a:ext cx="7953375" cy="571500"/>
          </a:xfrm>
          <a:prstGeom prst="rect">
            <a:avLst/>
          </a:prstGeom>
          <a:noFill/>
          <a:ln w="0">
            <a:noFill/>
          </a:ln>
        </p:spPr>
        <p:txBody>
          <a:bodyPr lIns="0" tIns="0" rIns="0" bIns="0">
            <a:noAutofit/>
          </a:bodyPr>
          <a:lstStyle>
            <a:defPPr algn="l">
              <a:defRPr sz="1950" b="0">
                <a:solidFill>
                  <a:srgbClr val="6C2B91"/>
                </a:solidFill>
                <a:latin typeface="Helvetica Neue"/>
                <a:ea typeface="Helvetica Neue"/>
                <a:cs typeface="Helvetica Neue"/>
              </a:defRPr>
            </a:defPPr>
          </a:lstStyle>
          <a:p>
            <a:pPr algn="l">
              <a:buNone/>
              <a:defRPr sz="1950" b="0">
                <a:solidFill>
                  <a:srgbClr val="6C2B91"/>
                </a:solidFill>
                <a:latin typeface="Helvetica Neue"/>
                <a:ea typeface="Helvetica Neue"/>
                <a:cs typeface="Helvetica Neue"/>
              </a:defRPr>
            </a:pPr>
            <a:r>
              <a:rPr sz="1950" b="0">
                <a:solidFill>
                  <a:srgbClr val="6C2B91"/>
                </a:solidFill>
                <a:latin typeface="Helvetica Neue"/>
                <a:ea typeface="Helvetica Neue"/>
                <a:cs typeface="Helvetica Neue"/>
              </a:rPr>
              <a:t>"Compare this approach with another option under our constraints."</a:t>
            </a:r>
          </a:p>
        </p:txBody>
      </p:sp>
      <p:sp>
        <p:nvSpPr>
          <p:cNvPr id="9" name="followup-type">
            <a:extLst>
              <a:ext uri="{FF2B5EF4-FFF2-40B4-BE49-F238E27FC236}">
                <a16:creationId xmlns:a16="http://schemas.microsoft.com/office/drawing/2014/main" id="{E1D0D27E-DB51-48FE-B083-95F0B9CDCFFB}"/>
              </a:ext>
            </a:extLst>
          </p:cNvPr>
          <p:cNvSpPr>
            <a:spLocks noGrp="1"/>
          </p:cNvSpPr>
          <p:nvPr/>
        </p:nvSpPr>
        <p:spPr>
          <a:xfrm>
            <a:off x="609600" y="3638550"/>
            <a:ext cx="2428875" cy="495300"/>
          </a:xfrm>
          <a:prstGeom prst="rect">
            <a:avLst/>
          </a:prstGeom>
          <a:noFill/>
          <a:ln w="0">
            <a:noFill/>
          </a:ln>
        </p:spPr>
        <p:txBody>
          <a:bodyPr lIns="0" tIns="0" rIns="0" bIns="0">
            <a:noAutofit/>
          </a:bodyPr>
          <a:lstStyle>
            <a:defPPr algn="l">
              <a:defRPr sz="1875" b="1">
                <a:solidFill>
                  <a:srgbClr val="A16C27"/>
                </a:solidFill>
                <a:latin typeface="Helvetica Neue"/>
                <a:ea typeface="Helvetica Neue"/>
                <a:cs typeface="Helvetica Neue"/>
              </a:defRPr>
            </a:defPPr>
          </a:lstStyle>
          <a:p>
            <a:pPr algn="l">
              <a:buNone/>
              <a:defRPr sz="1875" b="1">
                <a:solidFill>
                  <a:srgbClr val="A16C27"/>
                </a:solidFill>
                <a:latin typeface="Helvetica Neue"/>
                <a:ea typeface="Helvetica Neue"/>
                <a:cs typeface="Helvetica Neue"/>
              </a:defRPr>
            </a:pPr>
            <a:r>
              <a:rPr sz="1875" b="1">
                <a:solidFill>
                  <a:srgbClr val="A16C27"/>
                </a:solidFill>
                <a:latin typeface="Helvetica Neue"/>
                <a:ea typeface="Helvetica Neue"/>
                <a:cs typeface="Helvetica Neue"/>
              </a:rPr>
              <a:t>Validation</a:t>
            </a:r>
          </a:p>
        </p:txBody>
      </p:sp>
      <p:sp>
        <p:nvSpPr>
          <p:cNvPr id="10" name="followup-text">
            <a:extLst>
              <a:ext uri="{FF2B5EF4-FFF2-40B4-BE49-F238E27FC236}">
                <a16:creationId xmlns:a16="http://schemas.microsoft.com/office/drawing/2014/main" id="{9D09143A-0D31-4D81-8B4E-A181CFE6A028}"/>
              </a:ext>
            </a:extLst>
          </p:cNvPr>
          <p:cNvSpPr>
            <a:spLocks noGrp="1"/>
          </p:cNvSpPr>
          <p:nvPr/>
        </p:nvSpPr>
        <p:spPr>
          <a:xfrm>
            <a:off x="3524250" y="3638550"/>
            <a:ext cx="7953375" cy="571500"/>
          </a:xfrm>
          <a:prstGeom prst="rect">
            <a:avLst/>
          </a:prstGeom>
          <a:noFill/>
          <a:ln w="0">
            <a:noFill/>
          </a:ln>
        </p:spPr>
        <p:txBody>
          <a:bodyPr lIns="0" tIns="0" rIns="0" bIns="0">
            <a:noAutofit/>
          </a:bodyPr>
          <a:lstStyle>
            <a:defPPr algn="l">
              <a:defRPr sz="1950" b="0">
                <a:solidFill>
                  <a:srgbClr val="6C2B91"/>
                </a:solidFill>
                <a:latin typeface="Helvetica Neue"/>
                <a:ea typeface="Helvetica Neue"/>
                <a:cs typeface="Helvetica Neue"/>
              </a:defRPr>
            </a:defPPr>
          </a:lstStyle>
          <a:p>
            <a:pPr algn="l">
              <a:buNone/>
              <a:defRPr sz="1950" b="0">
                <a:solidFill>
                  <a:srgbClr val="6C2B91"/>
                </a:solidFill>
                <a:latin typeface="Helvetica Neue"/>
                <a:ea typeface="Helvetica Neue"/>
                <a:cs typeface="Helvetica Neue"/>
              </a:defRPr>
            </a:pPr>
            <a:r>
              <a:rPr sz="1950" b="0">
                <a:solidFill>
                  <a:srgbClr val="6C2B91"/>
                </a:solidFill>
                <a:latin typeface="Helvetica Neue"/>
                <a:ea typeface="Helvetica Neue"/>
                <a:cs typeface="Helvetica Neue"/>
              </a:rPr>
              <a:t>"What evidence would change this decision? Suggest a practical check."</a:t>
            </a:r>
          </a:p>
        </p:txBody>
      </p:sp>
      <p:sp>
        <p:nvSpPr>
          <p:cNvPr id="11" name="followup-type">
            <a:extLst>
              <a:ext uri="{FF2B5EF4-FFF2-40B4-BE49-F238E27FC236}">
                <a16:creationId xmlns:a16="http://schemas.microsoft.com/office/drawing/2014/main" id="{8773CEB9-0A31-42D4-8A83-69493B7F95CF}"/>
              </a:ext>
            </a:extLst>
          </p:cNvPr>
          <p:cNvSpPr>
            <a:spLocks noGrp="1"/>
          </p:cNvSpPr>
          <p:nvPr/>
        </p:nvSpPr>
        <p:spPr>
          <a:xfrm>
            <a:off x="609600" y="4371975"/>
            <a:ext cx="2428875" cy="495300"/>
          </a:xfrm>
          <a:prstGeom prst="rect">
            <a:avLst/>
          </a:prstGeom>
          <a:noFill/>
          <a:ln w="0">
            <a:noFill/>
          </a:ln>
        </p:spPr>
        <p:txBody>
          <a:bodyPr lIns="0" tIns="0" rIns="0" bIns="0">
            <a:noAutofit/>
          </a:bodyPr>
          <a:lstStyle>
            <a:defPPr algn="l">
              <a:defRPr sz="1875" b="1">
                <a:solidFill>
                  <a:srgbClr val="A16C27"/>
                </a:solidFill>
                <a:latin typeface="Helvetica Neue"/>
                <a:ea typeface="Helvetica Neue"/>
                <a:cs typeface="Helvetica Neue"/>
              </a:defRPr>
            </a:defPPr>
          </a:lstStyle>
          <a:p>
            <a:pPr algn="l">
              <a:buNone/>
              <a:defRPr sz="1875" b="1">
                <a:solidFill>
                  <a:srgbClr val="A16C27"/>
                </a:solidFill>
                <a:latin typeface="Helvetica Neue"/>
                <a:ea typeface="Helvetica Neue"/>
                <a:cs typeface="Helvetica Neue"/>
              </a:defRPr>
            </a:pPr>
            <a:r>
              <a:rPr sz="1875" b="1">
                <a:solidFill>
                  <a:srgbClr val="A16C27"/>
                </a:solidFill>
                <a:latin typeface="Helvetica Neue"/>
                <a:ea typeface="Helvetica Neue"/>
                <a:cs typeface="Helvetica Neue"/>
              </a:rPr>
              <a:t>Checkpoint</a:t>
            </a:r>
          </a:p>
        </p:txBody>
      </p:sp>
      <p:sp>
        <p:nvSpPr>
          <p:cNvPr id="12" name="followup-text">
            <a:extLst>
              <a:ext uri="{FF2B5EF4-FFF2-40B4-BE49-F238E27FC236}">
                <a16:creationId xmlns:a16="http://schemas.microsoft.com/office/drawing/2014/main" id="{F57C8EEA-57D7-4446-B95F-419A12BC7837}"/>
              </a:ext>
            </a:extLst>
          </p:cNvPr>
          <p:cNvSpPr>
            <a:spLocks noGrp="1"/>
          </p:cNvSpPr>
          <p:nvPr/>
        </p:nvSpPr>
        <p:spPr>
          <a:xfrm>
            <a:off x="3524250" y="4371975"/>
            <a:ext cx="7953375" cy="571500"/>
          </a:xfrm>
          <a:prstGeom prst="rect">
            <a:avLst/>
          </a:prstGeom>
          <a:noFill/>
          <a:ln w="0">
            <a:noFill/>
          </a:ln>
        </p:spPr>
        <p:txBody>
          <a:bodyPr lIns="0" tIns="0" rIns="0" bIns="0">
            <a:noAutofit/>
          </a:bodyPr>
          <a:lstStyle>
            <a:defPPr algn="l">
              <a:defRPr sz="1950" b="0">
                <a:solidFill>
                  <a:srgbClr val="6C2B91"/>
                </a:solidFill>
                <a:latin typeface="Helvetica Neue"/>
                <a:ea typeface="Helvetica Neue"/>
                <a:cs typeface="Helvetica Neue"/>
              </a:defRPr>
            </a:defPPr>
          </a:lstStyle>
          <a:p>
            <a:pPr algn="l">
              <a:buNone/>
              <a:defRPr sz="1950" b="0">
                <a:solidFill>
                  <a:srgbClr val="6C2B91"/>
                </a:solidFill>
                <a:latin typeface="Helvetica Neue"/>
                <a:ea typeface="Helvetica Neue"/>
                <a:cs typeface="Helvetica Neue"/>
              </a:defRPr>
            </a:pPr>
            <a:r>
              <a:rPr sz="1950" b="0">
                <a:solidFill>
                  <a:srgbClr val="6C2B91"/>
                </a:solidFill>
                <a:latin typeface="Helvetica Neue"/>
                <a:ea typeface="Helvetica Neue"/>
                <a:cs typeface="Helvetica Neue"/>
              </a:rPr>
              <a:t>"Summarise our agreed findings, decisions and open questions."</a:t>
            </a:r>
          </a:p>
        </p:txBody>
      </p:sp>
      <p:sp>
        <p:nvSpPr>
          <p:cNvPr id="13" name="followup-type">
            <a:extLst>
              <a:ext uri="{FF2B5EF4-FFF2-40B4-BE49-F238E27FC236}">
                <a16:creationId xmlns:a16="http://schemas.microsoft.com/office/drawing/2014/main" id="{A4234B26-DF2D-43F3-B9DB-42EA3C23E434}"/>
              </a:ext>
            </a:extLst>
          </p:cNvPr>
          <p:cNvSpPr>
            <a:spLocks noGrp="1"/>
          </p:cNvSpPr>
          <p:nvPr/>
        </p:nvSpPr>
        <p:spPr>
          <a:xfrm>
            <a:off x="609600" y="5105400"/>
            <a:ext cx="2428875" cy="495300"/>
          </a:xfrm>
          <a:prstGeom prst="rect">
            <a:avLst/>
          </a:prstGeom>
          <a:noFill/>
          <a:ln w="0">
            <a:noFill/>
          </a:ln>
        </p:spPr>
        <p:txBody>
          <a:bodyPr lIns="0" tIns="0" rIns="0" bIns="0">
            <a:noAutofit/>
          </a:bodyPr>
          <a:lstStyle>
            <a:defPPr algn="l">
              <a:defRPr sz="1875" b="1">
                <a:solidFill>
                  <a:srgbClr val="A16C27"/>
                </a:solidFill>
                <a:latin typeface="Helvetica Neue"/>
                <a:ea typeface="Helvetica Neue"/>
                <a:cs typeface="Helvetica Neue"/>
              </a:defRPr>
            </a:defPPr>
          </a:lstStyle>
          <a:p>
            <a:pPr algn="l">
              <a:buNone/>
              <a:defRPr sz="1875" b="1">
                <a:solidFill>
                  <a:srgbClr val="A16C27"/>
                </a:solidFill>
                <a:latin typeface="Helvetica Neue"/>
                <a:ea typeface="Helvetica Neue"/>
                <a:cs typeface="Helvetica Neue"/>
              </a:defRPr>
            </a:pPr>
            <a:r>
              <a:rPr sz="1875" b="1">
                <a:solidFill>
                  <a:srgbClr val="A16C27"/>
                </a:solidFill>
                <a:latin typeface="Helvetica Neue"/>
                <a:ea typeface="Helvetica Neue"/>
                <a:cs typeface="Helvetica Neue"/>
              </a:rPr>
              <a:t>Expert feedback</a:t>
            </a:r>
          </a:p>
        </p:txBody>
      </p:sp>
      <p:sp>
        <p:nvSpPr>
          <p:cNvPr id="14" name="followup-text">
            <a:extLst>
              <a:ext uri="{FF2B5EF4-FFF2-40B4-BE49-F238E27FC236}">
                <a16:creationId xmlns:a16="http://schemas.microsoft.com/office/drawing/2014/main" id="{2CEE5153-FDEC-49B1-8505-57BECE0616CF}"/>
              </a:ext>
            </a:extLst>
          </p:cNvPr>
          <p:cNvSpPr>
            <a:spLocks noGrp="1"/>
          </p:cNvSpPr>
          <p:nvPr/>
        </p:nvSpPr>
        <p:spPr>
          <a:xfrm>
            <a:off x="3524250" y="5105400"/>
            <a:ext cx="7953375" cy="571500"/>
          </a:xfrm>
          <a:prstGeom prst="rect">
            <a:avLst/>
          </a:prstGeom>
          <a:noFill/>
          <a:ln w="0">
            <a:noFill/>
          </a:ln>
        </p:spPr>
        <p:txBody>
          <a:bodyPr lIns="0" tIns="0" rIns="0" bIns="0">
            <a:noAutofit/>
          </a:bodyPr>
          <a:lstStyle>
            <a:defPPr algn="l">
              <a:defRPr sz="1950" b="0">
                <a:solidFill>
                  <a:srgbClr val="6C2B91"/>
                </a:solidFill>
                <a:latin typeface="Helvetica Neue"/>
                <a:ea typeface="Helvetica Neue"/>
                <a:cs typeface="Helvetica Neue"/>
              </a:defRPr>
            </a:defPPr>
          </a:lstStyle>
          <a:p>
            <a:pPr algn="l">
              <a:buNone/>
              <a:defRPr sz="1950" b="0">
                <a:solidFill>
                  <a:srgbClr val="6C2B91"/>
                </a:solidFill>
                <a:latin typeface="Helvetica Neue"/>
                <a:ea typeface="Helvetica Neue"/>
                <a:cs typeface="Helvetica Neue"/>
              </a:defRPr>
            </a:pPr>
            <a:r>
              <a:rPr sz="1950" b="0">
                <a:solidFill>
                  <a:srgbClr val="6C2B91"/>
                </a:solidFill>
                <a:latin typeface="Helvetica Neue"/>
                <a:ea typeface="Helvetica Neue"/>
                <a:cs typeface="Helvetica Neue"/>
              </a:rPr>
              <a:t>"Explain what this feedback changes across technology, regulation and business."</a:t>
            </a:r>
          </a:p>
        </p:txBody>
      </p:sp>
    </p:spTree>
    <p:extLst>
      <p:ext uri="{BB962C8B-B14F-4D97-AF65-F5344CB8AC3E}">
        <p14:creationId xmlns:p14="http://schemas.microsoft.com/office/powerpoint/2010/main" val="205090807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TotalTime>
  <Words>6913</Words>
  <Application>Microsoft Macintosh PowerPoint</Application>
  <DocSecurity>0</DocSecurity>
  <PresentationFormat>Widescreen</PresentationFormat>
  <Paragraphs>706</Paragraphs>
  <Slides>57</Slides>
  <Notes>51</Notes>
  <HiddenSlides>22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57</vt:i4>
      </vt:variant>
    </vt:vector>
  </HeadingPairs>
  <TitlesOfParts>
    <vt:vector size="62" baseType="lpstr">
      <vt:lpstr>Aptos</vt:lpstr>
      <vt:lpstr>Arial</vt:lpstr>
      <vt:lpstr>Canva Sans</vt:lpstr>
      <vt:lpstr>Helvetica Neue</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Loveneesh Rana</cp:lastModifiedBy>
  <cp:revision>4</cp:revision>
  <dcterms:created xsi:type="dcterms:W3CDTF">2026-10-16T07:36:17Z</dcterms:created>
  <dcterms:modified xsi:type="dcterms:W3CDTF">2026-10-16T11:26:17Z</dcterms:modified>
</cp:coreProperties>
</file>