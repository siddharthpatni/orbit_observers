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86948bac-cac6-9298-58a4-ea1a329e08d5}">
          <p14:sldIdLst>
            <p14:sldId id="256"/>
          </p14:sldIdLst>
        </p14:section>
        <p14:section name="The money" id="{71176d08-f9fd-cd0c-e2a4-edd20e036c2f}">
          <p14:sldIdLst>
            <p14:sldId id="257"/>
            <p14:sldId id="258"/>
          </p14:sldIdLst>
        </p14:section>
        <p14:section name="The offer" id="{2f170aef-2aa1-a4bb-5407-8aa195bc4160}">
          <p14:sldIdLst>
            <p14:sldId id="259"/>
            <p14:sldId id="260"/>
            <p14:sldId id="261"/>
          </p14:sldIdLst>
        </p14:section>
        <p14:section name="Serviceability" id="{262afbd8-fff2-9ae7-a8eb-b0e6a26f3245}">
          <p14:sldIdLst>
            <p14:sldId id="262"/>
            <p14:sldId id="263"/>
          </p14:sldIdLst>
        </p14:section>
        <p14:section name="Trust" id="{2090b6a0-af3f-b01c-8bf3-0eff4c18685c}">
          <p14:sldIdLst>
            <p14:sldId id="264"/>
            <p14:sldId id="265"/>
          </p14:sldIdLst>
        </p14:section>
        <p14:section name="Business" id="{05ead5f7-f550-5575-c87e-6fe9384b2407}">
          <p14:sldIdLst>
            <p14:sldId id="266"/>
          </p14:sldIdLst>
        </p14:section>
        <p14:section name="Plan" id="{648b332f-87cc-7372-e852-5623870956de}">
          <p14:sldIdLst>
            <p14:sldId id="267"/>
            <p14:sldId id="268"/>
          </p14:sldIdLst>
        </p14:section>
        <p14:section name="Backup" id="{ea67618a-5a97-270f-0de0-4ef749ff6c9b}">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DFE8F5"/>
                </a:solidFill>
                <a:latin typeface="+mn-lt"/>
              </a:defRPr>
            </a:pPr>
            <a:r>
              <a:rPr sz="1400" b="0" i="0" u="none" strike="noStrike">
                <a:solidFill>
                  <a:srgbClr val="DFE8F5"/>
                </a:solidFill>
                <a:latin typeface="+mn-lt"/>
              </a:rPr>
              <a:t>A rescued GEO satellite, EUR M (undiscounted, assumed inputs)</a:t>
            </a:r>
          </a:p>
        </c:rich>
      </c:tx>
      <c:layout/>
      <c:overlay val="0"/>
    </c:title>
    <c:autoTitleDeleted val="0"/>
    <c:plotArea>
      <c:layout/>
      <c:barChart>
        <c:barDir val="col"/>
        <c:grouping val="clustered"/>
        <c:varyColors val="0"/>
        <c:ser>
          <c:idx val="0"/>
          <c:order val="0"/>
          <c:tx>
            <c:strRef>
              <c:f>Sheet1!$B$1</c:f>
              <c:strCache>
                <c:ptCount val="1"/>
                <c:pt idx="0">
                  <c:v>EUR M</c:v>
                </c:pt>
              </c:strCache>
            </c:strRef>
          </c:tx>
          <c:spPr>
            <a:solidFill>
              <a:srgbClr val="7DFFB2"/>
            </a:solidFill>
            <a:effectLst/>
          </c:spPr>
          <c:invertIfNegative val="0"/>
          <c:dLbls>
            <c:numFmt formatCode="#,##0" sourceLinked="0"/>
            <c:txPr>
              <a:bodyPr/>
              <a:lstStyle/>
              <a:p>
                <a:pPr>
                  <a:defRPr b="0" i="0" strike="noStrike" sz="1200" u="none">
                    <a:solidFill>
                      <a:srgbClr val="DFE8F5"/>
                    </a:solidFill>
                    <a:latin typeface="+mn-lt"/>
                  </a:defRPr>
                </a:pPr>
              </a:p>
            </c:txPr>
            <c:showLegendKey val="0"/>
            <c:showVal val="1"/>
            <c:showCatName val="0"/>
            <c:showSerName val="0"/>
            <c:showPercent val="0"/>
            <c:showBubbleSize val="0"/>
            <c:showLeaderLines val="0"/>
          </c:dLbls>
          <c:dPt>
            <c:idx val="0"/>
            <c:invertIfNegative val="0"/>
            <c:bubble3D val="0"/>
            <c:spPr>
              <a:solidFill>
                <a:srgbClr val="7DFFB2"/>
              </a:solidFill>
              <a:effectLst/>
            </c:spPr>
          </c:dPt>
          <c:dPt>
            <c:idx val="1"/>
            <c:invertIfNegative val="0"/>
            <c:bubble3D val="0"/>
            <c:spPr>
              <a:solidFill>
                <a:srgbClr val="FF8F8F"/>
              </a:solidFill>
              <a:effectLst/>
            </c:spPr>
          </c:dPt>
          <c:dPt>
            <c:idx val="2"/>
            <c:invertIfNegative val="0"/>
            <c:bubble3D val="0"/>
            <c:spPr>
              <a:solidFill>
                <a:srgbClr val="5AD1FF"/>
              </a:solidFill>
              <a:effectLst/>
            </c:spPr>
          </c:dPt>
          <c:cat>
            <c:multiLvlStrRef>
              <c:f>Sheet1!$A$2:$A$4</c:f>
              <c:multiLvlStrCache>
                <c:ptCount val="3"/>
                <c:lvl>
                  <c:pt idx="0">
                    <c:v>Value of 5 more years</c:v>
                  </c:pt>
                  <c:pt idx="1">
                    <c:v>Servicing price</c:v>
                  </c:pt>
                  <c:pt idx="2">
                    <c:v>Net to the owner</c:v>
                  </c:pt>
                </c:lvl>
              </c:multiLvlStrCache>
            </c:multiLvlStrRef>
          </c:cat>
          <c:val>
            <c:numRef>
              <c:f>Sheet1!$B$2:$B$4</c:f>
              <c:numCache>
                <c:formatCode>General</c:formatCode>
                <c:ptCount val="3"/>
                <c:pt idx="0">
                  <c:v>120</c:v>
                </c:pt>
                <c:pt idx="1">
                  <c:v>75</c:v>
                </c:pt>
                <c:pt idx="2">
                  <c:v>45</c:v>
                </c:pt>
              </c:numCache>
            </c:numRef>
          </c:val>
        </c:ser>
        <c:dLbls>
          <c:numFmt formatCode="#,##0" sourceLinked="0"/>
          <c:txPr>
            <a:bodyPr/>
            <a:lstStyle/>
            <a:p>
              <a:pPr>
                <a:defRPr b="0" i="0" strike="noStrike" sz="1200" u="none">
                  <a:solidFill>
                    <a:srgbClr val="DFE8F5"/>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FA6C8"/>
                </a:solidFill>
                <a:latin typeface="+mn-lt"/>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9525" cap="flat">
              <a:solidFill>
                <a:srgbClr val="24365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FA6C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DFE8F5"/>
                </a:solidFill>
                <a:latin typeface="+mn-lt"/>
              </a:defRPr>
            </a:pPr>
            <a:r>
              <a:rPr sz="1400" b="0" i="0" u="none" strike="noStrike">
                <a:solidFill>
                  <a:srgbClr val="DFE8F5"/>
                </a:solidFill>
                <a:latin typeface="+mn-lt"/>
              </a:rPr>
              <a:t>vs no preparation, at 3 deg/s tumble, EUR M (assumed inputs)</a:t>
            </a:r>
          </a:p>
        </c:rich>
      </c:tx>
      <c:layout/>
      <c:overlay val="0"/>
    </c:title>
    <c:autoTitleDeleted val="0"/>
    <c:plotArea>
      <c:layout/>
      <c:barChart>
        <c:barDir val="col"/>
        <c:grouping val="clustered"/>
        <c:varyColors val="0"/>
        <c:ser>
          <c:idx val="0"/>
          <c:order val="0"/>
          <c:tx>
            <c:strRef>
              <c:f>Sheet1!$B$1</c:f>
              <c:strCache>
                <c:ptCount val="1"/>
                <c:pt idx="0">
                  <c:v>Extra cost per satellite</c:v>
                </c:pt>
              </c:strCache>
            </c:strRef>
          </c:tx>
          <c:spPr>
            <a:solidFill>
              <a:srgbClr val="FF8F8F"/>
            </a:solidFill>
            <a:effectLst/>
          </c:spPr>
          <c:invertIfNegative val="0"/>
          <c:dLbls>
            <c:numFmt formatCode="0.00" sourceLinked="0"/>
            <c:txPr>
              <a:bodyPr/>
              <a:lstStyle/>
              <a:p>
                <a:pPr>
                  <a:defRPr b="0" i="0" strike="noStrike" sz="1200" u="none">
                    <a:solidFill>
                      <a:srgbClr val="DFE8F5"/>
                    </a:solidFill>
                    <a:latin typeface="+mn-lt"/>
                  </a:defRPr>
                </a:pPr>
              </a:p>
            </c:txPr>
            <c:showLegendKey val="0"/>
            <c:showVal val="1"/>
            <c:showCatName val="0"/>
            <c:showSerName val="0"/>
            <c:showPercent val="0"/>
            <c:showBubbleSize val="0"/>
            <c:showLeaderLines val="0"/>
          </c:dLbls>
          <c:cat>
            <c:multiLvlStrRef>
              <c:f>Sheet1!$A$2:$A$4</c:f>
              <c:multiLvlStrCache>
                <c:ptCount val="3"/>
                <c:lvl>
                  <c:pt idx="0">
                    <c:v>Markers (C1)</c:v>
                  </c:pt>
                  <c:pt idx="1">
                    <c:v>+ rate beacon (C2)</c:v>
                  </c:pt>
                  <c:pt idx="2">
                    <c:v>+ IOS mode (C3)</c:v>
                  </c:pt>
                </c:lvl>
              </c:multiLvlStrCache>
            </c:multiLvlStrRef>
          </c:cat>
          <c:val>
            <c:numRef>
              <c:f>Sheet1!$B$2:$B$4</c:f>
              <c:numCache>
                <c:formatCode>General</c:formatCode>
                <c:ptCount val="3"/>
                <c:pt idx="0">
                  <c:v>0.045</c:v>
                </c:pt>
                <c:pt idx="1">
                  <c:v>0.40405973231342884</c:v>
                </c:pt>
                <c:pt idx="2">
                  <c:v>1.149059732313429</c:v>
                </c:pt>
              </c:numCache>
            </c:numRef>
          </c:val>
        </c:ser>
        <c:ser>
          <c:idx val="1"/>
          <c:order val="1"/>
          <c:tx>
            <c:strRef>
              <c:f>Sheet1!$C$1</c:f>
              <c:strCache>
                <c:ptCount val="1"/>
                <c:pt idx="0">
                  <c:v>Extra expected benefit</c:v>
                </c:pt>
              </c:strCache>
            </c:strRef>
          </c:tx>
          <c:spPr>
            <a:solidFill>
              <a:srgbClr val="7DFFB2"/>
            </a:solidFill>
            <a:effectLst/>
          </c:spPr>
          <c:invertIfNegative val="0"/>
          <c:dLbls>
            <c:numFmt formatCode="0.00" sourceLinked="0"/>
            <c:txPr>
              <a:bodyPr/>
              <a:lstStyle/>
              <a:p>
                <a:pPr>
                  <a:defRPr b="0" i="0" strike="noStrike" sz="1200" u="none">
                    <a:solidFill>
                      <a:srgbClr val="DFE8F5"/>
                    </a:solidFill>
                    <a:latin typeface="+mn-lt"/>
                  </a:defRPr>
                </a:pPr>
              </a:p>
            </c:txPr>
            <c:showLegendKey val="0"/>
            <c:showVal val="1"/>
            <c:showCatName val="0"/>
            <c:showSerName val="0"/>
            <c:showPercent val="0"/>
            <c:showBubbleSize val="0"/>
            <c:showLeaderLines val="0"/>
          </c:dLbls>
          <c:cat>
            <c:multiLvlStrRef>
              <c:f>Sheet1!$A$2:$A$4</c:f>
              <c:multiLvlStrCache>
                <c:ptCount val="3"/>
                <c:lvl>
                  <c:pt idx="0">
                    <c:v>Markers (C1)</c:v>
                  </c:pt>
                  <c:pt idx="1">
                    <c:v>+ rate beacon (C2)</c:v>
                  </c:pt>
                  <c:pt idx="2">
                    <c:v>+ IOS mode (C3)</c:v>
                  </c:pt>
                </c:lvl>
              </c:multiLvlStrCache>
            </c:multiLvlStrRef>
          </c:cat>
          <c:val>
            <c:numRef>
              <c:f>Sheet1!$C$2:$C$4</c:f>
              <c:numCache>
                <c:formatCode>General</c:formatCode>
                <c:ptCount val="3"/>
                <c:pt idx="0">
                  <c:v>0.744649490848833</c:v>
                </c:pt>
                <c:pt idx="1">
                  <c:v>0.7923943639362312</c:v>
                </c:pt>
                <c:pt idx="2">
                  <c:v>0.7923943639362312</c:v>
                </c:pt>
              </c:numCache>
            </c:numRef>
          </c:val>
        </c:ser>
        <c:dLbls>
          <c:numFmt formatCode="0.00" sourceLinked="0"/>
          <c:txPr>
            <a:bodyPr/>
            <a:lstStyle/>
            <a:p>
              <a:pPr>
                <a:defRPr b="0" i="0" strike="noStrike" sz="1200" u="none">
                  <a:solidFill>
                    <a:srgbClr val="DFE8F5"/>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FA6C8"/>
                </a:solidFill>
                <a:latin typeface="+mn-lt"/>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24365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FA6C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DFE8F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DFE8F5"/>
                </a:solidFill>
                <a:latin typeface="+mn-lt"/>
              </a:defRPr>
            </a:pPr>
            <a:r>
              <a:rPr sz="1400" b="0" i="0" u="none" strike="noStrike">
                <a:solidFill>
                  <a:srgbClr val="DFE8F5"/>
                </a:solidFill>
                <a:latin typeface="+mn-lt"/>
              </a:rPr>
              <a:t>Net value per satellite, EUR M, by chance a client ever needs rescue</a:t>
            </a:r>
          </a:p>
        </c:rich>
      </c:tx>
      <c:layout/>
      <c:overlay val="0"/>
    </c:title>
    <c:autoTitleDeleted val="0"/>
    <c:plotArea>
      <c:layout/>
      <c:lineChart>
        <c:varyColors val="0"/>
        <c:ser>
          <c:idx val="0"/>
          <c:order val="0"/>
          <c:tx>
            <c:strRef>
              <c:f>Sheet1!$B$1</c:f>
              <c:strCache>
                <c:ptCount val="1"/>
                <c:pt idx="0">
                  <c:v>Markers vs none, 3 deg/s</c:v>
                </c:pt>
              </c:strCache>
            </c:strRef>
          </c:tx>
          <c:spPr>
            <a:solidFill>
              <a:srgbClr val="FFB454"/>
            </a:solidFill>
            <a:ln w="38100" cap="flat">
              <a:solidFill>
                <a:srgbClr val="FFB454"/>
              </a:solidFill>
              <a:prstDash val="solid"/>
              <a:round/>
            </a:ln>
            <a:effectLst/>
          </c:spPr>
          <c:invertIfNegative val="0"/>
          <c:dLbls>
            <c:numFmt formatCode="#,##0" sourceLinked="0"/>
            <c:txPr>
              <a:bodyPr/>
              <a:lstStyle/>
              <a:p>
                <a:pPr>
                  <a:defRPr b="0" i="0" strike="noStrike" sz="1200" u="none">
                    <a:solidFill>
                      <a:srgbClr val="DFE8F5"/>
                    </a:solidFill>
                    <a:latin typeface="+mn-lt"/>
                  </a:defRPr>
                </a:pPr>
              </a:p>
            </c:txPr>
            <c:showLegendKey val="0"/>
            <c:showVal val="0"/>
            <c:showCatName val="0"/>
            <c:showSerName val="0"/>
            <c:showPercent val="0"/>
            <c:showBubbleSize val="0"/>
            <c:showLeaderLines val="0"/>
          </c:dLbls>
          <c:marker>
            <c:symbol val="circle"/>
            <c:size val="8"/>
            <c:spPr>
              <a:solidFill>
                <a:srgbClr val="FFB454"/>
              </a:solidFill>
              <a:ln w="9525" cap="flat">
                <a:solidFill>
                  <a:srgbClr val="FFB454"/>
                </a:solidFill>
                <a:prstDash val="solid"/>
                <a:round/>
              </a:ln>
              <a:effectLst/>
            </c:spPr>
          </c:marker>
          <c:cat>
            <c:multiLvlStrRef>
              <c:f>Sheet1!$A$2:$A$6</c:f>
              <c:multiLvlStrCache>
                <c:ptCount val="5"/>
                <c:lvl>
                  <c:pt idx="0">
                    <c:v>1%</c:v>
                  </c:pt>
                  <c:pt idx="1">
                    <c:v>2%</c:v>
                  </c:pt>
                  <c:pt idx="2">
                    <c:v>5%</c:v>
                  </c:pt>
                  <c:pt idx="3">
                    <c:v>10%</c:v>
                  </c:pt>
                  <c:pt idx="4">
                    <c:v>20%</c:v>
                  </c:pt>
                </c:lvl>
              </c:multiLvlStrCache>
            </c:multiLvlStrRef>
          </c:cat>
          <c:val>
            <c:numRef>
              <c:f>Sheet1!$B$2:$B$6</c:f>
              <c:numCache>
                <c:formatCode>General</c:formatCode>
                <c:ptCount val="5"/>
                <c:pt idx="0">
                  <c:v>0.02946494908488331</c:v>
                </c:pt>
                <c:pt idx="1">
                  <c:v>0.10392989816976661</c:v>
                </c:pt>
                <c:pt idx="2">
                  <c:v>0.32732474542441664</c:v>
                </c:pt>
                <c:pt idx="3">
                  <c:v>0.6996494908488332</c:v>
                </c:pt>
                <c:pt idx="4">
                  <c:v>1.4442989816976664</c:v>
                </c:pt>
              </c:numCache>
            </c:numRef>
          </c:val>
          <c:smooth val="0"/>
        </c:ser>
        <c:ser>
          <c:idx val="1"/>
          <c:order val="1"/>
          <c:tx>
            <c:strRef>
              <c:f>Sheet1!$C$1</c:f>
              <c:strCache>
                <c:ptCount val="1"/>
                <c:pt idx="0">
                  <c:v>IOS mode vs none, 5 deg/s</c:v>
                </c:pt>
              </c:strCache>
            </c:strRef>
          </c:tx>
          <c:spPr>
            <a:solidFill>
              <a:srgbClr val="5AD1FF"/>
            </a:solidFill>
            <a:ln w="38100" cap="flat">
              <a:solidFill>
                <a:srgbClr val="5AD1FF"/>
              </a:solidFill>
              <a:prstDash val="solid"/>
              <a:round/>
            </a:ln>
            <a:effectLst/>
          </c:spPr>
          <c:invertIfNegative val="0"/>
          <c:dLbls>
            <c:numFmt formatCode="#,##0" sourceLinked="0"/>
            <c:txPr>
              <a:bodyPr/>
              <a:lstStyle/>
              <a:p>
                <a:pPr>
                  <a:defRPr b="0" i="0" strike="noStrike" sz="1200" u="none">
                    <a:solidFill>
                      <a:srgbClr val="DFE8F5"/>
                    </a:solidFill>
                    <a:latin typeface="+mn-lt"/>
                  </a:defRPr>
                </a:pPr>
              </a:p>
            </c:txPr>
            <c:showLegendKey val="0"/>
            <c:showVal val="0"/>
            <c:showCatName val="0"/>
            <c:showSerName val="0"/>
            <c:showPercent val="0"/>
            <c:showBubbleSize val="0"/>
            <c:showLeaderLines val="0"/>
          </c:dLbls>
          <c:marker>
            <c:symbol val="circle"/>
            <c:size val="8"/>
            <c:spPr>
              <a:solidFill>
                <a:srgbClr val="5AD1FF"/>
              </a:solidFill>
              <a:ln w="9525" cap="flat">
                <a:solidFill>
                  <a:srgbClr val="5AD1FF"/>
                </a:solidFill>
                <a:prstDash val="solid"/>
                <a:round/>
              </a:ln>
              <a:effectLst/>
            </c:spPr>
          </c:marker>
          <c:cat>
            <c:multiLvlStrRef>
              <c:f>Sheet1!$A$2:$A$6</c:f>
              <c:multiLvlStrCache>
                <c:ptCount val="5"/>
                <c:lvl>
                  <c:pt idx="0">
                    <c:v>1%</c:v>
                  </c:pt>
                  <c:pt idx="1">
                    <c:v>2%</c:v>
                  </c:pt>
                  <c:pt idx="2">
                    <c:v>5%</c:v>
                  </c:pt>
                  <c:pt idx="3">
                    <c:v>10%</c:v>
                  </c:pt>
                  <c:pt idx="4">
                    <c:v>20%</c:v>
                  </c:pt>
                </c:lvl>
              </c:multiLvlStrCache>
            </c:multiLvlStrRef>
          </c:cat>
          <c:val>
            <c:numRef>
              <c:f>Sheet1!$C$2:$C$6</c:f>
              <c:numCache>
                <c:formatCode>General</c:formatCode>
                <c:ptCount val="5"/>
                <c:pt idx="0">
                  <c:v>-0.9338415100097613</c:v>
                </c:pt>
                <c:pt idx="1">
                  <c:v>-0.7186232877060936</c:v>
                </c:pt>
                <c:pt idx="2">
                  <c:v>-0.07296862079509071</c:v>
                </c:pt>
                <c:pt idx="3">
                  <c:v>1.0031224907232477</c:v>
                </c:pt>
                <c:pt idx="4">
                  <c:v>3.155304713759924</c:v>
                </c:pt>
              </c:numCache>
            </c:numRef>
          </c:val>
          <c:smooth val="0"/>
        </c:ser>
        <c:dLbls>
          <c:numFmt formatCode="#,##0" sourceLinked="0"/>
          <c:txPr>
            <a:bodyPr/>
            <a:lstStyle/>
            <a:p>
              <a:pPr>
                <a:defRPr b="0" i="0" strike="noStrike" sz="1200" u="none">
                  <a:solidFill>
                    <a:srgbClr val="DFE8F5"/>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FA6C8"/>
                </a:solidFill>
                <a:latin typeface="+mn-lt"/>
              </a:defRPr>
            </a:pPr>
            <a:endParaRPr lang="en-US"/>
          </a:p>
        </c:txPr>
        <c:crossAx val="2094734552"/>
        <c:crosses val="autoZero"/>
        <c:auto val="1"/>
        <c:lblAlgn val="ctr"/>
        <c:noMultiLvlLbl val="1"/>
      </c:catAx>
      <c:valAx>
        <c:axId val="2094734552"/>
        <c:scaling>
          <c:orientation val="minMax"/>
          <c:max val="3.5"/>
          <c:min val="-1"/>
        </c:scaling>
        <c:delete val="0"/>
        <c:axPos val="l"/>
        <c:majorGridlines>
          <c:spPr>
            <a:ln w="9525" cap="flat">
              <a:solidFill>
                <a:srgbClr val="24365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FA6C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DFE8F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DFE8F5"/>
                </a:solidFill>
                <a:latin typeface="+mn-lt"/>
              </a:defRPr>
            </a:pPr>
            <a:r>
              <a:rPr sz="1400" b="0" i="0" u="none" strike="noStrike">
                <a:solidFill>
                  <a:srgbClr val="DFE8F5"/>
                </a:solidFill>
                <a:latin typeface="+mn-lt"/>
              </a:rPr>
              <a:t>Terminal window met, % of 100 paired seeds, by tumble rate (deg/s)</a:t>
            </a:r>
          </a:p>
        </c:rich>
      </c:tx>
      <c:layout/>
      <c:overlay val="0"/>
    </c:title>
    <c:autoTitleDeleted val="0"/>
    <c:plotArea>
      <c:layout/>
      <c:lineChart>
        <c:varyColors val="0"/>
        <c:ser>
          <c:idx val="0"/>
          <c:order val="0"/>
          <c:tx>
            <c:strRef>
              <c:f>Sheet1!$B$1</c:f>
              <c:strCache>
                <c:ptCount val="1"/>
                <c:pt idx="0">
                  <c:v>C0 unprepared</c:v>
                </c:pt>
              </c:strCache>
            </c:strRef>
          </c:tx>
          <c:spPr>
            <a:solidFill>
              <a:srgbClr val="FF8F8F"/>
            </a:solidFill>
            <a:ln w="38100" cap="flat">
              <a:solidFill>
                <a:srgbClr val="FF8F8F"/>
              </a:solidFill>
              <a:prstDash val="solid"/>
              <a:round/>
            </a:ln>
            <a:effectLst/>
          </c:spPr>
          <c:invertIfNegative val="0"/>
          <c:dLbls>
            <c:numFmt formatCode="#,##0" sourceLinked="0"/>
            <c:txPr>
              <a:bodyPr/>
              <a:lstStyle/>
              <a:p>
                <a:pPr>
                  <a:defRPr b="0" i="0" strike="noStrike" sz="1200" u="none">
                    <a:solidFill>
                      <a:srgbClr val="DFE8F5"/>
                    </a:solidFill>
                    <a:latin typeface="+mn-lt"/>
                  </a:defRPr>
                </a:pPr>
              </a:p>
            </c:txPr>
            <c:showLegendKey val="0"/>
            <c:showVal val="0"/>
            <c:showCatName val="0"/>
            <c:showSerName val="0"/>
            <c:showPercent val="0"/>
            <c:showBubbleSize val="0"/>
            <c:showLeaderLines val="0"/>
          </c:dLbls>
          <c:marker>
            <c:symbol val="circle"/>
            <c:size val="7"/>
            <c:spPr>
              <a:solidFill>
                <a:srgbClr val="FF8F8F"/>
              </a:solidFill>
              <a:ln w="9525" cap="flat">
                <a:solidFill>
                  <a:srgbClr val="FF8F8F"/>
                </a:solidFill>
                <a:prstDash val="solid"/>
                <a:round/>
              </a:ln>
              <a:effectLst/>
            </c:spPr>
          </c:marker>
          <c:cat>
            <c:multiLvlStrRef>
              <c:f>Sheet1!$A$2:$A$8</c:f>
              <c:multiLvlStrCache>
                <c:ptCount val="7"/>
                <c:lvl>
                  <c:pt idx="0">
                    <c:v>0</c:v>
                  </c:pt>
                  <c:pt idx="1">
                    <c:v>0.25</c:v>
                  </c:pt>
                  <c:pt idx="2">
                    <c:v>0.5</c:v>
                  </c:pt>
                  <c:pt idx="3">
                    <c:v>1</c:v>
                  </c:pt>
                  <c:pt idx="4">
                    <c:v>2</c:v>
                  </c:pt>
                  <c:pt idx="5">
                    <c:v>3</c:v>
                  </c:pt>
                  <c:pt idx="6">
                    <c:v>5</c:v>
                  </c:pt>
                </c:lvl>
              </c:multiLvlStrCache>
            </c:multiLvlStrRef>
          </c:cat>
          <c:val>
            <c:numRef>
              <c:f>Sheet1!$B$2:$B$8</c:f>
              <c:numCache>
                <c:formatCode>General</c:formatCode>
                <c:ptCount val="7"/>
                <c:pt idx="0">
                  <c:v>100</c:v>
                </c:pt>
                <c:pt idx="1">
                  <c:v>100</c:v>
                </c:pt>
                <c:pt idx="2">
                  <c:v>100</c:v>
                </c:pt>
                <c:pt idx="3">
                  <c:v>100</c:v>
                </c:pt>
                <c:pt idx="4">
                  <c:v>93</c:v>
                </c:pt>
                <c:pt idx="5">
                  <c:v>41</c:v>
                </c:pt>
                <c:pt idx="6">
                  <c:v>0</c:v>
                </c:pt>
              </c:numCache>
            </c:numRef>
          </c:val>
          <c:smooth val="0"/>
        </c:ser>
        <c:ser>
          <c:idx val="1"/>
          <c:order val="1"/>
          <c:tx>
            <c:strRef>
              <c:f>Sheet1!$C$1</c:f>
              <c:strCache>
                <c:ptCount val="1"/>
                <c:pt idx="0">
                  <c:v>C1 markers</c:v>
                </c:pt>
              </c:strCache>
            </c:strRef>
          </c:tx>
          <c:spPr>
            <a:solidFill>
              <a:srgbClr val="FFB454"/>
            </a:solidFill>
            <a:ln w="38100" cap="flat">
              <a:solidFill>
                <a:srgbClr val="FFB454"/>
              </a:solidFill>
              <a:prstDash val="solid"/>
              <a:round/>
            </a:ln>
            <a:effectLst/>
          </c:spPr>
          <c:invertIfNegative val="0"/>
          <c:dLbls>
            <c:numFmt formatCode="#,##0" sourceLinked="0"/>
            <c:txPr>
              <a:bodyPr/>
              <a:lstStyle/>
              <a:p>
                <a:pPr>
                  <a:defRPr b="0" i="0" strike="noStrike" sz="1200" u="none">
                    <a:solidFill>
                      <a:srgbClr val="DFE8F5"/>
                    </a:solidFill>
                    <a:latin typeface="+mn-lt"/>
                  </a:defRPr>
                </a:pPr>
              </a:p>
            </c:txPr>
            <c:showLegendKey val="0"/>
            <c:showVal val="0"/>
            <c:showCatName val="0"/>
            <c:showSerName val="0"/>
            <c:showPercent val="0"/>
            <c:showBubbleSize val="0"/>
            <c:showLeaderLines val="0"/>
          </c:dLbls>
          <c:marker>
            <c:symbol val="circle"/>
            <c:size val="7"/>
            <c:spPr>
              <a:solidFill>
                <a:srgbClr val="FFB454"/>
              </a:solidFill>
              <a:ln w="9525" cap="flat">
                <a:solidFill>
                  <a:srgbClr val="FFB454"/>
                </a:solidFill>
                <a:prstDash val="solid"/>
                <a:round/>
              </a:ln>
              <a:effectLst/>
            </c:spPr>
          </c:marker>
          <c:cat>
            <c:multiLvlStrRef>
              <c:f>Sheet1!$A$2:$A$8</c:f>
              <c:multiLvlStrCache>
                <c:ptCount val="7"/>
                <c:lvl>
                  <c:pt idx="0">
                    <c:v>0</c:v>
                  </c:pt>
                  <c:pt idx="1">
                    <c:v>0.25</c:v>
                  </c:pt>
                  <c:pt idx="2">
                    <c:v>0.5</c:v>
                  </c:pt>
                  <c:pt idx="3">
                    <c:v>1</c:v>
                  </c:pt>
                  <c:pt idx="4">
                    <c:v>2</c:v>
                  </c:pt>
                  <c:pt idx="5">
                    <c:v>3</c:v>
                  </c:pt>
                  <c:pt idx="6">
                    <c:v>5</c:v>
                  </c:pt>
                </c:lvl>
              </c:multiLvlStrCache>
            </c:multiLvlStrRef>
          </c:cat>
          <c:val>
            <c:numRef>
              <c:f>Sheet1!$C$2:$C$8</c:f>
              <c:numCache>
                <c:formatCode>General</c:formatCode>
                <c:ptCount val="7"/>
                <c:pt idx="0">
                  <c:v>100</c:v>
                </c:pt>
                <c:pt idx="1">
                  <c:v>100</c:v>
                </c:pt>
                <c:pt idx="2">
                  <c:v>100</c:v>
                </c:pt>
                <c:pt idx="3">
                  <c:v>100</c:v>
                </c:pt>
                <c:pt idx="4">
                  <c:v>100</c:v>
                </c:pt>
                <c:pt idx="5">
                  <c:v>92</c:v>
                </c:pt>
                <c:pt idx="6">
                  <c:v>0</c:v>
                </c:pt>
              </c:numCache>
            </c:numRef>
          </c:val>
          <c:smooth val="0"/>
        </c:ser>
        <c:ser>
          <c:idx val="2"/>
          <c:order val="2"/>
          <c:tx>
            <c:strRef>
              <c:f>Sheet1!$D$1</c:f>
              <c:strCache>
                <c:ptCount val="1"/>
                <c:pt idx="0">
                  <c:v>C2 marker + rate beacon</c:v>
                </c:pt>
              </c:strCache>
            </c:strRef>
          </c:tx>
          <c:spPr>
            <a:solidFill>
              <a:srgbClr val="7DFFB2"/>
            </a:solidFill>
            <a:ln w="38100" cap="flat">
              <a:solidFill>
                <a:srgbClr val="7DFFB2"/>
              </a:solidFill>
              <a:prstDash val="solid"/>
              <a:round/>
            </a:ln>
            <a:effectLst/>
          </c:spPr>
          <c:invertIfNegative val="0"/>
          <c:dLbls>
            <c:numFmt formatCode="#,##0" sourceLinked="0"/>
            <c:txPr>
              <a:bodyPr/>
              <a:lstStyle/>
              <a:p>
                <a:pPr>
                  <a:defRPr b="0" i="0" strike="noStrike" sz="1200" u="none">
                    <a:solidFill>
                      <a:srgbClr val="DFE8F5"/>
                    </a:solidFill>
                    <a:latin typeface="+mn-lt"/>
                  </a:defRPr>
                </a:pPr>
              </a:p>
            </c:txPr>
            <c:showLegendKey val="0"/>
            <c:showVal val="0"/>
            <c:showCatName val="0"/>
            <c:showSerName val="0"/>
            <c:showPercent val="0"/>
            <c:showBubbleSize val="0"/>
            <c:showLeaderLines val="0"/>
          </c:dLbls>
          <c:marker>
            <c:symbol val="circle"/>
            <c:size val="7"/>
            <c:spPr>
              <a:solidFill>
                <a:srgbClr val="7DFFB2"/>
              </a:solidFill>
              <a:ln w="9525" cap="flat">
                <a:solidFill>
                  <a:srgbClr val="7DFFB2"/>
                </a:solidFill>
                <a:prstDash val="solid"/>
                <a:round/>
              </a:ln>
              <a:effectLst/>
            </c:spPr>
          </c:marker>
          <c:cat>
            <c:multiLvlStrRef>
              <c:f>Sheet1!$A$2:$A$8</c:f>
              <c:multiLvlStrCache>
                <c:ptCount val="7"/>
                <c:lvl>
                  <c:pt idx="0">
                    <c:v>0</c:v>
                  </c:pt>
                  <c:pt idx="1">
                    <c:v>0.25</c:v>
                  </c:pt>
                  <c:pt idx="2">
                    <c:v>0.5</c:v>
                  </c:pt>
                  <c:pt idx="3">
                    <c:v>1</c:v>
                  </c:pt>
                  <c:pt idx="4">
                    <c:v>2</c:v>
                  </c:pt>
                  <c:pt idx="5">
                    <c:v>3</c:v>
                  </c:pt>
                  <c:pt idx="6">
                    <c:v>5</c:v>
                  </c:pt>
                </c:lvl>
              </c:multiLvlStrCache>
            </c:multiLvlStrRef>
          </c:cat>
          <c:val>
            <c:numRef>
              <c:f>Sheet1!$D$2:$D$8</c:f>
              <c:numCache>
                <c:formatCode>General</c:formatCode>
                <c:ptCount val="7"/>
                <c:pt idx="0">
                  <c:v>100</c:v>
                </c:pt>
                <c:pt idx="1">
                  <c:v>100</c:v>
                </c:pt>
                <c:pt idx="2">
                  <c:v>100</c:v>
                </c:pt>
                <c:pt idx="3">
                  <c:v>100</c:v>
                </c:pt>
                <c:pt idx="4">
                  <c:v>100</c:v>
                </c:pt>
                <c:pt idx="5">
                  <c:v>100</c:v>
                </c:pt>
                <c:pt idx="6">
                  <c:v>0</c:v>
                </c:pt>
              </c:numCache>
            </c:numRef>
          </c:val>
          <c:smooth val="0"/>
        </c:ser>
        <c:ser>
          <c:idx val="3"/>
          <c:order val="3"/>
          <c:tx>
            <c:strRef>
              <c:f>Sheet1!$E$1</c:f>
              <c:strCache>
                <c:ptCount val="1"/>
                <c:pt idx="0">
                  <c:v>C3 IOS mode</c:v>
                </c:pt>
              </c:strCache>
            </c:strRef>
          </c:tx>
          <c:spPr>
            <a:solidFill>
              <a:srgbClr val="5AD1FF"/>
            </a:solidFill>
            <a:ln w="38100" cap="flat">
              <a:solidFill>
                <a:srgbClr val="5AD1FF"/>
              </a:solidFill>
              <a:prstDash val="solid"/>
              <a:round/>
            </a:ln>
            <a:effectLst/>
          </c:spPr>
          <c:invertIfNegative val="0"/>
          <c:dLbls>
            <c:numFmt formatCode="#,##0" sourceLinked="0"/>
            <c:txPr>
              <a:bodyPr/>
              <a:lstStyle/>
              <a:p>
                <a:pPr>
                  <a:defRPr b="0" i="0" strike="noStrike" sz="1200" u="none">
                    <a:solidFill>
                      <a:srgbClr val="DFE8F5"/>
                    </a:solidFill>
                    <a:latin typeface="+mn-lt"/>
                  </a:defRPr>
                </a:pPr>
              </a:p>
            </c:txPr>
            <c:showLegendKey val="0"/>
            <c:showVal val="0"/>
            <c:showCatName val="0"/>
            <c:showSerName val="0"/>
            <c:showPercent val="0"/>
            <c:showBubbleSize val="0"/>
            <c:showLeaderLines val="0"/>
          </c:dLbls>
          <c:marker>
            <c:symbol val="circle"/>
            <c:size val="7"/>
            <c:spPr>
              <a:solidFill>
                <a:srgbClr val="5AD1FF"/>
              </a:solidFill>
              <a:ln w="9525" cap="flat">
                <a:solidFill>
                  <a:srgbClr val="5AD1FF"/>
                </a:solidFill>
                <a:prstDash val="solid"/>
                <a:round/>
              </a:ln>
              <a:effectLst/>
            </c:spPr>
          </c:marker>
          <c:cat>
            <c:multiLvlStrRef>
              <c:f>Sheet1!$A$2:$A$8</c:f>
              <c:multiLvlStrCache>
                <c:ptCount val="7"/>
                <c:lvl>
                  <c:pt idx="0">
                    <c:v>0</c:v>
                  </c:pt>
                  <c:pt idx="1">
                    <c:v>0.25</c:v>
                  </c:pt>
                  <c:pt idx="2">
                    <c:v>0.5</c:v>
                  </c:pt>
                  <c:pt idx="3">
                    <c:v>1</c:v>
                  </c:pt>
                  <c:pt idx="4">
                    <c:v>2</c:v>
                  </c:pt>
                  <c:pt idx="5">
                    <c:v>3</c:v>
                  </c:pt>
                  <c:pt idx="6">
                    <c:v>5</c:v>
                  </c:pt>
                </c:lvl>
              </c:multiLvlStrCache>
            </c:multiLvlStrRef>
          </c:cat>
          <c:val>
            <c:numRef>
              <c:f>Sheet1!$E$2:$E$8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DFE8F5"/>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FA6C8"/>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24365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FA6C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DFE8F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DFE8F5"/>
                </a:solidFill>
                <a:latin typeface="+mn-lt"/>
              </a:defRPr>
            </a:pPr>
            <a:r>
              <a:rPr sz="1400" b="0" i="0" u="none" strike="noStrike">
                <a:solidFill>
                  <a:srgbClr val="DFE8F5"/>
                </a:solidFill>
                <a:latin typeface="+mn-lt"/>
              </a:rPr>
              <a:t>Servicer break-even price per successful visit, EUR M (3 deg/s)</a:t>
            </a:r>
          </a:p>
        </c:rich>
      </c:tx>
      <c:layout/>
      <c:overlay val="0"/>
    </c:title>
    <c:autoTitleDeleted val="0"/>
    <c:plotArea>
      <c:layout/>
      <c:barChart>
        <c:barDir val="col"/>
        <c:grouping val="clustered"/>
        <c:varyColors val="0"/>
        <c:ser>
          <c:idx val="0"/>
          <c:order val="0"/>
          <c:tx>
            <c:strRef>
              <c:f>Sheet1!$B$1</c:f>
              <c:strCache>
                <c:ptCount val="1"/>
                <c:pt idx="0">
                  <c:v>EUR M</c:v>
                </c:pt>
              </c:strCache>
            </c:strRef>
          </c:tx>
          <c:spPr>
            <a:solidFill>
              <a:srgbClr val="FF8F8F"/>
            </a:solidFill>
            <a:effectLst/>
          </c:spPr>
          <c:invertIfNegative val="0"/>
          <c:dLbls>
            <c:numFmt formatCode="0.0" sourceLinked="0"/>
            <c:txPr>
              <a:bodyPr/>
              <a:lstStyle/>
              <a:p>
                <a:pPr>
                  <a:defRPr b="0" i="0" strike="noStrike" sz="1200" u="none">
                    <a:solidFill>
                      <a:srgbClr val="DFE8F5"/>
                    </a:solidFill>
                    <a:latin typeface="+mn-lt"/>
                  </a:defRPr>
                </a:pPr>
              </a:p>
            </c:txPr>
            <c:showLegendKey val="0"/>
            <c:showVal val="1"/>
            <c:showCatName val="0"/>
            <c:showSerName val="0"/>
            <c:showPercent val="0"/>
            <c:showBubbleSize val="0"/>
            <c:showLeaderLines val="0"/>
          </c:dLbls>
          <c:dPt>
            <c:idx val="0"/>
            <c:invertIfNegative val="0"/>
            <c:bubble3D val="0"/>
            <c:spPr>
              <a:solidFill>
                <a:srgbClr val="FF8F8F"/>
              </a:solidFill>
              <a:effectLst/>
            </c:spPr>
          </c:dPt>
          <c:dPt>
            <c:idx val="1"/>
            <c:invertIfNegative val="0"/>
            <c:bubble3D val="0"/>
            <c:spPr>
              <a:solidFill>
                <a:srgbClr val="FFB454"/>
              </a:solidFill>
              <a:effectLst/>
            </c:spPr>
          </c:dPt>
          <c:dPt>
            <c:idx val="2"/>
            <c:invertIfNegative val="0"/>
            <c:bubble3D val="0"/>
            <c:spPr>
              <a:solidFill>
                <a:srgbClr val="7DFFB2"/>
              </a:solidFill>
              <a:effectLst/>
            </c:spPr>
          </c:dPt>
          <c:dPt>
            <c:idx val="3"/>
            <c:invertIfNegative val="0"/>
            <c:bubble3D val="0"/>
            <c:spPr>
              <a:solidFill>
                <a:srgbClr val="5AD1FF"/>
              </a:solidFill>
              <a:effectLst/>
            </c:spPr>
          </c:dPt>
          <c:cat>
            <c:multiLvlStrRef>
              <c:f>Sheet1!$A$2:$A$5</c:f>
              <c:multiLvlStrCache>
                <c:ptCount val="4"/>
                <c:lvl>
                  <c:pt idx="0">
                    <c:v>Unprepared</c:v>
                  </c:pt>
                  <c:pt idx="1">
                    <c:v>Markers</c:v>
                  </c:pt>
                  <c:pt idx="2">
                    <c:v>+ rate beacon</c:v>
                  </c:pt>
                  <c:pt idx="3">
                    <c:v>+ IOS mode</c:v>
                  </c:pt>
                </c:lvl>
              </c:multiLvlStrCache>
            </c:multiLvlStrRef>
          </c:cat>
          <c:val>
            <c:numRef>
              <c:f>Sheet1!$B$2:$B$5</c:f>
              <c:numCache>
                <c:formatCode>General</c:formatCode>
                <c:ptCount val="4"/>
                <c:pt idx="0">
                  <c:v>32.014056404300305</c:v>
                </c:pt>
                <c:pt idx="1">
                  <c:v>19.974670260001453</c:v>
                </c:pt>
                <c:pt idx="2">
                  <c:v>19.545454545454547</c:v>
                </c:pt>
                <c:pt idx="3">
                  <c:v>19.545454545454547</c:v>
                </c:pt>
              </c:numCache>
            </c:numRef>
          </c:val>
        </c:ser>
        <c:dLbls>
          <c:numFmt formatCode="0.0" sourceLinked="0"/>
          <c:txPr>
            <a:bodyPr/>
            <a:lstStyle/>
            <a:p>
              <a:pPr>
                <a:defRPr b="0" i="0" strike="noStrike" sz="1200" u="none">
                  <a:solidFill>
                    <a:srgbClr val="DFE8F5"/>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FA6C8"/>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9525" cap="flat">
              <a:solidFill>
                <a:srgbClr val="24365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FA6C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We are Orbit Observers. We turn a stranded satellite into a recoverable asset. We are going to talk about money first: what a failure costs, what preparation costs, and when it pays. (The 10 second video plays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A GEO satellite that fails in year ten strands about five years of profit: 120 million euros on our assumptions. A rescue costs 75 million, so the owner keeps 45 million, but only if the servicer can actually reach the satellite. Every money figure in this deck is an assumed input; the outcomes come from our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Three customers. The operator or satellite maker asks whether the kit pays for itself. The servicer asks whether it can serve more clients per vehicle. Insurers and regulators ask whether they can trust the risk number. We answer each with a number, and we will show where each number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This is what the customer buys. Four tiers from end-of-life capture to an augmentation-ready service zone. Prices per satellite are assumed: 0.36 million for tier one up to 6.7 million for tier four. Most buyers would start at tier one 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Return on spend. At three degrees per second, markers return about 16 times their cost in expected benefit on our assumptions. On a ten-satellite fleet that is about 7 million euros of expected benefit for under half a million of markers. The beacon and IOS mode add little on approach alone at this tumble rate; they pay where tumble can exceed the passive limit or where identity, health and handover data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Whether it pays depends on one number: how often a satellite fails badly enough to need rescue. Markers break even at 0.6 percent. IOS mode breaks even at 5.3 percent where tumble reaches five degrees per second. We do not know that failure rate, so it is the first thing we want to test with operators.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 Why the money works. At three degrees per second an unprepared client is reached within three attempts 64 percent of the time and the mission is lost 30 percent of the time. With markers those become 98 and 2 percent. Three client states are covered: nominal, degraded and tumbling. A radio that only sends identity changes nothing; rate data adds 8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For the servicer, a prepared client means fewer retries, so the same vehicle completes about 21 rescues instead of 13. Its break-even price per success falls from 32 to 20 million euros. That lets the whole market price lower, which is what makes the owner's decision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 work makes the servicer smarter and standardises the physical interfaces. We ask what the client must carry to stay serviceable when degraded, and what that is worth. Our searches found no controlled paired measurement of client preparation, and no dedicated servicing beacon with control handover; but we only read abstracts, so this needs a full review and a patent search. Detail: docs/RESEARCH_AND_NOVELTY.md.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 Can you rely on the numbers? 74 tests, 41 thousand simulated approaches, zero keep-out violations in the latest campaign, replayable from stored seeds. And what we do not claim: no contact model, no hardware data, and every cost is an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 How we earn: a per-satellite kit at build time, partnerships with servicers that share the savings from fewer retries, and an evidence service for insurers and regulators. Competitors mostly fix the servicer; we specify the client. Competitor and standards lists still need sourcing, and a patent search is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 Each stage proves one money assumption. The ground demonstration proves the technical numbers with a beacon bench and a contact model; the in-orbit demonstration proves the savings per visit; selling tiers proves the price customers accept. A draft ground-demo budget is about 770 thousand euros, all assumed. We need three things: failure statistics, a reference client, and agreed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 A small preparation now, a recoverable asset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diagram from the team. Covered: navigation aids, servicer GNC and abort logic, ground platform. Partial: beacon, IOS, health monitoring. Not modelled: utility and fluid transfer, upgrade port, robotic servicing. Full table: docs/PRESENTATION_PACK.md section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446520"/>
            <a:ext cx="9144000" cy="274320"/>
          </a:xfrm>
          <a:prstGeom prst="rect">
            <a:avLst/>
          </a:prstGeom>
          <a:noFill/>
          <a:ln/>
        </p:spPr>
        <p:txBody>
          <a:bodyPr wrap="square" lIns="0" tIns="0" rIns="0" bIns="0" rtlCol="0" anchor="ctr"/>
          <a:lstStyle/>
          <a:p>
            <a:pPr indent="0" marL="0">
              <a:buNone/>
            </a:pPr>
            <a:r>
              <a:rPr lang="en-US" sz="1000" dirty="0">
                <a:solidFill>
                  <a:schemeClr val="bg2"/>
                </a:solidFill>
              </a:rPr>
              <a:t>Orbit Observers  |  model-based study. Money figures use assumed inputs, not customer data</a:t>
            </a:r>
            <a:endParaRPr lang="en-US" sz="1000" dirty="0"/>
          </a:p>
        </p:txBody>
      </p:sp>
      <p:sp>
        <p:nvSpPr>
          <p:cNvPr id="3" name="Text 1"/>
          <p:cNvSpPr/>
          <p:nvPr>
            <p:ph idx="101" type="title" hasCustomPrompt="1"/>
          </p:nvPr>
        </p:nvSpPr>
        <p:spPr>
          <a:xfrm>
            <a:off x="548640" y="365760"/>
            <a:ext cx="11091672"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1091672" cy="146304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Orbit Observers</a:t>
            </a:r>
            <a:endParaRPr lang="en-US" sz="3200" dirty="0"/>
          </a:p>
        </p:txBody>
      </p:sp>
      <p:sp>
        <p:nvSpPr>
          <p:cNvPr id="3" name="Text 1"/>
          <p:cNvSpPr txBox="1"/>
          <p:nvPr/>
        </p:nvSpPr>
        <p:spPr>
          <a:xfrm>
            <a:off x="548640" y="1371600"/>
            <a:ext cx="5120640" cy="1188720"/>
          </a:xfrm>
          <a:prstGeom prst="rect">
            <a:avLst/>
          </a:prstGeom>
          <a:noFill/>
          <a:ln/>
        </p:spPr>
        <p:txBody>
          <a:bodyPr wrap="square" lIns="0" tIns="0" rIns="0" bIns="0" rtlCol="0" anchor="t"/>
          <a:lstStyle/>
          <a:p>
            <a:pPr indent="0" marL="0">
              <a:buNone/>
            </a:pPr>
            <a:r>
              <a:rPr lang="en-US" sz="2600" dirty="0">
                <a:solidFill>
                  <a:schemeClr val="accent1"/>
                </a:solidFill>
              </a:rPr>
              <a:t>Turn a stranded satellite into a recoverable asset</a:t>
            </a:r>
            <a:endParaRPr lang="en-US" sz="2600" dirty="0"/>
          </a:p>
        </p:txBody>
      </p:sp>
      <p:sp>
        <p:nvSpPr>
          <p:cNvPr id="4" name="Text 2"/>
          <p:cNvSpPr txBox="1"/>
          <p:nvPr/>
        </p:nvSpPr>
        <p:spPr>
          <a:xfrm>
            <a:off x="548640" y="2834640"/>
            <a:ext cx="4937760" cy="1371600"/>
          </a:xfrm>
          <a:prstGeom prst="rect">
            <a:avLst/>
          </a:prstGeom>
          <a:noFill/>
          <a:ln/>
        </p:spPr>
        <p:txBody>
          <a:bodyPr wrap="square" lIns="0" tIns="0" rIns="0" bIns="0" rtlCol="0" anchor="t"/>
          <a:lstStyle/>
          <a:p>
            <a:pPr indent="0" marL="0">
              <a:buNone/>
            </a:pPr>
            <a:r>
              <a:rPr lang="en-US" sz="1800" dirty="0">
                <a:solidFill>
                  <a:schemeClr val="bg1"/>
                </a:solidFill>
              </a:rPr>
              <a:t>A small, priced preparation added at build time, so a future servicer can reach your satellite even after it fails.</a:t>
            </a:r>
            <a:endParaRPr lang="en-US" sz="1800" dirty="0"/>
          </a:p>
        </p:txBody>
      </p:sp>
      <p:sp>
        <p:nvSpPr>
          <p:cNvPr id="5" name="Text 3"/>
          <p:cNvSpPr txBox="1"/>
          <p:nvPr/>
        </p:nvSpPr>
        <p:spPr>
          <a:xfrm>
            <a:off x="548640" y="4572000"/>
            <a:ext cx="5120640" cy="640080"/>
          </a:xfrm>
          <a:prstGeom prst="rect">
            <a:avLst/>
          </a:prstGeom>
          <a:noFill/>
          <a:ln/>
        </p:spPr>
        <p:txBody>
          <a:bodyPr wrap="square" lIns="0" tIns="0" rIns="0" bIns="0" rtlCol="0" anchor="t"/>
          <a:lstStyle/>
          <a:p>
            <a:pPr indent="0" marL="0">
              <a:buNone/>
            </a:pPr>
            <a:r>
              <a:rPr lang="en-US" sz="1600" dirty="0">
                <a:solidFill>
                  <a:schemeClr val="accent2"/>
                </a:solidFill>
              </a:rPr>
              <a:t>For satellite operators, servicers, insurers and regulators</a:t>
            </a:r>
            <a:endParaRPr lang="en-US" sz="1600" dirty="0"/>
          </a:p>
        </p:txBody>
      </p:sp>
      <p:pic>
        <p:nvPicPr>
          <p:cNvPr id="3" name="Intro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126480" y="1371600"/>
            <a:ext cx="5486400" cy="3086100"/>
          </a:xfrm>
          <a:prstGeom prst="rect">
            <a:avLst/>
          </a:prstGeom>
        </p:spPr>
      </p:pic>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A stranded satellite is a EUR 120 M question</a:t>
            </a:r>
            <a:endParaRPr lang="en-US" sz="3200" dirty="0"/>
          </a:p>
        </p:txBody>
      </p:sp>
      <p:graphicFrame>
        <p:nvGraphicFramePr>
          <p:cNvPr id="3" name="Chart 0" descr=""/>
          <p:cNvGraphicFramePr/>
          <p:nvPr/>
        </p:nvGraphicFramePr>
        <p:xfrm>
          <a:off x="548640" y="1325880"/>
          <a:ext cx="64008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315200" y="1371600"/>
            <a:ext cx="4297680" cy="365760"/>
          </a:xfrm>
          <a:prstGeom prst="rect">
            <a:avLst/>
          </a:prstGeom>
          <a:noFill/>
          <a:ln/>
        </p:spPr>
        <p:txBody>
          <a:bodyPr wrap="square" lIns="0" tIns="0" rIns="0" bIns="0" rtlCol="0" anchor="t"/>
          <a:lstStyle/>
          <a:p>
            <a:pPr indent="0" marL="0">
              <a:buNone/>
            </a:pPr>
            <a:r>
              <a:rPr lang="en-US" sz="2000" b="1" dirty="0">
                <a:solidFill>
                  <a:schemeClr val="accent1"/>
                </a:solidFill>
              </a:rPr>
              <a:t>Why satellites get stranded</a:t>
            </a:r>
            <a:endParaRPr lang="en-US" sz="2000" dirty="0"/>
          </a:p>
        </p:txBody>
      </p:sp>
      <p:sp>
        <p:nvSpPr>
          <p:cNvPr id="5" name="Text 2"/>
          <p:cNvSpPr txBox="1"/>
          <p:nvPr/>
        </p:nvSpPr>
        <p:spPr>
          <a:xfrm>
            <a:off x="7315200" y="1874520"/>
            <a:ext cx="4297680" cy="21031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bg1"/>
                </a:solidFill>
              </a:rPr>
              <a:t>Most legacy satellites were never designed to be grabbed</a:t>
            </a:r>
            <a:endParaRPr lang="en-US" sz="1700" dirty="0"/>
          </a:p>
          <a:p>
            <a:pPr marL="342900" indent="-342900">
              <a:spcAft>
                <a:spcPts val="800"/>
              </a:spcAft>
              <a:buSzPct val="100000"/>
              <a:buChar char="•"/>
            </a:pPr>
            <a:r>
              <a:rPr lang="en-US" sz="1700" dirty="0">
                <a:solidFill>
                  <a:schemeClr val="bg1"/>
                </a:solidFill>
              </a:rPr>
              <a:t>A tumbling client makes the last 12 metres risky for the servicer</a:t>
            </a:r>
            <a:endParaRPr lang="en-US" sz="1700" dirty="0"/>
          </a:p>
          <a:p>
            <a:pPr marL="342900" indent="-342900">
              <a:spcAft>
                <a:spcPts val="800"/>
              </a:spcAft>
              <a:buSzPct val="100000"/>
              <a:buChar char="•"/>
            </a:pPr>
            <a:r>
              <a:rPr lang="en-US" sz="1700" dirty="0">
                <a:solidFill>
                  <a:schemeClr val="bg1"/>
                </a:solidFill>
              </a:rPr>
              <a:t>All-electric platforms remove the accidental features servicers used</a:t>
            </a:r>
            <a:endParaRPr lang="en-US" sz="1700" dirty="0"/>
          </a:p>
        </p:txBody>
      </p:sp>
      <p:sp>
        <p:nvSpPr>
          <p:cNvPr id="6" name="Assumption box"/>
          <p:cNvSpPr/>
          <p:nvPr/>
        </p:nvSpPr>
        <p:spPr>
          <a:xfrm>
            <a:off x="7315200" y="4114800"/>
            <a:ext cx="4325112" cy="1691640"/>
          </a:xfrm>
          <a:prstGeom prst="roundRect">
            <a:avLst>
              <a:gd name="adj" fmla="val 4324"/>
            </a:avLst>
          </a:prstGeom>
          <a:solidFill>
            <a:schemeClr val="tx2"/>
          </a:solidFill>
          <a:ln w="12700">
            <a:solidFill>
              <a:schemeClr val="accent6"/>
            </a:solidFill>
            <a:prstDash val="solid"/>
          </a:ln>
        </p:spPr>
      </p:sp>
      <p:sp>
        <p:nvSpPr>
          <p:cNvPr id="7" name="Text 4"/>
          <p:cNvSpPr txBox="1"/>
          <p:nvPr/>
        </p:nvSpPr>
        <p:spPr>
          <a:xfrm>
            <a:off x="7543800" y="4297680"/>
            <a:ext cx="3886200" cy="1371600"/>
          </a:xfrm>
          <a:prstGeom prst="rect">
            <a:avLst/>
          </a:prstGeom>
          <a:noFill/>
          <a:ln/>
        </p:spPr>
        <p:txBody>
          <a:bodyPr wrap="square" lIns="0" tIns="0" rIns="0" bIns="0" rtlCol="0" anchor="t"/>
          <a:lstStyle/>
          <a:p>
            <a:pPr indent="0" marL="0">
              <a:buNone/>
            </a:pPr>
            <a:r>
              <a:rPr lang="en-US" sz="1500" dirty="0">
                <a:solidFill>
                  <a:schemeClr val="bg2"/>
                </a:solidFill>
              </a:rPr>
              <a:t>Assumed: EUR 40 M a year revenue, 60% margin, 5 extra years, EUR 75 M servicing price. A rescue only pays if the servicer can reach the satellite.</a:t>
            </a:r>
            <a:endParaRPr lang="en-US" sz="15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Three customers, three money questions</a:t>
            </a:r>
            <a:endParaRPr lang="en-US" sz="3200" dirty="0"/>
          </a:p>
        </p:txBody>
      </p:sp>
      <p:sp>
        <p:nvSpPr>
          <p:cNvPr id="3" name="Customer Satellite operator or maker"/>
          <p:cNvSpPr/>
          <p:nvPr/>
        </p:nvSpPr>
        <p:spPr>
          <a:xfrm>
            <a:off x="548640" y="1417320"/>
            <a:ext cx="3566160" cy="4526280"/>
          </a:xfrm>
          <a:prstGeom prst="roundRect">
            <a:avLst>
              <a:gd name="adj" fmla="val 2051"/>
            </a:avLst>
          </a:prstGeom>
          <a:solidFill>
            <a:schemeClr val="tx2"/>
          </a:solidFill>
          <a:ln w="12700">
            <a:solidFill>
              <a:schemeClr val="accent6"/>
            </a:solidFill>
            <a:prstDash val="solid"/>
          </a:ln>
        </p:spPr>
      </p:sp>
      <p:sp>
        <p:nvSpPr>
          <p:cNvPr id="4" name="Text 2"/>
          <p:cNvSpPr txBox="1"/>
          <p:nvPr/>
        </p:nvSpPr>
        <p:spPr>
          <a:xfrm>
            <a:off x="822960" y="1645920"/>
            <a:ext cx="3017520" cy="548640"/>
          </a:xfrm>
          <a:prstGeom prst="rect">
            <a:avLst/>
          </a:prstGeom>
          <a:noFill/>
          <a:ln/>
        </p:spPr>
        <p:txBody>
          <a:bodyPr wrap="square" lIns="0" tIns="0" rIns="0" bIns="0" rtlCol="0" anchor="t"/>
          <a:lstStyle/>
          <a:p>
            <a:pPr indent="0" marL="0">
              <a:buNone/>
            </a:pPr>
            <a:r>
              <a:rPr lang="en-US" sz="2100" b="1" dirty="0">
                <a:solidFill>
                  <a:schemeClr val="accent2"/>
                </a:solidFill>
              </a:rPr>
              <a:t>Satellite operator or maker</a:t>
            </a:r>
            <a:endParaRPr lang="en-US" sz="2100" dirty="0"/>
          </a:p>
        </p:txBody>
      </p:sp>
      <p:sp>
        <p:nvSpPr>
          <p:cNvPr id="5" name="Text 3"/>
          <p:cNvSpPr txBox="1"/>
          <p:nvPr/>
        </p:nvSpPr>
        <p:spPr>
          <a:xfrm>
            <a:off x="822960" y="2331720"/>
            <a:ext cx="3017520" cy="731520"/>
          </a:xfrm>
          <a:prstGeom prst="rect">
            <a:avLst/>
          </a:prstGeom>
          <a:noFill/>
          <a:ln/>
        </p:spPr>
        <p:txBody>
          <a:bodyPr wrap="square" lIns="0" tIns="0" rIns="0" bIns="0" rtlCol="0" anchor="t"/>
          <a:lstStyle/>
          <a:p>
            <a:pPr indent="0" marL="0">
              <a:buNone/>
            </a:pPr>
            <a:r>
              <a:rPr lang="en-US" sz="1700" dirty="0">
                <a:solidFill>
                  <a:schemeClr val="bg2"/>
                </a:solidFill>
              </a:rPr>
              <a:t>Will the kit pay for itself?</a:t>
            </a:r>
            <a:endParaRPr lang="en-US" sz="1700" dirty="0"/>
          </a:p>
        </p:txBody>
      </p:sp>
      <p:sp>
        <p:nvSpPr>
          <p:cNvPr id="6" name="Text 4"/>
          <p:cNvSpPr txBox="1"/>
          <p:nvPr/>
        </p:nvSpPr>
        <p:spPr>
          <a:xfrm>
            <a:off x="822960" y="3200400"/>
            <a:ext cx="3017520" cy="822960"/>
          </a:xfrm>
          <a:prstGeom prst="rect">
            <a:avLst/>
          </a:prstGeom>
          <a:noFill/>
          <a:ln/>
        </p:spPr>
        <p:txBody>
          <a:bodyPr wrap="square" lIns="0" tIns="0" rIns="0" bIns="0" rtlCol="0" anchor="t"/>
          <a:lstStyle/>
          <a:p>
            <a:pPr indent="0" marL="0">
              <a:buNone/>
            </a:pPr>
            <a:r>
              <a:rPr lang="en-US" sz="4400" b="1" dirty="0">
                <a:solidFill>
                  <a:schemeClr val="accent2"/>
                </a:solidFill>
              </a:rPr>
              <a:t>16.5x</a:t>
            </a:r>
            <a:endParaRPr lang="en-US" sz="4400" dirty="0"/>
          </a:p>
        </p:txBody>
      </p:sp>
      <p:sp>
        <p:nvSpPr>
          <p:cNvPr id="7" name="Text 5"/>
          <p:cNvSpPr txBox="1"/>
          <p:nvPr/>
        </p:nvSpPr>
        <p:spPr>
          <a:xfrm>
            <a:off x="822960" y="4114800"/>
            <a:ext cx="3017520" cy="1645920"/>
          </a:xfrm>
          <a:prstGeom prst="rect">
            <a:avLst/>
          </a:prstGeom>
          <a:noFill/>
          <a:ln/>
        </p:spPr>
        <p:txBody>
          <a:bodyPr wrap="square" lIns="0" tIns="0" rIns="0" bIns="0" rtlCol="0" anchor="t"/>
          <a:lstStyle/>
          <a:p>
            <a:pPr indent="0" marL="0">
              <a:buNone/>
            </a:pPr>
            <a:r>
              <a:rPr lang="en-US" sz="1500" dirty="0">
                <a:solidFill>
                  <a:schemeClr val="bg1"/>
                </a:solidFill>
              </a:rPr>
              <a:t>return on markers: EUR 45 k per satellite buys EUR 0.74 M expected benefit</a:t>
            </a:r>
            <a:endParaRPr lang="en-US" sz="1500" dirty="0"/>
          </a:p>
        </p:txBody>
      </p:sp>
      <p:sp>
        <p:nvSpPr>
          <p:cNvPr id="8" name="Customer Servicer provider"/>
          <p:cNvSpPr/>
          <p:nvPr/>
        </p:nvSpPr>
        <p:spPr>
          <a:xfrm>
            <a:off x="4297680" y="1417320"/>
            <a:ext cx="3566160" cy="4526280"/>
          </a:xfrm>
          <a:prstGeom prst="roundRect">
            <a:avLst>
              <a:gd name="adj" fmla="val 2051"/>
            </a:avLst>
          </a:prstGeom>
          <a:solidFill>
            <a:schemeClr val="tx2"/>
          </a:solidFill>
          <a:ln w="12700">
            <a:solidFill>
              <a:schemeClr val="accent6"/>
            </a:solidFill>
            <a:prstDash val="solid"/>
          </a:ln>
        </p:spPr>
      </p:sp>
      <p:sp>
        <p:nvSpPr>
          <p:cNvPr id="9" name="Text 7"/>
          <p:cNvSpPr txBox="1"/>
          <p:nvPr/>
        </p:nvSpPr>
        <p:spPr>
          <a:xfrm>
            <a:off x="4572000" y="1645920"/>
            <a:ext cx="3017520" cy="548640"/>
          </a:xfrm>
          <a:prstGeom prst="rect">
            <a:avLst/>
          </a:prstGeom>
          <a:noFill/>
          <a:ln/>
        </p:spPr>
        <p:txBody>
          <a:bodyPr wrap="square" lIns="0" tIns="0" rIns="0" bIns="0" rtlCol="0" anchor="t"/>
          <a:lstStyle/>
          <a:p>
            <a:pPr indent="0" marL="0">
              <a:buNone/>
            </a:pPr>
            <a:r>
              <a:rPr lang="en-US" sz="2100" b="1" dirty="0">
                <a:solidFill>
                  <a:schemeClr val="accent1"/>
                </a:solidFill>
              </a:rPr>
              <a:t>Servicer provider</a:t>
            </a:r>
            <a:endParaRPr lang="en-US" sz="2100" dirty="0"/>
          </a:p>
        </p:txBody>
      </p:sp>
      <p:sp>
        <p:nvSpPr>
          <p:cNvPr id="10" name="Text 8"/>
          <p:cNvSpPr txBox="1"/>
          <p:nvPr/>
        </p:nvSpPr>
        <p:spPr>
          <a:xfrm>
            <a:off x="4572000" y="2331720"/>
            <a:ext cx="3017520" cy="731520"/>
          </a:xfrm>
          <a:prstGeom prst="rect">
            <a:avLst/>
          </a:prstGeom>
          <a:noFill/>
          <a:ln/>
        </p:spPr>
        <p:txBody>
          <a:bodyPr wrap="square" lIns="0" tIns="0" rIns="0" bIns="0" rtlCol="0" anchor="t"/>
          <a:lstStyle/>
          <a:p>
            <a:pPr indent="0" marL="0">
              <a:buNone/>
            </a:pPr>
            <a:r>
              <a:rPr lang="en-US" sz="1700" dirty="0">
                <a:solidFill>
                  <a:schemeClr val="bg2"/>
                </a:solidFill>
              </a:rPr>
              <a:t>Can I serve more clients per vehicle?</a:t>
            </a:r>
            <a:endParaRPr lang="en-US" sz="1700" dirty="0"/>
          </a:p>
        </p:txBody>
      </p:sp>
      <p:sp>
        <p:nvSpPr>
          <p:cNvPr id="11" name="Text 9"/>
          <p:cNvSpPr txBox="1"/>
          <p:nvPr/>
        </p:nvSpPr>
        <p:spPr>
          <a:xfrm>
            <a:off x="4572000" y="3200400"/>
            <a:ext cx="3017520" cy="822960"/>
          </a:xfrm>
          <a:prstGeom prst="rect">
            <a:avLst/>
          </a:prstGeom>
          <a:noFill/>
          <a:ln/>
        </p:spPr>
        <p:txBody>
          <a:bodyPr wrap="square" lIns="0" tIns="0" rIns="0" bIns="0" rtlCol="0" anchor="t"/>
          <a:lstStyle/>
          <a:p>
            <a:pPr indent="0" marL="0">
              <a:buNone/>
            </a:pPr>
            <a:r>
              <a:rPr lang="en-US" sz="4400" b="1" dirty="0">
                <a:solidFill>
                  <a:schemeClr val="accent1"/>
                </a:solidFill>
              </a:rPr>
              <a:t>-37%</a:t>
            </a:r>
            <a:endParaRPr lang="en-US" sz="4400" dirty="0"/>
          </a:p>
        </p:txBody>
      </p:sp>
      <p:sp>
        <p:nvSpPr>
          <p:cNvPr id="12" name="Text 10"/>
          <p:cNvSpPr txBox="1"/>
          <p:nvPr/>
        </p:nvSpPr>
        <p:spPr>
          <a:xfrm>
            <a:off x="4572000" y="4114800"/>
            <a:ext cx="3017520" cy="1645920"/>
          </a:xfrm>
          <a:prstGeom prst="rect">
            <a:avLst/>
          </a:prstGeom>
          <a:noFill/>
          <a:ln/>
        </p:spPr>
        <p:txBody>
          <a:bodyPr wrap="square" lIns="0" tIns="0" rIns="0" bIns="0" rtlCol="0" anchor="t"/>
          <a:lstStyle/>
          <a:p>
            <a:pPr indent="0" marL="0">
              <a:buNone/>
            </a:pPr>
            <a:r>
              <a:rPr lang="en-US" sz="1500" dirty="0">
                <a:solidFill>
                  <a:schemeClr val="bg1"/>
                </a:solidFill>
              </a:rPr>
              <a:t>break-even price per successful visit, EUR 32 M to EUR 20 M</a:t>
            </a:r>
            <a:endParaRPr lang="en-US" sz="1500" dirty="0"/>
          </a:p>
        </p:txBody>
      </p:sp>
      <p:sp>
        <p:nvSpPr>
          <p:cNvPr id="13" name="Customer Insurer, regulator, agency"/>
          <p:cNvSpPr/>
          <p:nvPr/>
        </p:nvSpPr>
        <p:spPr>
          <a:xfrm>
            <a:off x="8046720" y="1417320"/>
            <a:ext cx="3566160" cy="4526280"/>
          </a:xfrm>
          <a:prstGeom prst="roundRect">
            <a:avLst>
              <a:gd name="adj" fmla="val 2051"/>
            </a:avLst>
          </a:prstGeom>
          <a:solidFill>
            <a:schemeClr val="tx2"/>
          </a:solidFill>
          <a:ln w="12700">
            <a:solidFill>
              <a:schemeClr val="accent6"/>
            </a:solidFill>
            <a:prstDash val="solid"/>
          </a:ln>
        </p:spPr>
      </p:sp>
      <p:sp>
        <p:nvSpPr>
          <p:cNvPr id="14" name="Text 12"/>
          <p:cNvSpPr txBox="1"/>
          <p:nvPr/>
        </p:nvSpPr>
        <p:spPr>
          <a:xfrm>
            <a:off x="8321040" y="1645920"/>
            <a:ext cx="3017520" cy="548640"/>
          </a:xfrm>
          <a:prstGeom prst="rect">
            <a:avLst/>
          </a:prstGeom>
          <a:noFill/>
          <a:ln/>
        </p:spPr>
        <p:txBody>
          <a:bodyPr wrap="square" lIns="0" tIns="0" rIns="0" bIns="0" rtlCol="0" anchor="t"/>
          <a:lstStyle/>
          <a:p>
            <a:pPr indent="0" marL="0">
              <a:buNone/>
            </a:pPr>
            <a:r>
              <a:rPr lang="en-US" sz="2100" b="1" dirty="0">
                <a:solidFill>
                  <a:schemeClr val="accent3"/>
                </a:solidFill>
              </a:rPr>
              <a:t>Insurer, regulator, agency</a:t>
            </a:r>
            <a:endParaRPr lang="en-US" sz="2100" dirty="0"/>
          </a:p>
        </p:txBody>
      </p:sp>
      <p:sp>
        <p:nvSpPr>
          <p:cNvPr id="15" name="Text 13"/>
          <p:cNvSpPr txBox="1"/>
          <p:nvPr/>
        </p:nvSpPr>
        <p:spPr>
          <a:xfrm>
            <a:off x="8321040" y="2331720"/>
            <a:ext cx="3017520" cy="731520"/>
          </a:xfrm>
          <a:prstGeom prst="rect">
            <a:avLst/>
          </a:prstGeom>
          <a:noFill/>
          <a:ln/>
        </p:spPr>
        <p:txBody>
          <a:bodyPr wrap="square" lIns="0" tIns="0" rIns="0" bIns="0" rtlCol="0" anchor="t"/>
          <a:lstStyle/>
          <a:p>
            <a:pPr indent="0" marL="0">
              <a:buNone/>
            </a:pPr>
            <a:r>
              <a:rPr lang="en-US" sz="1700" dirty="0">
                <a:solidFill>
                  <a:schemeClr val="bg2"/>
                </a:solidFill>
              </a:rPr>
              <a:t>Can I trust the risk number?</a:t>
            </a:r>
            <a:endParaRPr lang="en-US" sz="1700" dirty="0"/>
          </a:p>
        </p:txBody>
      </p:sp>
      <p:sp>
        <p:nvSpPr>
          <p:cNvPr id="16" name="Text 14"/>
          <p:cNvSpPr txBox="1"/>
          <p:nvPr/>
        </p:nvSpPr>
        <p:spPr>
          <a:xfrm>
            <a:off x="8321040" y="3200400"/>
            <a:ext cx="3017520" cy="822960"/>
          </a:xfrm>
          <a:prstGeom prst="rect">
            <a:avLst/>
          </a:prstGeom>
          <a:noFill/>
          <a:ln/>
        </p:spPr>
        <p:txBody>
          <a:bodyPr wrap="square" lIns="0" tIns="0" rIns="0" bIns="0" rtlCol="0" anchor="t"/>
          <a:lstStyle/>
          <a:p>
            <a:pPr indent="0" marL="0">
              <a:buNone/>
            </a:pPr>
            <a:r>
              <a:rPr lang="en-US" sz="4400" b="1" dirty="0">
                <a:solidFill>
                  <a:schemeClr val="accent3"/>
                </a:solidFill>
              </a:rPr>
              <a:t>0 / 6,140</a:t>
            </a:r>
            <a:endParaRPr lang="en-US" sz="4400" dirty="0"/>
          </a:p>
        </p:txBody>
      </p:sp>
      <p:sp>
        <p:nvSpPr>
          <p:cNvPr id="17" name="Text 15"/>
          <p:cNvSpPr txBox="1"/>
          <p:nvPr/>
        </p:nvSpPr>
        <p:spPr>
          <a:xfrm>
            <a:off x="8321040" y="4114800"/>
            <a:ext cx="3017520" cy="1645920"/>
          </a:xfrm>
          <a:prstGeom prst="rect">
            <a:avLst/>
          </a:prstGeom>
          <a:noFill/>
          <a:ln/>
        </p:spPr>
        <p:txBody>
          <a:bodyPr wrap="square" lIns="0" tIns="0" rIns="0" bIns="0" rtlCol="0" anchor="t"/>
          <a:lstStyle/>
          <a:p>
            <a:pPr indent="0" marL="0">
              <a:buNone/>
            </a:pPr>
            <a:r>
              <a:rPr lang="en-US" sz="1500" dirty="0">
                <a:solidFill>
                  <a:schemeClr val="bg1"/>
                </a:solidFill>
              </a:rPr>
              <a:t>keep-out violations in the model; every run is replayable from a stored seed</a:t>
            </a:r>
            <a:endParaRPr lang="en-US" sz="15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What the customer buys: four tiers, priced per satellite</a:t>
            </a:r>
            <a:endParaRPr lang="en-US" sz="3200" dirty="0"/>
          </a:p>
        </p:txBody>
      </p:sp>
      <p:sp>
        <p:nvSpPr>
          <p:cNvPr id="3" name="Tier 1"/>
          <p:cNvSpPr/>
          <p:nvPr/>
        </p:nvSpPr>
        <p:spPr>
          <a:xfrm>
            <a:off x="548640" y="1417320"/>
            <a:ext cx="2651760" cy="3657600"/>
          </a:xfrm>
          <a:prstGeom prst="roundRect">
            <a:avLst>
              <a:gd name="adj" fmla="val 2759"/>
            </a:avLst>
          </a:prstGeom>
          <a:solidFill>
            <a:schemeClr val="tx2"/>
          </a:solidFill>
          <a:ln w="12700">
            <a:solidFill>
              <a:schemeClr val="accent6"/>
            </a:solidFill>
            <a:prstDash val="solid"/>
          </a:ln>
        </p:spPr>
      </p:sp>
      <p:sp>
        <p:nvSpPr>
          <p:cNvPr id="4" name="Text 2"/>
          <p:cNvSpPr txBox="1"/>
          <p:nvPr/>
        </p:nvSpPr>
        <p:spPr>
          <a:xfrm>
            <a:off x="777240" y="1600200"/>
            <a:ext cx="2194560" cy="274320"/>
          </a:xfrm>
          <a:prstGeom prst="rect">
            <a:avLst/>
          </a:prstGeom>
          <a:noFill/>
          <a:ln/>
        </p:spPr>
        <p:txBody>
          <a:bodyPr wrap="square" lIns="0" tIns="0" rIns="0" bIns="0" rtlCol="0" anchor="t"/>
          <a:lstStyle/>
          <a:p>
            <a:pPr indent="0" marL="0">
              <a:buNone/>
            </a:pPr>
            <a:r>
              <a:rPr lang="en-US" sz="1400" dirty="0">
                <a:solidFill>
                  <a:schemeClr val="bg2"/>
                </a:solidFill>
              </a:rPr>
              <a:t>Tier 1</a:t>
            </a:r>
            <a:endParaRPr lang="en-US" sz="1400" dirty="0"/>
          </a:p>
        </p:txBody>
      </p:sp>
      <p:sp>
        <p:nvSpPr>
          <p:cNvPr id="5" name="Text 3"/>
          <p:cNvSpPr txBox="1"/>
          <p:nvPr/>
        </p:nvSpPr>
        <p:spPr>
          <a:xfrm>
            <a:off x="777240" y="1920240"/>
            <a:ext cx="2194560" cy="731520"/>
          </a:xfrm>
          <a:prstGeom prst="rect">
            <a:avLst/>
          </a:prstGeom>
          <a:noFill/>
          <a:ln/>
        </p:spPr>
        <p:txBody>
          <a:bodyPr wrap="square" lIns="0" tIns="0" rIns="0" bIns="0" rtlCol="0" anchor="t"/>
          <a:lstStyle/>
          <a:p>
            <a:pPr indent="0" marL="0">
              <a:buNone/>
            </a:pPr>
            <a:r>
              <a:rPr lang="en-US" sz="2000" b="1" dirty="0">
                <a:solidFill>
                  <a:schemeClr val="accent1"/>
                </a:solidFill>
              </a:rPr>
              <a:t>EOL-ready</a:t>
            </a:r>
            <a:endParaRPr lang="en-US" sz="2000" dirty="0"/>
          </a:p>
        </p:txBody>
      </p:sp>
      <p:sp>
        <p:nvSpPr>
          <p:cNvPr id="6" name="Text 4"/>
          <p:cNvSpPr txBox="1"/>
          <p:nvPr/>
        </p:nvSpPr>
        <p:spPr>
          <a:xfrm>
            <a:off x="777240" y="2697480"/>
            <a:ext cx="2194560" cy="640080"/>
          </a:xfrm>
          <a:prstGeom prst="rect">
            <a:avLst/>
          </a:prstGeom>
          <a:noFill/>
          <a:ln/>
        </p:spPr>
        <p:txBody>
          <a:bodyPr wrap="square" lIns="0" tIns="0" rIns="0" bIns="0" rtlCol="0" anchor="t"/>
          <a:lstStyle/>
          <a:p>
            <a:pPr indent="0" marL="0">
              <a:buNone/>
            </a:pPr>
            <a:r>
              <a:rPr lang="en-US" sz="1500" dirty="0">
                <a:solidFill>
                  <a:schemeClr val="bg1"/>
                </a:solidFill>
              </a:rPr>
              <a:t>Capture fixture + markers</a:t>
            </a:r>
            <a:endParaRPr lang="en-US" sz="1500" dirty="0"/>
          </a:p>
        </p:txBody>
      </p:sp>
      <p:sp>
        <p:nvSpPr>
          <p:cNvPr id="7" name="Text 5"/>
          <p:cNvSpPr txBox="1"/>
          <p:nvPr/>
        </p:nvSpPr>
        <p:spPr>
          <a:xfrm>
            <a:off x="777240" y="3429000"/>
            <a:ext cx="2194560" cy="457200"/>
          </a:xfrm>
          <a:prstGeom prst="rect">
            <a:avLst/>
          </a:prstGeom>
          <a:noFill/>
          <a:ln/>
        </p:spPr>
        <p:txBody>
          <a:bodyPr wrap="square" lIns="0" tIns="0" rIns="0" bIns="0" rtlCol="0" anchor="t"/>
          <a:lstStyle/>
          <a:p>
            <a:pPr indent="0" marL="0">
              <a:buNone/>
            </a:pPr>
            <a:r>
              <a:rPr lang="en-US" sz="2400" b="1" dirty="0">
                <a:solidFill>
                  <a:schemeClr val="accent2"/>
                </a:solidFill>
              </a:rPr>
              <a:t>EUR 0.36 M</a:t>
            </a:r>
            <a:endParaRPr lang="en-US" sz="2400" dirty="0"/>
          </a:p>
        </p:txBody>
      </p:sp>
      <p:sp>
        <p:nvSpPr>
          <p:cNvPr id="8" name="Text 6"/>
          <p:cNvSpPr txBox="1"/>
          <p:nvPr/>
        </p:nvSpPr>
        <p:spPr>
          <a:xfrm>
            <a:off x="777240" y="4023360"/>
            <a:ext cx="2194560" cy="822960"/>
          </a:xfrm>
          <a:prstGeom prst="rect">
            <a:avLst/>
          </a:prstGeom>
          <a:noFill/>
          <a:ln/>
        </p:spPr>
        <p:txBody>
          <a:bodyPr wrap="square" lIns="0" tIns="0" rIns="0" bIns="0" rtlCol="0" anchor="t"/>
          <a:lstStyle/>
          <a:p>
            <a:pPr indent="0" marL="0">
              <a:buNone/>
            </a:pPr>
            <a:r>
              <a:rPr lang="en-US" sz="1400" dirty="0">
                <a:solidFill>
                  <a:schemeClr val="bg2"/>
                </a:solidFill>
              </a:rPr>
              <a:t>3.5 kg  |  Removal at end of life</a:t>
            </a:r>
            <a:endParaRPr lang="en-US" sz="1400" dirty="0"/>
          </a:p>
        </p:txBody>
      </p:sp>
      <p:sp>
        <p:nvSpPr>
          <p:cNvPr id="9" name="Tier 2"/>
          <p:cNvSpPr/>
          <p:nvPr/>
        </p:nvSpPr>
        <p:spPr>
          <a:xfrm>
            <a:off x="3355848" y="1417320"/>
            <a:ext cx="2651760" cy="3657600"/>
          </a:xfrm>
          <a:prstGeom prst="roundRect">
            <a:avLst>
              <a:gd name="adj" fmla="val 2759"/>
            </a:avLst>
          </a:prstGeom>
          <a:solidFill>
            <a:schemeClr val="tx2"/>
          </a:solidFill>
          <a:ln w="12700">
            <a:solidFill>
              <a:schemeClr val="accent6"/>
            </a:solidFill>
            <a:prstDash val="solid"/>
          </a:ln>
        </p:spPr>
      </p:sp>
      <p:sp>
        <p:nvSpPr>
          <p:cNvPr id="10" name="Text 8"/>
          <p:cNvSpPr txBox="1"/>
          <p:nvPr/>
        </p:nvSpPr>
        <p:spPr>
          <a:xfrm>
            <a:off x="3584448" y="1600200"/>
            <a:ext cx="2194560" cy="274320"/>
          </a:xfrm>
          <a:prstGeom prst="rect">
            <a:avLst/>
          </a:prstGeom>
          <a:noFill/>
          <a:ln/>
        </p:spPr>
        <p:txBody>
          <a:bodyPr wrap="square" lIns="0" tIns="0" rIns="0" bIns="0" rtlCol="0" anchor="t"/>
          <a:lstStyle/>
          <a:p>
            <a:pPr indent="0" marL="0">
              <a:buNone/>
            </a:pPr>
            <a:r>
              <a:rPr lang="en-US" sz="1400" dirty="0">
                <a:solidFill>
                  <a:schemeClr val="bg2"/>
                </a:solidFill>
              </a:rPr>
              <a:t>Tier 2</a:t>
            </a:r>
            <a:endParaRPr lang="en-US" sz="1400" dirty="0"/>
          </a:p>
        </p:txBody>
      </p:sp>
      <p:sp>
        <p:nvSpPr>
          <p:cNvPr id="11" name="Text 9"/>
          <p:cNvSpPr txBox="1"/>
          <p:nvPr/>
        </p:nvSpPr>
        <p:spPr>
          <a:xfrm>
            <a:off x="3584448" y="1920240"/>
            <a:ext cx="2194560" cy="731520"/>
          </a:xfrm>
          <a:prstGeom prst="rect">
            <a:avLst/>
          </a:prstGeom>
          <a:noFill/>
          <a:ln/>
        </p:spPr>
        <p:txBody>
          <a:bodyPr wrap="square" lIns="0" tIns="0" rIns="0" bIns="0" rtlCol="0" anchor="t"/>
          <a:lstStyle/>
          <a:p>
            <a:pPr indent="0" marL="0">
              <a:buNone/>
            </a:pPr>
            <a:r>
              <a:rPr lang="en-US" sz="2000" b="1" dirty="0">
                <a:solidFill>
                  <a:schemeClr val="accent1"/>
                </a:solidFill>
              </a:rPr>
              <a:t>Service-ready</a:t>
            </a:r>
            <a:endParaRPr lang="en-US" sz="2000" dirty="0"/>
          </a:p>
        </p:txBody>
      </p:sp>
      <p:sp>
        <p:nvSpPr>
          <p:cNvPr id="12" name="Text 10"/>
          <p:cNvSpPr txBox="1"/>
          <p:nvPr/>
        </p:nvSpPr>
        <p:spPr>
          <a:xfrm>
            <a:off x="3584448" y="2697480"/>
            <a:ext cx="2194560" cy="640080"/>
          </a:xfrm>
          <a:prstGeom prst="rect">
            <a:avLst/>
          </a:prstGeom>
          <a:noFill/>
          <a:ln/>
        </p:spPr>
        <p:txBody>
          <a:bodyPr wrap="square" lIns="0" tIns="0" rIns="0" bIns="0" rtlCol="0" anchor="t"/>
          <a:lstStyle/>
          <a:p>
            <a:pPr indent="0" marL="0">
              <a:buNone/>
            </a:pPr>
            <a:r>
              <a:rPr lang="en-US" sz="1500" dirty="0">
                <a:solidFill>
                  <a:schemeClr val="bg1"/>
                </a:solidFill>
              </a:rPr>
              <a:t>+ IOS mode + beacon</a:t>
            </a:r>
            <a:endParaRPr lang="en-US" sz="1500" dirty="0"/>
          </a:p>
        </p:txBody>
      </p:sp>
      <p:sp>
        <p:nvSpPr>
          <p:cNvPr id="13" name="Text 11"/>
          <p:cNvSpPr txBox="1"/>
          <p:nvPr/>
        </p:nvSpPr>
        <p:spPr>
          <a:xfrm>
            <a:off x="3584448" y="3429000"/>
            <a:ext cx="2194560" cy="457200"/>
          </a:xfrm>
          <a:prstGeom prst="rect">
            <a:avLst/>
          </a:prstGeom>
          <a:noFill/>
          <a:ln/>
        </p:spPr>
        <p:txBody>
          <a:bodyPr wrap="square" lIns="0" tIns="0" rIns="0" bIns="0" rtlCol="0" anchor="t"/>
          <a:lstStyle/>
          <a:p>
            <a:pPr indent="0" marL="0">
              <a:buNone/>
            </a:pPr>
            <a:r>
              <a:rPr lang="en-US" sz="2400" b="1" dirty="0">
                <a:solidFill>
                  <a:schemeClr val="accent2"/>
                </a:solidFill>
              </a:rPr>
              <a:t>EUR 1.46 M</a:t>
            </a:r>
            <a:endParaRPr lang="en-US" sz="2400" dirty="0"/>
          </a:p>
        </p:txBody>
      </p:sp>
      <p:sp>
        <p:nvSpPr>
          <p:cNvPr id="14" name="Text 12"/>
          <p:cNvSpPr txBox="1"/>
          <p:nvPr/>
        </p:nvSpPr>
        <p:spPr>
          <a:xfrm>
            <a:off x="3584448" y="4023360"/>
            <a:ext cx="2194560" cy="822960"/>
          </a:xfrm>
          <a:prstGeom prst="rect">
            <a:avLst/>
          </a:prstGeom>
          <a:noFill/>
          <a:ln/>
        </p:spPr>
        <p:txBody>
          <a:bodyPr wrap="square" lIns="0" tIns="0" rIns="0" bIns="0" rtlCol="0" anchor="t"/>
          <a:lstStyle/>
          <a:p>
            <a:pPr indent="0" marL="0">
              <a:buNone/>
            </a:pPr>
            <a:r>
              <a:rPr lang="en-US" sz="1400" dirty="0">
                <a:solidFill>
                  <a:schemeClr val="bg2"/>
                </a:solidFill>
              </a:rPr>
              <a:t>5.3 kg  |  Servicing of a degraded client</a:t>
            </a:r>
            <a:endParaRPr lang="en-US" sz="1400" dirty="0"/>
          </a:p>
        </p:txBody>
      </p:sp>
      <p:sp>
        <p:nvSpPr>
          <p:cNvPr id="15" name="Tier 3"/>
          <p:cNvSpPr/>
          <p:nvPr/>
        </p:nvSpPr>
        <p:spPr>
          <a:xfrm>
            <a:off x="6163056" y="1417320"/>
            <a:ext cx="2651760" cy="3657600"/>
          </a:xfrm>
          <a:prstGeom prst="roundRect">
            <a:avLst>
              <a:gd name="adj" fmla="val 2759"/>
            </a:avLst>
          </a:prstGeom>
          <a:solidFill>
            <a:schemeClr val="tx2"/>
          </a:solidFill>
          <a:ln w="12700">
            <a:solidFill>
              <a:schemeClr val="accent6"/>
            </a:solidFill>
            <a:prstDash val="solid"/>
          </a:ln>
        </p:spPr>
      </p:sp>
      <p:sp>
        <p:nvSpPr>
          <p:cNvPr id="16" name="Text 14"/>
          <p:cNvSpPr txBox="1"/>
          <p:nvPr/>
        </p:nvSpPr>
        <p:spPr>
          <a:xfrm>
            <a:off x="6391656" y="1600200"/>
            <a:ext cx="2194560" cy="274320"/>
          </a:xfrm>
          <a:prstGeom prst="rect">
            <a:avLst/>
          </a:prstGeom>
          <a:noFill/>
          <a:ln/>
        </p:spPr>
        <p:txBody>
          <a:bodyPr wrap="square" lIns="0" tIns="0" rIns="0" bIns="0" rtlCol="0" anchor="t"/>
          <a:lstStyle/>
          <a:p>
            <a:pPr indent="0" marL="0">
              <a:buNone/>
            </a:pPr>
            <a:r>
              <a:rPr lang="en-US" sz="1400" dirty="0">
                <a:solidFill>
                  <a:schemeClr val="bg2"/>
                </a:solidFill>
              </a:rPr>
              <a:t>Tier 3</a:t>
            </a:r>
            <a:endParaRPr lang="en-US" sz="1400" dirty="0"/>
          </a:p>
        </p:txBody>
      </p:sp>
      <p:sp>
        <p:nvSpPr>
          <p:cNvPr id="17" name="Text 15"/>
          <p:cNvSpPr txBox="1"/>
          <p:nvPr/>
        </p:nvSpPr>
        <p:spPr>
          <a:xfrm>
            <a:off x="6391656" y="1920240"/>
            <a:ext cx="2194560" cy="731520"/>
          </a:xfrm>
          <a:prstGeom prst="rect">
            <a:avLst/>
          </a:prstGeom>
          <a:noFill/>
          <a:ln/>
        </p:spPr>
        <p:txBody>
          <a:bodyPr wrap="square" lIns="0" tIns="0" rIns="0" bIns="0" rtlCol="0" anchor="t"/>
          <a:lstStyle/>
          <a:p>
            <a:pPr indent="0" marL="0">
              <a:buNone/>
            </a:pPr>
            <a:r>
              <a:rPr lang="en-US" sz="2000" b="1" dirty="0">
                <a:solidFill>
                  <a:schemeClr val="accent1"/>
                </a:solidFill>
              </a:rPr>
              <a:t>Life-extension-ready</a:t>
            </a:r>
            <a:endParaRPr lang="en-US" sz="2000" dirty="0"/>
          </a:p>
        </p:txBody>
      </p:sp>
      <p:sp>
        <p:nvSpPr>
          <p:cNvPr id="18" name="Text 16"/>
          <p:cNvSpPr txBox="1"/>
          <p:nvPr/>
        </p:nvSpPr>
        <p:spPr>
          <a:xfrm>
            <a:off x="6391656" y="2697480"/>
            <a:ext cx="2194560" cy="640080"/>
          </a:xfrm>
          <a:prstGeom prst="rect">
            <a:avLst/>
          </a:prstGeom>
          <a:noFill/>
          <a:ln/>
        </p:spPr>
        <p:txBody>
          <a:bodyPr wrap="square" lIns="0" tIns="0" rIns="0" bIns="0" rtlCol="0" anchor="t"/>
          <a:lstStyle/>
          <a:p>
            <a:pPr indent="0" marL="0">
              <a:buNone/>
            </a:pPr>
            <a:r>
              <a:rPr lang="en-US" sz="1500" dirty="0">
                <a:solidFill>
                  <a:schemeClr val="bg1"/>
                </a:solidFill>
              </a:rPr>
              <a:t>+ refuelling port</a:t>
            </a:r>
            <a:endParaRPr lang="en-US" sz="1500" dirty="0"/>
          </a:p>
        </p:txBody>
      </p:sp>
      <p:sp>
        <p:nvSpPr>
          <p:cNvPr id="19" name="Text 17"/>
          <p:cNvSpPr txBox="1"/>
          <p:nvPr/>
        </p:nvSpPr>
        <p:spPr>
          <a:xfrm>
            <a:off x="6391656" y="3429000"/>
            <a:ext cx="2194560" cy="457200"/>
          </a:xfrm>
          <a:prstGeom prst="rect">
            <a:avLst/>
          </a:prstGeom>
          <a:noFill/>
          <a:ln/>
        </p:spPr>
        <p:txBody>
          <a:bodyPr wrap="square" lIns="0" tIns="0" rIns="0" bIns="0" rtlCol="0" anchor="t"/>
          <a:lstStyle/>
          <a:p>
            <a:pPr indent="0" marL="0">
              <a:buNone/>
            </a:pPr>
            <a:r>
              <a:rPr lang="en-US" sz="2400" b="1" dirty="0">
                <a:solidFill>
                  <a:schemeClr val="accent2"/>
                </a:solidFill>
              </a:rPr>
              <a:t>EUR 2.18 M</a:t>
            </a:r>
            <a:endParaRPr lang="en-US" sz="2400" dirty="0"/>
          </a:p>
        </p:txBody>
      </p:sp>
      <p:sp>
        <p:nvSpPr>
          <p:cNvPr id="20" name="Text 18"/>
          <p:cNvSpPr txBox="1"/>
          <p:nvPr/>
        </p:nvSpPr>
        <p:spPr>
          <a:xfrm>
            <a:off x="6391656" y="4023360"/>
            <a:ext cx="2194560" cy="822960"/>
          </a:xfrm>
          <a:prstGeom prst="rect">
            <a:avLst/>
          </a:prstGeom>
          <a:noFill/>
          <a:ln/>
        </p:spPr>
        <p:txBody>
          <a:bodyPr wrap="square" lIns="0" tIns="0" rIns="0" bIns="0" rtlCol="0" anchor="t"/>
          <a:lstStyle/>
          <a:p>
            <a:pPr indent="0" marL="0">
              <a:buNone/>
            </a:pPr>
            <a:r>
              <a:rPr lang="en-US" sz="1400" dirty="0">
                <a:solidFill>
                  <a:schemeClr val="bg2"/>
                </a:solidFill>
              </a:rPr>
              <a:t>9.3 kg  |  Refuel and release</a:t>
            </a:r>
            <a:endParaRPr lang="en-US" sz="1400" dirty="0"/>
          </a:p>
        </p:txBody>
      </p:sp>
      <p:sp>
        <p:nvSpPr>
          <p:cNvPr id="21" name="Tier 4"/>
          <p:cNvSpPr/>
          <p:nvPr/>
        </p:nvSpPr>
        <p:spPr>
          <a:xfrm>
            <a:off x="8970264" y="1417320"/>
            <a:ext cx="2651760" cy="3657600"/>
          </a:xfrm>
          <a:prstGeom prst="roundRect">
            <a:avLst>
              <a:gd name="adj" fmla="val 2759"/>
            </a:avLst>
          </a:prstGeom>
          <a:solidFill>
            <a:schemeClr val="tx2"/>
          </a:solidFill>
          <a:ln w="12700">
            <a:solidFill>
              <a:schemeClr val="accent6"/>
            </a:solidFill>
            <a:prstDash val="solid"/>
          </a:ln>
        </p:spPr>
      </p:sp>
      <p:sp>
        <p:nvSpPr>
          <p:cNvPr id="22" name="Text 20"/>
          <p:cNvSpPr txBox="1"/>
          <p:nvPr/>
        </p:nvSpPr>
        <p:spPr>
          <a:xfrm>
            <a:off x="9198864" y="1600200"/>
            <a:ext cx="2194560" cy="274320"/>
          </a:xfrm>
          <a:prstGeom prst="rect">
            <a:avLst/>
          </a:prstGeom>
          <a:noFill/>
          <a:ln/>
        </p:spPr>
        <p:txBody>
          <a:bodyPr wrap="square" lIns="0" tIns="0" rIns="0" bIns="0" rtlCol="0" anchor="t"/>
          <a:lstStyle/>
          <a:p>
            <a:pPr indent="0" marL="0">
              <a:buNone/>
            </a:pPr>
            <a:r>
              <a:rPr lang="en-US" sz="1400" dirty="0">
                <a:solidFill>
                  <a:schemeClr val="bg2"/>
                </a:solidFill>
              </a:rPr>
              <a:t>Tier 4</a:t>
            </a:r>
            <a:endParaRPr lang="en-US" sz="1400" dirty="0"/>
          </a:p>
        </p:txBody>
      </p:sp>
      <p:sp>
        <p:nvSpPr>
          <p:cNvPr id="23" name="Text 21"/>
          <p:cNvSpPr txBox="1"/>
          <p:nvPr/>
        </p:nvSpPr>
        <p:spPr>
          <a:xfrm>
            <a:off x="9198864" y="1920240"/>
            <a:ext cx="2194560" cy="731520"/>
          </a:xfrm>
          <a:prstGeom prst="rect">
            <a:avLst/>
          </a:prstGeom>
          <a:noFill/>
          <a:ln/>
        </p:spPr>
        <p:txBody>
          <a:bodyPr wrap="square" lIns="0" tIns="0" rIns="0" bIns="0" rtlCol="0" anchor="t"/>
          <a:lstStyle/>
          <a:p>
            <a:pPr indent="0" marL="0">
              <a:buNone/>
            </a:pPr>
            <a:r>
              <a:rPr lang="en-US" sz="2000" b="1" dirty="0">
                <a:solidFill>
                  <a:schemeClr val="accent1"/>
                </a:solidFill>
              </a:rPr>
              <a:t>Augmentation-ready</a:t>
            </a:r>
            <a:endParaRPr lang="en-US" sz="2000" dirty="0"/>
          </a:p>
        </p:txBody>
      </p:sp>
      <p:sp>
        <p:nvSpPr>
          <p:cNvPr id="24" name="Text 22"/>
          <p:cNvSpPr txBox="1"/>
          <p:nvPr/>
        </p:nvSpPr>
        <p:spPr>
          <a:xfrm>
            <a:off x="9198864" y="2697480"/>
            <a:ext cx="2194560" cy="640080"/>
          </a:xfrm>
          <a:prstGeom prst="rect">
            <a:avLst/>
          </a:prstGeom>
          <a:noFill/>
          <a:ln/>
        </p:spPr>
        <p:txBody>
          <a:bodyPr wrap="square" lIns="0" tIns="0" rIns="0" bIns="0" rtlCol="0" anchor="t"/>
          <a:lstStyle/>
          <a:p>
            <a:pPr indent="0" marL="0">
              <a:buNone/>
            </a:pPr>
            <a:r>
              <a:rPr lang="en-US" sz="1500" dirty="0">
                <a:solidFill>
                  <a:schemeClr val="bg1"/>
                </a:solidFill>
              </a:rPr>
              <a:t>+ power, data and POD port</a:t>
            </a:r>
            <a:endParaRPr lang="en-US" sz="1500" dirty="0"/>
          </a:p>
        </p:txBody>
      </p:sp>
      <p:sp>
        <p:nvSpPr>
          <p:cNvPr id="25" name="Text 23"/>
          <p:cNvSpPr txBox="1"/>
          <p:nvPr/>
        </p:nvSpPr>
        <p:spPr>
          <a:xfrm>
            <a:off x="9198864" y="3429000"/>
            <a:ext cx="2194560" cy="457200"/>
          </a:xfrm>
          <a:prstGeom prst="rect">
            <a:avLst/>
          </a:prstGeom>
          <a:noFill/>
          <a:ln/>
        </p:spPr>
        <p:txBody>
          <a:bodyPr wrap="square" lIns="0" tIns="0" rIns="0" bIns="0" rtlCol="0" anchor="t"/>
          <a:lstStyle/>
          <a:p>
            <a:pPr indent="0" marL="0">
              <a:buNone/>
            </a:pPr>
            <a:r>
              <a:rPr lang="en-US" sz="2400" b="1" dirty="0">
                <a:solidFill>
                  <a:schemeClr val="accent2"/>
                </a:solidFill>
              </a:rPr>
              <a:t>EUR 6.68 M</a:t>
            </a:r>
            <a:endParaRPr lang="en-US" sz="2400" dirty="0"/>
          </a:p>
        </p:txBody>
      </p:sp>
      <p:sp>
        <p:nvSpPr>
          <p:cNvPr id="26" name="Text 24"/>
          <p:cNvSpPr txBox="1"/>
          <p:nvPr/>
        </p:nvSpPr>
        <p:spPr>
          <a:xfrm>
            <a:off x="9198864" y="4023360"/>
            <a:ext cx="2194560" cy="822960"/>
          </a:xfrm>
          <a:prstGeom prst="rect">
            <a:avLst/>
          </a:prstGeom>
          <a:noFill/>
          <a:ln/>
        </p:spPr>
        <p:txBody>
          <a:bodyPr wrap="square" lIns="0" tIns="0" rIns="0" bIns="0" rtlCol="0" anchor="t"/>
          <a:lstStyle/>
          <a:p>
            <a:pPr indent="0" marL="0">
              <a:buNone/>
            </a:pPr>
            <a:r>
              <a:rPr lang="en-US" sz="1400" dirty="0">
                <a:solidFill>
                  <a:schemeClr val="bg2"/>
                </a:solidFill>
              </a:rPr>
              <a:t>34.3 kg  |  Upgrade or propulsion POD</a:t>
            </a:r>
            <a:endParaRPr lang="en-US" sz="1400" dirty="0"/>
          </a:p>
        </p:txBody>
      </p:sp>
      <p:sp>
        <p:nvSpPr>
          <p:cNvPr id="27" name="Text 25"/>
          <p:cNvSpPr txBox="1"/>
          <p:nvPr/>
        </p:nvSpPr>
        <p:spPr>
          <a:xfrm>
            <a:off x="548640" y="5303520"/>
            <a:ext cx="11091672" cy="822960"/>
          </a:xfrm>
          <a:prstGeom prst="rect">
            <a:avLst/>
          </a:prstGeom>
          <a:noFill/>
          <a:ln/>
        </p:spPr>
        <p:txBody>
          <a:bodyPr wrap="square" lIns="0" tIns="0" rIns="0" bIns="0" rtlCol="0" anchor="t"/>
          <a:lstStyle/>
          <a:p>
            <a:pPr indent="0" marL="0">
              <a:buNone/>
            </a:pPr>
            <a:r>
              <a:rPr lang="en-US" sz="1500" dirty="0">
                <a:solidFill>
                  <a:schemeClr val="bg2"/>
                </a:solidFill>
              </a:rPr>
              <a:t>Price per satellite includes unit cost, launch of the added mass and a share of development. All costs are assumptions. Most buyers start at Tier 1 or 2; Tiers 3 and 4 have a cost model but no benefit model yet.</a:t>
            </a:r>
            <a:endParaRPr lang="en-US" sz="15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Return on spend: markers first, the rest for the right risk</a:t>
            </a:r>
            <a:endParaRPr lang="en-US" sz="3200" dirty="0"/>
          </a:p>
        </p:txBody>
      </p:sp>
      <p:graphicFrame>
        <p:nvGraphicFramePr>
          <p:cNvPr id="3" name="Chart 0" descr=""/>
          <p:cNvGraphicFramePr/>
          <p:nvPr/>
        </p:nvGraphicFramePr>
        <p:xfrm>
          <a:off x="548640" y="132588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80960" y="1417320"/>
            <a:ext cx="4023360" cy="777240"/>
          </a:xfrm>
          <a:prstGeom prst="rect">
            <a:avLst/>
          </a:prstGeom>
          <a:noFill/>
          <a:ln/>
        </p:spPr>
        <p:txBody>
          <a:bodyPr wrap="square" lIns="0" tIns="0" rIns="0" bIns="0" rtlCol="0" anchor="t"/>
          <a:lstStyle/>
          <a:p>
            <a:pPr indent="0" marL="0">
              <a:buNone/>
            </a:pPr>
            <a:r>
              <a:rPr lang="en-US" sz="4400" b="1" dirty="0">
                <a:solidFill>
                  <a:schemeClr val="accent3"/>
                </a:solidFill>
              </a:rPr>
              <a:t>16.5x</a:t>
            </a:r>
            <a:endParaRPr lang="en-US" sz="4400" dirty="0"/>
          </a:p>
        </p:txBody>
      </p:sp>
      <p:sp>
        <p:nvSpPr>
          <p:cNvPr id="5" name="Text 2"/>
          <p:cNvSpPr txBox="1"/>
          <p:nvPr/>
        </p:nvSpPr>
        <p:spPr>
          <a:xfrm>
            <a:off x="7680960" y="2240280"/>
            <a:ext cx="4023360" cy="731520"/>
          </a:xfrm>
          <a:prstGeom prst="rect">
            <a:avLst/>
          </a:prstGeom>
          <a:noFill/>
          <a:ln/>
        </p:spPr>
        <p:txBody>
          <a:bodyPr wrap="square" lIns="0" tIns="0" rIns="0" bIns="0" rtlCol="0" anchor="t"/>
          <a:lstStyle/>
          <a:p>
            <a:pPr indent="0" marL="0">
              <a:buNone/>
            </a:pPr>
            <a:r>
              <a:rPr lang="en-US" sz="1400" dirty="0">
                <a:solidFill>
                  <a:schemeClr val="bg2"/>
                </a:solidFill>
              </a:rPr>
              <a:t>return on markers: EUR 0.045 M buys EUR 0.74 M expected benefit</a:t>
            </a:r>
            <a:endParaRPr lang="en-US" sz="1400" dirty="0"/>
          </a:p>
        </p:txBody>
      </p:sp>
      <p:sp>
        <p:nvSpPr>
          <p:cNvPr id="6" name="Text 3"/>
          <p:cNvSpPr txBox="1"/>
          <p:nvPr/>
        </p:nvSpPr>
        <p:spPr>
          <a:xfrm>
            <a:off x="7680960" y="3063240"/>
            <a:ext cx="4023360" cy="777240"/>
          </a:xfrm>
          <a:prstGeom prst="rect">
            <a:avLst/>
          </a:prstGeom>
          <a:noFill/>
          <a:ln/>
        </p:spPr>
        <p:txBody>
          <a:bodyPr wrap="square" lIns="0" tIns="0" rIns="0" bIns="0" rtlCol="0" anchor="t"/>
          <a:lstStyle/>
          <a:p>
            <a:pPr indent="0" marL="0">
              <a:buNone/>
            </a:pPr>
            <a:r>
              <a:rPr lang="en-US" sz="4400" b="1" dirty="0">
                <a:solidFill>
                  <a:schemeClr val="accent2"/>
                </a:solidFill>
              </a:rPr>
              <a:t>EUR 7.4 M</a:t>
            </a:r>
            <a:endParaRPr lang="en-US" sz="4400" dirty="0"/>
          </a:p>
        </p:txBody>
      </p:sp>
      <p:sp>
        <p:nvSpPr>
          <p:cNvPr id="7" name="Text 4"/>
          <p:cNvSpPr txBox="1"/>
          <p:nvPr/>
        </p:nvSpPr>
        <p:spPr>
          <a:xfrm>
            <a:off x="7680960" y="3886200"/>
            <a:ext cx="4023360" cy="731520"/>
          </a:xfrm>
          <a:prstGeom prst="rect">
            <a:avLst/>
          </a:prstGeom>
          <a:noFill/>
          <a:ln/>
        </p:spPr>
        <p:txBody>
          <a:bodyPr wrap="square" lIns="0" tIns="0" rIns="0" bIns="0" rtlCol="0" anchor="t"/>
          <a:lstStyle/>
          <a:p>
            <a:pPr indent="0" marL="0">
              <a:buNone/>
            </a:pPr>
            <a:r>
              <a:rPr lang="en-US" sz="1400" dirty="0">
                <a:solidFill>
                  <a:schemeClr val="bg2"/>
                </a:solidFill>
              </a:rPr>
              <a:t>expected benefit on a 10-satellite fleet for EUR 0.45 M of markers</a:t>
            </a:r>
            <a:endParaRPr lang="en-US" sz="1400" dirty="0"/>
          </a:p>
        </p:txBody>
      </p:sp>
      <p:sp>
        <p:nvSpPr>
          <p:cNvPr id="8" name="Text 5"/>
          <p:cNvSpPr txBox="1"/>
          <p:nvPr/>
        </p:nvSpPr>
        <p:spPr>
          <a:xfrm>
            <a:off x="7680960" y="4754880"/>
            <a:ext cx="4023360" cy="1188720"/>
          </a:xfrm>
          <a:prstGeom prst="rect">
            <a:avLst/>
          </a:prstGeom>
          <a:noFill/>
          <a:ln/>
        </p:spPr>
        <p:txBody>
          <a:bodyPr wrap="square" lIns="0" tIns="0" rIns="0" bIns="0" rtlCol="0" anchor="t"/>
          <a:lstStyle/>
          <a:p>
            <a:pPr indent="0" marL="0">
              <a:buNone/>
            </a:pPr>
            <a:r>
              <a:rPr lang="en-US" sz="1500" dirty="0">
                <a:solidFill>
                  <a:schemeClr val="bg2"/>
                </a:solidFill>
              </a:rPr>
              <a:t>The beacon and IOS mode add little at 3 deg/s on approach alone. They pay where tumble can exceed the passive limit, or where identity, health and handover data matter.</a:t>
            </a:r>
            <a:endParaRPr lang="en-US" sz="15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When it pays depends on how often rescue is needed</a:t>
            </a:r>
            <a:endParaRPr lang="en-US" sz="3200" dirty="0"/>
          </a:p>
        </p:txBody>
      </p:sp>
      <p:graphicFrame>
        <p:nvGraphicFramePr>
          <p:cNvPr id="3" name="Chart 0" descr=""/>
          <p:cNvGraphicFramePr/>
          <p:nvPr/>
        </p:nvGraphicFramePr>
        <p:xfrm>
          <a:off x="548640" y="132588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80960" y="1417320"/>
            <a:ext cx="4023360" cy="777240"/>
          </a:xfrm>
          <a:prstGeom prst="rect">
            <a:avLst/>
          </a:prstGeom>
          <a:noFill/>
          <a:ln/>
        </p:spPr>
        <p:txBody>
          <a:bodyPr wrap="square" lIns="0" tIns="0" rIns="0" bIns="0" rtlCol="0" anchor="t"/>
          <a:lstStyle/>
          <a:p>
            <a:pPr indent="0" marL="0">
              <a:buNone/>
            </a:pPr>
            <a:r>
              <a:rPr lang="en-US" sz="4400" b="1" dirty="0">
                <a:solidFill>
                  <a:schemeClr val="accent2"/>
                </a:solidFill>
              </a:rPr>
              <a:t>0.6%</a:t>
            </a:r>
            <a:endParaRPr lang="en-US" sz="4400" dirty="0"/>
          </a:p>
        </p:txBody>
      </p:sp>
      <p:sp>
        <p:nvSpPr>
          <p:cNvPr id="5" name="Text 2"/>
          <p:cNvSpPr txBox="1"/>
          <p:nvPr/>
        </p:nvSpPr>
        <p:spPr>
          <a:xfrm>
            <a:off x="7680960" y="2240280"/>
            <a:ext cx="4023360" cy="731520"/>
          </a:xfrm>
          <a:prstGeom prst="rect">
            <a:avLst/>
          </a:prstGeom>
          <a:noFill/>
          <a:ln/>
        </p:spPr>
        <p:txBody>
          <a:bodyPr wrap="square" lIns="0" tIns="0" rIns="0" bIns="0" rtlCol="0" anchor="t"/>
          <a:lstStyle/>
          <a:p>
            <a:pPr indent="0" marL="0">
              <a:buNone/>
            </a:pPr>
            <a:r>
              <a:rPr lang="en-US" sz="1400" dirty="0">
                <a:solidFill>
                  <a:schemeClr val="bg2"/>
                </a:solidFill>
              </a:rPr>
              <a:t>chance of ever needing rescue at which markers break even</a:t>
            </a:r>
            <a:endParaRPr lang="en-US" sz="1400" dirty="0"/>
          </a:p>
        </p:txBody>
      </p:sp>
      <p:sp>
        <p:nvSpPr>
          <p:cNvPr id="6" name="Text 3"/>
          <p:cNvSpPr txBox="1"/>
          <p:nvPr/>
        </p:nvSpPr>
        <p:spPr>
          <a:xfrm>
            <a:off x="7680960" y="3063240"/>
            <a:ext cx="4023360" cy="777240"/>
          </a:xfrm>
          <a:prstGeom prst="rect">
            <a:avLst/>
          </a:prstGeom>
          <a:noFill/>
          <a:ln/>
        </p:spPr>
        <p:txBody>
          <a:bodyPr wrap="square" lIns="0" tIns="0" rIns="0" bIns="0" rtlCol="0" anchor="t"/>
          <a:lstStyle/>
          <a:p>
            <a:pPr indent="0" marL="0">
              <a:buNone/>
            </a:pPr>
            <a:r>
              <a:rPr lang="en-US" sz="4400" b="1" dirty="0">
                <a:solidFill>
                  <a:schemeClr val="accent1"/>
                </a:solidFill>
              </a:rPr>
              <a:t>5.3%</a:t>
            </a:r>
            <a:endParaRPr lang="en-US" sz="4400" dirty="0"/>
          </a:p>
        </p:txBody>
      </p:sp>
      <p:sp>
        <p:nvSpPr>
          <p:cNvPr id="7" name="Text 4"/>
          <p:cNvSpPr txBox="1"/>
          <p:nvPr/>
        </p:nvSpPr>
        <p:spPr>
          <a:xfrm>
            <a:off x="7680960" y="3886200"/>
            <a:ext cx="4023360" cy="731520"/>
          </a:xfrm>
          <a:prstGeom prst="rect">
            <a:avLst/>
          </a:prstGeom>
          <a:noFill/>
          <a:ln/>
        </p:spPr>
        <p:txBody>
          <a:bodyPr wrap="square" lIns="0" tIns="0" rIns="0" bIns="0" rtlCol="0" anchor="t"/>
          <a:lstStyle/>
          <a:p>
            <a:pPr indent="0" marL="0">
              <a:buNone/>
            </a:pPr>
            <a:r>
              <a:rPr lang="en-US" sz="1400" dirty="0">
                <a:solidFill>
                  <a:schemeClr val="bg2"/>
                </a:solidFill>
              </a:rPr>
              <a:t>chance at which IOS mode breaks even where tumble reaches 5 deg/s</a:t>
            </a:r>
            <a:endParaRPr lang="en-US" sz="1400" dirty="0"/>
          </a:p>
        </p:txBody>
      </p:sp>
      <p:sp>
        <p:nvSpPr>
          <p:cNvPr id="8" name="Test first"/>
          <p:cNvSpPr/>
          <p:nvPr/>
        </p:nvSpPr>
        <p:spPr>
          <a:xfrm>
            <a:off x="7680960" y="4754880"/>
            <a:ext cx="3959352" cy="1188720"/>
          </a:xfrm>
          <a:prstGeom prst="roundRect">
            <a:avLst>
              <a:gd name="adj" fmla="val 6154"/>
            </a:avLst>
          </a:prstGeom>
          <a:solidFill>
            <a:schemeClr val="tx2"/>
          </a:solidFill>
          <a:ln w="12700">
            <a:solidFill>
              <a:schemeClr val="accent6"/>
            </a:solidFill>
            <a:prstDash val="solid"/>
          </a:ln>
        </p:spPr>
      </p:sp>
      <p:sp>
        <p:nvSpPr>
          <p:cNvPr id="9" name="Text 6"/>
          <p:cNvSpPr txBox="1"/>
          <p:nvPr/>
        </p:nvSpPr>
        <p:spPr>
          <a:xfrm>
            <a:off x="7863840" y="4892040"/>
            <a:ext cx="3611880" cy="960120"/>
          </a:xfrm>
          <a:prstGeom prst="rect">
            <a:avLst/>
          </a:prstGeom>
          <a:noFill/>
          <a:ln/>
        </p:spPr>
        <p:txBody>
          <a:bodyPr wrap="square" lIns="0" tIns="0" rIns="0" bIns="0" rtlCol="0" anchor="t"/>
          <a:lstStyle/>
          <a:p>
            <a:pPr indent="0" marL="0">
              <a:buNone/>
            </a:pPr>
            <a:r>
              <a:rPr lang="en-US" sz="1500" dirty="0">
                <a:solidFill>
                  <a:schemeClr val="bg1"/>
                </a:solidFill>
              </a:rPr>
              <a:t>The number to test first with operators: how often a client degrades enough to need rescue.</a:t>
            </a:r>
            <a:endParaRPr lang="en-US" sz="15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Why it works: fewer failed rescues where it matters</a:t>
            </a:r>
            <a:endParaRPr lang="en-US" sz="3200" dirty="0"/>
          </a:p>
        </p:txBody>
      </p:sp>
      <p:graphicFrame>
        <p:nvGraphicFramePr>
          <p:cNvPr id="3" name="Chart 0" descr=""/>
          <p:cNvGraphicFramePr/>
          <p:nvPr/>
        </p:nvGraphicFramePr>
        <p:xfrm>
          <a:off x="548640" y="132588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80960" y="1417320"/>
            <a:ext cx="4023360" cy="777240"/>
          </a:xfrm>
          <a:prstGeom prst="rect">
            <a:avLst/>
          </a:prstGeom>
          <a:noFill/>
          <a:ln/>
        </p:spPr>
        <p:txBody>
          <a:bodyPr wrap="square" lIns="0" tIns="0" rIns="0" bIns="0" rtlCol="0" anchor="t"/>
          <a:lstStyle/>
          <a:p>
            <a:pPr indent="0" marL="0">
              <a:buNone/>
            </a:pPr>
            <a:r>
              <a:rPr lang="en-US" sz="4400" b="1" dirty="0">
                <a:solidFill>
                  <a:schemeClr val="accent3"/>
                </a:solidFill>
              </a:rPr>
              <a:t>64% to 98%</a:t>
            </a:r>
            <a:endParaRPr lang="en-US" sz="4400" dirty="0"/>
          </a:p>
        </p:txBody>
      </p:sp>
      <p:sp>
        <p:nvSpPr>
          <p:cNvPr id="5" name="Text 2"/>
          <p:cNvSpPr txBox="1"/>
          <p:nvPr/>
        </p:nvSpPr>
        <p:spPr>
          <a:xfrm>
            <a:off x="7680960" y="2240280"/>
            <a:ext cx="4023360" cy="731520"/>
          </a:xfrm>
          <a:prstGeom prst="rect">
            <a:avLst/>
          </a:prstGeom>
          <a:noFill/>
          <a:ln/>
        </p:spPr>
        <p:txBody>
          <a:bodyPr wrap="square" lIns="0" tIns="0" rIns="0" bIns="0" rtlCol="0" anchor="t"/>
          <a:lstStyle/>
          <a:p>
            <a:pPr indent="0" marL="0">
              <a:buNone/>
            </a:pPr>
            <a:r>
              <a:rPr lang="en-US" sz="1400" dirty="0">
                <a:solidFill>
                  <a:schemeClr val="bg2"/>
                </a:solidFill>
              </a:rPr>
              <a:t>rescue success within three attempts, unprepared to markers (3 deg/s)</a:t>
            </a:r>
            <a:endParaRPr lang="en-US" sz="1400" dirty="0"/>
          </a:p>
        </p:txBody>
      </p:sp>
      <p:sp>
        <p:nvSpPr>
          <p:cNvPr id="6" name="Text 3"/>
          <p:cNvSpPr txBox="1"/>
          <p:nvPr/>
        </p:nvSpPr>
        <p:spPr>
          <a:xfrm>
            <a:off x="7680960" y="3063240"/>
            <a:ext cx="4023360" cy="777240"/>
          </a:xfrm>
          <a:prstGeom prst="rect">
            <a:avLst/>
          </a:prstGeom>
          <a:noFill/>
          <a:ln/>
        </p:spPr>
        <p:txBody>
          <a:bodyPr wrap="square" lIns="0" tIns="0" rIns="0" bIns="0" rtlCol="0" anchor="t"/>
          <a:lstStyle/>
          <a:p>
            <a:pPr indent="0" marL="0">
              <a:buNone/>
            </a:pPr>
            <a:r>
              <a:rPr lang="en-US" sz="4400" b="1" dirty="0">
                <a:solidFill>
                  <a:schemeClr val="accent4"/>
                </a:solidFill>
              </a:rPr>
              <a:t>30% to 2%</a:t>
            </a:r>
            <a:endParaRPr lang="en-US" sz="4400" dirty="0"/>
          </a:p>
        </p:txBody>
      </p:sp>
      <p:sp>
        <p:nvSpPr>
          <p:cNvPr id="7" name="Text 4"/>
          <p:cNvSpPr txBox="1"/>
          <p:nvPr/>
        </p:nvSpPr>
        <p:spPr>
          <a:xfrm>
            <a:off x="7680960" y="3886200"/>
            <a:ext cx="4023360" cy="731520"/>
          </a:xfrm>
          <a:prstGeom prst="rect">
            <a:avLst/>
          </a:prstGeom>
          <a:noFill/>
          <a:ln/>
        </p:spPr>
        <p:txBody>
          <a:bodyPr wrap="square" lIns="0" tIns="0" rIns="0" bIns="0" rtlCol="0" anchor="t"/>
          <a:lstStyle/>
          <a:p>
            <a:pPr indent="0" marL="0">
              <a:buNone/>
            </a:pPr>
            <a:r>
              <a:rPr lang="en-US" sz="1400" dirty="0">
                <a:solidFill>
                  <a:schemeClr val="bg2"/>
                </a:solidFill>
              </a:rPr>
              <a:t>missions lost to an unsafe retreat or violation</a:t>
            </a:r>
            <a:endParaRPr lang="en-US" sz="1400" dirty="0"/>
          </a:p>
        </p:txBody>
      </p:sp>
      <p:sp>
        <p:nvSpPr>
          <p:cNvPr id="8" name="Text 5"/>
          <p:cNvSpPr txBox="1"/>
          <p:nvPr/>
        </p:nvSpPr>
        <p:spPr>
          <a:xfrm>
            <a:off x="7680960" y="4754880"/>
            <a:ext cx="4023360" cy="1188720"/>
          </a:xfrm>
          <a:prstGeom prst="rect">
            <a:avLst/>
          </a:prstGeom>
          <a:noFill/>
          <a:ln/>
        </p:spPr>
        <p:txBody>
          <a:bodyPr wrap="square" lIns="0" tIns="0" rIns="0" bIns="0" rtlCol="0" anchor="t"/>
          <a:lstStyle/>
          <a:p>
            <a:pPr indent="0" marL="0">
              <a:buNone/>
            </a:pPr>
            <a:r>
              <a:rPr lang="en-US" sz="1500" dirty="0">
                <a:solidFill>
                  <a:schemeClr val="bg2"/>
                </a:solidFill>
              </a:rPr>
              <a:t>Three client states are covered: nominal (IOS mode), degraded (independent beacon), tumbling (markers and capture point). A radio that only sends identity changes nothing; rate data adds 8 points.</a:t>
            </a:r>
            <a:endParaRPr lang="en-US" sz="15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Servicers need less per success, so everyone's price can fall</a:t>
            </a:r>
            <a:endParaRPr lang="en-US" sz="3200" dirty="0"/>
          </a:p>
        </p:txBody>
      </p:sp>
      <p:graphicFrame>
        <p:nvGraphicFramePr>
          <p:cNvPr id="3" name="Chart 0" descr=""/>
          <p:cNvGraphicFramePr/>
          <p:nvPr/>
        </p:nvGraphicFramePr>
        <p:xfrm>
          <a:off x="548640" y="132588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80960" y="1417320"/>
            <a:ext cx="4023360" cy="777240"/>
          </a:xfrm>
          <a:prstGeom prst="rect">
            <a:avLst/>
          </a:prstGeom>
          <a:noFill/>
          <a:ln/>
        </p:spPr>
        <p:txBody>
          <a:bodyPr wrap="square" lIns="0" tIns="0" rIns="0" bIns="0" rtlCol="0" anchor="t"/>
          <a:lstStyle/>
          <a:p>
            <a:pPr indent="0" marL="0">
              <a:buNone/>
            </a:pPr>
            <a:r>
              <a:rPr lang="en-US" sz="4400" b="1" dirty="0">
                <a:solidFill>
                  <a:schemeClr val="accent3"/>
                </a:solidFill>
              </a:rPr>
              <a:t>13.4 to 21.5</a:t>
            </a:r>
            <a:endParaRPr lang="en-US" sz="4400" dirty="0"/>
          </a:p>
        </p:txBody>
      </p:sp>
      <p:sp>
        <p:nvSpPr>
          <p:cNvPr id="5" name="Text 2"/>
          <p:cNvSpPr txBox="1"/>
          <p:nvPr/>
        </p:nvSpPr>
        <p:spPr>
          <a:xfrm>
            <a:off x="7680960" y="2240280"/>
            <a:ext cx="4023360" cy="731520"/>
          </a:xfrm>
          <a:prstGeom prst="rect">
            <a:avLst/>
          </a:prstGeom>
          <a:noFill/>
          <a:ln/>
        </p:spPr>
        <p:txBody>
          <a:bodyPr wrap="square" lIns="0" tIns="0" rIns="0" bIns="0" rtlCol="0" anchor="t"/>
          <a:lstStyle/>
          <a:p>
            <a:pPr indent="0" marL="0">
              <a:buNone/>
            </a:pPr>
            <a:r>
              <a:rPr lang="en-US" sz="1400" dirty="0">
                <a:solidFill>
                  <a:schemeClr val="bg2"/>
                </a:solidFill>
              </a:rPr>
              <a:t>expected successful rescues per servicer lifetime, unprepared to markers</a:t>
            </a:r>
            <a:endParaRPr lang="en-US" sz="1400" dirty="0"/>
          </a:p>
        </p:txBody>
      </p:sp>
      <p:sp>
        <p:nvSpPr>
          <p:cNvPr id="6" name="Text 3"/>
          <p:cNvSpPr txBox="1"/>
          <p:nvPr/>
        </p:nvSpPr>
        <p:spPr>
          <a:xfrm>
            <a:off x="7680960" y="3063240"/>
            <a:ext cx="4023360" cy="777240"/>
          </a:xfrm>
          <a:prstGeom prst="rect">
            <a:avLst/>
          </a:prstGeom>
          <a:noFill/>
          <a:ln/>
        </p:spPr>
        <p:txBody>
          <a:bodyPr wrap="square" lIns="0" tIns="0" rIns="0" bIns="0" rtlCol="0" anchor="t"/>
          <a:lstStyle/>
          <a:p>
            <a:pPr indent="0" marL="0">
              <a:buNone/>
            </a:pPr>
            <a:r>
              <a:rPr lang="en-US" sz="4400" b="1" dirty="0">
                <a:solidFill>
                  <a:schemeClr val="accent1"/>
                </a:solidFill>
              </a:rPr>
              <a:t>22 visits</a:t>
            </a:r>
            <a:endParaRPr lang="en-US" sz="4400" dirty="0"/>
          </a:p>
        </p:txBody>
      </p:sp>
      <p:sp>
        <p:nvSpPr>
          <p:cNvPr id="7" name="Text 4"/>
          <p:cNvSpPr txBox="1"/>
          <p:nvPr/>
        </p:nvSpPr>
        <p:spPr>
          <a:xfrm>
            <a:off x="7680960" y="3886200"/>
            <a:ext cx="4023360" cy="731520"/>
          </a:xfrm>
          <a:prstGeom prst="rect">
            <a:avLst/>
          </a:prstGeom>
          <a:noFill/>
          <a:ln/>
        </p:spPr>
        <p:txBody>
          <a:bodyPr wrap="square" lIns="0" tIns="0" rIns="0" bIns="0" rtlCol="0" anchor="t"/>
          <a:lstStyle/>
          <a:p>
            <a:pPr indent="0" marL="0">
              <a:buNone/>
            </a:pPr>
            <a:r>
              <a:rPr lang="en-US" sz="1400" dirty="0">
                <a:solidFill>
                  <a:schemeClr val="bg2"/>
                </a:solidFill>
              </a:rPr>
              <a:t>per vehicle, limited by propellant. Fewer retries leave more fuel for more clients</a:t>
            </a:r>
            <a:endParaRPr lang="en-US" sz="1400" dirty="0"/>
          </a:p>
        </p:txBody>
      </p:sp>
      <p:sp>
        <p:nvSpPr>
          <p:cNvPr id="8" name="Text 5"/>
          <p:cNvSpPr txBox="1"/>
          <p:nvPr/>
        </p:nvSpPr>
        <p:spPr>
          <a:xfrm>
            <a:off x="7680960" y="4754880"/>
            <a:ext cx="4023360" cy="1188720"/>
          </a:xfrm>
          <a:prstGeom prst="rect">
            <a:avLst/>
          </a:prstGeom>
          <a:noFill/>
          <a:ln/>
        </p:spPr>
        <p:txBody>
          <a:bodyPr wrap="square" lIns="0" tIns="0" rIns="0" bIns="0" rtlCol="0" anchor="t"/>
          <a:lstStyle/>
          <a:p>
            <a:pPr indent="0" marL="0">
              <a:buNone/>
            </a:pPr>
            <a:r>
              <a:rPr lang="en-US" sz="1500" dirty="0">
                <a:solidFill>
                  <a:schemeClr val="bg2"/>
                </a:solidFill>
              </a:rPr>
              <a:t>Assumes a EUR 250 M vehicle, EUR 15 M a year to run, 12 years, 60 m/s per transfer. Break-even price is cost divided by expected successes.</a:t>
            </a:r>
            <a:endParaRPr lang="en-US" sz="15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What is new here, and what we build on</a:t>
            </a:r>
            <a:endParaRPr lang="en-US" sz="3200" dirty="0"/>
          </a:p>
        </p:txBody>
      </p:sp>
      <p:sp>
        <p:nvSpPr>
          <p:cNvPr id="3" name="New"/>
          <p:cNvSpPr/>
          <p:nvPr/>
        </p:nvSpPr>
        <p:spPr>
          <a:xfrm>
            <a:off x="548640" y="1371600"/>
            <a:ext cx="5852160" cy="4572000"/>
          </a:xfrm>
          <a:prstGeom prst="roundRect">
            <a:avLst>
              <a:gd name="adj" fmla="val 1600"/>
            </a:avLst>
          </a:prstGeom>
          <a:solidFill>
            <a:schemeClr val="tx2"/>
          </a:solidFill>
          <a:ln w="12700">
            <a:solidFill>
              <a:schemeClr val="accent6"/>
            </a:solidFill>
            <a:prstDash val="solid"/>
          </a:ln>
        </p:spPr>
      </p:sp>
      <p:sp>
        <p:nvSpPr>
          <p:cNvPr id="4" name="Text 2"/>
          <p:cNvSpPr txBox="1"/>
          <p:nvPr/>
        </p:nvSpPr>
        <p:spPr>
          <a:xfrm>
            <a:off x="822960" y="1554480"/>
            <a:ext cx="5303520" cy="411480"/>
          </a:xfrm>
          <a:prstGeom prst="rect">
            <a:avLst/>
          </a:prstGeom>
          <a:noFill/>
          <a:ln/>
        </p:spPr>
        <p:txBody>
          <a:bodyPr wrap="square" lIns="0" tIns="0" rIns="0" bIns="0" rtlCol="0" anchor="t"/>
          <a:lstStyle/>
          <a:p>
            <a:pPr indent="0" marL="0">
              <a:buNone/>
            </a:pPr>
            <a:r>
              <a:rPr lang="en-US" sz="2000" b="1" dirty="0">
                <a:solidFill>
                  <a:schemeClr val="accent3"/>
                </a:solidFill>
              </a:rPr>
              <a:t>New (not found in our literature search)</a:t>
            </a:r>
            <a:endParaRPr lang="en-US" sz="2000" dirty="0"/>
          </a:p>
        </p:txBody>
      </p:sp>
      <p:sp>
        <p:nvSpPr>
          <p:cNvPr id="5" name="Text 3"/>
          <p:cNvSpPr txBox="1"/>
          <p:nvPr/>
        </p:nvSpPr>
        <p:spPr>
          <a:xfrm>
            <a:off x="822960" y="2103120"/>
            <a:ext cx="530352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bg1"/>
                </a:solidFill>
              </a:rPr>
              <a:t>A controlled, paired measurement of client preparation on closed-loop outcomes: markers +51 pp, rate data +8 pp, identity-only radio +0</a:t>
            </a:r>
            <a:endParaRPr lang="en-US" sz="1600" dirty="0"/>
          </a:p>
          <a:p>
            <a:pPr marL="342900" indent="-342900">
              <a:spcAft>
                <a:spcPts val="1000"/>
              </a:spcAft>
              <a:buSzPct val="100000"/>
              <a:buChar char="•"/>
            </a:pPr>
            <a:r>
              <a:rPr lang="en-US" sz="1600" dirty="0">
                <a:solidFill>
                  <a:schemeClr val="bg1"/>
                </a:solidFill>
              </a:rPr>
              <a:t>A degraded-state information and handover layer: independent beacon plus an IOS mode with one controlling authority</a:t>
            </a:r>
            <a:endParaRPr lang="en-US" sz="1600" dirty="0"/>
          </a:p>
          <a:p>
            <a:pPr marL="342900" indent="-342900">
              <a:spcAft>
                <a:spcPts val="1000"/>
              </a:spcAft>
              <a:buSzPct val="100000"/>
              <a:buChar char="•"/>
            </a:pPr>
            <a:r>
              <a:rPr lang="en-US" sz="1600" dirty="0">
                <a:solidFill>
                  <a:schemeClr val="bg1"/>
                </a:solidFill>
              </a:rPr>
              <a:t>A money chain from simulated outcomes to euros per client, per tier</a:t>
            </a:r>
            <a:endParaRPr lang="en-US" sz="1600" dirty="0"/>
          </a:p>
        </p:txBody>
      </p:sp>
      <p:sp>
        <p:nvSpPr>
          <p:cNvPr id="6" name="Text 4"/>
          <p:cNvSpPr txBox="1"/>
          <p:nvPr/>
        </p:nvSpPr>
        <p:spPr>
          <a:xfrm>
            <a:off x="822960" y="5303520"/>
            <a:ext cx="5303520" cy="457200"/>
          </a:xfrm>
          <a:prstGeom prst="rect">
            <a:avLst/>
          </a:prstGeom>
          <a:noFill/>
          <a:ln/>
        </p:spPr>
        <p:txBody>
          <a:bodyPr wrap="square" lIns="0" tIns="0" rIns="0" bIns="0" rtlCol="0" anchor="t"/>
          <a:lstStyle/>
          <a:p>
            <a:pPr indent="0" marL="0">
              <a:buNone/>
            </a:pPr>
            <a:r>
              <a:rPr lang="en-US" sz="1400" dirty="0">
                <a:solidFill>
                  <a:schemeClr val="accent2"/>
                </a:solidFill>
              </a:rPr>
              <a:t>Needs a full literature review and patent search to confirm</a:t>
            </a:r>
            <a:endParaRPr lang="en-US" sz="1400" dirty="0"/>
          </a:p>
        </p:txBody>
      </p:sp>
      <p:sp>
        <p:nvSpPr>
          <p:cNvPr id="7" name="Builds on"/>
          <p:cNvSpPr/>
          <p:nvPr/>
        </p:nvSpPr>
        <p:spPr>
          <a:xfrm>
            <a:off x="6675120" y="1371600"/>
            <a:ext cx="4965192" cy="4572000"/>
          </a:xfrm>
          <a:prstGeom prst="roundRect">
            <a:avLst>
              <a:gd name="adj" fmla="val 1600"/>
            </a:avLst>
          </a:prstGeom>
          <a:solidFill>
            <a:schemeClr val="tx2"/>
          </a:solidFill>
          <a:ln w="12700">
            <a:solidFill>
              <a:schemeClr val="accent6"/>
            </a:solidFill>
            <a:prstDash val="solid"/>
          </a:ln>
        </p:spPr>
      </p:sp>
      <p:sp>
        <p:nvSpPr>
          <p:cNvPr id="8" name="Text 6"/>
          <p:cNvSpPr txBox="1"/>
          <p:nvPr/>
        </p:nvSpPr>
        <p:spPr>
          <a:xfrm>
            <a:off x="6949440" y="1554480"/>
            <a:ext cx="4480560" cy="411480"/>
          </a:xfrm>
          <a:prstGeom prst="rect">
            <a:avLst/>
          </a:prstGeom>
          <a:noFill/>
          <a:ln/>
        </p:spPr>
        <p:txBody>
          <a:bodyPr wrap="square" lIns="0" tIns="0" rIns="0" bIns="0" rtlCol="0" anchor="t"/>
          <a:lstStyle/>
          <a:p>
            <a:pPr indent="0" marL="0">
              <a:buNone/>
            </a:pPr>
            <a:r>
              <a:rPr lang="en-US" sz="2000" b="1" dirty="0">
                <a:solidFill>
                  <a:schemeClr val="accent1"/>
                </a:solidFill>
              </a:rPr>
              <a:t>Builds on known work</a:t>
            </a:r>
            <a:endParaRPr lang="en-US" sz="2000" dirty="0"/>
          </a:p>
        </p:txBody>
      </p:sp>
      <p:sp>
        <p:nvSpPr>
          <p:cNvPr id="9" name="Text 7"/>
          <p:cNvSpPr txBox="1"/>
          <p:nvPr/>
        </p:nvSpPr>
        <p:spPr>
          <a:xfrm>
            <a:off x="6949440" y="2103120"/>
            <a:ext cx="4480560" cy="3749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bg1"/>
                </a:solidFill>
              </a:rPr>
              <a:t>Servicer guidance for tumbling targets (Naasz 2011, Madonna 2025)</a:t>
            </a:r>
            <a:endParaRPr lang="en-US" sz="1500" dirty="0"/>
          </a:p>
          <a:p>
            <a:pPr marL="342900" indent="-342900">
              <a:spcAft>
                <a:spcPts val="800"/>
              </a:spcAft>
              <a:buSzPct val="100000"/>
              <a:buChar char="•"/>
            </a:pPr>
            <a:r>
              <a:rPr lang="en-US" sz="1500" dirty="0">
                <a:solidFill>
                  <a:schemeClr val="bg1"/>
                </a:solidFill>
              </a:rPr>
              <a:t>Marker-based pose estimation (Opromolla 2022, ESA)</a:t>
            </a:r>
            <a:endParaRPr lang="en-US" sz="1500" dirty="0"/>
          </a:p>
          <a:p>
            <a:pPr marL="342900" indent="-342900">
              <a:spcAft>
                <a:spcPts val="800"/>
              </a:spcAft>
              <a:buSzPct val="100000"/>
              <a:buChar char="•"/>
            </a:pPr>
            <a:r>
              <a:rPr lang="en-US" sz="1500" dirty="0">
                <a:solidFill>
                  <a:schemeClr val="bg1"/>
                </a:solidFill>
              </a:rPr>
              <a:t>Interfaces and standards: MICE, MASI, CONFERS, AIAA S-157 and S-159</a:t>
            </a:r>
            <a:endParaRPr lang="en-US" sz="1500" dirty="0"/>
          </a:p>
          <a:p>
            <a:pPr marL="342900" indent="-342900">
              <a:spcAft>
                <a:spcPts val="800"/>
              </a:spcAft>
              <a:buSzPct val="100000"/>
              <a:buChar char="•"/>
            </a:pPr>
            <a:r>
              <a:rPr lang="en-US" sz="1500" dirty="0">
                <a:solidFill>
                  <a:schemeClr val="bg1"/>
                </a:solidFill>
              </a:rPr>
              <a:t>Expected-value servicing economics (Sullivan 2005)</a:t>
            </a:r>
            <a:endParaRPr lang="en-US" sz="1500" dirty="0"/>
          </a:p>
          <a:p>
            <a:pPr marL="342900" indent="-342900">
              <a:spcAft>
                <a:spcPts val="800"/>
              </a:spcAft>
              <a:buSzPct val="100000"/>
              <a:buChar char="•"/>
            </a:pPr>
            <a:r>
              <a:rPr lang="en-US" sz="1500" dirty="0">
                <a:solidFill>
                  <a:schemeClr val="bg1"/>
                </a:solidFill>
              </a:rPr>
              <a:t>PVT and book-keeping gauging</a:t>
            </a:r>
            <a:endParaRPr lang="en-US" sz="15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Can you rely on the numbers? Built, tested, and bounded</a:t>
            </a:r>
            <a:endParaRPr lang="en-US" sz="3200" dirty="0"/>
          </a:p>
        </p:txBody>
      </p:sp>
      <p:sp>
        <p:nvSpPr>
          <p:cNvPr id="3" name="Text 1"/>
          <p:cNvSpPr txBox="1"/>
          <p:nvPr/>
        </p:nvSpPr>
        <p:spPr>
          <a:xfrm>
            <a:off x="548640" y="1417320"/>
            <a:ext cx="2560320" cy="777240"/>
          </a:xfrm>
          <a:prstGeom prst="rect">
            <a:avLst/>
          </a:prstGeom>
          <a:noFill/>
          <a:ln/>
        </p:spPr>
        <p:txBody>
          <a:bodyPr wrap="square" lIns="0" tIns="0" rIns="0" bIns="0" rtlCol="0" anchor="t"/>
          <a:lstStyle/>
          <a:p>
            <a:pPr indent="0" marL="0">
              <a:buNone/>
            </a:pPr>
            <a:r>
              <a:rPr lang="en-US" sz="4400" b="1" dirty="0">
                <a:solidFill>
                  <a:schemeClr val="accent3"/>
                </a:solidFill>
              </a:rPr>
              <a:t>74</a:t>
            </a:r>
            <a:endParaRPr lang="en-US" sz="4400" dirty="0"/>
          </a:p>
        </p:txBody>
      </p:sp>
      <p:sp>
        <p:nvSpPr>
          <p:cNvPr id="4" name="Text 2"/>
          <p:cNvSpPr txBox="1"/>
          <p:nvPr/>
        </p:nvSpPr>
        <p:spPr>
          <a:xfrm>
            <a:off x="548640" y="2240280"/>
            <a:ext cx="2560320" cy="731520"/>
          </a:xfrm>
          <a:prstGeom prst="rect">
            <a:avLst/>
          </a:prstGeom>
          <a:noFill/>
          <a:ln/>
        </p:spPr>
        <p:txBody>
          <a:bodyPr wrap="square" lIns="0" tIns="0" rIns="0" bIns="0" rtlCol="0" anchor="t"/>
          <a:lstStyle/>
          <a:p>
            <a:pPr indent="0" marL="0">
              <a:buNone/>
            </a:pPr>
            <a:r>
              <a:rPr lang="en-US" sz="1400" dirty="0">
                <a:solidFill>
                  <a:schemeClr val="bg2"/>
                </a:solidFill>
              </a:rPr>
              <a:t>automated tests pass</a:t>
            </a:r>
            <a:endParaRPr lang="en-US" sz="1400" dirty="0"/>
          </a:p>
        </p:txBody>
      </p:sp>
      <p:sp>
        <p:nvSpPr>
          <p:cNvPr id="5" name="Text 3"/>
          <p:cNvSpPr txBox="1"/>
          <p:nvPr/>
        </p:nvSpPr>
        <p:spPr>
          <a:xfrm>
            <a:off x="3291840" y="1417320"/>
            <a:ext cx="2560320" cy="777240"/>
          </a:xfrm>
          <a:prstGeom prst="rect">
            <a:avLst/>
          </a:prstGeom>
          <a:noFill/>
          <a:ln/>
        </p:spPr>
        <p:txBody>
          <a:bodyPr wrap="square" lIns="0" tIns="0" rIns="0" bIns="0" rtlCol="0" anchor="t"/>
          <a:lstStyle/>
          <a:p>
            <a:pPr indent="0" marL="0">
              <a:buNone/>
            </a:pPr>
            <a:r>
              <a:rPr lang="en-US" sz="4400" b="1" dirty="0">
                <a:solidFill>
                  <a:schemeClr val="accent1"/>
                </a:solidFill>
              </a:rPr>
              <a:t>41,240</a:t>
            </a:r>
            <a:endParaRPr lang="en-US" sz="4400" dirty="0"/>
          </a:p>
        </p:txBody>
      </p:sp>
      <p:sp>
        <p:nvSpPr>
          <p:cNvPr id="6" name="Text 4"/>
          <p:cNvSpPr txBox="1"/>
          <p:nvPr/>
        </p:nvSpPr>
        <p:spPr>
          <a:xfrm>
            <a:off x="3291840" y="2240280"/>
            <a:ext cx="2560320" cy="731520"/>
          </a:xfrm>
          <a:prstGeom prst="rect">
            <a:avLst/>
          </a:prstGeom>
          <a:noFill/>
          <a:ln/>
        </p:spPr>
        <p:txBody>
          <a:bodyPr wrap="square" lIns="0" tIns="0" rIns="0" bIns="0" rtlCol="0" anchor="t"/>
          <a:lstStyle/>
          <a:p>
            <a:pPr indent="0" marL="0">
              <a:buNone/>
            </a:pPr>
            <a:r>
              <a:rPr lang="en-US" sz="1400" dirty="0">
                <a:solidFill>
                  <a:schemeClr val="bg2"/>
                </a:solidFill>
              </a:rPr>
              <a:t>simulated approaches (35,100 + 6,140)</a:t>
            </a:r>
            <a:endParaRPr lang="en-US" sz="1400" dirty="0"/>
          </a:p>
        </p:txBody>
      </p:sp>
      <p:sp>
        <p:nvSpPr>
          <p:cNvPr id="7" name="Text 5"/>
          <p:cNvSpPr txBox="1"/>
          <p:nvPr/>
        </p:nvSpPr>
        <p:spPr>
          <a:xfrm>
            <a:off x="6035040" y="1417320"/>
            <a:ext cx="2560320" cy="777240"/>
          </a:xfrm>
          <a:prstGeom prst="rect">
            <a:avLst/>
          </a:prstGeom>
          <a:noFill/>
          <a:ln/>
        </p:spPr>
        <p:txBody>
          <a:bodyPr wrap="square" lIns="0" tIns="0" rIns="0" bIns="0" rtlCol="0" anchor="t"/>
          <a:lstStyle/>
          <a:p>
            <a:pPr indent="0" marL="0">
              <a:buNone/>
            </a:pPr>
            <a:r>
              <a:rPr lang="en-US" sz="4400" b="1" dirty="0">
                <a:solidFill>
                  <a:schemeClr val="accent2"/>
                </a:solidFill>
              </a:rPr>
              <a:t>0 / 6,140</a:t>
            </a:r>
            <a:endParaRPr lang="en-US" sz="4400" dirty="0"/>
          </a:p>
        </p:txBody>
      </p:sp>
      <p:sp>
        <p:nvSpPr>
          <p:cNvPr id="8" name="Text 6"/>
          <p:cNvSpPr txBox="1"/>
          <p:nvPr/>
        </p:nvSpPr>
        <p:spPr>
          <a:xfrm>
            <a:off x="6035040" y="2240280"/>
            <a:ext cx="2560320" cy="731520"/>
          </a:xfrm>
          <a:prstGeom prst="rect">
            <a:avLst/>
          </a:prstGeom>
          <a:noFill/>
          <a:ln/>
        </p:spPr>
        <p:txBody>
          <a:bodyPr wrap="square" lIns="0" tIns="0" rIns="0" bIns="0" rtlCol="0" anchor="t"/>
          <a:lstStyle/>
          <a:p>
            <a:pPr indent="0" marL="0">
              <a:buNone/>
            </a:pPr>
            <a:r>
              <a:rPr lang="en-US" sz="1400" dirty="0">
                <a:solidFill>
                  <a:schemeClr val="bg2"/>
                </a:solidFill>
              </a:rPr>
              <a:t>keep-out violations (a count, not a bound)</a:t>
            </a:r>
            <a:endParaRPr lang="en-US" sz="1400" dirty="0"/>
          </a:p>
        </p:txBody>
      </p:sp>
      <p:sp>
        <p:nvSpPr>
          <p:cNvPr id="9" name="Text 7"/>
          <p:cNvSpPr txBox="1"/>
          <p:nvPr/>
        </p:nvSpPr>
        <p:spPr>
          <a:xfrm>
            <a:off x="8778240" y="1417320"/>
            <a:ext cx="2834640" cy="777240"/>
          </a:xfrm>
          <a:prstGeom prst="rect">
            <a:avLst/>
          </a:prstGeom>
          <a:noFill/>
          <a:ln/>
        </p:spPr>
        <p:txBody>
          <a:bodyPr wrap="square" lIns="0" tIns="0" rIns="0" bIns="0" rtlCol="0" anchor="t"/>
          <a:lstStyle/>
          <a:p>
            <a:pPr indent="0" marL="0">
              <a:buNone/>
            </a:pPr>
            <a:r>
              <a:rPr lang="en-US" sz="4400" b="1" dirty="0">
                <a:solidFill>
                  <a:schemeClr val="accent3"/>
                </a:solidFill>
              </a:rPr>
              <a:t>1.2 kg</a:t>
            </a:r>
            <a:endParaRPr lang="en-US" sz="4400" dirty="0"/>
          </a:p>
        </p:txBody>
      </p:sp>
      <p:sp>
        <p:nvSpPr>
          <p:cNvPr id="10" name="Text 8"/>
          <p:cNvSpPr txBox="1"/>
          <p:nvPr/>
        </p:nvSpPr>
        <p:spPr>
          <a:xfrm>
            <a:off x="8778240" y="2240280"/>
            <a:ext cx="2834640" cy="731520"/>
          </a:xfrm>
          <a:prstGeom prst="rect">
            <a:avLst/>
          </a:prstGeom>
          <a:noFill/>
          <a:ln/>
        </p:spPr>
        <p:txBody>
          <a:bodyPr wrap="square" lIns="0" tIns="0" rIns="0" bIns="0" rtlCol="0" anchor="t"/>
          <a:lstStyle/>
          <a:p>
            <a:pPr indent="0" marL="0">
              <a:buNone/>
            </a:pPr>
            <a:r>
              <a:rPr lang="en-US" sz="1400" dirty="0">
                <a:solidFill>
                  <a:schemeClr val="bg2"/>
                </a:solidFill>
              </a:rPr>
              <a:t>fuel gauge error from 800 kg</a:t>
            </a:r>
            <a:endParaRPr lang="en-US" sz="1400" dirty="0"/>
          </a:p>
        </p:txBody>
      </p:sp>
      <p:sp>
        <p:nvSpPr>
          <p:cNvPr id="11" name="Verified"/>
          <p:cNvSpPr/>
          <p:nvPr/>
        </p:nvSpPr>
        <p:spPr>
          <a:xfrm>
            <a:off x="548640" y="3246120"/>
            <a:ext cx="5394960" cy="2743200"/>
          </a:xfrm>
          <a:prstGeom prst="roundRect">
            <a:avLst>
              <a:gd name="adj" fmla="val 2667"/>
            </a:avLst>
          </a:prstGeom>
          <a:solidFill>
            <a:schemeClr val="tx2"/>
          </a:solidFill>
          <a:ln w="12700">
            <a:solidFill>
              <a:schemeClr val="accent6"/>
            </a:solidFill>
            <a:prstDash val="solid"/>
          </a:ln>
        </p:spPr>
      </p:sp>
      <p:sp>
        <p:nvSpPr>
          <p:cNvPr id="12" name="Text 10"/>
          <p:cNvSpPr txBox="1"/>
          <p:nvPr/>
        </p:nvSpPr>
        <p:spPr>
          <a:xfrm>
            <a:off x="822960" y="3429000"/>
            <a:ext cx="4846320" cy="365760"/>
          </a:xfrm>
          <a:prstGeom prst="rect">
            <a:avLst/>
          </a:prstGeom>
          <a:noFill/>
          <a:ln/>
        </p:spPr>
        <p:txBody>
          <a:bodyPr wrap="square" lIns="0" tIns="0" rIns="0" bIns="0" rtlCol="0" anchor="t"/>
          <a:lstStyle/>
          <a:p>
            <a:pPr indent="0" marL="0">
              <a:buNone/>
            </a:pPr>
            <a:r>
              <a:rPr lang="en-US" sz="2000" b="1" dirty="0">
                <a:solidFill>
                  <a:schemeClr val="accent3"/>
                </a:solidFill>
              </a:rPr>
              <a:t>What you can rely on</a:t>
            </a:r>
            <a:endParaRPr lang="en-US" sz="2000" dirty="0"/>
          </a:p>
        </p:txBody>
      </p:sp>
      <p:sp>
        <p:nvSpPr>
          <p:cNvPr id="13" name="Text 11"/>
          <p:cNvSpPr txBox="1"/>
          <p:nvPr/>
        </p:nvSpPr>
        <p:spPr>
          <a:xfrm>
            <a:off x="822960" y="3886200"/>
            <a:ext cx="4846320" cy="20116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Paired seeds, intervals, exact tests, every run replayable</a:t>
            </a:r>
            <a:endParaRPr lang="en-US" sz="1500" dirty="0"/>
          </a:p>
          <a:p>
            <a:pPr marL="342900" indent="-342900">
              <a:spcAft>
                <a:spcPts val="600"/>
              </a:spcAft>
              <a:buSzPct val="100000"/>
              <a:buChar char="•"/>
            </a:pPr>
            <a:r>
              <a:rPr lang="en-US" sz="1500" dirty="0">
                <a:solidFill>
                  <a:schemeClr val="bg1"/>
                </a:solidFill>
              </a:rPr>
              <a:t>Human approval gates the close approach; abort from any state</a:t>
            </a:r>
            <a:endParaRPr lang="en-US" sz="1500" dirty="0"/>
          </a:p>
          <a:p>
            <a:pPr marL="342900" indent="-342900">
              <a:spcAft>
                <a:spcPts val="600"/>
              </a:spcAft>
              <a:buSzPct val="100000"/>
              <a:buChar char="•"/>
            </a:pPr>
            <a:r>
              <a:rPr lang="en-US" sz="1500" dirty="0">
                <a:solidFill>
                  <a:schemeClr val="bg1"/>
                </a:solidFill>
              </a:rPr>
              <a:t>Beacon bench plan with pass limits; fuel and log gauges that flag faults</a:t>
            </a:r>
            <a:endParaRPr lang="en-US" sz="1500" dirty="0"/>
          </a:p>
          <a:p>
            <a:pPr marL="342900" indent="-342900">
              <a:spcAft>
                <a:spcPts val="600"/>
              </a:spcAft>
              <a:buSzPct val="100000"/>
              <a:buChar char="•"/>
            </a:pPr>
            <a:r>
              <a:rPr lang="en-US" sz="1500" dirty="0">
                <a:solidFill>
                  <a:schemeClr val="bg1"/>
                </a:solidFill>
              </a:rPr>
              <a:t>Dashboard, downlink and audit trail already demonstrated</a:t>
            </a:r>
            <a:endParaRPr lang="en-US" sz="1500" dirty="0"/>
          </a:p>
        </p:txBody>
      </p:sp>
      <p:sp>
        <p:nvSpPr>
          <p:cNvPr id="14" name="Limits"/>
          <p:cNvSpPr/>
          <p:nvPr/>
        </p:nvSpPr>
        <p:spPr>
          <a:xfrm>
            <a:off x="6217920" y="3246120"/>
            <a:ext cx="5422392" cy="2743200"/>
          </a:xfrm>
          <a:prstGeom prst="roundRect">
            <a:avLst>
              <a:gd name="adj" fmla="val 2667"/>
            </a:avLst>
          </a:prstGeom>
          <a:solidFill>
            <a:schemeClr val="tx2"/>
          </a:solidFill>
          <a:ln w="12700">
            <a:solidFill>
              <a:schemeClr val="accent6"/>
            </a:solidFill>
            <a:prstDash val="solid"/>
          </a:ln>
        </p:spPr>
      </p:sp>
      <p:sp>
        <p:nvSpPr>
          <p:cNvPr id="15" name="Text 13"/>
          <p:cNvSpPr txBox="1"/>
          <p:nvPr/>
        </p:nvSpPr>
        <p:spPr>
          <a:xfrm>
            <a:off x="6492240" y="3429000"/>
            <a:ext cx="4846320" cy="365760"/>
          </a:xfrm>
          <a:prstGeom prst="rect">
            <a:avLst/>
          </a:prstGeom>
          <a:noFill/>
          <a:ln/>
        </p:spPr>
        <p:txBody>
          <a:bodyPr wrap="square" lIns="0" tIns="0" rIns="0" bIns="0" rtlCol="0" anchor="t"/>
          <a:lstStyle/>
          <a:p>
            <a:pPr indent="0" marL="0">
              <a:buNone/>
            </a:pPr>
            <a:r>
              <a:rPr lang="en-US" sz="2000" b="1" dirty="0">
                <a:solidFill>
                  <a:schemeClr val="accent4"/>
                </a:solidFill>
              </a:rPr>
              <a:t>What we do not claim</a:t>
            </a:r>
            <a:endParaRPr lang="en-US" sz="2000" dirty="0"/>
          </a:p>
        </p:txBody>
      </p:sp>
      <p:sp>
        <p:nvSpPr>
          <p:cNvPr id="16" name="Text 14"/>
          <p:cNvSpPr txBox="1"/>
          <p:nvPr/>
        </p:nvSpPr>
        <p:spPr>
          <a:xfrm>
            <a:off x="6492240" y="3886200"/>
            <a:ext cx="4846320" cy="20116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No contact model: 'window met' is not a grab</a:t>
            </a:r>
            <a:endParaRPr lang="en-US" sz="1500" dirty="0"/>
          </a:p>
          <a:p>
            <a:pPr marL="342900" indent="-342900">
              <a:spcAft>
                <a:spcPts val="600"/>
              </a:spcAft>
              <a:buSzPct val="100000"/>
              <a:buChar char="•"/>
            </a:pPr>
            <a:r>
              <a:rPr lang="en-US" sz="1500" dirty="0">
                <a:solidFill>
                  <a:schemeClr val="bg1"/>
                </a:solidFill>
              </a:rPr>
              <a:t>Retreat safety in orbit not established</a:t>
            </a:r>
            <a:endParaRPr lang="en-US" sz="1500" dirty="0"/>
          </a:p>
          <a:p>
            <a:pPr marL="342900" indent="-342900">
              <a:spcAft>
                <a:spcPts val="600"/>
              </a:spcAft>
              <a:buSzPct val="100000"/>
              <a:buChar char="•"/>
            </a:pPr>
            <a:r>
              <a:rPr lang="en-US" sz="1500" dirty="0">
                <a:solidFill>
                  <a:schemeClr val="bg1"/>
                </a:solidFill>
              </a:rPr>
              <a:t>No hardware data; all costs and noise are assumptions</a:t>
            </a:r>
            <a:endParaRPr lang="en-US" sz="1500" dirty="0"/>
          </a:p>
          <a:p>
            <a:pPr marL="342900" indent="-342900">
              <a:spcAft>
                <a:spcPts val="600"/>
              </a:spcAft>
              <a:buSzPct val="100000"/>
              <a:buChar char="•"/>
            </a:pPr>
            <a:r>
              <a:rPr lang="en-US" sz="1500" dirty="0">
                <a:solidFill>
                  <a:schemeClr val="bg1"/>
                </a:solidFill>
              </a:rPr>
              <a:t>Authentication is a simulation token today</a:t>
            </a:r>
            <a:endParaRPr lang="en-US" sz="15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How we earn, who else is here, and what rules apply</a:t>
            </a:r>
            <a:endParaRPr lang="en-US" sz="3200" dirty="0"/>
          </a:p>
        </p:txBody>
      </p:sp>
      <p:sp>
        <p:nvSpPr>
          <p:cNvPr id="3" name="Stream Kit per satellite"/>
          <p:cNvSpPr/>
          <p:nvPr/>
        </p:nvSpPr>
        <p:spPr>
          <a:xfrm>
            <a:off x="548640" y="1371600"/>
            <a:ext cx="3566160" cy="2103120"/>
          </a:xfrm>
          <a:prstGeom prst="roundRect">
            <a:avLst>
              <a:gd name="adj" fmla="val 3478"/>
            </a:avLst>
          </a:prstGeom>
          <a:solidFill>
            <a:schemeClr val="tx2"/>
          </a:solidFill>
          <a:ln w="12700">
            <a:solidFill>
              <a:schemeClr val="accent6"/>
            </a:solidFill>
            <a:prstDash val="solid"/>
          </a:ln>
        </p:spPr>
      </p:sp>
      <p:sp>
        <p:nvSpPr>
          <p:cNvPr id="4" name="Text 2"/>
          <p:cNvSpPr txBox="1"/>
          <p:nvPr/>
        </p:nvSpPr>
        <p:spPr>
          <a:xfrm>
            <a:off x="777240" y="1554480"/>
            <a:ext cx="3108960" cy="411480"/>
          </a:xfrm>
          <a:prstGeom prst="rect">
            <a:avLst/>
          </a:prstGeom>
          <a:noFill/>
          <a:ln/>
        </p:spPr>
        <p:txBody>
          <a:bodyPr wrap="square" lIns="0" tIns="0" rIns="0" bIns="0" rtlCol="0" anchor="t"/>
          <a:lstStyle/>
          <a:p>
            <a:pPr indent="0" marL="0">
              <a:buNone/>
            </a:pPr>
            <a:r>
              <a:rPr lang="en-US" sz="2100" b="1" dirty="0">
                <a:solidFill>
                  <a:schemeClr val="accent2"/>
                </a:solidFill>
              </a:rPr>
              <a:t>Kit per satellite</a:t>
            </a:r>
            <a:endParaRPr lang="en-US" sz="2100" dirty="0"/>
          </a:p>
        </p:txBody>
      </p:sp>
      <p:sp>
        <p:nvSpPr>
          <p:cNvPr id="5" name="Text 3"/>
          <p:cNvSpPr txBox="1"/>
          <p:nvPr/>
        </p:nvSpPr>
        <p:spPr>
          <a:xfrm>
            <a:off x="777240" y="2103120"/>
            <a:ext cx="3108960" cy="1280160"/>
          </a:xfrm>
          <a:prstGeom prst="rect">
            <a:avLst/>
          </a:prstGeom>
          <a:noFill/>
          <a:ln/>
        </p:spPr>
        <p:txBody>
          <a:bodyPr wrap="square" lIns="0" tIns="0" rIns="0" bIns="0" rtlCol="0" anchor="t"/>
          <a:lstStyle/>
          <a:p>
            <a:pPr indent="0" marL="0">
              <a:buNone/>
            </a:pPr>
            <a:r>
              <a:rPr lang="en-US" sz="1600" dirty="0">
                <a:solidFill>
                  <a:schemeClr val="bg1"/>
                </a:solidFill>
              </a:rPr>
              <a:t>Operators and makers pay per unit at build time, or license the interface set</a:t>
            </a:r>
            <a:endParaRPr lang="en-US" sz="1600" dirty="0"/>
          </a:p>
        </p:txBody>
      </p:sp>
      <p:sp>
        <p:nvSpPr>
          <p:cNvPr id="6" name="Stream Servicer partnerships"/>
          <p:cNvSpPr/>
          <p:nvPr/>
        </p:nvSpPr>
        <p:spPr>
          <a:xfrm>
            <a:off x="4297680" y="1371600"/>
            <a:ext cx="3566160" cy="2103120"/>
          </a:xfrm>
          <a:prstGeom prst="roundRect">
            <a:avLst>
              <a:gd name="adj" fmla="val 3478"/>
            </a:avLst>
          </a:prstGeom>
          <a:solidFill>
            <a:schemeClr val="tx2"/>
          </a:solidFill>
          <a:ln w="12700">
            <a:solidFill>
              <a:schemeClr val="accent6"/>
            </a:solidFill>
            <a:prstDash val="solid"/>
          </a:ln>
        </p:spPr>
      </p:sp>
      <p:sp>
        <p:nvSpPr>
          <p:cNvPr id="7" name="Text 5"/>
          <p:cNvSpPr txBox="1"/>
          <p:nvPr/>
        </p:nvSpPr>
        <p:spPr>
          <a:xfrm>
            <a:off x="4526280" y="1554480"/>
            <a:ext cx="3108960" cy="411480"/>
          </a:xfrm>
          <a:prstGeom prst="rect">
            <a:avLst/>
          </a:prstGeom>
          <a:noFill/>
          <a:ln/>
        </p:spPr>
        <p:txBody>
          <a:bodyPr wrap="square" lIns="0" tIns="0" rIns="0" bIns="0" rtlCol="0" anchor="t"/>
          <a:lstStyle/>
          <a:p>
            <a:pPr indent="0" marL="0">
              <a:buNone/>
            </a:pPr>
            <a:r>
              <a:rPr lang="en-US" sz="2100" b="1" dirty="0">
                <a:solidFill>
                  <a:schemeClr val="accent1"/>
                </a:solidFill>
              </a:rPr>
              <a:t>Servicer partnerships</a:t>
            </a:r>
            <a:endParaRPr lang="en-US" sz="2100" dirty="0"/>
          </a:p>
        </p:txBody>
      </p:sp>
      <p:sp>
        <p:nvSpPr>
          <p:cNvPr id="8" name="Text 6"/>
          <p:cNvSpPr txBox="1"/>
          <p:nvPr/>
        </p:nvSpPr>
        <p:spPr>
          <a:xfrm>
            <a:off x="4526280" y="2103120"/>
            <a:ext cx="3108960" cy="1280160"/>
          </a:xfrm>
          <a:prstGeom prst="rect">
            <a:avLst/>
          </a:prstGeom>
          <a:noFill/>
          <a:ln/>
        </p:spPr>
        <p:txBody>
          <a:bodyPr wrap="square" lIns="0" tIns="0" rIns="0" bIns="0" rtlCol="0" anchor="t"/>
          <a:lstStyle/>
          <a:p>
            <a:pPr indent="0" marL="0">
              <a:buNone/>
            </a:pPr>
            <a:r>
              <a:rPr lang="en-US" sz="1600" dirty="0">
                <a:solidFill>
                  <a:schemeClr val="bg1"/>
                </a:solidFill>
              </a:rPr>
              <a:t>Share of savings from fewer retries; qualified-client lists</a:t>
            </a:r>
            <a:endParaRPr lang="en-US" sz="1600" dirty="0"/>
          </a:p>
        </p:txBody>
      </p:sp>
      <p:sp>
        <p:nvSpPr>
          <p:cNvPr id="9" name="Stream Evidence service"/>
          <p:cNvSpPr/>
          <p:nvPr/>
        </p:nvSpPr>
        <p:spPr>
          <a:xfrm>
            <a:off x="8046720" y="1371600"/>
            <a:ext cx="3566160" cy="2103120"/>
          </a:xfrm>
          <a:prstGeom prst="roundRect">
            <a:avLst>
              <a:gd name="adj" fmla="val 3478"/>
            </a:avLst>
          </a:prstGeom>
          <a:solidFill>
            <a:schemeClr val="tx2"/>
          </a:solidFill>
          <a:ln w="12700">
            <a:solidFill>
              <a:schemeClr val="accent6"/>
            </a:solidFill>
            <a:prstDash val="solid"/>
          </a:ln>
        </p:spPr>
      </p:sp>
      <p:sp>
        <p:nvSpPr>
          <p:cNvPr id="10" name="Text 8"/>
          <p:cNvSpPr txBox="1"/>
          <p:nvPr/>
        </p:nvSpPr>
        <p:spPr>
          <a:xfrm>
            <a:off x="8275320" y="1554480"/>
            <a:ext cx="3108960" cy="411480"/>
          </a:xfrm>
          <a:prstGeom prst="rect">
            <a:avLst/>
          </a:prstGeom>
          <a:noFill/>
          <a:ln/>
        </p:spPr>
        <p:txBody>
          <a:bodyPr wrap="square" lIns="0" tIns="0" rIns="0" bIns="0" rtlCol="0" anchor="t"/>
          <a:lstStyle/>
          <a:p>
            <a:pPr indent="0" marL="0">
              <a:buNone/>
            </a:pPr>
            <a:r>
              <a:rPr lang="en-US" sz="2100" b="1" dirty="0">
                <a:solidFill>
                  <a:schemeClr val="accent3"/>
                </a:solidFill>
              </a:rPr>
              <a:t>Evidence service</a:t>
            </a:r>
            <a:endParaRPr lang="en-US" sz="2100" dirty="0"/>
          </a:p>
        </p:txBody>
      </p:sp>
      <p:sp>
        <p:nvSpPr>
          <p:cNvPr id="11" name="Text 9"/>
          <p:cNvSpPr txBox="1"/>
          <p:nvPr/>
        </p:nvSpPr>
        <p:spPr>
          <a:xfrm>
            <a:off x="8275320" y="2103120"/>
            <a:ext cx="3108960" cy="1280160"/>
          </a:xfrm>
          <a:prstGeom prst="rect">
            <a:avLst/>
          </a:prstGeom>
          <a:noFill/>
          <a:ln/>
        </p:spPr>
        <p:txBody>
          <a:bodyPr wrap="square" lIns="0" tIns="0" rIns="0" bIns="0" rtlCol="0" anchor="t"/>
          <a:lstStyle/>
          <a:p>
            <a:pPr indent="0" marL="0">
              <a:buNone/>
            </a:pPr>
            <a:r>
              <a:rPr lang="en-US" sz="1600" dirty="0">
                <a:solidFill>
                  <a:schemeClr val="bg1"/>
                </a:solidFill>
              </a:rPr>
              <a:t>Serviceability envelopes for insurers, regulators and agencies</a:t>
            </a:r>
            <a:endParaRPr lang="en-US" sz="1600" dirty="0"/>
          </a:p>
        </p:txBody>
      </p:sp>
      <p:sp>
        <p:nvSpPr>
          <p:cNvPr id="12" name="Competition"/>
          <p:cNvSpPr/>
          <p:nvPr/>
        </p:nvSpPr>
        <p:spPr>
          <a:xfrm>
            <a:off x="548640" y="3657600"/>
            <a:ext cx="5394960" cy="2331720"/>
          </a:xfrm>
          <a:prstGeom prst="roundRect">
            <a:avLst>
              <a:gd name="adj" fmla="val 3137"/>
            </a:avLst>
          </a:prstGeom>
          <a:solidFill>
            <a:schemeClr val="tx2"/>
          </a:solidFill>
          <a:ln w="12700">
            <a:solidFill>
              <a:schemeClr val="accent6"/>
            </a:solidFill>
            <a:prstDash val="solid"/>
          </a:ln>
        </p:spPr>
      </p:sp>
      <p:sp>
        <p:nvSpPr>
          <p:cNvPr id="13" name="Text 11"/>
          <p:cNvSpPr txBox="1"/>
          <p:nvPr/>
        </p:nvSpPr>
        <p:spPr>
          <a:xfrm>
            <a:off x="822960" y="3794760"/>
            <a:ext cx="4846320" cy="365760"/>
          </a:xfrm>
          <a:prstGeom prst="rect">
            <a:avLst/>
          </a:prstGeom>
          <a:noFill/>
          <a:ln/>
        </p:spPr>
        <p:txBody>
          <a:bodyPr wrap="square" lIns="0" tIns="0" rIns="0" bIns="0" rtlCol="0" anchor="t"/>
          <a:lstStyle/>
          <a:p>
            <a:pPr indent="0" marL="0">
              <a:buNone/>
            </a:pPr>
            <a:r>
              <a:rPr lang="en-US" sz="1800" b="1" dirty="0">
                <a:solidFill>
                  <a:schemeClr val="accent1"/>
                </a:solidFill>
              </a:rPr>
              <a:t>Others fix the servicer [to verify]</a:t>
            </a:r>
            <a:endParaRPr lang="en-US" sz="1800" dirty="0"/>
          </a:p>
        </p:txBody>
      </p:sp>
      <p:sp>
        <p:nvSpPr>
          <p:cNvPr id="14" name="Text 12"/>
          <p:cNvSpPr txBox="1"/>
          <p:nvPr/>
        </p:nvSpPr>
        <p:spPr>
          <a:xfrm>
            <a:off x="822960" y="4251960"/>
            <a:ext cx="4846320" cy="16459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bg1"/>
                </a:solidFill>
              </a:rPr>
              <a:t>Northrop Grumman MEV and MRV, Astroscale, Starfish Space, ClearSpace</a:t>
            </a:r>
            <a:endParaRPr lang="en-US" sz="1500" dirty="0"/>
          </a:p>
          <a:p>
            <a:pPr marL="342900" indent="-342900">
              <a:spcAft>
                <a:spcPts val="500"/>
              </a:spcAft>
              <a:buSzPct val="100000"/>
              <a:buChar char="•"/>
            </a:pPr>
            <a:r>
              <a:rPr lang="en-US" sz="1500" dirty="0">
                <a:solidFill>
                  <a:schemeClr val="bg1"/>
                </a:solidFill>
              </a:rPr>
              <a:t>Orbit Fab, MDA, Airbus, Thales Alenia, OHB: ports, arms, interfaces</a:t>
            </a:r>
            <a:endParaRPr lang="en-US" sz="1500" dirty="0"/>
          </a:p>
          <a:p>
            <a:pPr marL="342900" indent="-342900">
              <a:spcAft>
                <a:spcPts val="500"/>
              </a:spcAft>
              <a:buSzPct val="100000"/>
              <a:buChar char="•"/>
            </a:pPr>
            <a:r>
              <a:rPr lang="en-US" sz="1500" dirty="0">
                <a:solidFill>
                  <a:schemeClr val="bg1"/>
                </a:solidFill>
              </a:rPr>
              <a:t>Our difference: the client's minimum preparation for the degraded state</a:t>
            </a:r>
            <a:endParaRPr lang="en-US" sz="1500" dirty="0"/>
          </a:p>
        </p:txBody>
      </p:sp>
      <p:sp>
        <p:nvSpPr>
          <p:cNvPr id="15" name="Rules"/>
          <p:cNvSpPr/>
          <p:nvPr/>
        </p:nvSpPr>
        <p:spPr>
          <a:xfrm>
            <a:off x="6217920" y="3657600"/>
            <a:ext cx="5422392" cy="2331720"/>
          </a:xfrm>
          <a:prstGeom prst="roundRect">
            <a:avLst>
              <a:gd name="adj" fmla="val 3137"/>
            </a:avLst>
          </a:prstGeom>
          <a:solidFill>
            <a:schemeClr val="tx2"/>
          </a:solidFill>
          <a:ln w="12700">
            <a:solidFill>
              <a:schemeClr val="accent6"/>
            </a:solidFill>
            <a:prstDash val="solid"/>
          </a:ln>
        </p:spPr>
      </p:sp>
      <p:sp>
        <p:nvSpPr>
          <p:cNvPr id="16" name="Text 14"/>
          <p:cNvSpPr txBox="1"/>
          <p:nvPr/>
        </p:nvSpPr>
        <p:spPr>
          <a:xfrm>
            <a:off x="6492240" y="3794760"/>
            <a:ext cx="4846320" cy="365760"/>
          </a:xfrm>
          <a:prstGeom prst="rect">
            <a:avLst/>
          </a:prstGeom>
          <a:noFill/>
          <a:ln/>
        </p:spPr>
        <p:txBody>
          <a:bodyPr wrap="square" lIns="0" tIns="0" rIns="0" bIns="0" rtlCol="0" anchor="t"/>
          <a:lstStyle/>
          <a:p>
            <a:pPr indent="0" marL="0">
              <a:buNone/>
            </a:pPr>
            <a:r>
              <a:rPr lang="en-US" sz="1800" b="1" dirty="0">
                <a:solidFill>
                  <a:schemeClr val="accent3"/>
                </a:solidFill>
              </a:rPr>
              <a:t>Rules that shape the design [to verify]</a:t>
            </a:r>
            <a:endParaRPr lang="en-US" sz="1800" dirty="0"/>
          </a:p>
        </p:txBody>
      </p:sp>
      <p:sp>
        <p:nvSpPr>
          <p:cNvPr id="17" name="Text 15"/>
          <p:cNvSpPr txBox="1"/>
          <p:nvPr/>
        </p:nvSpPr>
        <p:spPr>
          <a:xfrm>
            <a:off x="6492240" y="4251960"/>
            <a:ext cx="4846320" cy="16459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bg1"/>
                </a:solidFill>
              </a:rPr>
              <a:t>ISO 24330, ISO 24113, ECSS series, NASA-STD-7009</a:t>
            </a:r>
            <a:endParaRPr lang="en-US" sz="1500" dirty="0"/>
          </a:p>
          <a:p>
            <a:pPr marL="342900" indent="-342900">
              <a:spcAft>
                <a:spcPts val="500"/>
              </a:spcAft>
              <a:buSzPct val="100000"/>
              <a:buChar char="•"/>
            </a:pPr>
            <a:r>
              <a:rPr lang="en-US" sz="1500" dirty="0">
                <a:solidFill>
                  <a:schemeClr val="bg1"/>
                </a:solidFill>
              </a:rPr>
              <a:t>Owner consent and national authorisation for proximity operations</a:t>
            </a:r>
            <a:endParaRPr lang="en-US" sz="1500" dirty="0"/>
          </a:p>
          <a:p>
            <a:pPr marL="342900" indent="-342900">
              <a:spcAft>
                <a:spcPts val="500"/>
              </a:spcAft>
              <a:buSzPct val="100000"/>
              <a:buChar char="•"/>
            </a:pPr>
            <a:r>
              <a:rPr lang="en-US" sz="1500" dirty="0">
                <a:solidFill>
                  <a:schemeClr val="bg1"/>
                </a:solidFill>
              </a:rPr>
              <a:t>Authenticated commands; ITU and national licensing for the beacon</a:t>
            </a:r>
            <a:endParaRPr lang="en-US" sz="15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Each stage proves one money assumption; here is what we ask</a:t>
            </a:r>
            <a:endParaRPr lang="en-US" sz="3200" dirty="0"/>
          </a:p>
        </p:txBody>
      </p:sp>
      <p:sp>
        <p:nvSpPr>
          <p:cNvPr id="3" name="Stage Study"/>
          <p:cNvSpPr/>
          <p:nvPr/>
        </p:nvSpPr>
        <p:spPr>
          <a:xfrm>
            <a:off x="548640" y="1371600"/>
            <a:ext cx="2651760" cy="2148840"/>
          </a:xfrm>
          <a:prstGeom prst="roundRect">
            <a:avLst>
              <a:gd name="adj" fmla="val 3404"/>
            </a:avLst>
          </a:prstGeom>
          <a:solidFill>
            <a:schemeClr val="tx2"/>
          </a:solidFill>
          <a:ln w="12700">
            <a:solidFill>
              <a:schemeClr val="accent6"/>
            </a:solidFill>
            <a:prstDash val="solid"/>
          </a:ln>
        </p:spPr>
      </p:sp>
      <p:sp>
        <p:nvSpPr>
          <p:cNvPr id="4" name="Text 2"/>
          <p:cNvSpPr txBox="1"/>
          <p:nvPr/>
        </p:nvSpPr>
        <p:spPr>
          <a:xfrm>
            <a:off x="777240" y="1508760"/>
            <a:ext cx="2194560" cy="274320"/>
          </a:xfrm>
          <a:prstGeom prst="rect">
            <a:avLst/>
          </a:prstGeom>
          <a:noFill/>
          <a:ln/>
        </p:spPr>
        <p:txBody>
          <a:bodyPr wrap="square" lIns="0" tIns="0" rIns="0" bIns="0" rtlCol="0" anchor="t"/>
          <a:lstStyle/>
          <a:p>
            <a:pPr indent="0" marL="0">
              <a:buNone/>
            </a:pPr>
            <a:r>
              <a:rPr lang="en-US" sz="1400" dirty="0">
                <a:solidFill>
                  <a:schemeClr val="bg2"/>
                </a:solidFill>
              </a:rPr>
              <a:t>now</a:t>
            </a:r>
            <a:endParaRPr lang="en-US" sz="1400" dirty="0"/>
          </a:p>
        </p:txBody>
      </p:sp>
      <p:sp>
        <p:nvSpPr>
          <p:cNvPr id="5" name="Text 3"/>
          <p:cNvSpPr txBox="1"/>
          <p:nvPr/>
        </p:nvSpPr>
        <p:spPr>
          <a:xfrm>
            <a:off x="777240" y="1828800"/>
            <a:ext cx="2194560" cy="411480"/>
          </a:xfrm>
          <a:prstGeom prst="rect">
            <a:avLst/>
          </a:prstGeom>
          <a:noFill/>
          <a:ln/>
        </p:spPr>
        <p:txBody>
          <a:bodyPr wrap="square" lIns="0" tIns="0" rIns="0" bIns="0" rtlCol="0" anchor="t"/>
          <a:lstStyle/>
          <a:p>
            <a:pPr indent="0" marL="0">
              <a:buNone/>
            </a:pPr>
            <a:r>
              <a:rPr lang="en-US" sz="2100" b="1" dirty="0">
                <a:solidFill>
                  <a:schemeClr val="accent1"/>
                </a:solidFill>
              </a:rPr>
              <a:t>Study</a:t>
            </a:r>
            <a:endParaRPr lang="en-US" sz="2100" dirty="0"/>
          </a:p>
        </p:txBody>
      </p:sp>
      <p:sp>
        <p:nvSpPr>
          <p:cNvPr id="6" name="Text 4"/>
          <p:cNvSpPr txBox="1"/>
          <p:nvPr/>
        </p:nvSpPr>
        <p:spPr>
          <a:xfrm>
            <a:off x="777240" y="2331720"/>
            <a:ext cx="2194560" cy="1097280"/>
          </a:xfrm>
          <a:prstGeom prst="rect">
            <a:avLst/>
          </a:prstGeom>
          <a:noFill/>
          <a:ln/>
        </p:spPr>
        <p:txBody>
          <a:bodyPr wrap="square" lIns="0" tIns="0" rIns="0" bIns="0" rtlCol="0" anchor="t"/>
          <a:lstStyle/>
          <a:p>
            <a:pPr indent="0" marL="0">
              <a:buNone/>
            </a:pPr>
            <a:r>
              <a:rPr lang="en-US" sz="1400" dirty="0">
                <a:solidFill>
                  <a:schemeClr val="bg1"/>
                </a:solidFill>
              </a:rPr>
              <a:t>Success rates and costs per tier on a model</a:t>
            </a:r>
            <a:endParaRPr lang="en-US" sz="1400" dirty="0"/>
          </a:p>
        </p:txBody>
      </p:sp>
      <p:sp>
        <p:nvSpPr>
          <p:cNvPr id="7" name="Stage Ground demo"/>
          <p:cNvSpPr/>
          <p:nvPr/>
        </p:nvSpPr>
        <p:spPr>
          <a:xfrm>
            <a:off x="3355848" y="1371600"/>
            <a:ext cx="2651760" cy="2148840"/>
          </a:xfrm>
          <a:prstGeom prst="roundRect">
            <a:avLst>
              <a:gd name="adj" fmla="val 3404"/>
            </a:avLst>
          </a:prstGeom>
          <a:solidFill>
            <a:schemeClr val="accent6"/>
          </a:solidFill>
          <a:ln w="12700">
            <a:solidFill>
              <a:schemeClr val="accent6"/>
            </a:solidFill>
            <a:prstDash val="solid"/>
          </a:ln>
        </p:spPr>
      </p:sp>
      <p:sp>
        <p:nvSpPr>
          <p:cNvPr id="8" name="Text 6"/>
          <p:cNvSpPr txBox="1"/>
          <p:nvPr/>
        </p:nvSpPr>
        <p:spPr>
          <a:xfrm>
            <a:off x="3584448" y="1508760"/>
            <a:ext cx="2194560" cy="274320"/>
          </a:xfrm>
          <a:prstGeom prst="rect">
            <a:avLst/>
          </a:prstGeom>
          <a:noFill/>
          <a:ln/>
        </p:spPr>
        <p:txBody>
          <a:bodyPr wrap="square" lIns="0" tIns="0" rIns="0" bIns="0" rtlCol="0" anchor="t"/>
          <a:lstStyle/>
          <a:p>
            <a:pPr indent="0" marL="0">
              <a:buNone/>
            </a:pPr>
            <a:r>
              <a:rPr lang="en-US" sz="1400" dirty="0">
                <a:solidFill>
                  <a:schemeClr val="bg2"/>
                </a:solidFill>
              </a:rPr>
              <a:t>next</a:t>
            </a:r>
            <a:endParaRPr lang="en-US" sz="1400" dirty="0"/>
          </a:p>
        </p:txBody>
      </p:sp>
      <p:sp>
        <p:nvSpPr>
          <p:cNvPr id="9" name="Text 7"/>
          <p:cNvSpPr txBox="1"/>
          <p:nvPr/>
        </p:nvSpPr>
        <p:spPr>
          <a:xfrm>
            <a:off x="3584448" y="1828800"/>
            <a:ext cx="2194560" cy="411480"/>
          </a:xfrm>
          <a:prstGeom prst="rect">
            <a:avLst/>
          </a:prstGeom>
          <a:noFill/>
          <a:ln/>
        </p:spPr>
        <p:txBody>
          <a:bodyPr wrap="square" lIns="0" tIns="0" rIns="0" bIns="0" rtlCol="0" anchor="t"/>
          <a:lstStyle/>
          <a:p>
            <a:pPr indent="0" marL="0">
              <a:buNone/>
            </a:pPr>
            <a:r>
              <a:rPr lang="en-US" sz="2100" b="1" dirty="0">
                <a:solidFill>
                  <a:schemeClr val="accent1"/>
                </a:solidFill>
              </a:rPr>
              <a:t>Ground demo</a:t>
            </a:r>
            <a:endParaRPr lang="en-US" sz="2100" dirty="0"/>
          </a:p>
        </p:txBody>
      </p:sp>
      <p:sp>
        <p:nvSpPr>
          <p:cNvPr id="10" name="Text 8"/>
          <p:cNvSpPr txBox="1"/>
          <p:nvPr/>
        </p:nvSpPr>
        <p:spPr>
          <a:xfrm>
            <a:off x="3584448" y="2331720"/>
            <a:ext cx="2194560" cy="1097280"/>
          </a:xfrm>
          <a:prstGeom prst="rect">
            <a:avLst/>
          </a:prstGeom>
          <a:noFill/>
          <a:ln/>
        </p:spPr>
        <p:txBody>
          <a:bodyPr wrap="square" lIns="0" tIns="0" rIns="0" bIns="0" rtlCol="0" anchor="t"/>
          <a:lstStyle/>
          <a:p>
            <a:pPr indent="0" marL="0">
              <a:buNone/>
            </a:pPr>
            <a:r>
              <a:rPr lang="en-US" sz="1400" dirty="0">
                <a:solidFill>
                  <a:schemeClr val="bg1"/>
                </a:solidFill>
              </a:rPr>
              <a:t>Beacon bench, contact model, HIL rig: proves the technical numbers</a:t>
            </a:r>
            <a:endParaRPr lang="en-US" sz="1400" dirty="0"/>
          </a:p>
        </p:txBody>
      </p:sp>
      <p:sp>
        <p:nvSpPr>
          <p:cNvPr id="11" name="Stage In-orbit demo"/>
          <p:cNvSpPr/>
          <p:nvPr/>
        </p:nvSpPr>
        <p:spPr>
          <a:xfrm>
            <a:off x="6163056" y="1371600"/>
            <a:ext cx="2651760" cy="2148840"/>
          </a:xfrm>
          <a:prstGeom prst="roundRect">
            <a:avLst>
              <a:gd name="adj" fmla="val 3404"/>
            </a:avLst>
          </a:prstGeom>
          <a:solidFill>
            <a:schemeClr val="tx2"/>
          </a:solidFill>
          <a:ln w="12700">
            <a:solidFill>
              <a:schemeClr val="accent6"/>
            </a:solidFill>
            <a:prstDash val="solid"/>
          </a:ln>
        </p:spPr>
      </p:sp>
      <p:sp>
        <p:nvSpPr>
          <p:cNvPr id="12" name="Text 10"/>
          <p:cNvSpPr txBox="1"/>
          <p:nvPr/>
        </p:nvSpPr>
        <p:spPr>
          <a:xfrm>
            <a:off x="6391656" y="1508760"/>
            <a:ext cx="2194560" cy="274320"/>
          </a:xfrm>
          <a:prstGeom prst="rect">
            <a:avLst/>
          </a:prstGeom>
          <a:noFill/>
          <a:ln/>
        </p:spPr>
        <p:txBody>
          <a:bodyPr wrap="square" lIns="0" tIns="0" rIns="0" bIns="0" rtlCol="0" anchor="t"/>
          <a:lstStyle/>
          <a:p>
            <a:pPr indent="0" marL="0">
              <a:buNone/>
            </a:pPr>
            <a:r>
              <a:rPr lang="en-US" sz="1400" dirty="0">
                <a:solidFill>
                  <a:schemeClr val="bg2"/>
                </a:solidFill>
              </a:rPr>
              <a:t>later</a:t>
            </a:r>
            <a:endParaRPr lang="en-US" sz="1400" dirty="0"/>
          </a:p>
        </p:txBody>
      </p:sp>
      <p:sp>
        <p:nvSpPr>
          <p:cNvPr id="13" name="Text 11"/>
          <p:cNvSpPr txBox="1"/>
          <p:nvPr/>
        </p:nvSpPr>
        <p:spPr>
          <a:xfrm>
            <a:off x="6391656" y="1828800"/>
            <a:ext cx="2194560" cy="411480"/>
          </a:xfrm>
          <a:prstGeom prst="rect">
            <a:avLst/>
          </a:prstGeom>
          <a:noFill/>
          <a:ln/>
        </p:spPr>
        <p:txBody>
          <a:bodyPr wrap="square" lIns="0" tIns="0" rIns="0" bIns="0" rtlCol="0" anchor="t"/>
          <a:lstStyle/>
          <a:p>
            <a:pPr indent="0" marL="0">
              <a:buNone/>
            </a:pPr>
            <a:r>
              <a:rPr lang="en-US" sz="2100" b="1" dirty="0">
                <a:solidFill>
                  <a:schemeClr val="accent1"/>
                </a:solidFill>
              </a:rPr>
              <a:t>In-orbit demo</a:t>
            </a:r>
            <a:endParaRPr lang="en-US" sz="2100" dirty="0"/>
          </a:p>
        </p:txBody>
      </p:sp>
      <p:sp>
        <p:nvSpPr>
          <p:cNvPr id="14" name="Text 12"/>
          <p:cNvSpPr txBox="1"/>
          <p:nvPr/>
        </p:nvSpPr>
        <p:spPr>
          <a:xfrm>
            <a:off x="6391656" y="2331720"/>
            <a:ext cx="2194560" cy="1097280"/>
          </a:xfrm>
          <a:prstGeom prst="rect">
            <a:avLst/>
          </a:prstGeom>
          <a:noFill/>
          <a:ln/>
        </p:spPr>
        <p:txBody>
          <a:bodyPr wrap="square" lIns="0" tIns="0" rIns="0" bIns="0" rtlCol="0" anchor="t"/>
          <a:lstStyle/>
          <a:p>
            <a:pPr indent="0" marL="0">
              <a:buNone/>
            </a:pPr>
            <a:r>
              <a:rPr lang="en-US" sz="1400" dirty="0">
                <a:solidFill>
                  <a:schemeClr val="bg1"/>
                </a:solidFill>
              </a:rPr>
              <a:t>Prepared client and servicer: proves savings per visit</a:t>
            </a:r>
            <a:endParaRPr lang="en-US" sz="1400" dirty="0"/>
          </a:p>
        </p:txBody>
      </p:sp>
      <p:sp>
        <p:nvSpPr>
          <p:cNvPr id="15" name="Stage Product family"/>
          <p:cNvSpPr/>
          <p:nvPr/>
        </p:nvSpPr>
        <p:spPr>
          <a:xfrm>
            <a:off x="8970264" y="1371600"/>
            <a:ext cx="2651760" cy="2148840"/>
          </a:xfrm>
          <a:prstGeom prst="roundRect">
            <a:avLst>
              <a:gd name="adj" fmla="val 3404"/>
            </a:avLst>
          </a:prstGeom>
          <a:solidFill>
            <a:schemeClr val="tx2"/>
          </a:solidFill>
          <a:ln w="12700">
            <a:solidFill>
              <a:schemeClr val="accent6"/>
            </a:solidFill>
            <a:prstDash val="solid"/>
          </a:ln>
        </p:spPr>
      </p:sp>
      <p:sp>
        <p:nvSpPr>
          <p:cNvPr id="16" name="Text 14"/>
          <p:cNvSpPr txBox="1"/>
          <p:nvPr/>
        </p:nvSpPr>
        <p:spPr>
          <a:xfrm>
            <a:off x="9198864" y="1508760"/>
            <a:ext cx="2194560" cy="274320"/>
          </a:xfrm>
          <a:prstGeom prst="rect">
            <a:avLst/>
          </a:prstGeom>
          <a:noFill/>
          <a:ln/>
        </p:spPr>
        <p:txBody>
          <a:bodyPr wrap="square" lIns="0" tIns="0" rIns="0" bIns="0" rtlCol="0" anchor="t"/>
          <a:lstStyle/>
          <a:p>
            <a:pPr indent="0" marL="0">
              <a:buNone/>
            </a:pPr>
            <a:r>
              <a:rPr lang="en-US" sz="1400" dirty="0">
                <a:solidFill>
                  <a:schemeClr val="bg2"/>
                </a:solidFill>
              </a:rPr>
              <a:t>after</a:t>
            </a:r>
            <a:endParaRPr lang="en-US" sz="1400" dirty="0"/>
          </a:p>
        </p:txBody>
      </p:sp>
      <p:sp>
        <p:nvSpPr>
          <p:cNvPr id="17" name="Text 15"/>
          <p:cNvSpPr txBox="1"/>
          <p:nvPr/>
        </p:nvSpPr>
        <p:spPr>
          <a:xfrm>
            <a:off x="9198864" y="1828800"/>
            <a:ext cx="2194560" cy="411480"/>
          </a:xfrm>
          <a:prstGeom prst="rect">
            <a:avLst/>
          </a:prstGeom>
          <a:noFill/>
          <a:ln/>
        </p:spPr>
        <p:txBody>
          <a:bodyPr wrap="square" lIns="0" tIns="0" rIns="0" bIns="0" rtlCol="0" anchor="t"/>
          <a:lstStyle/>
          <a:p>
            <a:pPr indent="0" marL="0">
              <a:buNone/>
            </a:pPr>
            <a:r>
              <a:rPr lang="en-US" sz="2100" b="1" dirty="0">
                <a:solidFill>
                  <a:schemeClr val="accent1"/>
                </a:solidFill>
              </a:rPr>
              <a:t>Product family</a:t>
            </a:r>
            <a:endParaRPr lang="en-US" sz="2100" dirty="0"/>
          </a:p>
        </p:txBody>
      </p:sp>
      <p:sp>
        <p:nvSpPr>
          <p:cNvPr id="18" name="Text 16"/>
          <p:cNvSpPr txBox="1"/>
          <p:nvPr/>
        </p:nvSpPr>
        <p:spPr>
          <a:xfrm>
            <a:off x="9198864" y="2331720"/>
            <a:ext cx="2194560" cy="1097280"/>
          </a:xfrm>
          <a:prstGeom prst="rect">
            <a:avLst/>
          </a:prstGeom>
          <a:noFill/>
          <a:ln/>
        </p:spPr>
        <p:txBody>
          <a:bodyPr wrap="square" lIns="0" tIns="0" rIns="0" bIns="0" rtlCol="0" anchor="t"/>
          <a:lstStyle/>
          <a:p>
            <a:pPr indent="0" marL="0">
              <a:buNone/>
            </a:pPr>
            <a:r>
              <a:rPr lang="en-US" sz="1400" dirty="0">
                <a:solidFill>
                  <a:schemeClr val="bg1"/>
                </a:solidFill>
              </a:rPr>
              <a:t>Tiers sold: proves the price customers accept</a:t>
            </a:r>
            <a:endParaRPr lang="en-US" sz="1400" dirty="0"/>
          </a:p>
        </p:txBody>
      </p:sp>
      <p:sp>
        <p:nvSpPr>
          <p:cNvPr id="19" name="Text 17"/>
          <p:cNvSpPr txBox="1"/>
          <p:nvPr/>
        </p:nvSpPr>
        <p:spPr>
          <a:xfrm>
            <a:off x="548640" y="3794760"/>
            <a:ext cx="2926080" cy="777240"/>
          </a:xfrm>
          <a:prstGeom prst="rect">
            <a:avLst/>
          </a:prstGeom>
          <a:noFill/>
          <a:ln/>
        </p:spPr>
        <p:txBody>
          <a:bodyPr wrap="square" lIns="0" tIns="0" rIns="0" bIns="0" rtlCol="0" anchor="t"/>
          <a:lstStyle/>
          <a:p>
            <a:pPr indent="0" marL="0">
              <a:buNone/>
            </a:pPr>
            <a:r>
              <a:rPr lang="en-US" sz="4000" b="1" dirty="0">
                <a:solidFill>
                  <a:schemeClr val="accent2"/>
                </a:solidFill>
              </a:rPr>
              <a:t>EUR 770 k</a:t>
            </a:r>
            <a:endParaRPr lang="en-US" sz="4000" dirty="0"/>
          </a:p>
        </p:txBody>
      </p:sp>
      <p:sp>
        <p:nvSpPr>
          <p:cNvPr id="20" name="Text 18"/>
          <p:cNvSpPr txBox="1"/>
          <p:nvPr/>
        </p:nvSpPr>
        <p:spPr>
          <a:xfrm>
            <a:off x="548640" y="4617720"/>
            <a:ext cx="2926080" cy="731520"/>
          </a:xfrm>
          <a:prstGeom prst="rect">
            <a:avLst/>
          </a:prstGeom>
          <a:noFill/>
          <a:ln/>
        </p:spPr>
        <p:txBody>
          <a:bodyPr wrap="square" lIns="0" tIns="0" rIns="0" bIns="0" rtlCol="0" anchor="t"/>
          <a:lstStyle/>
          <a:p>
            <a:pPr indent="0" marL="0">
              <a:buNone/>
            </a:pPr>
            <a:r>
              <a:rPr lang="en-US" sz="1400" dirty="0">
                <a:solidFill>
                  <a:schemeClr val="bg2"/>
                </a:solidFill>
              </a:rPr>
              <a:t>draft ground-demo budget (assumed): 42% people, 45% hardware, 13% contingency</a:t>
            </a:r>
            <a:endParaRPr lang="en-US" sz="1400" dirty="0"/>
          </a:p>
        </p:txBody>
      </p:sp>
      <p:sp>
        <p:nvSpPr>
          <p:cNvPr id="21" name="Asks"/>
          <p:cNvSpPr/>
          <p:nvPr/>
        </p:nvSpPr>
        <p:spPr>
          <a:xfrm>
            <a:off x="3931920" y="3794760"/>
            <a:ext cx="7708392" cy="2194560"/>
          </a:xfrm>
          <a:prstGeom prst="roundRect">
            <a:avLst>
              <a:gd name="adj" fmla="val 3333"/>
            </a:avLst>
          </a:prstGeom>
          <a:solidFill>
            <a:schemeClr val="tx2"/>
          </a:solidFill>
          <a:ln w="12700">
            <a:solidFill>
              <a:schemeClr val="accent6"/>
            </a:solidFill>
            <a:prstDash val="solid"/>
          </a:ln>
        </p:spPr>
      </p:sp>
      <p:sp>
        <p:nvSpPr>
          <p:cNvPr id="22" name="Text 20"/>
          <p:cNvSpPr txBox="1"/>
          <p:nvPr/>
        </p:nvSpPr>
        <p:spPr>
          <a:xfrm>
            <a:off x="4206240" y="3931920"/>
            <a:ext cx="7132320" cy="365760"/>
          </a:xfrm>
          <a:prstGeom prst="rect">
            <a:avLst/>
          </a:prstGeom>
          <a:noFill/>
          <a:ln/>
        </p:spPr>
        <p:txBody>
          <a:bodyPr wrap="square" lIns="0" tIns="0" rIns="0" bIns="0" rtlCol="0" anchor="t"/>
          <a:lstStyle/>
          <a:p>
            <a:pPr indent="0" marL="0">
              <a:buNone/>
            </a:pPr>
            <a:r>
              <a:rPr lang="en-US" sz="2000" b="1" dirty="0">
                <a:solidFill>
                  <a:schemeClr val="accent3"/>
                </a:solidFill>
              </a:rPr>
              <a:t>What we need from you</a:t>
            </a:r>
            <a:endParaRPr lang="en-US" sz="2000" dirty="0"/>
          </a:p>
        </p:txBody>
      </p:sp>
      <p:sp>
        <p:nvSpPr>
          <p:cNvPr id="23" name="Text 21"/>
          <p:cNvSpPr txBox="1"/>
          <p:nvPr/>
        </p:nvSpPr>
        <p:spPr>
          <a:xfrm>
            <a:off x="4206240" y="4434840"/>
            <a:ext cx="7132320" cy="146304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chemeClr val="bg1"/>
                </a:solidFill>
              </a:rPr>
              <a:t>Failure statistics, so we can replace our assumed rescue rate</a:t>
            </a:r>
            <a:endParaRPr lang="en-US" sz="1700" dirty="0"/>
          </a:p>
          <a:p>
            <a:pPr marL="342900" indent="-342900">
              <a:spcAft>
                <a:spcPts val="600"/>
              </a:spcAft>
              <a:buSzPct val="100000"/>
              <a:buFont typeface="+mj-lt"/>
              <a:buAutoNum type="arabicPeriod" startAt="1"/>
            </a:pPr>
            <a:r>
              <a:rPr lang="en-US" sz="1700" dirty="0">
                <a:solidFill>
                  <a:schemeClr val="bg1"/>
                </a:solidFill>
              </a:rPr>
              <a:t>A reference client and failure cases to test against</a:t>
            </a:r>
            <a:endParaRPr lang="en-US" sz="1700" dirty="0"/>
          </a:p>
          <a:p>
            <a:pPr marL="342900" indent="-342900">
              <a:spcAft>
                <a:spcPts val="600"/>
              </a:spcAft>
              <a:buSzPct val="100000"/>
              <a:buFont typeface="+mj-lt"/>
              <a:buAutoNum type="arabicPeriod" startAt="1"/>
            </a:pPr>
            <a:r>
              <a:rPr lang="en-US" sz="1700" dirty="0">
                <a:solidFill>
                  <a:schemeClr val="bg1"/>
                </a:solidFill>
              </a:rPr>
              <a:t>Agreed success criteria for the ground demo</a:t>
            </a:r>
            <a:endParaRPr lang="en-US" sz="17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1091672" cy="1463040"/>
          </a:xfrm>
          <a:prstGeom prst="rect">
            <a:avLst/>
          </a:prstGeom>
          <a:noFill/>
          <a:ln/>
        </p:spPr>
        <p:txBody>
          <a:bodyPr wrap="square" lIns="0" tIns="0" rIns="0" bIns="0" rtlCol="0"/>
          <a:lstStyle/>
          <a:p>
            <a:pPr algn="l" indent="0" marL="0">
              <a:buNone/>
            </a:pPr>
            <a:r>
              <a:rPr lang="en-US" sz="5400" b="1" dirty="0">
                <a:solidFill>
                  <a:schemeClr val="bg1"/>
                </a:solidFill>
              </a:rPr>
              <a:t>A small preparation now. A recoverable asset later.</a:t>
            </a:r>
            <a:endParaRPr lang="en-US" sz="5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Backup: reference architecture and what we cover</a:t>
            </a:r>
            <a:endParaRPr lang="en-US" sz="3200" dirty="0"/>
          </a:p>
        </p:txBody>
      </p:sp>
      <p:pic>
        <p:nvPicPr>
          <p:cNvPr id="3" name="Reference architecture" descr="Reference system architecture: client satellite, OSAN service interface, servicing spacecraft, ground segment">    </p:cNvPr>
          <p:cNvPicPr>
            <a:picLocks noChangeAspect="1"/>
          </p:cNvPicPr>
          <p:nvPr/>
        </p:nvPicPr>
        <p:blipFill>
          <a:blip r:embed="rId1"/>
          <a:stretch>
            <a:fillRect/>
          </a:stretch>
        </p:blipFill>
        <p:spPr>
          <a:xfrm>
            <a:off x="548640" y="1280160"/>
            <a:ext cx="7040880" cy="4690872"/>
          </a:xfrm>
          <a:prstGeom prst="rect">
            <a:avLst/>
          </a:prstGeom>
        </p:spPr>
      </p:pic>
      <p:sp>
        <p:nvSpPr>
          <p:cNvPr id="4" name="Covered"/>
          <p:cNvSpPr/>
          <p:nvPr/>
        </p:nvSpPr>
        <p:spPr>
          <a:xfrm>
            <a:off x="7863840" y="1280160"/>
            <a:ext cx="3776472" cy="1481328"/>
          </a:xfrm>
          <a:prstGeom prst="roundRect">
            <a:avLst>
              <a:gd name="adj" fmla="val 4938"/>
            </a:avLst>
          </a:prstGeom>
          <a:solidFill>
            <a:schemeClr val="tx2"/>
          </a:solidFill>
          <a:ln w="12700">
            <a:solidFill>
              <a:schemeClr val="accent6"/>
            </a:solidFill>
            <a:prstDash val="solid"/>
          </a:ln>
        </p:spPr>
      </p:sp>
      <p:sp>
        <p:nvSpPr>
          <p:cNvPr id="5" name="Text 2"/>
          <p:cNvSpPr txBox="1"/>
          <p:nvPr/>
        </p:nvSpPr>
        <p:spPr>
          <a:xfrm>
            <a:off x="8046720" y="1371600"/>
            <a:ext cx="3383280" cy="320040"/>
          </a:xfrm>
          <a:prstGeom prst="rect">
            <a:avLst/>
          </a:prstGeom>
          <a:noFill/>
          <a:ln/>
        </p:spPr>
        <p:txBody>
          <a:bodyPr wrap="square" lIns="0" tIns="0" rIns="0" bIns="0" rtlCol="0" anchor="t"/>
          <a:lstStyle/>
          <a:p>
            <a:pPr indent="0" marL="0">
              <a:buNone/>
            </a:pPr>
            <a:r>
              <a:rPr lang="en-US" sz="1800" b="1" dirty="0">
                <a:solidFill>
                  <a:schemeClr val="accent3"/>
                </a:solidFill>
              </a:rPr>
              <a:t>Covered</a:t>
            </a:r>
            <a:endParaRPr lang="en-US" sz="1800" dirty="0"/>
          </a:p>
        </p:txBody>
      </p:sp>
      <p:sp>
        <p:nvSpPr>
          <p:cNvPr id="6" name="Text 3"/>
          <p:cNvSpPr txBox="1"/>
          <p:nvPr/>
        </p:nvSpPr>
        <p:spPr>
          <a:xfrm>
            <a:off x="8046720" y="1737360"/>
            <a:ext cx="3429000" cy="960120"/>
          </a:xfrm>
          <a:prstGeom prst="rect">
            <a:avLst/>
          </a:prstGeom>
          <a:noFill/>
          <a:ln/>
        </p:spPr>
        <p:txBody>
          <a:bodyPr wrap="square" lIns="0" tIns="0" rIns="0" bIns="0" rtlCol="0" anchor="t"/>
          <a:lstStyle/>
          <a:p>
            <a:pPr indent="0" marL="0">
              <a:buNone/>
            </a:pPr>
            <a:r>
              <a:rPr lang="en-US" sz="1400" dirty="0">
                <a:solidFill>
                  <a:schemeClr val="bg1"/>
                </a:solidFill>
              </a:rPr>
              <a:t>Navigation aids, servicer GNC and abort logic, ground platform and approvals</a:t>
            </a:r>
            <a:endParaRPr lang="en-US" sz="1400" dirty="0"/>
          </a:p>
        </p:txBody>
      </p:sp>
      <p:sp>
        <p:nvSpPr>
          <p:cNvPr id="7" name="Partial"/>
          <p:cNvSpPr/>
          <p:nvPr/>
        </p:nvSpPr>
        <p:spPr>
          <a:xfrm>
            <a:off x="7863840" y="2852928"/>
            <a:ext cx="3776472" cy="1737360"/>
          </a:xfrm>
          <a:prstGeom prst="roundRect">
            <a:avLst>
              <a:gd name="adj" fmla="val 4211"/>
            </a:avLst>
          </a:prstGeom>
          <a:solidFill>
            <a:schemeClr val="tx2"/>
          </a:solidFill>
          <a:ln w="12700">
            <a:solidFill>
              <a:schemeClr val="accent6"/>
            </a:solidFill>
            <a:prstDash val="solid"/>
          </a:ln>
        </p:spPr>
      </p:sp>
      <p:sp>
        <p:nvSpPr>
          <p:cNvPr id="8" name="Text 5"/>
          <p:cNvSpPr txBox="1"/>
          <p:nvPr/>
        </p:nvSpPr>
        <p:spPr>
          <a:xfrm>
            <a:off x="8046720" y="2944368"/>
            <a:ext cx="3383280" cy="320040"/>
          </a:xfrm>
          <a:prstGeom prst="rect">
            <a:avLst/>
          </a:prstGeom>
          <a:noFill/>
          <a:ln/>
        </p:spPr>
        <p:txBody>
          <a:bodyPr wrap="square" lIns="0" tIns="0" rIns="0" bIns="0" rtlCol="0" anchor="t"/>
          <a:lstStyle/>
          <a:p>
            <a:pPr indent="0" marL="0">
              <a:buNone/>
            </a:pPr>
            <a:r>
              <a:rPr lang="en-US" sz="1800" b="1" dirty="0">
                <a:solidFill>
                  <a:schemeClr val="accent2"/>
                </a:solidFill>
              </a:rPr>
              <a:t>Partial</a:t>
            </a:r>
            <a:endParaRPr lang="en-US" sz="1800" dirty="0"/>
          </a:p>
        </p:txBody>
      </p:sp>
      <p:sp>
        <p:nvSpPr>
          <p:cNvPr id="9" name="Text 6"/>
          <p:cNvSpPr txBox="1"/>
          <p:nvPr/>
        </p:nvSpPr>
        <p:spPr>
          <a:xfrm>
            <a:off x="8046720" y="3310128"/>
            <a:ext cx="3429000" cy="1234440"/>
          </a:xfrm>
          <a:prstGeom prst="rect">
            <a:avLst/>
          </a:prstGeom>
          <a:noFill/>
          <a:ln/>
        </p:spPr>
        <p:txBody>
          <a:bodyPr wrap="square" lIns="0" tIns="0" rIns="0" bIns="0" rtlCol="0" anchor="t"/>
          <a:lstStyle/>
          <a:p>
            <a:pPr indent="0" marL="0">
              <a:buNone/>
            </a:pPr>
            <a:r>
              <a:rPr lang="en-US" sz="1400" dirty="0">
                <a:solidFill>
                  <a:schemeClr val="bg1"/>
                </a:solidFill>
              </a:rPr>
              <a:t>Service Beacon (no interface or health fields yet), IOS mode, health monitoring (fuel and logs only), capture geometry without loads</a:t>
            </a:r>
            <a:endParaRPr lang="en-US" sz="1400" dirty="0"/>
          </a:p>
        </p:txBody>
      </p:sp>
      <p:sp>
        <p:nvSpPr>
          <p:cNvPr id="10" name="Next"/>
          <p:cNvSpPr/>
          <p:nvPr/>
        </p:nvSpPr>
        <p:spPr>
          <a:xfrm>
            <a:off x="7863840" y="4681728"/>
            <a:ext cx="3776472" cy="1316736"/>
          </a:xfrm>
          <a:prstGeom prst="roundRect">
            <a:avLst>
              <a:gd name="adj" fmla="val 5556"/>
            </a:avLst>
          </a:prstGeom>
          <a:solidFill>
            <a:schemeClr val="tx2"/>
          </a:solidFill>
          <a:ln w="12700">
            <a:solidFill>
              <a:schemeClr val="accent6"/>
            </a:solidFill>
            <a:prstDash val="solid"/>
          </a:ln>
        </p:spPr>
      </p:sp>
      <p:sp>
        <p:nvSpPr>
          <p:cNvPr id="11" name="Text 8"/>
          <p:cNvSpPr txBox="1"/>
          <p:nvPr/>
        </p:nvSpPr>
        <p:spPr>
          <a:xfrm>
            <a:off x="8046720" y="4773168"/>
            <a:ext cx="3383280" cy="320040"/>
          </a:xfrm>
          <a:prstGeom prst="rect">
            <a:avLst/>
          </a:prstGeom>
          <a:noFill/>
          <a:ln/>
        </p:spPr>
        <p:txBody>
          <a:bodyPr wrap="square" lIns="0" tIns="0" rIns="0" bIns="0" rtlCol="0" anchor="t"/>
          <a:lstStyle/>
          <a:p>
            <a:pPr indent="0" marL="0">
              <a:buNone/>
            </a:pPr>
            <a:r>
              <a:rPr lang="en-US" sz="1800" b="1" dirty="0">
                <a:solidFill>
                  <a:schemeClr val="accent4"/>
                </a:solidFill>
              </a:rPr>
              <a:t>Not modelled</a:t>
            </a:r>
            <a:endParaRPr lang="en-US" sz="1800" dirty="0"/>
          </a:p>
        </p:txBody>
      </p:sp>
      <p:sp>
        <p:nvSpPr>
          <p:cNvPr id="12" name="Text 9"/>
          <p:cNvSpPr txBox="1"/>
          <p:nvPr/>
        </p:nvSpPr>
        <p:spPr>
          <a:xfrm>
            <a:off x="8046720" y="5138928"/>
            <a:ext cx="3429000" cy="822960"/>
          </a:xfrm>
          <a:prstGeom prst="rect">
            <a:avLst/>
          </a:prstGeom>
          <a:noFill/>
          <a:ln/>
        </p:spPr>
        <p:txBody>
          <a:bodyPr wrap="square" lIns="0" tIns="0" rIns="0" bIns="0" rtlCol="0" anchor="t"/>
          <a:lstStyle/>
          <a:p>
            <a:pPr indent="0" marL="0">
              <a:buNone/>
            </a:pPr>
            <a:r>
              <a:rPr lang="en-US" sz="1400" dirty="0">
                <a:solidFill>
                  <a:schemeClr val="bg1"/>
                </a:solidFill>
              </a:rPr>
              <a:t>Utility and fluid transfer, upgrade port, robotic servicing, power and thermal lines</a:t>
            </a:r>
            <a:endParaRPr lang="en-US" sz="14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Backup: every money input, and what drives the answer</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3474720"/>
                <a:gridCol w="3931920"/>
                <a:gridCol w="3685032"/>
              </a:tblGrid>
              <a:tr h="502920">
                <a:tc>
                  <a:txBody>
                    <a:bodyPr/>
                    <a:lstStyle/>
                    <a:p>
                      <a:pPr indent="0" marL="0">
                        <a:buNone/>
                      </a:pPr>
                      <a:r>
                        <a:rPr lang="en-US" sz="1400" b="1" dirty="0">
                          <a:solidFill>
                            <a:srgbClr val="5AD1FF"/>
                          </a:solidFill>
                        </a:rPr>
                        <a:t>Input</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B1220"/>
                    </a:solidFill>
                  </a:tcPr>
                </a:tc>
                <a:tc>
                  <a:txBody>
                    <a:bodyPr/>
                    <a:lstStyle/>
                    <a:p>
                      <a:pPr indent="0" marL="0">
                        <a:buNone/>
                      </a:pPr>
                      <a:r>
                        <a:rPr lang="en-US" sz="1400" b="1" dirty="0">
                          <a:solidFill>
                            <a:srgbClr val="5AD1FF"/>
                          </a:solidFill>
                        </a:rPr>
                        <a:t>Value used</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B1220"/>
                    </a:solidFill>
                  </a:tcPr>
                </a:tc>
                <a:tc>
                  <a:txBody>
                    <a:bodyPr/>
                    <a:lstStyle/>
                    <a:p>
                      <a:pPr indent="0" marL="0">
                        <a:buNone/>
                      </a:pPr>
                      <a:r>
                        <a:rPr lang="en-US" sz="1400" b="1" dirty="0">
                          <a:solidFill>
                            <a:srgbClr val="5AD1FF"/>
                          </a:solidFill>
                        </a:rPr>
                        <a:t>Effect</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B1220"/>
                    </a:solidFill>
                  </a:tcPr>
                </a:tc>
              </a:tr>
              <a:tr h="502920">
                <a:tc>
                  <a:txBody>
                    <a:bodyPr/>
                    <a:lstStyle/>
                    <a:p>
                      <a:pPr indent="0" marL="0">
                        <a:buNone/>
                      </a:pPr>
                      <a:r>
                        <a:rPr lang="en-US" sz="1400" dirty="0">
                          <a:solidFill>
                            <a:srgbClr val="DFE8F5"/>
                          </a:solidFill>
                        </a:rPr>
                        <a:t>Client revenue and margin</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EUR 40 M a year, 60%</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Sets the value of a rescue</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r h="502920">
                <a:tc>
                  <a:txBody>
                    <a:bodyPr/>
                    <a:lstStyle/>
                    <a:p>
                      <a:pPr indent="0" marL="0">
                        <a:buNone/>
                      </a:pPr>
                      <a:r>
                        <a:rPr lang="en-US" sz="1400" dirty="0">
                          <a:solidFill>
                            <a:srgbClr val="DFE8F5"/>
                          </a:solidFill>
                        </a:rPr>
                        <a:t>Extension and timing</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5 years at year 10, 8% discount</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Discounted rescue value EUR 21 M</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r h="502920">
                <a:tc>
                  <a:txBody>
                    <a:bodyPr/>
                    <a:lstStyle/>
                    <a:p>
                      <a:pPr indent="0" marL="0">
                        <a:buNone/>
                      </a:pPr>
                      <a:r>
                        <a:rPr lang="en-US" sz="1400" dirty="0">
                          <a:solidFill>
                            <a:srgbClr val="DFE8F5"/>
                          </a:solidFill>
                        </a:rPr>
                        <a:t>Servicing price</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EUR 75 M</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Net to owner EUR 45 M undiscounted</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r h="502920">
                <a:tc>
                  <a:txBody>
                    <a:bodyPr/>
                    <a:lstStyle/>
                    <a:p>
                      <a:pPr indent="0" marL="0">
                        <a:buNone/>
                      </a:pPr>
                      <a:r>
                        <a:rPr lang="en-US" sz="1400" dirty="0">
                          <a:solidFill>
                            <a:srgbClr val="DFE8F5"/>
                          </a:solidFill>
                        </a:rPr>
                        <a:t>Chance a client needs rescue</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10%</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FFB454"/>
                          </a:solidFill>
                        </a:rPr>
                        <a:t>Dominates every break-even; test first</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r h="502920">
                <a:tc>
                  <a:txBody>
                    <a:bodyPr/>
                    <a:lstStyle/>
                    <a:p>
                      <a:pPr indent="0" marL="0">
                        <a:buNone/>
                      </a:pPr>
                      <a:r>
                        <a:rPr lang="en-US" sz="1400" dirty="0">
                          <a:solidFill>
                            <a:srgbClr val="DFE8F5"/>
                          </a:solidFill>
                        </a:rPr>
                        <a:t>Attempts allowed</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3</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Retry only after a complete retreat</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r h="502920">
                <a:tc>
                  <a:txBody>
                    <a:bodyPr/>
                    <a:lstStyle/>
                    <a:p>
                      <a:pPr indent="0" marL="0">
                        <a:buNone/>
                      </a:pPr>
                      <a:r>
                        <a:rPr lang="en-US" sz="1400" dirty="0">
                          <a:solidFill>
                            <a:srgbClr val="DFE8F5"/>
                          </a:solidFill>
                        </a:rPr>
                        <a:t>Kit costs and servicer vehicle</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see ECONOMICS_MODEL.md</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Tier prices and break-even price</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bl>
          </a:graphicData>
        </a:graphic>
      </p:graphicFrame>
      <p:sp>
        <p:nvSpPr>
          <p:cNvPr id="4" name="Text 1"/>
          <p:cNvSpPr txBox="1"/>
          <p:nvPr/>
        </p:nvSpPr>
        <p:spPr>
          <a:xfrm>
            <a:off x="548640" y="5303520"/>
            <a:ext cx="11091672" cy="731520"/>
          </a:xfrm>
          <a:prstGeom prst="rect">
            <a:avLst/>
          </a:prstGeom>
          <a:noFill/>
          <a:ln/>
        </p:spPr>
        <p:txBody>
          <a:bodyPr wrap="square" lIns="0" tIns="0" rIns="0" bIns="0" rtlCol="0" anchor="t"/>
          <a:lstStyle/>
          <a:p>
            <a:pPr indent="0" marL="0">
              <a:buNone/>
            </a:pPr>
            <a:r>
              <a:rPr lang="en-US" sz="1500" dirty="0">
                <a:solidFill>
                  <a:schemeClr val="bg2"/>
                </a:solidFill>
              </a:rPr>
              <a:t>Outcomes (pass, abort, retry, fuel) come from the simulator; every euro figure comes from these inputs. Replace them with operator and ClearSpace data before any external claim.</a:t>
            </a:r>
            <a:endParaRPr lang="en-US" sz="15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Backup: what is evidence and what is assumed</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3840480"/>
                <a:gridCol w="3566160"/>
                <a:gridCol w="3685032"/>
              </a:tblGrid>
              <a:tr h="502920">
                <a:tc>
                  <a:txBody>
                    <a:bodyPr/>
                    <a:lstStyle/>
                    <a:p>
                      <a:pPr indent="0" marL="0">
                        <a:buNone/>
                      </a:pPr>
                      <a:r>
                        <a:rPr lang="en-US" sz="1400" b="1" dirty="0">
                          <a:solidFill>
                            <a:srgbClr val="5AD1FF"/>
                          </a:solidFill>
                        </a:rPr>
                        <a:t>Item</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B1220"/>
                    </a:solidFill>
                  </a:tcPr>
                </a:tc>
                <a:tc>
                  <a:txBody>
                    <a:bodyPr/>
                    <a:lstStyle/>
                    <a:p>
                      <a:pPr indent="0" marL="0">
                        <a:buNone/>
                      </a:pPr>
                      <a:r>
                        <a:rPr lang="en-US" sz="1400" b="1" dirty="0">
                          <a:solidFill>
                            <a:srgbClr val="5AD1FF"/>
                          </a:solidFill>
                        </a:rPr>
                        <a:t>Status</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B1220"/>
                    </a:solidFill>
                  </a:tcPr>
                </a:tc>
                <a:tc>
                  <a:txBody>
                    <a:bodyPr/>
                    <a:lstStyle/>
                    <a:p>
                      <a:pPr indent="0" marL="0">
                        <a:buNone/>
                      </a:pPr>
                      <a:r>
                        <a:rPr lang="en-US" sz="1400" b="1" dirty="0">
                          <a:solidFill>
                            <a:srgbClr val="5AD1FF"/>
                          </a:solidFill>
                        </a:rPr>
                        <a:t>Source</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B1220"/>
                    </a:solidFill>
                  </a:tcPr>
                </a:tc>
              </a:tr>
              <a:tr h="502920">
                <a:tc>
                  <a:txBody>
                    <a:bodyPr/>
                    <a:lstStyle/>
                    <a:p>
                      <a:pPr indent="0" marL="0">
                        <a:buNone/>
                      </a:pPr>
                      <a:r>
                        <a:rPr lang="en-US" sz="1400" dirty="0">
                          <a:solidFill>
                            <a:srgbClr val="DFE8F5"/>
                          </a:solidFill>
                        </a:rPr>
                        <a:t>Pass rates, paired effects, aborts</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7DFFB2"/>
                          </a:solidFill>
                        </a:rPr>
                        <a:t>Model result</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results/v4_1_validation, results/v4_0</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r h="502920">
                <a:tc>
                  <a:txBody>
                    <a:bodyPr/>
                    <a:lstStyle/>
                    <a:p>
                      <a:pPr indent="0" marL="0">
                        <a:buNone/>
                      </a:pPr>
                      <a:r>
                        <a:rPr lang="en-US" sz="1400" dirty="0">
                          <a:solidFill>
                            <a:srgbClr val="DFE8F5"/>
                          </a:solidFill>
                        </a:rPr>
                        <a:t>Beacon power, mass, link margin</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FFB454"/>
                          </a:solidFill>
                        </a:rPr>
                        <a:t>Engineering model, assumed derating</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docs/BEACON_BENCH_PLAN.md</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r h="502920">
                <a:tc>
                  <a:txBody>
                    <a:bodyPr/>
                    <a:lstStyle/>
                    <a:p>
                      <a:pPr indent="0" marL="0">
                        <a:buNone/>
                      </a:pPr>
                      <a:r>
                        <a:rPr lang="en-US" sz="1400" dirty="0">
                          <a:solidFill>
                            <a:srgbClr val="DFE8F5"/>
                          </a:solidFill>
                        </a:rPr>
                        <a:t>Prices, revenue, probabilities, budget</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FF8F8F"/>
                          </a:solidFill>
                        </a:rPr>
                        <a:t>Assumed</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docs/ECONOMICS_MODEL.md, PRESENTATION_PACK.md</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r h="502920">
                <a:tc>
                  <a:txBody>
                    <a:bodyPr/>
                    <a:lstStyle/>
                    <a:p>
                      <a:pPr indent="0" marL="0">
                        <a:buNone/>
                      </a:pPr>
                      <a:r>
                        <a:rPr lang="en-US" sz="1400" dirty="0">
                          <a:solidFill>
                            <a:srgbClr val="DFE8F5"/>
                          </a:solidFill>
                        </a:rPr>
                        <a:t>Competitors and standards</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FF8F8F"/>
                          </a:solidFill>
                        </a:rPr>
                        <a:t>Background knowledge, unsourced</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docs/EXPERT_CHECKPOINT_SESSION1.md</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r h="502920">
                <a:tc>
                  <a:txBody>
                    <a:bodyPr/>
                    <a:lstStyle/>
                    <a:p>
                      <a:pPr indent="0" marL="0">
                        <a:buNone/>
                      </a:pPr>
                      <a:r>
                        <a:rPr lang="en-US" sz="1400" dirty="0">
                          <a:solidFill>
                            <a:srgbClr val="DFE8F5"/>
                          </a:solidFill>
                        </a:rPr>
                        <a:t>Fuel gauge, downlink, dashboard data</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FFB454"/>
                          </a:solidFill>
                        </a:rPr>
                        <a:t>Simulated</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tools/export_fuel_demo.py, export_downlink_demo.py</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bl>
          </a:graphicData>
        </a:graphic>
      </p:graphicFrame>
      <p:sp>
        <p:nvSpPr>
          <p:cNvPr id="4" name="Text 1"/>
          <p:cNvSpPr txBox="1"/>
          <p:nvPr/>
        </p:nvSpPr>
        <p:spPr>
          <a:xfrm>
            <a:off x="548640" y="4754880"/>
            <a:ext cx="11091672" cy="731520"/>
          </a:xfrm>
          <a:prstGeom prst="rect">
            <a:avLst/>
          </a:prstGeom>
          <a:noFill/>
          <a:ln/>
        </p:spPr>
        <p:txBody>
          <a:bodyPr wrap="square" lIns="0" tIns="0" rIns="0" bIns="0" rtlCol="0" anchor="t"/>
          <a:lstStyle/>
          <a:p>
            <a:pPr indent="0" marL="0">
              <a:buNone/>
            </a:pPr>
            <a:r>
              <a:rPr lang="en-US" sz="1500" dirty="0">
                <a:solidFill>
                  <a:schemeClr val="bg2"/>
                </a:solidFill>
              </a:rPr>
              <a:t>Maturity: simulation and concept today (our judgement, about TRL 2 to 3); proposed target for the ground demo about TRL 4 to 5. Not an assessed rating.</a:t>
            </a:r>
            <a:endParaRPr lang="en-US" sz="15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rbital Notation">
  <a:themeElements>
    <a:clrScheme name="Orbital Notation">
      <a:dk1>
        <a:srgbClr val="05070C"/>
      </a:dk1>
      <a:lt1>
        <a:srgbClr val="DFE8F5"/>
      </a:lt1>
      <a:dk2>
        <a:srgbClr val="0B1220"/>
      </a:dk2>
      <a:lt2>
        <a:srgbClr val="8FA6C8"/>
      </a:lt2>
      <a:accent1>
        <a:srgbClr val="5AD1FF"/>
      </a:accent1>
      <a:accent2>
        <a:srgbClr val="FFB454"/>
      </a:accent2>
      <a:accent3>
        <a:srgbClr val="7DFFB2"/>
      </a:accent3>
      <a:accent4>
        <a:srgbClr val="FF8F8F"/>
      </a:accent4>
      <a:accent5>
        <a:srgbClr val="7AA2FF"/>
      </a:accent5>
      <a:accent6>
        <a:srgbClr val="243651"/>
      </a:accent6>
      <a:hlink>
        <a:srgbClr val="5AD1FF"/>
      </a:hlink>
      <a:folHlink>
        <a:srgbClr val="8FA6C8"/>
      </a:folHlink>
    </a:clrScheme>
    <a:fontScheme name="Orbital Notat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Orbit Observers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Orbit Observers pitch</dc:title>
  <dc:subject>PptxGenJS Presentation</dc:subject>
  <dc:creator>Orbit Observers</dc:creator>
  <cp:lastModifiedBy>Orbit Observers</cp:lastModifiedBy>
  <cp:revision>1</cp:revision>
  <dcterms:created xsi:type="dcterms:W3CDTF">2026-10-19T11:52:56Z</dcterms:created>
  <dcterms:modified xsi:type="dcterms:W3CDTF">2026-10-19T11:52:56Z</dcterms:modified>
</cp:coreProperties>
</file>