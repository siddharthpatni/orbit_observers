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f690cfa3-cd19-d501-1b0e-193637cc467a}">
          <p14:sldIdLst>
            <p14:sldId id="256"/>
          </p14:sldIdLst>
        </p14:section>
        <p14:section name="Serviceability" id="{d5cb0778-873b-3b71-e99a-6f249b37f1cc}">
          <p14:sldIdLst>
            <p14:sldId id="257"/>
            <p14:sldId id="258"/>
            <p14:sldId id="259"/>
          </p14:sldIdLst>
        </p14:section>
        <p14:section name="Technical" id="{d4318066-1552-b912-8f5b-333cbdc32a84}">
          <p14:sldIdLst>
            <p14:sldId id="260"/>
            <p14:sldId id="261"/>
            <p14:sldId id="262"/>
          </p14:sldIdLst>
        </p14:section>
        <p14:section name="Business" id="{a98a2ac3-f443-3388-8cbf-bc073dd5d7e3}">
          <p14:sldIdLst>
            <p14:sldId id="263"/>
            <p14:sldId id="264"/>
            <p14:sldId id="265"/>
          </p14:sldIdLst>
        </p14:section>
        <p14:section name="Implementation" id="{d84456bf-1dc4-45a1-aebd-f32b1dcee747}">
          <p14:sldIdLst>
            <p14:sldId id="266"/>
            <p14:sldId id="267"/>
            <p14:sldId id="268"/>
          </p14:sldIdLst>
        </p14:section>
        <p14:section name="Appendix" id="{6ecbeac0-b2ef-6822-0a51-898c6950cd59}">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DFE8F5"/>
                </a:solidFill>
                <a:latin typeface="+mn-lt"/>
              </a:defRPr>
            </a:pPr>
            <a:r>
              <a:rPr sz="1400" b="0" i="0" u="none" strike="noStrike">
                <a:solidFill>
                  <a:srgbClr val="DFE8F5"/>
                </a:solidFill>
                <a:latin typeface="+mn-lt"/>
              </a:rPr>
              <a:t>Terminal window met, % of 100 paired seeds, by tumble rate (deg/s)</a:t>
            </a:r>
          </a:p>
        </c:rich>
      </c:tx>
      <c:layout/>
      <c:overlay val="0"/>
    </c:title>
    <c:autoTitleDeleted val="0"/>
    <c:plotArea>
      <c:layout/>
      <c:lineChart>
        <c:varyColors val="0"/>
        <c:ser>
          <c:idx val="0"/>
          <c:order val="0"/>
          <c:tx>
            <c:strRef>
              <c:f>Sheet1!$B$1</c:f>
              <c:strCache>
                <c:ptCount val="1"/>
                <c:pt idx="0">
                  <c:v>C0 unprepared</c:v>
                </c:pt>
              </c:strCache>
            </c:strRef>
          </c:tx>
          <c:spPr>
            <a:solidFill>
              <a:srgbClr val="FF8F8F"/>
            </a:solidFill>
            <a:ln w="38100" cap="flat">
              <a:solidFill>
                <a:srgbClr val="FF8F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FF8F8F"/>
              </a:solidFill>
              <a:ln w="9525" cap="flat">
                <a:solidFill>
                  <a:srgbClr val="FF8F8F"/>
                </a:solidFill>
                <a:prstDash val="solid"/>
                <a:round/>
              </a:ln>
              <a:effectLst/>
            </c:spPr>
          </c:marker>
          <c:cat>
            <c:multiLvlStrRef>
              <c:f>Sheet1!$A$2:$A$8</c:f>
              <c:multiLvlStrCache>
                <c:ptCount val="7"/>
                <c:lvl>
                  <c:pt idx="0">
                    <c:v>0</c:v>
                  </c:pt>
                  <c:pt idx="1">
                    <c:v>0.25</c:v>
                  </c:pt>
                  <c:pt idx="2">
                    <c:v>0.5</c:v>
                  </c:pt>
                  <c:pt idx="3">
                    <c:v>1</c:v>
                  </c:pt>
                  <c:pt idx="4">
                    <c:v>2</c:v>
                  </c:pt>
                  <c:pt idx="5">
                    <c:v>3</c:v>
                  </c:pt>
                  <c:pt idx="6">
                    <c:v>5</c:v>
                  </c:pt>
                </c:lvl>
              </c:multiLvlStrCache>
            </c:multiLvlStrRef>
          </c:cat>
          <c:val>
            <c:numRef>
              <c:f>Sheet1!$B$2:$B$8</c:f>
              <c:numCache>
                <c:formatCode>General</c:formatCode>
                <c:ptCount val="7"/>
                <c:pt idx="0">
                  <c:v>100</c:v>
                </c:pt>
                <c:pt idx="1">
                  <c:v>100</c:v>
                </c:pt>
                <c:pt idx="2">
                  <c:v>100</c:v>
                </c:pt>
                <c:pt idx="3">
                  <c:v>100</c:v>
                </c:pt>
                <c:pt idx="4">
                  <c:v>93</c:v>
                </c:pt>
                <c:pt idx="5">
                  <c:v>41</c:v>
                </c:pt>
                <c:pt idx="6">
                  <c:v>0</c:v>
                </c:pt>
              </c:numCache>
            </c:numRef>
          </c:val>
          <c:smooth val="0"/>
        </c:ser>
        <c:ser>
          <c:idx val="1"/>
          <c:order val="1"/>
          <c:tx>
            <c:strRef>
              <c:f>Sheet1!$C$1</c:f>
              <c:strCache>
                <c:ptCount val="1"/>
                <c:pt idx="0">
                  <c:v>C1 markers</c:v>
                </c:pt>
              </c:strCache>
            </c:strRef>
          </c:tx>
          <c:spPr>
            <a:solidFill>
              <a:srgbClr val="FFB454"/>
            </a:solidFill>
            <a:ln w="38100" cap="flat">
              <a:solidFill>
                <a:srgbClr val="FFB45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FFB454"/>
              </a:solidFill>
              <a:ln w="9525" cap="flat">
                <a:solidFill>
                  <a:srgbClr val="FFB454"/>
                </a:solidFill>
                <a:prstDash val="solid"/>
                <a:round/>
              </a:ln>
              <a:effectLst/>
            </c:spPr>
          </c:marker>
          <c:cat>
            <c:multiLvlStrRef>
              <c:f>Sheet1!$A$2:$A$8</c:f>
              <c:multiLvlStrCache>
                <c:ptCount val="7"/>
                <c:lvl>
                  <c:pt idx="0">
                    <c:v>0</c:v>
                  </c:pt>
                  <c:pt idx="1">
                    <c:v>0.25</c:v>
                  </c:pt>
                  <c:pt idx="2">
                    <c:v>0.5</c:v>
                  </c:pt>
                  <c:pt idx="3">
                    <c:v>1</c:v>
                  </c:pt>
                  <c:pt idx="4">
                    <c:v>2</c:v>
                  </c:pt>
                  <c:pt idx="5">
                    <c:v>3</c:v>
                  </c:pt>
                  <c:pt idx="6">
                    <c:v>5</c:v>
                  </c:pt>
                </c:lvl>
              </c:multiLvlStrCache>
            </c:multiLvlStrRef>
          </c:cat>
          <c:val>
            <c:numRef>
              <c:f>Sheet1!$C$2:$C$8</c:f>
              <c:numCache>
                <c:formatCode>General</c:formatCode>
                <c:ptCount val="7"/>
                <c:pt idx="0">
                  <c:v>100</c:v>
                </c:pt>
                <c:pt idx="1">
                  <c:v>100</c:v>
                </c:pt>
                <c:pt idx="2">
                  <c:v>100</c:v>
                </c:pt>
                <c:pt idx="3">
                  <c:v>100</c:v>
                </c:pt>
                <c:pt idx="4">
                  <c:v>100</c:v>
                </c:pt>
                <c:pt idx="5">
                  <c:v>92</c:v>
                </c:pt>
                <c:pt idx="6">
                  <c:v>0</c:v>
                </c:pt>
              </c:numCache>
            </c:numRef>
          </c:val>
          <c:smooth val="0"/>
        </c:ser>
        <c:ser>
          <c:idx val="2"/>
          <c:order val="2"/>
          <c:tx>
            <c:strRef>
              <c:f>Sheet1!$D$1</c:f>
              <c:strCache>
                <c:ptCount val="1"/>
                <c:pt idx="0">
                  <c:v>C2 marker + rate beacon</c:v>
                </c:pt>
              </c:strCache>
            </c:strRef>
          </c:tx>
          <c:spPr>
            <a:solidFill>
              <a:srgbClr val="7DFFB2"/>
            </a:solidFill>
            <a:ln w="38100" cap="flat">
              <a:solidFill>
                <a:srgbClr val="7DFFB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7DFFB2"/>
              </a:solidFill>
              <a:ln w="9525" cap="flat">
                <a:solidFill>
                  <a:srgbClr val="7DFFB2"/>
                </a:solidFill>
                <a:prstDash val="solid"/>
                <a:round/>
              </a:ln>
              <a:effectLst/>
            </c:spPr>
          </c:marker>
          <c:cat>
            <c:multiLvlStrRef>
              <c:f>Sheet1!$A$2:$A$8</c:f>
              <c:multiLvlStrCache>
                <c:ptCount val="7"/>
                <c:lvl>
                  <c:pt idx="0">
                    <c:v>0</c:v>
                  </c:pt>
                  <c:pt idx="1">
                    <c:v>0.25</c:v>
                  </c:pt>
                  <c:pt idx="2">
                    <c:v>0.5</c:v>
                  </c:pt>
                  <c:pt idx="3">
                    <c:v>1</c:v>
                  </c:pt>
                  <c:pt idx="4">
                    <c:v>2</c:v>
                  </c:pt>
                  <c:pt idx="5">
                    <c:v>3</c:v>
                  </c:pt>
                  <c:pt idx="6">
                    <c:v>5</c:v>
                  </c:pt>
                </c:lvl>
              </c:multiLvlStrCache>
            </c:multiLvlStrRef>
          </c:cat>
          <c:val>
            <c:numRef>
              <c:f>Sheet1!$D$2:$D$8</c:f>
              <c:numCache>
                <c:formatCode>General</c:formatCode>
                <c:ptCount val="7"/>
                <c:pt idx="0">
                  <c:v>100</c:v>
                </c:pt>
                <c:pt idx="1">
                  <c:v>100</c:v>
                </c:pt>
                <c:pt idx="2">
                  <c:v>100</c:v>
                </c:pt>
                <c:pt idx="3">
                  <c:v>100</c:v>
                </c:pt>
                <c:pt idx="4">
                  <c:v>100</c:v>
                </c:pt>
                <c:pt idx="5">
                  <c:v>100</c:v>
                </c:pt>
                <c:pt idx="6">
                  <c:v>0</c:v>
                </c:pt>
              </c:numCache>
            </c:numRef>
          </c:val>
          <c:smooth val="0"/>
        </c:ser>
        <c:ser>
          <c:idx val="3"/>
          <c:order val="3"/>
          <c:tx>
            <c:strRef>
              <c:f>Sheet1!$E$1</c:f>
              <c:strCache>
                <c:ptCount val="1"/>
                <c:pt idx="0">
                  <c:v>C3 IOS mode</c:v>
                </c:pt>
              </c:strCache>
            </c:strRef>
          </c:tx>
          <c:spPr>
            <a:solidFill>
              <a:srgbClr val="5AD1FF"/>
            </a:solidFill>
            <a:ln w="38100" cap="flat">
              <a:solidFill>
                <a:srgbClr val="5AD1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5AD1FF"/>
              </a:solidFill>
              <a:ln w="9525" cap="flat">
                <a:solidFill>
                  <a:srgbClr val="5AD1FF"/>
                </a:solidFill>
                <a:prstDash val="solid"/>
                <a:round/>
              </a:ln>
              <a:effectLst/>
            </c:spPr>
          </c:marker>
          <c:cat>
            <c:multiLvlStrRef>
              <c:f>Sheet1!$A$2:$A$8</c:f>
              <c:multiLvlStrCache>
                <c:ptCount val="7"/>
                <c:lvl>
                  <c:pt idx="0">
                    <c:v>0</c:v>
                  </c:pt>
                  <c:pt idx="1">
                    <c:v>0.25</c:v>
                  </c:pt>
                  <c:pt idx="2">
                    <c:v>0.5</c:v>
                  </c:pt>
                  <c:pt idx="3">
                    <c:v>1</c:v>
                  </c:pt>
                  <c:pt idx="4">
                    <c:v>2</c:v>
                  </c:pt>
                  <c:pt idx="5">
                    <c:v>3</c:v>
                  </c:pt>
                  <c:pt idx="6">
                    <c:v>5</c:v>
                  </c:pt>
                </c:lvl>
              </c:multiLvlStrCache>
            </c:multiLvlStrRef>
          </c:cat>
          <c:val>
            <c:numRef>
              <c:f>Sheet1!$E$2:$E$8</c:f>
              <c:numCache>
                <c:formatCode>General</c:formatCode>
                <c:ptCount val="7"/>
                <c:pt idx="0">
                  <c:v>100</c:v>
                </c:pt>
                <c:pt idx="1">
                  <c:v>100</c:v>
                </c:pt>
                <c:pt idx="2">
                  <c:v>100</c:v>
                </c:pt>
                <c:pt idx="3">
                  <c:v>100</c:v>
                </c:pt>
                <c:pt idx="4">
                  <c:v>100</c:v>
                </c:pt>
                <c:pt idx="5">
                  <c:v>100</c:v>
                </c:pt>
                <c:pt idx="6">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6C8"/>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24365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6C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DFE8F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We are Orbit Observers. We make satellites serviceable on their worst day. (The 10 second video plays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Most GEO satellites were never designed to be grabbed. When one tumbles the servicer carries all the risk in the last twelve metres, and electric platforms remove the accidental features servicers used. We ask: what is the minimum a client must carry to stay serviceable?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Three states: healthy, degraded, tumbling. Five layers: markers, a capture point, an independent beacon, an IOS handover mode, and a service zone. Each keeps the satellite serviceable one step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At three degrees per second an unprepared client reaches the terminal window 41 percent of the time, with markers 92, with a rate beacon 100. An identity-only radio adds nothing; rate information does. Above five degrees only a cooperating client works. v4.1, 100 seeds per cell; v4.0 gave 41.6, 91.8, 100 with 500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 One system: a ground platform with human approval, a servicer and a prepared client. Flight logic never sees truth. The IOS handover is gated by human approval and aborts from any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diagram from the team. It confirms our three layers and adds a client health monitoring system, power management, a utility interface panel and an upgrade port. We cover navigation aids, servicer GNC and abort logic, and the ground platform; the beacon, IOS and health monitoring are partial; utility and fluid transfer, the upgrade port and robotic servicing are next. Full table: docs/PRESENTATION_PACK.md section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 74 tests, reproducible campaigns on HPC, zero keep-out violations in 6,140 runs. This is a model: no contact physics, no hardware yet, and we say so on every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 Buyers are satellite makers and operators who add a tier at build time, and servicers who get more successful visits per vehicle. All costs here are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our assumed inputs, markers repay their cost if even 0.6 percent of clients ever need rescue. The beacon and IOS mode pay off where tumble is high or where data beyond approach matters. Source: docs/ECONOMICS_MODEL.md.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Competitor and standards lists are from background knowledge and must be sourced before submission. A patent search is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 Next is a ground demonstration: bench-test the beacon, validate a contact model, run the HIL rig. A draft budget is about 770 thousand euros, assumptions we want ClearSpace to challenge. Budget table: docs/PRESENTATION_PACK.md section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Three asks: confirm the reference client and failure cases, point us to failure statistics, agree the ground-demo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 Minimum preparation. Safe when degraded. A scalable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Orbit Observers  |  model-based study, assumed parameters, not flight-qualified</a:t>
            </a:r>
            <a:endParaRPr lang="en-US" sz="1000" dirty="0"/>
          </a:p>
        </p:txBody>
      </p:sp>
      <p:sp>
        <p:nvSpPr>
          <p:cNvPr id="3" name="Text 1"/>
          <p:cNvSpPr/>
          <p:nvPr>
            <p:ph idx="101" type="title" hasCustomPrompt="1"/>
          </p:nvPr>
        </p:nvSpPr>
        <p:spPr>
          <a:xfrm>
            <a:off x="548640" y="365760"/>
            <a:ext cx="11091672"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91672"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3200" b="1" dirty="0">
                <a:solidFill>
                  <a:schemeClr val="bg1"/>
                </a:solidFill>
              </a:rPr>
              <a:t>Orbit Observers</a:t>
            </a:r>
            <a:endParaRPr lang="en-US" sz="3200" dirty="0"/>
          </a:p>
        </p:txBody>
      </p:sp>
      <p:sp>
        <p:nvSpPr>
          <p:cNvPr id="3" name="Text 1"/>
          <p:cNvSpPr txBox="1"/>
          <p:nvPr/>
        </p:nvSpPr>
        <p:spPr>
          <a:xfrm>
            <a:off x="548640" y="1371600"/>
            <a:ext cx="5120640" cy="1097280"/>
          </a:xfrm>
          <a:prstGeom prst="rect">
            <a:avLst/>
          </a:prstGeom>
          <a:noFill/>
          <a:ln/>
        </p:spPr>
        <p:txBody>
          <a:bodyPr wrap="square" lIns="0" tIns="0" rIns="0" bIns="0" rtlCol="0" anchor="t"/>
          <a:lstStyle/>
          <a:p>
            <a:pPr indent="0" marL="0">
              <a:buNone/>
            </a:pPr>
            <a:r>
              <a:rPr lang="en-US" sz="2400" dirty="0">
                <a:solidFill>
                  <a:schemeClr val="accent1"/>
                </a:solidFill>
              </a:rPr>
              <a:t>Satellites that stay serviceable, even on their worst day</a:t>
            </a:r>
            <a:endParaRPr lang="en-US" sz="2400" dirty="0"/>
          </a:p>
        </p:txBody>
      </p:sp>
      <p:sp>
        <p:nvSpPr>
          <p:cNvPr id="4" name="Text 2"/>
          <p:cNvSpPr txBox="1"/>
          <p:nvPr/>
        </p:nvSpPr>
        <p:spPr>
          <a:xfrm>
            <a:off x="548640" y="2743200"/>
            <a:ext cx="4937760" cy="1463040"/>
          </a:xfrm>
          <a:prstGeom prst="rect">
            <a:avLst/>
          </a:prstGeom>
          <a:noFill/>
          <a:ln/>
        </p:spPr>
        <p:txBody>
          <a:bodyPr wrap="square" lIns="0" tIns="0" rIns="0" bIns="0" rtlCol="0" anchor="t"/>
          <a:lstStyle/>
          <a:p>
            <a:pPr indent="0" marL="0">
              <a:buNone/>
            </a:pPr>
            <a:r>
              <a:rPr lang="en-US" sz="1800" dirty="0">
                <a:solidFill>
                  <a:schemeClr val="bg1"/>
                </a:solidFill>
              </a:rPr>
              <a:t>The minimum client-side preparation that keeps a satellite serviceable when it is healthy, degraded or tumbling. Not another docking port.</a:t>
            </a:r>
            <a:endParaRPr lang="en-US" sz="1800" dirty="0"/>
          </a:p>
        </p:txBody>
      </p:sp>
      <p:sp>
        <p:nvSpPr>
          <p:cNvPr id="5" name="Text 3"/>
          <p:cNvSpPr txBox="1"/>
          <p:nvPr/>
        </p:nvSpPr>
        <p:spPr>
          <a:xfrm>
            <a:off x="548640" y="4754880"/>
            <a:ext cx="5120640" cy="365760"/>
          </a:xfrm>
          <a:prstGeom prst="rect">
            <a:avLst/>
          </a:prstGeom>
          <a:noFill/>
          <a:ln/>
        </p:spPr>
        <p:txBody>
          <a:bodyPr wrap="square" lIns="0" tIns="0" rIns="0" bIns="0" rtlCol="0" anchor="t"/>
          <a:lstStyle/>
          <a:p>
            <a:pPr indent="0" marL="0">
              <a:buNone/>
            </a:pPr>
            <a:r>
              <a:rPr lang="en-US" sz="1600" dirty="0">
                <a:solidFill>
                  <a:schemeClr val="accent2"/>
                </a:solidFill>
              </a:rPr>
              <a:t>Business  /  Technical  /  Serviceability</a:t>
            </a:r>
            <a:endParaRPr lang="en-US" sz="1600" dirty="0"/>
          </a:p>
        </p:txBody>
      </p:sp>
      <p:pic>
        <p:nvPicPr>
          <p:cNvPr id="3" name="Intro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126480" y="1371600"/>
            <a:ext cx="5486400" cy="3086100"/>
          </a:xfrm>
          <a:prstGeom prst="rect">
            <a:avLst/>
          </a:prstGeom>
        </p:spPr>
      </p:pic>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3200" b="1" dirty="0">
                <a:solidFill>
                  <a:schemeClr val="bg1"/>
                </a:solidFill>
              </a:rPr>
              <a:t>Most satellites were never designed to be grabbed</a:t>
            </a:r>
            <a:endParaRPr lang="en-US" sz="3200" dirty="0"/>
          </a:p>
        </p:txBody>
      </p:sp>
      <p:sp>
        <p:nvSpPr>
          <p:cNvPr id="3" name="Card legacy"/>
          <p:cNvSpPr/>
          <p:nvPr/>
        </p:nvSpPr>
        <p:spPr>
          <a:xfrm>
            <a:off x="548640" y="1463040"/>
            <a:ext cx="3566160" cy="3566160"/>
          </a:xfrm>
          <a:prstGeom prst="roundRect">
            <a:avLst>
              <a:gd name="adj" fmla="val 2051"/>
            </a:avLst>
          </a:prstGeom>
          <a:solidFill>
            <a:schemeClr val="tx2"/>
          </a:solidFill>
          <a:ln w="12700">
            <a:solidFill>
              <a:schemeClr val="accent6"/>
            </a:solidFill>
            <a:prstDash val="solid"/>
          </a:ln>
        </p:spPr>
      </p:sp>
      <p:sp>
        <p:nvSpPr>
          <p:cNvPr id="4" name="Text 2"/>
          <p:cNvSpPr txBox="1"/>
          <p:nvPr/>
        </p:nvSpPr>
        <p:spPr>
          <a:xfrm>
            <a:off x="822960" y="1691640"/>
            <a:ext cx="3017520" cy="365760"/>
          </a:xfrm>
          <a:prstGeom prst="rect">
            <a:avLst/>
          </a:prstGeom>
          <a:noFill/>
          <a:ln/>
        </p:spPr>
        <p:txBody>
          <a:bodyPr wrap="square" lIns="0" tIns="0" rIns="0" bIns="0" rtlCol="0" anchor="t"/>
          <a:lstStyle/>
          <a:p>
            <a:pPr indent="0" marL="0">
              <a:buNone/>
            </a:pPr>
            <a:r>
              <a:rPr lang="en-US" sz="2400" b="1" dirty="0">
                <a:solidFill>
                  <a:schemeClr val="accent1"/>
                </a:solidFill>
              </a:rPr>
              <a:t>Legacy clients</a:t>
            </a:r>
            <a:endParaRPr lang="en-US" sz="2400" dirty="0"/>
          </a:p>
        </p:txBody>
      </p:sp>
      <p:sp>
        <p:nvSpPr>
          <p:cNvPr id="5" name="Text 3"/>
          <p:cNvSpPr txBox="1"/>
          <p:nvPr/>
        </p:nvSpPr>
        <p:spPr>
          <a:xfrm>
            <a:off x="822960" y="2240280"/>
            <a:ext cx="3017520" cy="2651760"/>
          </a:xfrm>
          <a:prstGeom prst="rect">
            <a:avLst/>
          </a:prstGeom>
          <a:noFill/>
          <a:ln/>
        </p:spPr>
        <p:txBody>
          <a:bodyPr wrap="square" lIns="0" tIns="0" rIns="0" bIns="0" rtlCol="0" anchor="t"/>
          <a:lstStyle/>
          <a:p>
            <a:pPr indent="0" marL="0">
              <a:buNone/>
            </a:pPr>
            <a:r>
              <a:rPr lang="en-US" sz="1900" dirty="0">
                <a:solidFill>
                  <a:schemeClr val="bg1"/>
                </a:solidFill>
              </a:rPr>
              <a:t>Often non-cooperative. No standard capture or service interface. Safe-mode behaviour can fight a servicer.</a:t>
            </a:r>
            <a:endParaRPr lang="en-US" sz="1900" dirty="0"/>
          </a:p>
        </p:txBody>
      </p:sp>
      <p:sp>
        <p:nvSpPr>
          <p:cNvPr id="6" name="Card gap"/>
          <p:cNvSpPr/>
          <p:nvPr/>
        </p:nvSpPr>
        <p:spPr>
          <a:xfrm>
            <a:off x="4434840" y="1463040"/>
            <a:ext cx="3566160" cy="3566160"/>
          </a:xfrm>
          <a:prstGeom prst="roundRect">
            <a:avLst>
              <a:gd name="adj" fmla="val 2051"/>
            </a:avLst>
          </a:prstGeom>
          <a:solidFill>
            <a:schemeClr val="tx2"/>
          </a:solidFill>
          <a:ln w="12700">
            <a:solidFill>
              <a:schemeClr val="accent6"/>
            </a:solidFill>
            <a:prstDash val="solid"/>
          </a:ln>
        </p:spPr>
      </p:sp>
      <p:sp>
        <p:nvSpPr>
          <p:cNvPr id="7" name="Text 5"/>
          <p:cNvSpPr txBox="1"/>
          <p:nvPr/>
        </p:nvSpPr>
        <p:spPr>
          <a:xfrm>
            <a:off x="4709160" y="1691640"/>
            <a:ext cx="3017520" cy="365760"/>
          </a:xfrm>
          <a:prstGeom prst="rect">
            <a:avLst/>
          </a:prstGeom>
          <a:noFill/>
          <a:ln/>
        </p:spPr>
        <p:txBody>
          <a:bodyPr wrap="square" lIns="0" tIns="0" rIns="0" bIns="0" rtlCol="0" anchor="t"/>
          <a:lstStyle/>
          <a:p>
            <a:pPr indent="0" marL="0">
              <a:buNone/>
            </a:pPr>
            <a:r>
              <a:rPr lang="en-US" sz="2200" b="1" dirty="0">
                <a:solidFill>
                  <a:schemeClr val="accent1"/>
                </a:solidFill>
              </a:rPr>
              <a:t>The last 12 metres</a:t>
            </a:r>
            <a:endParaRPr lang="en-US" sz="2200" dirty="0"/>
          </a:p>
        </p:txBody>
      </p:sp>
      <p:sp>
        <p:nvSpPr>
          <p:cNvPr id="8" name="Text 6"/>
          <p:cNvSpPr txBox="1"/>
          <p:nvPr/>
        </p:nvSpPr>
        <p:spPr>
          <a:xfrm>
            <a:off x="4709160" y="2240280"/>
            <a:ext cx="3017520" cy="2651760"/>
          </a:xfrm>
          <a:prstGeom prst="rect">
            <a:avLst/>
          </a:prstGeom>
          <a:noFill/>
          <a:ln/>
        </p:spPr>
        <p:txBody>
          <a:bodyPr wrap="square" lIns="0" tIns="0" rIns="0" bIns="0" rtlCol="0" anchor="t"/>
          <a:lstStyle/>
          <a:p>
            <a:pPr indent="0" marL="0">
              <a:buNone/>
            </a:pPr>
            <a:r>
              <a:rPr lang="en-US" sz="1900" dirty="0">
                <a:solidFill>
                  <a:schemeClr val="bg1"/>
                </a:solidFill>
              </a:rPr>
              <a:t>A tumbling client, a noisy camera and an unknown spin rate. The servicer carries all the risk and cost.</a:t>
            </a:r>
            <a:endParaRPr lang="en-US" sz="1900" dirty="0"/>
          </a:p>
        </p:txBody>
      </p:sp>
      <p:sp>
        <p:nvSpPr>
          <p:cNvPr id="9" name="Card shift"/>
          <p:cNvSpPr/>
          <p:nvPr/>
        </p:nvSpPr>
        <p:spPr>
          <a:xfrm>
            <a:off x="8321040" y="1463040"/>
            <a:ext cx="3319272" cy="3566160"/>
          </a:xfrm>
          <a:prstGeom prst="roundRect">
            <a:avLst>
              <a:gd name="adj" fmla="val 2204"/>
            </a:avLst>
          </a:prstGeom>
          <a:solidFill>
            <a:schemeClr val="tx2"/>
          </a:solidFill>
          <a:ln w="12700">
            <a:solidFill>
              <a:schemeClr val="accent6"/>
            </a:solidFill>
            <a:prstDash val="solid"/>
          </a:ln>
        </p:spPr>
      </p:sp>
      <p:sp>
        <p:nvSpPr>
          <p:cNvPr id="10" name="Text 8"/>
          <p:cNvSpPr txBox="1"/>
          <p:nvPr/>
        </p:nvSpPr>
        <p:spPr>
          <a:xfrm>
            <a:off x="8595360" y="1691640"/>
            <a:ext cx="2834640" cy="365760"/>
          </a:xfrm>
          <a:prstGeom prst="rect">
            <a:avLst/>
          </a:prstGeom>
          <a:noFill/>
          <a:ln/>
        </p:spPr>
        <p:txBody>
          <a:bodyPr wrap="square" lIns="0" tIns="0" rIns="0" bIns="0" rtlCol="0" anchor="t"/>
          <a:lstStyle/>
          <a:p>
            <a:pPr indent="0" marL="0">
              <a:buNone/>
            </a:pPr>
            <a:r>
              <a:rPr lang="en-US" sz="2200" b="1" dirty="0">
                <a:solidFill>
                  <a:schemeClr val="accent1"/>
                </a:solidFill>
              </a:rPr>
              <a:t>The GEO shift</a:t>
            </a:r>
            <a:endParaRPr lang="en-US" sz="2200" dirty="0"/>
          </a:p>
        </p:txBody>
      </p:sp>
      <p:sp>
        <p:nvSpPr>
          <p:cNvPr id="11" name="Text 9"/>
          <p:cNvSpPr txBox="1"/>
          <p:nvPr/>
        </p:nvSpPr>
        <p:spPr>
          <a:xfrm>
            <a:off x="8595360" y="2240280"/>
            <a:ext cx="2834640" cy="2651760"/>
          </a:xfrm>
          <a:prstGeom prst="rect">
            <a:avLst/>
          </a:prstGeom>
          <a:noFill/>
          <a:ln/>
        </p:spPr>
        <p:txBody>
          <a:bodyPr wrap="square" lIns="0" tIns="0" rIns="0" bIns="0" rtlCol="0" anchor="t"/>
          <a:lstStyle/>
          <a:p>
            <a:pPr indent="0" marL="0">
              <a:buNone/>
            </a:pPr>
            <a:r>
              <a:rPr lang="en-US" sz="1900" dirty="0">
                <a:solidFill>
                  <a:schemeClr val="bg1"/>
                </a:solidFill>
              </a:rPr>
              <a:t>Chemical to hybrid to all-electric removes the accidental nozzle and ring features servicers used. Future satellites need a deliberate interface.</a:t>
            </a:r>
            <a:endParaRPr lang="en-US" sz="19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3200" b="1" dirty="0">
                <a:solidFill>
                  <a:schemeClr val="bg1"/>
                </a:solidFill>
              </a:rPr>
              <a:t>Three client states, five layers of preparation</a:t>
            </a:r>
            <a:endParaRPr lang="en-US" sz="3200" dirty="0"/>
          </a:p>
        </p:txBody>
      </p:sp>
      <p:sp>
        <p:nvSpPr>
          <p:cNvPr id="3" name="State Nominal"/>
          <p:cNvSpPr/>
          <p:nvPr/>
        </p:nvSpPr>
        <p:spPr>
          <a:xfrm>
            <a:off x="548640" y="1463040"/>
            <a:ext cx="3566160" cy="3017520"/>
          </a:xfrm>
          <a:prstGeom prst="roundRect">
            <a:avLst>
              <a:gd name="adj" fmla="val 2424"/>
            </a:avLst>
          </a:prstGeom>
          <a:solidFill>
            <a:schemeClr val="tx2"/>
          </a:solidFill>
          <a:ln w="12700">
            <a:solidFill>
              <a:schemeClr val="accent6"/>
            </a:solidFill>
            <a:prstDash val="solid"/>
          </a:ln>
        </p:spPr>
      </p:sp>
      <p:sp>
        <p:nvSpPr>
          <p:cNvPr id="4" name="Text 2"/>
          <p:cNvSpPr txBox="1"/>
          <p:nvPr/>
        </p:nvSpPr>
        <p:spPr>
          <a:xfrm>
            <a:off x="822960" y="1645920"/>
            <a:ext cx="914400" cy="548640"/>
          </a:xfrm>
          <a:prstGeom prst="rect">
            <a:avLst/>
          </a:prstGeom>
          <a:noFill/>
          <a:ln/>
        </p:spPr>
        <p:txBody>
          <a:bodyPr wrap="square" lIns="0" tIns="0" rIns="0" bIns="0" rtlCol="0" anchor="t"/>
          <a:lstStyle/>
          <a:p>
            <a:pPr indent="0" marL="0">
              <a:buNone/>
            </a:pPr>
            <a:r>
              <a:rPr lang="en-US" sz="3200" b="1" dirty="0">
                <a:solidFill>
                  <a:schemeClr val="accent3"/>
                </a:solidFill>
              </a:rPr>
              <a:t>C3</a:t>
            </a:r>
            <a:endParaRPr lang="en-US" sz="3200" dirty="0"/>
          </a:p>
        </p:txBody>
      </p:sp>
      <p:sp>
        <p:nvSpPr>
          <p:cNvPr id="5" name="Text 3"/>
          <p:cNvSpPr txBox="1"/>
          <p:nvPr/>
        </p:nvSpPr>
        <p:spPr>
          <a:xfrm>
            <a:off x="1737360" y="1737360"/>
            <a:ext cx="2194560" cy="457200"/>
          </a:xfrm>
          <a:prstGeom prst="rect">
            <a:avLst/>
          </a:prstGeom>
          <a:noFill/>
          <a:ln/>
        </p:spPr>
        <p:txBody>
          <a:bodyPr wrap="square" lIns="0" tIns="0" rIns="0" bIns="0" rtlCol="0" anchor="t"/>
          <a:lstStyle/>
          <a:p>
            <a:pPr indent="0" marL="0">
              <a:buNone/>
            </a:pPr>
            <a:r>
              <a:rPr lang="en-US" sz="2400" b="1" dirty="0">
                <a:solidFill>
                  <a:schemeClr val="bg1"/>
                </a:solidFill>
              </a:rPr>
              <a:t>Nominal</a:t>
            </a:r>
            <a:endParaRPr lang="en-US" sz="2400" dirty="0"/>
          </a:p>
        </p:txBody>
      </p:sp>
      <p:sp>
        <p:nvSpPr>
          <p:cNvPr id="6" name="Text 4"/>
          <p:cNvSpPr txBox="1"/>
          <p:nvPr/>
        </p:nvSpPr>
        <p:spPr>
          <a:xfrm>
            <a:off x="822960" y="2377440"/>
            <a:ext cx="3017520" cy="640080"/>
          </a:xfrm>
          <a:prstGeom prst="rect">
            <a:avLst/>
          </a:prstGeom>
          <a:noFill/>
          <a:ln/>
        </p:spPr>
        <p:txBody>
          <a:bodyPr wrap="square" lIns="0" tIns="0" rIns="0" bIns="0" rtlCol="0" anchor="t"/>
          <a:lstStyle/>
          <a:p>
            <a:pPr indent="0" marL="0">
              <a:buNone/>
            </a:pPr>
            <a:r>
              <a:rPr lang="en-US" sz="1600" dirty="0">
                <a:solidFill>
                  <a:schemeClr val="bg2"/>
                </a:solidFill>
              </a:rPr>
              <a:t>Healthy, controlled, talking</a:t>
            </a:r>
            <a:endParaRPr lang="en-US" sz="1600" dirty="0"/>
          </a:p>
        </p:txBody>
      </p:sp>
      <p:sp>
        <p:nvSpPr>
          <p:cNvPr id="7" name="Text 5"/>
          <p:cNvSpPr txBox="1"/>
          <p:nvPr/>
        </p:nvSpPr>
        <p:spPr>
          <a:xfrm>
            <a:off x="822960" y="3108960"/>
            <a:ext cx="3017520" cy="1188720"/>
          </a:xfrm>
          <a:prstGeom prst="rect">
            <a:avLst/>
          </a:prstGeom>
          <a:noFill/>
          <a:ln/>
        </p:spPr>
        <p:txBody>
          <a:bodyPr wrap="square" lIns="0" tIns="0" rIns="0" bIns="0" rtlCol="0" anchor="t"/>
          <a:lstStyle/>
          <a:p>
            <a:pPr indent="0" marL="0">
              <a:buNone/>
            </a:pPr>
            <a:r>
              <a:rPr lang="en-US" sz="1800" dirty="0">
                <a:solidFill>
                  <a:schemeClr val="bg1"/>
                </a:solidFill>
              </a:rPr>
              <a:t>IOS mode: control handed to the servicer</a:t>
            </a:r>
            <a:endParaRPr lang="en-US" sz="1800" dirty="0"/>
          </a:p>
        </p:txBody>
      </p:sp>
      <p:sp>
        <p:nvSpPr>
          <p:cNvPr id="8" name="State Degraded"/>
          <p:cNvSpPr/>
          <p:nvPr/>
        </p:nvSpPr>
        <p:spPr>
          <a:xfrm>
            <a:off x="4297680" y="1463040"/>
            <a:ext cx="3566160" cy="3017520"/>
          </a:xfrm>
          <a:prstGeom prst="roundRect">
            <a:avLst>
              <a:gd name="adj" fmla="val 2424"/>
            </a:avLst>
          </a:prstGeom>
          <a:solidFill>
            <a:schemeClr val="tx2"/>
          </a:solidFill>
          <a:ln w="12700">
            <a:solidFill>
              <a:schemeClr val="accent6"/>
            </a:solidFill>
            <a:prstDash val="solid"/>
          </a:ln>
        </p:spPr>
      </p:sp>
      <p:sp>
        <p:nvSpPr>
          <p:cNvPr id="9" name="Text 7"/>
          <p:cNvSpPr txBox="1"/>
          <p:nvPr/>
        </p:nvSpPr>
        <p:spPr>
          <a:xfrm>
            <a:off x="4572000" y="1645920"/>
            <a:ext cx="914400" cy="548640"/>
          </a:xfrm>
          <a:prstGeom prst="rect">
            <a:avLst/>
          </a:prstGeom>
          <a:noFill/>
          <a:ln/>
        </p:spPr>
        <p:txBody>
          <a:bodyPr wrap="square" lIns="0" tIns="0" rIns="0" bIns="0" rtlCol="0" anchor="t"/>
          <a:lstStyle/>
          <a:p>
            <a:pPr indent="0" marL="0">
              <a:buNone/>
            </a:pPr>
            <a:r>
              <a:rPr lang="en-US" sz="3200" b="1" dirty="0">
                <a:solidFill>
                  <a:schemeClr val="accent2"/>
                </a:solidFill>
              </a:rPr>
              <a:t>C2</a:t>
            </a:r>
            <a:endParaRPr lang="en-US" sz="3200" dirty="0"/>
          </a:p>
        </p:txBody>
      </p:sp>
      <p:sp>
        <p:nvSpPr>
          <p:cNvPr id="10" name="Text 8"/>
          <p:cNvSpPr txBox="1"/>
          <p:nvPr/>
        </p:nvSpPr>
        <p:spPr>
          <a:xfrm>
            <a:off x="5486400" y="1737360"/>
            <a:ext cx="2194560" cy="457200"/>
          </a:xfrm>
          <a:prstGeom prst="rect">
            <a:avLst/>
          </a:prstGeom>
          <a:noFill/>
          <a:ln/>
        </p:spPr>
        <p:txBody>
          <a:bodyPr wrap="square" lIns="0" tIns="0" rIns="0" bIns="0" rtlCol="0" anchor="t"/>
          <a:lstStyle/>
          <a:p>
            <a:pPr indent="0" marL="0">
              <a:buNone/>
            </a:pPr>
            <a:r>
              <a:rPr lang="en-US" sz="2400" b="1" dirty="0">
                <a:solidFill>
                  <a:schemeClr val="bg1"/>
                </a:solidFill>
              </a:rPr>
              <a:t>Degraded</a:t>
            </a:r>
            <a:endParaRPr lang="en-US" sz="2400" dirty="0"/>
          </a:p>
        </p:txBody>
      </p:sp>
      <p:sp>
        <p:nvSpPr>
          <p:cNvPr id="11" name="Text 9"/>
          <p:cNvSpPr txBox="1"/>
          <p:nvPr/>
        </p:nvSpPr>
        <p:spPr>
          <a:xfrm>
            <a:off x="4572000" y="2377440"/>
            <a:ext cx="3017520" cy="640080"/>
          </a:xfrm>
          <a:prstGeom prst="rect">
            <a:avLst/>
          </a:prstGeom>
          <a:noFill/>
          <a:ln/>
        </p:spPr>
        <p:txBody>
          <a:bodyPr wrap="square" lIns="0" tIns="0" rIns="0" bIns="0" rtlCol="0" anchor="t"/>
          <a:lstStyle/>
          <a:p>
            <a:pPr indent="0" marL="0">
              <a:buNone/>
            </a:pPr>
            <a:r>
              <a:rPr lang="en-US" sz="1600" dirty="0">
                <a:solidFill>
                  <a:schemeClr val="bg2"/>
                </a:solidFill>
              </a:rPr>
              <a:t>Partial computer, power or comms</a:t>
            </a:r>
            <a:endParaRPr lang="en-US" sz="1600" dirty="0"/>
          </a:p>
        </p:txBody>
      </p:sp>
      <p:sp>
        <p:nvSpPr>
          <p:cNvPr id="12" name="Text 10"/>
          <p:cNvSpPr txBox="1"/>
          <p:nvPr/>
        </p:nvSpPr>
        <p:spPr>
          <a:xfrm>
            <a:off x="4572000" y="3108960"/>
            <a:ext cx="3017520" cy="1188720"/>
          </a:xfrm>
          <a:prstGeom prst="rect">
            <a:avLst/>
          </a:prstGeom>
          <a:noFill/>
          <a:ln/>
        </p:spPr>
        <p:txBody>
          <a:bodyPr wrap="square" lIns="0" tIns="0" rIns="0" bIns="0" rtlCol="0" anchor="t"/>
          <a:lstStyle/>
          <a:p>
            <a:pPr indent="0" marL="0">
              <a:buNone/>
            </a:pPr>
            <a:r>
              <a:rPr lang="en-US" sz="1800" dirty="0">
                <a:solidFill>
                  <a:schemeClr val="bg1"/>
                </a:solidFill>
              </a:rPr>
              <a:t>Independent Service Beacon: rate, ID, health</a:t>
            </a:r>
            <a:endParaRPr lang="en-US" sz="1800" dirty="0"/>
          </a:p>
        </p:txBody>
      </p:sp>
      <p:sp>
        <p:nvSpPr>
          <p:cNvPr id="13" name="State Tumbling"/>
          <p:cNvSpPr/>
          <p:nvPr/>
        </p:nvSpPr>
        <p:spPr>
          <a:xfrm>
            <a:off x="8046720" y="1463040"/>
            <a:ext cx="3566160" cy="3017520"/>
          </a:xfrm>
          <a:prstGeom prst="roundRect">
            <a:avLst>
              <a:gd name="adj" fmla="val 2424"/>
            </a:avLst>
          </a:prstGeom>
          <a:solidFill>
            <a:schemeClr val="tx2"/>
          </a:solidFill>
          <a:ln w="12700">
            <a:solidFill>
              <a:schemeClr val="accent6"/>
            </a:solidFill>
            <a:prstDash val="solid"/>
          </a:ln>
        </p:spPr>
      </p:sp>
      <p:sp>
        <p:nvSpPr>
          <p:cNvPr id="14" name="Text 12"/>
          <p:cNvSpPr txBox="1"/>
          <p:nvPr/>
        </p:nvSpPr>
        <p:spPr>
          <a:xfrm>
            <a:off x="8321040" y="1645920"/>
            <a:ext cx="914400" cy="548640"/>
          </a:xfrm>
          <a:prstGeom prst="rect">
            <a:avLst/>
          </a:prstGeom>
          <a:noFill/>
          <a:ln/>
        </p:spPr>
        <p:txBody>
          <a:bodyPr wrap="square" lIns="0" tIns="0" rIns="0" bIns="0" rtlCol="0" anchor="t"/>
          <a:lstStyle/>
          <a:p>
            <a:pPr indent="0" marL="0">
              <a:buNone/>
            </a:pPr>
            <a:r>
              <a:rPr lang="en-US" sz="3200" b="1" dirty="0">
                <a:solidFill>
                  <a:schemeClr val="accent1"/>
                </a:solidFill>
              </a:rPr>
              <a:t>C1</a:t>
            </a:r>
            <a:endParaRPr lang="en-US" sz="3200" dirty="0"/>
          </a:p>
        </p:txBody>
      </p:sp>
      <p:sp>
        <p:nvSpPr>
          <p:cNvPr id="15" name="Text 13"/>
          <p:cNvSpPr txBox="1"/>
          <p:nvPr/>
        </p:nvSpPr>
        <p:spPr>
          <a:xfrm>
            <a:off x="9235440" y="1737360"/>
            <a:ext cx="2194560" cy="457200"/>
          </a:xfrm>
          <a:prstGeom prst="rect">
            <a:avLst/>
          </a:prstGeom>
          <a:noFill/>
          <a:ln/>
        </p:spPr>
        <p:txBody>
          <a:bodyPr wrap="square" lIns="0" tIns="0" rIns="0" bIns="0" rtlCol="0" anchor="t"/>
          <a:lstStyle/>
          <a:p>
            <a:pPr indent="0" marL="0">
              <a:buNone/>
            </a:pPr>
            <a:r>
              <a:rPr lang="en-US" sz="2400" b="1" dirty="0">
                <a:solidFill>
                  <a:schemeClr val="bg1"/>
                </a:solidFill>
              </a:rPr>
              <a:t>Tumbling</a:t>
            </a:r>
            <a:endParaRPr lang="en-US" sz="2400" dirty="0"/>
          </a:p>
        </p:txBody>
      </p:sp>
      <p:sp>
        <p:nvSpPr>
          <p:cNvPr id="16" name="Text 14"/>
          <p:cNvSpPr txBox="1"/>
          <p:nvPr/>
        </p:nvSpPr>
        <p:spPr>
          <a:xfrm>
            <a:off x="8321040" y="2377440"/>
            <a:ext cx="3017520" cy="640080"/>
          </a:xfrm>
          <a:prstGeom prst="rect">
            <a:avLst/>
          </a:prstGeom>
          <a:noFill/>
          <a:ln/>
        </p:spPr>
        <p:txBody>
          <a:bodyPr wrap="square" lIns="0" tIns="0" rIns="0" bIns="0" rtlCol="0" anchor="t"/>
          <a:lstStyle/>
          <a:p>
            <a:pPr indent="0" marL="0">
              <a:buNone/>
            </a:pPr>
            <a:r>
              <a:rPr lang="en-US" sz="1600" dirty="0">
                <a:solidFill>
                  <a:schemeClr val="bg2"/>
                </a:solidFill>
              </a:rPr>
              <a:t>No control, no comms</a:t>
            </a:r>
            <a:endParaRPr lang="en-US" sz="1600" dirty="0"/>
          </a:p>
        </p:txBody>
      </p:sp>
      <p:sp>
        <p:nvSpPr>
          <p:cNvPr id="17" name="Text 15"/>
          <p:cNvSpPr txBox="1"/>
          <p:nvPr/>
        </p:nvSpPr>
        <p:spPr>
          <a:xfrm>
            <a:off x="8321040" y="3108960"/>
            <a:ext cx="3017520" cy="1188720"/>
          </a:xfrm>
          <a:prstGeom prst="rect">
            <a:avLst/>
          </a:prstGeom>
          <a:noFill/>
          <a:ln/>
        </p:spPr>
        <p:txBody>
          <a:bodyPr wrap="square" lIns="0" tIns="0" rIns="0" bIns="0" rtlCol="0" anchor="t"/>
          <a:lstStyle/>
          <a:p>
            <a:pPr indent="0" marL="0">
              <a:buNone/>
            </a:pPr>
            <a:r>
              <a:rPr lang="en-US" sz="1800" dirty="0">
                <a:solidFill>
                  <a:schemeClr val="bg1"/>
                </a:solidFill>
              </a:rPr>
              <a:t>Markers and a known capture point</a:t>
            </a:r>
            <a:endParaRPr lang="en-US" sz="1800" dirty="0"/>
          </a:p>
        </p:txBody>
      </p:sp>
      <p:sp>
        <p:nvSpPr>
          <p:cNvPr id="18" name="OSAN strip"/>
          <p:cNvSpPr/>
          <p:nvPr/>
        </p:nvSpPr>
        <p:spPr>
          <a:xfrm>
            <a:off x="548640" y="4754880"/>
            <a:ext cx="11091672" cy="1097280"/>
          </a:xfrm>
          <a:prstGeom prst="roundRect">
            <a:avLst>
              <a:gd name="adj" fmla="val 6667"/>
            </a:avLst>
          </a:prstGeom>
          <a:solidFill>
            <a:schemeClr val="tx2"/>
          </a:solidFill>
          <a:ln w="12700">
            <a:solidFill>
              <a:schemeClr val="accent6"/>
            </a:solidFill>
            <a:prstDash val="solid"/>
          </a:ln>
        </p:spPr>
      </p:sp>
      <p:sp>
        <p:nvSpPr>
          <p:cNvPr id="19" name="Text 17"/>
          <p:cNvSpPr txBox="1"/>
          <p:nvPr/>
        </p:nvSpPr>
        <p:spPr>
          <a:xfrm>
            <a:off x="822960" y="4937760"/>
            <a:ext cx="10543032" cy="731520"/>
          </a:xfrm>
          <a:prstGeom prst="rect">
            <a:avLst/>
          </a:prstGeom>
          <a:noFill/>
          <a:ln/>
        </p:spPr>
        <p:txBody>
          <a:bodyPr wrap="square" lIns="0" tIns="0" rIns="0" bIns="0" rtlCol="0" anchor="t"/>
          <a:lstStyle/>
          <a:p>
            <a:pPr indent="0" marL="0">
              <a:buNone/>
            </a:pPr>
            <a:r>
              <a:rPr lang="en-US" sz="1600" dirty="0">
                <a:solidFill>
                  <a:schemeClr val="bg1"/>
                </a:solidFill>
              </a:rPr>
              <a:t>OSAN service zone for high-value platforms: capture and load transfer, power and data, optional fluid transfer, POD attachment. Concept only; no loads or layout yet.</a:t>
            </a:r>
            <a:endParaRPr lang="en-US" sz="16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3200" b="1" dirty="0">
                <a:solidFill>
                  <a:schemeClr val="bg1"/>
                </a:solidFill>
              </a:rPr>
              <a:t>Preparation matters where an unprepared client starts to fail</a:t>
            </a:r>
            <a:endParaRPr lang="en-US" sz="3200" dirty="0"/>
          </a:p>
        </p:txBody>
      </p:sp>
      <p:graphicFrame>
        <p:nvGraphicFramePr>
          <p:cNvPr id="3" name="Chart 0" descr=""/>
          <p:cNvGraphicFramePr/>
          <p:nvPr/>
        </p:nvGraphicFramePr>
        <p:xfrm>
          <a:off x="548640" y="1325880"/>
          <a:ext cx="758952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503920" y="1463040"/>
            <a:ext cx="3108960" cy="822960"/>
          </a:xfrm>
          <a:prstGeom prst="rect">
            <a:avLst/>
          </a:prstGeom>
          <a:noFill/>
          <a:ln/>
        </p:spPr>
        <p:txBody>
          <a:bodyPr wrap="square" lIns="0" tIns="0" rIns="0" bIns="0" rtlCol="0" anchor="t"/>
          <a:lstStyle/>
          <a:p>
            <a:pPr indent="0" marL="0">
              <a:buNone/>
            </a:pPr>
            <a:r>
              <a:rPr lang="en-US" sz="4800" b="1" dirty="0">
                <a:solidFill>
                  <a:schemeClr val="accent2"/>
                </a:solidFill>
              </a:rPr>
              <a:t>+51 pp</a:t>
            </a:r>
            <a:endParaRPr lang="en-US" sz="4800" dirty="0"/>
          </a:p>
        </p:txBody>
      </p:sp>
      <p:sp>
        <p:nvSpPr>
          <p:cNvPr id="5" name="Text 2"/>
          <p:cNvSpPr txBox="1"/>
          <p:nvPr/>
        </p:nvSpPr>
        <p:spPr>
          <a:xfrm>
            <a:off x="8503920" y="2331720"/>
            <a:ext cx="3108960" cy="640080"/>
          </a:xfrm>
          <a:prstGeom prst="rect">
            <a:avLst/>
          </a:prstGeom>
          <a:noFill/>
          <a:ln/>
        </p:spPr>
        <p:txBody>
          <a:bodyPr wrap="square" lIns="0" tIns="0" rIns="0" bIns="0" rtlCol="0" anchor="t"/>
          <a:lstStyle/>
          <a:p>
            <a:pPr indent="0" marL="0">
              <a:buNone/>
            </a:pPr>
            <a:r>
              <a:rPr lang="en-US" sz="1400" dirty="0">
                <a:solidFill>
                  <a:schemeClr val="bg2"/>
                </a:solidFill>
              </a:rPr>
              <a:t>at 3 deg/s: unprepared 41% to markers 92%</a:t>
            </a:r>
            <a:endParaRPr lang="en-US" sz="1400" dirty="0"/>
          </a:p>
        </p:txBody>
      </p:sp>
      <p:sp>
        <p:nvSpPr>
          <p:cNvPr id="6" name="Text 3"/>
          <p:cNvSpPr txBox="1"/>
          <p:nvPr/>
        </p:nvSpPr>
        <p:spPr>
          <a:xfrm>
            <a:off x="8503920" y="3063240"/>
            <a:ext cx="3108960" cy="822960"/>
          </a:xfrm>
          <a:prstGeom prst="rect">
            <a:avLst/>
          </a:prstGeom>
          <a:noFill/>
          <a:ln/>
        </p:spPr>
        <p:txBody>
          <a:bodyPr wrap="square" lIns="0" tIns="0" rIns="0" bIns="0" rtlCol="0" anchor="t"/>
          <a:lstStyle/>
          <a:p>
            <a:pPr indent="0" marL="0">
              <a:buNone/>
            </a:pPr>
            <a:r>
              <a:rPr lang="en-US" sz="4800" b="1" dirty="0">
                <a:solidFill>
                  <a:schemeClr val="accent3"/>
                </a:solidFill>
              </a:rPr>
              <a:t>+8 pp</a:t>
            </a:r>
            <a:endParaRPr lang="en-US" sz="4800" dirty="0"/>
          </a:p>
        </p:txBody>
      </p:sp>
      <p:sp>
        <p:nvSpPr>
          <p:cNvPr id="7" name="Text 4"/>
          <p:cNvSpPr txBox="1"/>
          <p:nvPr/>
        </p:nvSpPr>
        <p:spPr>
          <a:xfrm>
            <a:off x="8503920" y="3931920"/>
            <a:ext cx="3108960" cy="640080"/>
          </a:xfrm>
          <a:prstGeom prst="rect">
            <a:avLst/>
          </a:prstGeom>
          <a:noFill/>
          <a:ln/>
        </p:spPr>
        <p:txBody>
          <a:bodyPr wrap="square" lIns="0" tIns="0" rIns="0" bIns="0" rtlCol="0" anchor="t"/>
          <a:lstStyle/>
          <a:p>
            <a:pPr indent="0" marL="0">
              <a:buNone/>
            </a:pPr>
            <a:r>
              <a:rPr lang="en-US" sz="1400" dirty="0">
                <a:solidFill>
                  <a:schemeClr val="bg2"/>
                </a:solidFill>
              </a:rPr>
              <a:t>rate data in the beacon: 92% to 100% (p = 0.008)</a:t>
            </a:r>
            <a:endParaRPr lang="en-US" sz="1400" dirty="0"/>
          </a:p>
        </p:txBody>
      </p:sp>
      <p:sp>
        <p:nvSpPr>
          <p:cNvPr id="8" name="Text 5"/>
          <p:cNvSpPr txBox="1"/>
          <p:nvPr/>
        </p:nvSpPr>
        <p:spPr>
          <a:xfrm>
            <a:off x="8503920" y="4663440"/>
            <a:ext cx="3108960" cy="822960"/>
          </a:xfrm>
          <a:prstGeom prst="rect">
            <a:avLst/>
          </a:prstGeom>
          <a:noFill/>
          <a:ln/>
        </p:spPr>
        <p:txBody>
          <a:bodyPr wrap="square" lIns="0" tIns="0" rIns="0" bIns="0" rtlCol="0" anchor="t"/>
          <a:lstStyle/>
          <a:p>
            <a:pPr indent="0" marL="0">
              <a:buNone/>
            </a:pPr>
            <a:r>
              <a:rPr lang="en-US" sz="4800" b="1" dirty="0">
                <a:solidFill>
                  <a:schemeClr val="accent1"/>
                </a:solidFill>
              </a:rPr>
              <a:t>5 deg/s</a:t>
            </a:r>
            <a:endParaRPr lang="en-US" sz="4800" dirty="0"/>
          </a:p>
        </p:txBody>
      </p:sp>
      <p:sp>
        <p:nvSpPr>
          <p:cNvPr id="9" name="Text 6"/>
          <p:cNvSpPr txBox="1"/>
          <p:nvPr/>
        </p:nvSpPr>
        <p:spPr>
          <a:xfrm>
            <a:off x="8503920" y="5532120"/>
            <a:ext cx="3108960" cy="640080"/>
          </a:xfrm>
          <a:prstGeom prst="rect">
            <a:avLst/>
          </a:prstGeom>
          <a:noFill/>
          <a:ln/>
        </p:spPr>
        <p:txBody>
          <a:bodyPr wrap="square" lIns="0" tIns="0" rIns="0" bIns="0" rtlCol="0" anchor="t"/>
          <a:lstStyle/>
          <a:p>
            <a:pPr indent="0" marL="0">
              <a:buNone/>
            </a:pPr>
            <a:r>
              <a:rPr lang="en-US" sz="1400" dirty="0">
                <a:solidFill>
                  <a:schemeClr val="bg2"/>
                </a:solidFill>
              </a:rPr>
              <a:t>only a cooperating client passes (C3 assumes self-damping)</a:t>
            </a:r>
            <a:endParaRPr lang="en-US" sz="14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3200" b="1" dirty="0">
                <a:solidFill>
                  <a:schemeClr val="bg1"/>
                </a:solidFill>
              </a:rPr>
              <a:t>One system from ground approval to client handover</a:t>
            </a:r>
            <a:endParaRPr lang="en-US" sz="3200" dirty="0"/>
          </a:p>
        </p:txBody>
      </p:sp>
      <p:sp>
        <p:nvSpPr>
          <p:cNvPr id="3" name="Col Ground"/>
          <p:cNvSpPr/>
          <p:nvPr/>
        </p:nvSpPr>
        <p:spPr>
          <a:xfrm>
            <a:off x="548640" y="1463040"/>
            <a:ext cx="3200400" cy="3566160"/>
          </a:xfrm>
          <a:prstGeom prst="roundRect">
            <a:avLst>
              <a:gd name="adj" fmla="val 2286"/>
            </a:avLst>
          </a:prstGeom>
          <a:solidFill>
            <a:schemeClr val="tx2"/>
          </a:solidFill>
          <a:ln w="12700">
            <a:solidFill>
              <a:schemeClr val="accent6"/>
            </a:solidFill>
            <a:prstDash val="solid"/>
          </a:ln>
        </p:spPr>
      </p:sp>
      <p:sp>
        <p:nvSpPr>
          <p:cNvPr id="4" name="Text 2"/>
          <p:cNvSpPr txBox="1"/>
          <p:nvPr/>
        </p:nvSpPr>
        <p:spPr>
          <a:xfrm>
            <a:off x="822960" y="1645920"/>
            <a:ext cx="2651760" cy="457200"/>
          </a:xfrm>
          <a:prstGeom prst="rect">
            <a:avLst/>
          </a:prstGeom>
          <a:noFill/>
          <a:ln/>
        </p:spPr>
        <p:txBody>
          <a:bodyPr wrap="square" lIns="0" tIns="0" rIns="0" bIns="0" rtlCol="0" anchor="t"/>
          <a:lstStyle/>
          <a:p>
            <a:pPr indent="0" marL="0">
              <a:buNone/>
            </a:pPr>
            <a:r>
              <a:rPr lang="en-US" sz="2600" b="1" dirty="0">
                <a:solidFill>
                  <a:schemeClr val="accent2"/>
                </a:solidFill>
              </a:rPr>
              <a:t>Ground</a:t>
            </a:r>
            <a:endParaRPr lang="en-US" sz="2600" dirty="0"/>
          </a:p>
        </p:txBody>
      </p:sp>
      <p:sp>
        <p:nvSpPr>
          <p:cNvPr id="5" name="Text 3"/>
          <p:cNvSpPr txBox="1"/>
          <p:nvPr/>
        </p:nvSpPr>
        <p:spPr>
          <a:xfrm>
            <a:off x="822960" y="2286000"/>
            <a:ext cx="2651760" cy="2560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Dashboard and AI agents</a:t>
            </a:r>
            <a:endParaRPr lang="en-US" sz="1600" dirty="0"/>
          </a:p>
          <a:p>
            <a:pPr marL="342900" indent="-342900">
              <a:spcAft>
                <a:spcPts val="800"/>
              </a:spcAft>
              <a:buSzPct val="100000"/>
              <a:buChar char="•"/>
            </a:pPr>
            <a:r>
              <a:rPr lang="en-US" sz="1600" dirty="0">
                <a:solidFill>
                  <a:schemeClr val="bg1"/>
                </a:solidFill>
              </a:rPr>
              <a:t>Policy and human approval</a:t>
            </a:r>
            <a:endParaRPr lang="en-US" sz="1600" dirty="0"/>
          </a:p>
          <a:p>
            <a:pPr marL="342900" indent="-342900">
              <a:spcAft>
                <a:spcPts val="800"/>
              </a:spcAft>
              <a:buSzPct val="100000"/>
              <a:buChar char="•"/>
            </a:pPr>
            <a:r>
              <a:rPr lang="en-US" sz="1600" dirty="0">
                <a:solidFill>
                  <a:schemeClr val="bg1"/>
                </a:solidFill>
              </a:rPr>
              <a:t>Hash-chained audit</a:t>
            </a:r>
            <a:endParaRPr lang="en-US" sz="1600" dirty="0"/>
          </a:p>
          <a:p>
            <a:pPr marL="342900" indent="-342900">
              <a:spcAft>
                <a:spcPts val="800"/>
              </a:spcAft>
              <a:buSzPct val="100000"/>
              <a:buChar char="•"/>
            </a:pPr>
            <a:r>
              <a:rPr lang="en-US" sz="1600" dirty="0">
                <a:solidFill>
                  <a:schemeClr val="bg1"/>
                </a:solidFill>
              </a:rPr>
              <a:t>Monte Carlo feasibility</a:t>
            </a:r>
            <a:endParaRPr lang="en-US" sz="1600" dirty="0"/>
          </a:p>
        </p:txBody>
      </p:sp>
      <p:sp>
        <p:nvSpPr>
          <p:cNvPr id="6" name="Arrow 0"/>
          <p:cNvSpPr/>
          <p:nvPr/>
        </p:nvSpPr>
        <p:spPr>
          <a:xfrm>
            <a:off x="3794760" y="3017520"/>
            <a:ext cx="640080" cy="365760"/>
          </a:xfrm>
          <a:prstGeom prst="rightArrow">
            <a:avLst/>
          </a:prstGeom>
          <a:solidFill>
            <a:schemeClr val="accent6"/>
          </a:solidFill>
          <a:ln w="12700">
            <a:solidFill>
              <a:schemeClr val="accent6"/>
            </a:solidFill>
            <a:prstDash val="solid"/>
          </a:ln>
        </p:spPr>
      </p:sp>
      <p:sp>
        <p:nvSpPr>
          <p:cNvPr id="7" name="Col Servicer"/>
          <p:cNvSpPr/>
          <p:nvPr/>
        </p:nvSpPr>
        <p:spPr>
          <a:xfrm>
            <a:off x="4480560" y="1463040"/>
            <a:ext cx="3200400" cy="3566160"/>
          </a:xfrm>
          <a:prstGeom prst="roundRect">
            <a:avLst>
              <a:gd name="adj" fmla="val 2286"/>
            </a:avLst>
          </a:prstGeom>
          <a:solidFill>
            <a:schemeClr val="tx2"/>
          </a:solidFill>
          <a:ln w="12700">
            <a:solidFill>
              <a:schemeClr val="accent6"/>
            </a:solidFill>
            <a:prstDash val="solid"/>
          </a:ln>
        </p:spPr>
      </p:sp>
      <p:sp>
        <p:nvSpPr>
          <p:cNvPr id="8" name="Text 6"/>
          <p:cNvSpPr txBox="1"/>
          <p:nvPr/>
        </p:nvSpPr>
        <p:spPr>
          <a:xfrm>
            <a:off x="4754880" y="1645920"/>
            <a:ext cx="2651760" cy="457200"/>
          </a:xfrm>
          <a:prstGeom prst="rect">
            <a:avLst/>
          </a:prstGeom>
          <a:noFill/>
          <a:ln/>
        </p:spPr>
        <p:txBody>
          <a:bodyPr wrap="square" lIns="0" tIns="0" rIns="0" bIns="0" rtlCol="0" anchor="t"/>
          <a:lstStyle/>
          <a:p>
            <a:pPr indent="0" marL="0">
              <a:buNone/>
            </a:pPr>
            <a:r>
              <a:rPr lang="en-US" sz="2600" b="1" dirty="0">
                <a:solidFill>
                  <a:schemeClr val="accent1"/>
                </a:solidFill>
              </a:rPr>
              <a:t>Servicer</a:t>
            </a:r>
            <a:endParaRPr lang="en-US" sz="2600" dirty="0"/>
          </a:p>
        </p:txBody>
      </p:sp>
      <p:sp>
        <p:nvSpPr>
          <p:cNvPr id="9" name="Text 7"/>
          <p:cNvSpPr txBox="1"/>
          <p:nvPr/>
        </p:nvSpPr>
        <p:spPr>
          <a:xfrm>
            <a:off x="4754880" y="2286000"/>
            <a:ext cx="2651760" cy="2560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Estimator on estimates only</a:t>
            </a:r>
            <a:endParaRPr lang="en-US" sz="1600" dirty="0"/>
          </a:p>
          <a:p>
            <a:pPr marL="342900" indent="-342900">
              <a:spcAft>
                <a:spcPts val="800"/>
              </a:spcAft>
              <a:buSzPct val="100000"/>
              <a:buChar char="•"/>
            </a:pPr>
            <a:r>
              <a:rPr lang="en-US" sz="1600" dirty="0">
                <a:solidFill>
                  <a:schemeClr val="bg1"/>
                </a:solidFill>
              </a:rPr>
              <a:t>Hold point, braking approach</a:t>
            </a:r>
            <a:endParaRPr lang="en-US" sz="1600" dirty="0"/>
          </a:p>
          <a:p>
            <a:pPr marL="342900" indent="-342900">
              <a:spcAft>
                <a:spcPts val="800"/>
              </a:spcAft>
              <a:buSzPct val="100000"/>
              <a:buChar char="•"/>
            </a:pPr>
            <a:r>
              <a:rPr lang="en-US" sz="1600" dirty="0">
                <a:solidFill>
                  <a:schemeClr val="bg1"/>
                </a:solidFill>
              </a:rPr>
              <a:t>Abort gates and retreat</a:t>
            </a:r>
            <a:endParaRPr lang="en-US" sz="1600" dirty="0"/>
          </a:p>
          <a:p>
            <a:pPr marL="342900" indent="-342900">
              <a:spcAft>
                <a:spcPts val="800"/>
              </a:spcAft>
              <a:buSzPct val="100000"/>
              <a:buChar char="•"/>
            </a:pPr>
            <a:r>
              <a:rPr lang="en-US" sz="1600" dirty="0">
                <a:solidFill>
                  <a:schemeClr val="bg1"/>
                </a:solidFill>
              </a:rPr>
              <a:t>On-board log and downlink</a:t>
            </a:r>
            <a:endParaRPr lang="en-US" sz="1600" dirty="0"/>
          </a:p>
        </p:txBody>
      </p:sp>
      <p:sp>
        <p:nvSpPr>
          <p:cNvPr id="10" name="Arrow 1"/>
          <p:cNvSpPr/>
          <p:nvPr/>
        </p:nvSpPr>
        <p:spPr>
          <a:xfrm>
            <a:off x="7726680" y="3017520"/>
            <a:ext cx="640080" cy="365760"/>
          </a:xfrm>
          <a:prstGeom prst="rightArrow">
            <a:avLst/>
          </a:prstGeom>
          <a:solidFill>
            <a:schemeClr val="accent6"/>
          </a:solidFill>
          <a:ln w="12700">
            <a:solidFill>
              <a:schemeClr val="accent6"/>
            </a:solidFill>
            <a:prstDash val="solid"/>
          </a:ln>
        </p:spPr>
      </p:sp>
      <p:sp>
        <p:nvSpPr>
          <p:cNvPr id="11" name="Col Client"/>
          <p:cNvSpPr/>
          <p:nvPr/>
        </p:nvSpPr>
        <p:spPr>
          <a:xfrm>
            <a:off x="8412480" y="1463040"/>
            <a:ext cx="3200400" cy="3566160"/>
          </a:xfrm>
          <a:prstGeom prst="roundRect">
            <a:avLst>
              <a:gd name="adj" fmla="val 2286"/>
            </a:avLst>
          </a:prstGeom>
          <a:solidFill>
            <a:schemeClr val="tx2"/>
          </a:solidFill>
          <a:ln w="12700">
            <a:solidFill>
              <a:schemeClr val="accent6"/>
            </a:solidFill>
            <a:prstDash val="solid"/>
          </a:ln>
        </p:spPr>
      </p:sp>
      <p:sp>
        <p:nvSpPr>
          <p:cNvPr id="12" name="Text 10"/>
          <p:cNvSpPr txBox="1"/>
          <p:nvPr/>
        </p:nvSpPr>
        <p:spPr>
          <a:xfrm>
            <a:off x="8686800" y="1645920"/>
            <a:ext cx="2651760" cy="457200"/>
          </a:xfrm>
          <a:prstGeom prst="rect">
            <a:avLst/>
          </a:prstGeom>
          <a:noFill/>
          <a:ln/>
        </p:spPr>
        <p:txBody>
          <a:bodyPr wrap="square" lIns="0" tIns="0" rIns="0" bIns="0" rtlCol="0" anchor="t"/>
          <a:lstStyle/>
          <a:p>
            <a:pPr indent="0" marL="0">
              <a:buNone/>
            </a:pPr>
            <a:r>
              <a:rPr lang="en-US" sz="2600" b="1" dirty="0">
                <a:solidFill>
                  <a:schemeClr val="accent3"/>
                </a:solidFill>
              </a:rPr>
              <a:t>Client</a:t>
            </a:r>
            <a:endParaRPr lang="en-US" sz="2600" dirty="0"/>
          </a:p>
        </p:txBody>
      </p:sp>
      <p:sp>
        <p:nvSpPr>
          <p:cNvPr id="13" name="Text 11"/>
          <p:cNvSpPr txBox="1"/>
          <p:nvPr/>
        </p:nvSpPr>
        <p:spPr>
          <a:xfrm>
            <a:off x="8686800" y="2286000"/>
            <a:ext cx="2651760" cy="2560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Markers and capture point</a:t>
            </a:r>
            <a:endParaRPr lang="en-US" sz="1600" dirty="0"/>
          </a:p>
          <a:p>
            <a:pPr marL="342900" indent="-342900">
              <a:spcAft>
                <a:spcPts val="800"/>
              </a:spcAft>
              <a:buSzPct val="100000"/>
              <a:buChar char="•"/>
            </a:pPr>
            <a:r>
              <a:rPr lang="en-US" sz="1600" dirty="0">
                <a:solidFill>
                  <a:schemeClr val="bg1"/>
                </a:solidFill>
              </a:rPr>
              <a:t>Independent beacon</a:t>
            </a:r>
            <a:endParaRPr lang="en-US" sz="1600" dirty="0"/>
          </a:p>
          <a:p>
            <a:pPr marL="342900" indent="-342900">
              <a:spcAft>
                <a:spcPts val="800"/>
              </a:spcAft>
              <a:buSzPct val="100000"/>
              <a:buChar char="•"/>
            </a:pPr>
            <a:r>
              <a:rPr lang="en-US" sz="1600" dirty="0">
                <a:solidFill>
                  <a:schemeClr val="bg1"/>
                </a:solidFill>
              </a:rPr>
              <a:t>IOS state machine</a:t>
            </a:r>
            <a:endParaRPr lang="en-US" sz="1600" dirty="0"/>
          </a:p>
          <a:p>
            <a:pPr marL="342900" indent="-342900">
              <a:spcAft>
                <a:spcPts val="800"/>
              </a:spcAft>
              <a:buSzPct val="100000"/>
              <a:buChar char="•"/>
            </a:pPr>
            <a:r>
              <a:rPr lang="en-US" sz="1600" dirty="0">
                <a:solidFill>
                  <a:schemeClr val="bg1"/>
                </a:solidFill>
              </a:rPr>
              <a:t>Fuel gauge: book-keeping + PVT</a:t>
            </a:r>
            <a:endParaRPr lang="en-US" sz="1600" dirty="0"/>
          </a:p>
        </p:txBody>
      </p:sp>
      <p:sp>
        <p:nvSpPr>
          <p:cNvPr id="14" name="Rule strip"/>
          <p:cNvSpPr/>
          <p:nvPr/>
        </p:nvSpPr>
        <p:spPr>
          <a:xfrm>
            <a:off x="548640" y="5303520"/>
            <a:ext cx="11091672" cy="822960"/>
          </a:xfrm>
          <a:prstGeom prst="roundRect">
            <a:avLst>
              <a:gd name="adj" fmla="val 8889"/>
            </a:avLst>
          </a:prstGeom>
          <a:solidFill>
            <a:schemeClr val="tx2"/>
          </a:solidFill>
          <a:ln w="12700">
            <a:solidFill>
              <a:schemeClr val="accent6"/>
            </a:solidFill>
            <a:prstDash val="solid"/>
          </a:ln>
        </p:spPr>
      </p:sp>
      <p:sp>
        <p:nvSpPr>
          <p:cNvPr id="15" name="Text 13"/>
          <p:cNvSpPr txBox="1"/>
          <p:nvPr/>
        </p:nvSpPr>
        <p:spPr>
          <a:xfrm>
            <a:off x="822960" y="5458968"/>
            <a:ext cx="10543032" cy="548640"/>
          </a:xfrm>
          <a:prstGeom prst="rect">
            <a:avLst/>
          </a:prstGeom>
          <a:noFill/>
          <a:ln/>
        </p:spPr>
        <p:txBody>
          <a:bodyPr wrap="square" lIns="0" tIns="0" rIns="0" bIns="0" rtlCol="0" anchor="t"/>
          <a:lstStyle/>
          <a:p>
            <a:pPr indent="0" marL="0">
              <a:buNone/>
            </a:pPr>
            <a:r>
              <a:rPr lang="en-US" sz="1600" dirty="0">
                <a:solidFill>
                  <a:schemeClr val="bg1"/>
                </a:solidFill>
              </a:rPr>
              <a:t>Rules built in: flight logic never sees truth. Humans approve every high-risk step. IOS handover needs a human-approved gate and aborts from any state.</a:t>
            </a:r>
            <a:endParaRPr lang="en-US" sz="16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3200" b="1" dirty="0">
                <a:solidFill>
                  <a:schemeClr val="bg1"/>
                </a:solidFill>
              </a:rPr>
              <a:t>Reference architecture: what we cover and what comes next</a:t>
            </a:r>
            <a:endParaRPr lang="en-US" sz="3200" dirty="0"/>
          </a:p>
        </p:txBody>
      </p:sp>
      <p:pic>
        <p:nvPicPr>
          <p:cNvPr id="3" name="Reference architecture" descr="Reference system architecture: client satellite, OSAN service interface, servicing spacecraft, ground segment">    </p:cNvPr>
          <p:cNvPicPr>
            <a:picLocks noChangeAspect="1"/>
          </p:cNvPicPr>
          <p:nvPr/>
        </p:nvPicPr>
        <p:blipFill>
          <a:blip r:embed="rId1"/>
          <a:stretch>
            <a:fillRect/>
          </a:stretch>
        </p:blipFill>
        <p:spPr>
          <a:xfrm>
            <a:off x="548640" y="1280160"/>
            <a:ext cx="7040880" cy="4718304"/>
          </a:xfrm>
          <a:prstGeom prst="rect">
            <a:avLst/>
          </a:prstGeom>
        </p:spPr>
      </p:pic>
      <p:sp>
        <p:nvSpPr>
          <p:cNvPr id="4" name="Covered"/>
          <p:cNvSpPr/>
          <p:nvPr/>
        </p:nvSpPr>
        <p:spPr>
          <a:xfrm>
            <a:off x="7863840" y="1280160"/>
            <a:ext cx="3776472" cy="1481328"/>
          </a:xfrm>
          <a:prstGeom prst="roundRect">
            <a:avLst>
              <a:gd name="adj" fmla="val 4938"/>
            </a:avLst>
          </a:prstGeom>
          <a:solidFill>
            <a:schemeClr val="tx2"/>
          </a:solidFill>
          <a:ln w="12700">
            <a:solidFill>
              <a:schemeClr val="accent6"/>
            </a:solidFill>
            <a:prstDash val="solid"/>
          </a:ln>
        </p:spPr>
      </p:sp>
      <p:sp>
        <p:nvSpPr>
          <p:cNvPr id="5" name="Text 2"/>
          <p:cNvSpPr txBox="1"/>
          <p:nvPr/>
        </p:nvSpPr>
        <p:spPr>
          <a:xfrm>
            <a:off x="8046720" y="1371600"/>
            <a:ext cx="3383280" cy="320040"/>
          </a:xfrm>
          <a:prstGeom prst="rect">
            <a:avLst/>
          </a:prstGeom>
          <a:noFill/>
          <a:ln/>
        </p:spPr>
        <p:txBody>
          <a:bodyPr wrap="square" lIns="0" tIns="0" rIns="0" bIns="0" rtlCol="0" anchor="t"/>
          <a:lstStyle/>
          <a:p>
            <a:pPr indent="0" marL="0">
              <a:buNone/>
            </a:pPr>
            <a:r>
              <a:rPr lang="en-US" sz="1800" b="1" dirty="0">
                <a:solidFill>
                  <a:schemeClr val="accent3"/>
                </a:solidFill>
              </a:rPr>
              <a:t>Covered</a:t>
            </a:r>
            <a:endParaRPr lang="en-US" sz="1800" dirty="0"/>
          </a:p>
        </p:txBody>
      </p:sp>
      <p:sp>
        <p:nvSpPr>
          <p:cNvPr id="6" name="Text 3"/>
          <p:cNvSpPr txBox="1"/>
          <p:nvPr/>
        </p:nvSpPr>
        <p:spPr>
          <a:xfrm>
            <a:off x="8046720" y="1737360"/>
            <a:ext cx="3429000" cy="960120"/>
          </a:xfrm>
          <a:prstGeom prst="rect">
            <a:avLst/>
          </a:prstGeom>
          <a:noFill/>
          <a:ln/>
        </p:spPr>
        <p:txBody>
          <a:bodyPr wrap="square" lIns="0" tIns="0" rIns="0" bIns="0" rtlCol="0" anchor="t"/>
          <a:lstStyle/>
          <a:p>
            <a:pPr indent="0" marL="0">
              <a:buNone/>
            </a:pPr>
            <a:r>
              <a:rPr lang="en-US" sz="1400" dirty="0">
                <a:solidFill>
                  <a:schemeClr val="bg1"/>
                </a:solidFill>
              </a:rPr>
              <a:t>Navigation aids, servicer GNC and abort logic, ground platform and approvals</a:t>
            </a:r>
            <a:endParaRPr lang="en-US" sz="1400" dirty="0"/>
          </a:p>
        </p:txBody>
      </p:sp>
      <p:sp>
        <p:nvSpPr>
          <p:cNvPr id="7" name="Partial"/>
          <p:cNvSpPr/>
          <p:nvPr/>
        </p:nvSpPr>
        <p:spPr>
          <a:xfrm>
            <a:off x="7863840" y="2852928"/>
            <a:ext cx="3776472" cy="1737360"/>
          </a:xfrm>
          <a:prstGeom prst="roundRect">
            <a:avLst>
              <a:gd name="adj" fmla="val 4211"/>
            </a:avLst>
          </a:prstGeom>
          <a:solidFill>
            <a:schemeClr val="tx2"/>
          </a:solidFill>
          <a:ln w="12700">
            <a:solidFill>
              <a:schemeClr val="accent6"/>
            </a:solidFill>
            <a:prstDash val="solid"/>
          </a:ln>
        </p:spPr>
      </p:sp>
      <p:sp>
        <p:nvSpPr>
          <p:cNvPr id="8" name="Text 5"/>
          <p:cNvSpPr txBox="1"/>
          <p:nvPr/>
        </p:nvSpPr>
        <p:spPr>
          <a:xfrm>
            <a:off x="8046720" y="2944368"/>
            <a:ext cx="3383280" cy="320040"/>
          </a:xfrm>
          <a:prstGeom prst="rect">
            <a:avLst/>
          </a:prstGeom>
          <a:noFill/>
          <a:ln/>
        </p:spPr>
        <p:txBody>
          <a:bodyPr wrap="square" lIns="0" tIns="0" rIns="0" bIns="0" rtlCol="0" anchor="t"/>
          <a:lstStyle/>
          <a:p>
            <a:pPr indent="0" marL="0">
              <a:buNone/>
            </a:pPr>
            <a:r>
              <a:rPr lang="en-US" sz="1800" b="1" dirty="0">
                <a:solidFill>
                  <a:schemeClr val="accent2"/>
                </a:solidFill>
              </a:rPr>
              <a:t>Partial</a:t>
            </a:r>
            <a:endParaRPr lang="en-US" sz="1800" dirty="0"/>
          </a:p>
        </p:txBody>
      </p:sp>
      <p:sp>
        <p:nvSpPr>
          <p:cNvPr id="9" name="Text 6"/>
          <p:cNvSpPr txBox="1"/>
          <p:nvPr/>
        </p:nvSpPr>
        <p:spPr>
          <a:xfrm>
            <a:off x="8046720" y="3310128"/>
            <a:ext cx="3429000" cy="1234440"/>
          </a:xfrm>
          <a:prstGeom prst="rect">
            <a:avLst/>
          </a:prstGeom>
          <a:noFill/>
          <a:ln/>
        </p:spPr>
        <p:txBody>
          <a:bodyPr wrap="square" lIns="0" tIns="0" rIns="0" bIns="0" rtlCol="0" anchor="t"/>
          <a:lstStyle/>
          <a:p>
            <a:pPr indent="0" marL="0">
              <a:buNone/>
            </a:pPr>
            <a:r>
              <a:rPr lang="en-US" sz="1400" dirty="0">
                <a:solidFill>
                  <a:schemeClr val="bg1"/>
                </a:solidFill>
              </a:rPr>
              <a:t>Service Beacon (no interface or health fields yet), IOS mode, health monitoring (fuel and logs only), capture geometry without loads</a:t>
            </a:r>
            <a:endParaRPr lang="en-US" sz="1400" dirty="0"/>
          </a:p>
        </p:txBody>
      </p:sp>
      <p:sp>
        <p:nvSpPr>
          <p:cNvPr id="10" name="Next"/>
          <p:cNvSpPr/>
          <p:nvPr/>
        </p:nvSpPr>
        <p:spPr>
          <a:xfrm>
            <a:off x="7863840" y="4681728"/>
            <a:ext cx="3776472" cy="1316736"/>
          </a:xfrm>
          <a:prstGeom prst="roundRect">
            <a:avLst>
              <a:gd name="adj" fmla="val 5556"/>
            </a:avLst>
          </a:prstGeom>
          <a:solidFill>
            <a:schemeClr val="tx2"/>
          </a:solidFill>
          <a:ln w="12700">
            <a:solidFill>
              <a:schemeClr val="accent6"/>
            </a:solidFill>
            <a:prstDash val="solid"/>
          </a:ln>
        </p:spPr>
      </p:sp>
      <p:sp>
        <p:nvSpPr>
          <p:cNvPr id="11" name="Text 8"/>
          <p:cNvSpPr txBox="1"/>
          <p:nvPr/>
        </p:nvSpPr>
        <p:spPr>
          <a:xfrm>
            <a:off x="8046720" y="4773168"/>
            <a:ext cx="3383280" cy="320040"/>
          </a:xfrm>
          <a:prstGeom prst="rect">
            <a:avLst/>
          </a:prstGeom>
          <a:noFill/>
          <a:ln/>
        </p:spPr>
        <p:txBody>
          <a:bodyPr wrap="square" lIns="0" tIns="0" rIns="0" bIns="0" rtlCol="0" anchor="t"/>
          <a:lstStyle/>
          <a:p>
            <a:pPr indent="0" marL="0">
              <a:buNone/>
            </a:pPr>
            <a:r>
              <a:rPr lang="en-US" sz="1800" b="1" dirty="0">
                <a:solidFill>
                  <a:schemeClr val="accent4"/>
                </a:solidFill>
              </a:rPr>
              <a:t>Not modelled</a:t>
            </a:r>
            <a:endParaRPr lang="en-US" sz="1800" dirty="0"/>
          </a:p>
        </p:txBody>
      </p:sp>
      <p:sp>
        <p:nvSpPr>
          <p:cNvPr id="12" name="Text 9"/>
          <p:cNvSpPr txBox="1"/>
          <p:nvPr/>
        </p:nvSpPr>
        <p:spPr>
          <a:xfrm>
            <a:off x="8046720" y="5138928"/>
            <a:ext cx="3429000" cy="822960"/>
          </a:xfrm>
          <a:prstGeom prst="rect">
            <a:avLst/>
          </a:prstGeom>
          <a:noFill/>
          <a:ln/>
        </p:spPr>
        <p:txBody>
          <a:bodyPr wrap="square" lIns="0" tIns="0" rIns="0" bIns="0" rtlCol="0" anchor="t"/>
          <a:lstStyle/>
          <a:p>
            <a:pPr indent="0" marL="0">
              <a:buNone/>
            </a:pPr>
            <a:r>
              <a:rPr lang="en-US" sz="1400" dirty="0">
                <a:solidFill>
                  <a:schemeClr val="bg1"/>
                </a:solidFill>
              </a:rPr>
              <a:t>Utility and fluid transfer, upgrade port, robotic servicing, power and thermal lines</a:t>
            </a:r>
            <a:endParaRPr lang="en-US" sz="14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3200" b="1" dirty="0">
                <a:solidFill>
                  <a:schemeClr val="bg1"/>
                </a:solidFill>
              </a:rPr>
              <a:t>Built, tested, and honest about its limits</a:t>
            </a:r>
            <a:endParaRPr lang="en-US" sz="3200" dirty="0"/>
          </a:p>
        </p:txBody>
      </p:sp>
      <p:sp>
        <p:nvSpPr>
          <p:cNvPr id="3" name="Text 1"/>
          <p:cNvSpPr txBox="1"/>
          <p:nvPr/>
        </p:nvSpPr>
        <p:spPr>
          <a:xfrm>
            <a:off x="548640" y="1417320"/>
            <a:ext cx="2560320" cy="822960"/>
          </a:xfrm>
          <a:prstGeom prst="rect">
            <a:avLst/>
          </a:prstGeom>
          <a:noFill/>
          <a:ln/>
        </p:spPr>
        <p:txBody>
          <a:bodyPr wrap="square" lIns="0" tIns="0" rIns="0" bIns="0" rtlCol="0" anchor="t"/>
          <a:lstStyle/>
          <a:p>
            <a:pPr indent="0" marL="0">
              <a:buNone/>
            </a:pPr>
            <a:r>
              <a:rPr lang="en-US" sz="4800" b="1" dirty="0">
                <a:solidFill>
                  <a:schemeClr val="accent3"/>
                </a:solidFill>
              </a:rPr>
              <a:t>74</a:t>
            </a:r>
            <a:endParaRPr lang="en-US" sz="4800" dirty="0"/>
          </a:p>
        </p:txBody>
      </p:sp>
      <p:sp>
        <p:nvSpPr>
          <p:cNvPr id="4" name="Text 2"/>
          <p:cNvSpPr txBox="1"/>
          <p:nvPr/>
        </p:nvSpPr>
        <p:spPr>
          <a:xfrm>
            <a:off x="548640" y="2286000"/>
            <a:ext cx="2560320" cy="640080"/>
          </a:xfrm>
          <a:prstGeom prst="rect">
            <a:avLst/>
          </a:prstGeom>
          <a:noFill/>
          <a:ln/>
        </p:spPr>
        <p:txBody>
          <a:bodyPr wrap="square" lIns="0" tIns="0" rIns="0" bIns="0" rtlCol="0" anchor="t"/>
          <a:lstStyle/>
          <a:p>
            <a:pPr indent="0" marL="0">
              <a:buNone/>
            </a:pPr>
            <a:r>
              <a:rPr lang="en-US" sz="1400" dirty="0">
                <a:solidFill>
                  <a:schemeClr val="bg2"/>
                </a:solidFill>
              </a:rPr>
              <a:t>automated tests pass</a:t>
            </a:r>
            <a:endParaRPr lang="en-US" sz="1400" dirty="0"/>
          </a:p>
        </p:txBody>
      </p:sp>
      <p:sp>
        <p:nvSpPr>
          <p:cNvPr id="5" name="Text 3"/>
          <p:cNvSpPr txBox="1"/>
          <p:nvPr/>
        </p:nvSpPr>
        <p:spPr>
          <a:xfrm>
            <a:off x="3291840" y="1417320"/>
            <a:ext cx="2560320" cy="822960"/>
          </a:xfrm>
          <a:prstGeom prst="rect">
            <a:avLst/>
          </a:prstGeom>
          <a:noFill/>
          <a:ln/>
        </p:spPr>
        <p:txBody>
          <a:bodyPr wrap="square" lIns="0" tIns="0" rIns="0" bIns="0" rtlCol="0" anchor="t"/>
          <a:lstStyle/>
          <a:p>
            <a:pPr indent="0" marL="0">
              <a:buNone/>
            </a:pPr>
            <a:r>
              <a:rPr lang="en-US" sz="4800" b="1" dirty="0">
                <a:solidFill>
                  <a:schemeClr val="accent1"/>
                </a:solidFill>
              </a:rPr>
              <a:t>41,240</a:t>
            </a:r>
            <a:endParaRPr lang="en-US" sz="4800" dirty="0"/>
          </a:p>
        </p:txBody>
      </p:sp>
      <p:sp>
        <p:nvSpPr>
          <p:cNvPr id="6" name="Text 4"/>
          <p:cNvSpPr txBox="1"/>
          <p:nvPr/>
        </p:nvSpPr>
        <p:spPr>
          <a:xfrm>
            <a:off x="3291840" y="2286000"/>
            <a:ext cx="2560320" cy="640080"/>
          </a:xfrm>
          <a:prstGeom prst="rect">
            <a:avLst/>
          </a:prstGeom>
          <a:noFill/>
          <a:ln/>
        </p:spPr>
        <p:txBody>
          <a:bodyPr wrap="square" lIns="0" tIns="0" rIns="0" bIns="0" rtlCol="0" anchor="t"/>
          <a:lstStyle/>
          <a:p>
            <a:pPr indent="0" marL="0">
              <a:buNone/>
            </a:pPr>
            <a:r>
              <a:rPr lang="en-US" sz="1400" dirty="0">
                <a:solidFill>
                  <a:schemeClr val="bg2"/>
                </a:solidFill>
              </a:rPr>
              <a:t>simulated approaches (35,100 + 6,140)</a:t>
            </a:r>
            <a:endParaRPr lang="en-US" sz="1400" dirty="0"/>
          </a:p>
        </p:txBody>
      </p:sp>
      <p:sp>
        <p:nvSpPr>
          <p:cNvPr id="7" name="Text 5"/>
          <p:cNvSpPr txBox="1"/>
          <p:nvPr/>
        </p:nvSpPr>
        <p:spPr>
          <a:xfrm>
            <a:off x="6035040" y="1417320"/>
            <a:ext cx="2560320" cy="822960"/>
          </a:xfrm>
          <a:prstGeom prst="rect">
            <a:avLst/>
          </a:prstGeom>
          <a:noFill/>
          <a:ln/>
        </p:spPr>
        <p:txBody>
          <a:bodyPr wrap="square" lIns="0" tIns="0" rIns="0" bIns="0" rtlCol="0" anchor="t"/>
          <a:lstStyle/>
          <a:p>
            <a:pPr indent="0" marL="0">
              <a:buNone/>
            </a:pPr>
            <a:r>
              <a:rPr lang="en-US" sz="4800" b="1" dirty="0">
                <a:solidFill>
                  <a:schemeClr val="accent2"/>
                </a:solidFill>
              </a:rPr>
              <a:t>0 / 6,140</a:t>
            </a:r>
            <a:endParaRPr lang="en-US" sz="4800" dirty="0"/>
          </a:p>
        </p:txBody>
      </p:sp>
      <p:sp>
        <p:nvSpPr>
          <p:cNvPr id="8" name="Text 6"/>
          <p:cNvSpPr txBox="1"/>
          <p:nvPr/>
        </p:nvSpPr>
        <p:spPr>
          <a:xfrm>
            <a:off x="6035040" y="2286000"/>
            <a:ext cx="2560320" cy="640080"/>
          </a:xfrm>
          <a:prstGeom prst="rect">
            <a:avLst/>
          </a:prstGeom>
          <a:noFill/>
          <a:ln/>
        </p:spPr>
        <p:txBody>
          <a:bodyPr wrap="square" lIns="0" tIns="0" rIns="0" bIns="0" rtlCol="0" anchor="t"/>
          <a:lstStyle/>
          <a:p>
            <a:pPr indent="0" marL="0">
              <a:buNone/>
            </a:pPr>
            <a:r>
              <a:rPr lang="en-US" sz="1400" dirty="0">
                <a:solidFill>
                  <a:schemeClr val="bg2"/>
                </a:solidFill>
              </a:rPr>
              <a:t>keep-out violations (a count, not a bound)</a:t>
            </a:r>
            <a:endParaRPr lang="en-US" sz="1400" dirty="0"/>
          </a:p>
        </p:txBody>
      </p:sp>
      <p:sp>
        <p:nvSpPr>
          <p:cNvPr id="9" name="Text 7"/>
          <p:cNvSpPr txBox="1"/>
          <p:nvPr/>
        </p:nvSpPr>
        <p:spPr>
          <a:xfrm>
            <a:off x="8778240" y="1417320"/>
            <a:ext cx="2834640" cy="822960"/>
          </a:xfrm>
          <a:prstGeom prst="rect">
            <a:avLst/>
          </a:prstGeom>
          <a:noFill/>
          <a:ln/>
        </p:spPr>
        <p:txBody>
          <a:bodyPr wrap="square" lIns="0" tIns="0" rIns="0" bIns="0" rtlCol="0" anchor="t"/>
          <a:lstStyle/>
          <a:p>
            <a:pPr indent="0" marL="0">
              <a:buNone/>
            </a:pPr>
            <a:r>
              <a:rPr lang="en-US" sz="4800" b="1" dirty="0">
                <a:solidFill>
                  <a:schemeClr val="accent3"/>
                </a:solidFill>
              </a:rPr>
              <a:t>1.2 kg</a:t>
            </a:r>
            <a:endParaRPr lang="en-US" sz="4800" dirty="0"/>
          </a:p>
        </p:txBody>
      </p:sp>
      <p:sp>
        <p:nvSpPr>
          <p:cNvPr id="10" name="Text 8"/>
          <p:cNvSpPr txBox="1"/>
          <p:nvPr/>
        </p:nvSpPr>
        <p:spPr>
          <a:xfrm>
            <a:off x="8778240" y="2286000"/>
            <a:ext cx="2834640" cy="640080"/>
          </a:xfrm>
          <a:prstGeom prst="rect">
            <a:avLst/>
          </a:prstGeom>
          <a:noFill/>
          <a:ln/>
        </p:spPr>
        <p:txBody>
          <a:bodyPr wrap="square" lIns="0" tIns="0" rIns="0" bIns="0" rtlCol="0" anchor="t"/>
          <a:lstStyle/>
          <a:p>
            <a:pPr indent="0" marL="0">
              <a:buNone/>
            </a:pPr>
            <a:r>
              <a:rPr lang="en-US" sz="1400" dirty="0">
                <a:solidFill>
                  <a:schemeClr val="bg2"/>
                </a:solidFill>
              </a:rPr>
              <a:t>fuel gauge error from 800 kg</a:t>
            </a:r>
            <a:endParaRPr lang="en-US" sz="1400" dirty="0"/>
          </a:p>
        </p:txBody>
      </p:sp>
      <p:sp>
        <p:nvSpPr>
          <p:cNvPr id="11" name="Verified"/>
          <p:cNvSpPr/>
          <p:nvPr/>
        </p:nvSpPr>
        <p:spPr>
          <a:xfrm>
            <a:off x="548640" y="3291840"/>
            <a:ext cx="5394960" cy="2743200"/>
          </a:xfrm>
          <a:prstGeom prst="roundRect">
            <a:avLst>
              <a:gd name="adj" fmla="val 2667"/>
            </a:avLst>
          </a:prstGeom>
          <a:solidFill>
            <a:schemeClr val="tx2"/>
          </a:solidFill>
          <a:ln w="12700">
            <a:solidFill>
              <a:schemeClr val="accent6"/>
            </a:solidFill>
            <a:prstDash val="solid"/>
          </a:ln>
        </p:spPr>
      </p:sp>
      <p:sp>
        <p:nvSpPr>
          <p:cNvPr id="12" name="Text 10"/>
          <p:cNvSpPr txBox="1"/>
          <p:nvPr/>
        </p:nvSpPr>
        <p:spPr>
          <a:xfrm>
            <a:off x="822960" y="3474720"/>
            <a:ext cx="4846320" cy="365760"/>
          </a:xfrm>
          <a:prstGeom prst="rect">
            <a:avLst/>
          </a:prstGeom>
          <a:noFill/>
          <a:ln/>
        </p:spPr>
        <p:txBody>
          <a:bodyPr wrap="square" lIns="0" tIns="0" rIns="0" bIns="0" rtlCol="0" anchor="t"/>
          <a:lstStyle/>
          <a:p>
            <a:pPr indent="0" marL="0">
              <a:buNone/>
            </a:pPr>
            <a:r>
              <a:rPr lang="en-US" sz="2000" b="1" dirty="0">
                <a:solidFill>
                  <a:schemeClr val="accent3"/>
                </a:solidFill>
              </a:rPr>
              <a:t>Verified</a:t>
            </a:r>
            <a:endParaRPr lang="en-US" sz="2000" dirty="0"/>
          </a:p>
        </p:txBody>
      </p:sp>
      <p:sp>
        <p:nvSpPr>
          <p:cNvPr id="13" name="Text 11"/>
          <p:cNvSpPr txBox="1"/>
          <p:nvPr/>
        </p:nvSpPr>
        <p:spPr>
          <a:xfrm>
            <a:off x="822960" y="3931920"/>
            <a:ext cx="484632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Paired seeds, intervals, exact tests, replayable runs</a:t>
            </a:r>
            <a:endParaRPr lang="en-US" sz="1500" dirty="0"/>
          </a:p>
          <a:p>
            <a:pPr marL="342900" indent="-342900">
              <a:spcAft>
                <a:spcPts val="600"/>
              </a:spcAft>
              <a:buSzPct val="100000"/>
              <a:buChar char="•"/>
            </a:pPr>
            <a:r>
              <a:rPr lang="en-US" sz="1500" dirty="0">
                <a:solidFill>
                  <a:schemeClr val="bg1"/>
                </a:solidFill>
              </a:rPr>
              <a:t>IOS coupled to the approach: approval gate, rate envelope, abort</a:t>
            </a:r>
            <a:endParaRPr lang="en-US" sz="1500" dirty="0"/>
          </a:p>
          <a:p>
            <a:pPr marL="342900" indent="-342900">
              <a:spcAft>
                <a:spcPts val="600"/>
              </a:spcAft>
              <a:buSzPct val="100000"/>
              <a:buChar char="•"/>
            </a:pPr>
            <a:r>
              <a:rPr lang="en-US" sz="1500" dirty="0">
                <a:solidFill>
                  <a:schemeClr val="bg1"/>
                </a:solidFill>
              </a:rPr>
              <a:t>Beacon bench plan B1 to B7 with model-derived limits</a:t>
            </a:r>
            <a:endParaRPr lang="en-US" sz="1500" dirty="0"/>
          </a:p>
          <a:p>
            <a:pPr marL="342900" indent="-342900">
              <a:spcAft>
                <a:spcPts val="600"/>
              </a:spcAft>
              <a:buSzPct val="100000"/>
              <a:buChar char="•"/>
            </a:pPr>
            <a:r>
              <a:rPr lang="en-US" sz="1500" dirty="0">
                <a:solidFill>
                  <a:schemeClr val="bg1"/>
                </a:solidFill>
              </a:rPr>
              <a:t>Leak and sensor faults flagged in 100 of 100 runs</a:t>
            </a:r>
            <a:endParaRPr lang="en-US" sz="1500" dirty="0"/>
          </a:p>
        </p:txBody>
      </p:sp>
      <p:sp>
        <p:nvSpPr>
          <p:cNvPr id="14" name="Limits"/>
          <p:cNvSpPr/>
          <p:nvPr/>
        </p:nvSpPr>
        <p:spPr>
          <a:xfrm>
            <a:off x="6217920" y="3291840"/>
            <a:ext cx="5422392" cy="2743200"/>
          </a:xfrm>
          <a:prstGeom prst="roundRect">
            <a:avLst>
              <a:gd name="adj" fmla="val 2667"/>
            </a:avLst>
          </a:prstGeom>
          <a:solidFill>
            <a:schemeClr val="tx2"/>
          </a:solidFill>
          <a:ln w="12700">
            <a:solidFill>
              <a:schemeClr val="accent6"/>
            </a:solidFill>
            <a:prstDash val="solid"/>
          </a:ln>
        </p:spPr>
      </p:sp>
      <p:sp>
        <p:nvSpPr>
          <p:cNvPr id="15" name="Text 13"/>
          <p:cNvSpPr txBox="1"/>
          <p:nvPr/>
        </p:nvSpPr>
        <p:spPr>
          <a:xfrm>
            <a:off x="6492240" y="3474720"/>
            <a:ext cx="4846320" cy="365760"/>
          </a:xfrm>
          <a:prstGeom prst="rect">
            <a:avLst/>
          </a:prstGeom>
          <a:noFill/>
          <a:ln/>
        </p:spPr>
        <p:txBody>
          <a:bodyPr wrap="square" lIns="0" tIns="0" rIns="0" bIns="0" rtlCol="0" anchor="t"/>
          <a:lstStyle/>
          <a:p>
            <a:pPr indent="0" marL="0">
              <a:buNone/>
            </a:pPr>
            <a:r>
              <a:rPr lang="en-US" sz="2000" b="1" dirty="0">
                <a:solidFill>
                  <a:schemeClr val="accent4"/>
                </a:solidFill>
              </a:rPr>
              <a:t>Not yet</a:t>
            </a:r>
            <a:endParaRPr lang="en-US" sz="2000" dirty="0"/>
          </a:p>
        </p:txBody>
      </p:sp>
      <p:sp>
        <p:nvSpPr>
          <p:cNvPr id="16" name="Text 14"/>
          <p:cNvSpPr txBox="1"/>
          <p:nvPr/>
        </p:nvSpPr>
        <p:spPr>
          <a:xfrm>
            <a:off x="6492240" y="3931920"/>
            <a:ext cx="484632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No contact or capture model: 'window met' is not a grab</a:t>
            </a:r>
            <a:endParaRPr lang="en-US" sz="1500" dirty="0"/>
          </a:p>
          <a:p>
            <a:pPr marL="342900" indent="-342900">
              <a:spcAft>
                <a:spcPts val="600"/>
              </a:spcAft>
              <a:buSzPct val="100000"/>
              <a:buChar char="•"/>
            </a:pPr>
            <a:r>
              <a:rPr lang="en-US" sz="1500" dirty="0">
                <a:solidFill>
                  <a:schemeClr val="bg1"/>
                </a:solidFill>
              </a:rPr>
              <a:t>Retreat passive safety not established</a:t>
            </a:r>
            <a:endParaRPr lang="en-US" sz="1500" dirty="0"/>
          </a:p>
          <a:p>
            <a:pPr marL="342900" indent="-342900">
              <a:spcAft>
                <a:spcPts val="600"/>
              </a:spcAft>
              <a:buSzPct val="100000"/>
              <a:buChar char="•"/>
            </a:pPr>
            <a:r>
              <a:rPr lang="en-US" sz="1500" dirty="0">
                <a:solidFill>
                  <a:schemeClr val="bg1"/>
                </a:solidFill>
              </a:rPr>
              <a:t>No hardware data; costs and noise are assumptions</a:t>
            </a:r>
            <a:endParaRPr lang="en-US" sz="1500" dirty="0"/>
          </a:p>
          <a:p>
            <a:pPr marL="342900" indent="-342900">
              <a:spcAft>
                <a:spcPts val="600"/>
              </a:spcAft>
              <a:buSzPct val="100000"/>
              <a:buChar char="•"/>
            </a:pPr>
            <a:r>
              <a:rPr lang="en-US" sz="1500" dirty="0">
                <a:solidFill>
                  <a:schemeClr val="bg1"/>
                </a:solidFill>
              </a:rPr>
              <a:t>Authentication is a simulation token</a:t>
            </a:r>
            <a:endParaRPr lang="en-US" sz="15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3200" b="1" dirty="0">
                <a:solidFill>
                  <a:schemeClr val="bg1"/>
                </a:solidFill>
              </a:rPr>
              <a:t>A tiered kit that makers add at build time</a:t>
            </a:r>
            <a:endParaRPr lang="en-US" sz="3200" dirty="0"/>
          </a:p>
        </p:txBody>
      </p:sp>
      <p:sp>
        <p:nvSpPr>
          <p:cNvPr id="3" name="Tier 1"/>
          <p:cNvSpPr/>
          <p:nvPr/>
        </p:nvSpPr>
        <p:spPr>
          <a:xfrm>
            <a:off x="548640" y="1463040"/>
            <a:ext cx="2651760" cy="3566160"/>
          </a:xfrm>
          <a:prstGeom prst="roundRect">
            <a:avLst>
              <a:gd name="adj" fmla="val 2759"/>
            </a:avLst>
          </a:prstGeom>
          <a:solidFill>
            <a:schemeClr val="tx2"/>
          </a:solidFill>
          <a:ln w="12700">
            <a:solidFill>
              <a:schemeClr val="accent6"/>
            </a:solidFill>
            <a:prstDash val="solid"/>
          </a:ln>
        </p:spPr>
      </p:sp>
      <p:sp>
        <p:nvSpPr>
          <p:cNvPr id="4" name="Text 2"/>
          <p:cNvSpPr txBox="1"/>
          <p:nvPr/>
        </p:nvSpPr>
        <p:spPr>
          <a:xfrm>
            <a:off x="777240" y="1645920"/>
            <a:ext cx="2194560" cy="365760"/>
          </a:xfrm>
          <a:prstGeom prst="rect">
            <a:avLst/>
          </a:prstGeom>
          <a:noFill/>
          <a:ln/>
        </p:spPr>
        <p:txBody>
          <a:bodyPr wrap="square" lIns="0" tIns="0" rIns="0" bIns="0" rtlCol="0" anchor="t"/>
          <a:lstStyle/>
          <a:p>
            <a:pPr indent="0" marL="0">
              <a:buNone/>
            </a:pPr>
            <a:r>
              <a:rPr lang="en-US" sz="1400" dirty="0">
                <a:solidFill>
                  <a:schemeClr val="bg2"/>
                </a:solidFill>
              </a:rPr>
              <a:t>Tier 1</a:t>
            </a:r>
            <a:endParaRPr lang="en-US" sz="1400" dirty="0"/>
          </a:p>
        </p:txBody>
      </p:sp>
      <p:sp>
        <p:nvSpPr>
          <p:cNvPr id="5" name="Text 3"/>
          <p:cNvSpPr txBox="1"/>
          <p:nvPr/>
        </p:nvSpPr>
        <p:spPr>
          <a:xfrm>
            <a:off x="777240" y="2011680"/>
            <a:ext cx="2194560" cy="731520"/>
          </a:xfrm>
          <a:prstGeom prst="rect">
            <a:avLst/>
          </a:prstGeom>
          <a:noFill/>
          <a:ln/>
        </p:spPr>
        <p:txBody>
          <a:bodyPr wrap="square" lIns="0" tIns="0" rIns="0" bIns="0" rtlCol="0" anchor="t"/>
          <a:lstStyle/>
          <a:p>
            <a:pPr indent="0" marL="0">
              <a:buNone/>
            </a:pPr>
            <a:r>
              <a:rPr lang="en-US" sz="2000" b="1" dirty="0">
                <a:solidFill>
                  <a:schemeClr val="accent1"/>
                </a:solidFill>
              </a:rPr>
              <a:t>EOL-ready</a:t>
            </a:r>
            <a:endParaRPr lang="en-US" sz="2000" dirty="0"/>
          </a:p>
        </p:txBody>
      </p:sp>
      <p:sp>
        <p:nvSpPr>
          <p:cNvPr id="6" name="Text 4"/>
          <p:cNvSpPr txBox="1"/>
          <p:nvPr/>
        </p:nvSpPr>
        <p:spPr>
          <a:xfrm>
            <a:off x="777240" y="2788920"/>
            <a:ext cx="2194560" cy="731520"/>
          </a:xfrm>
          <a:prstGeom prst="rect">
            <a:avLst/>
          </a:prstGeom>
          <a:noFill/>
          <a:ln/>
        </p:spPr>
        <p:txBody>
          <a:bodyPr wrap="square" lIns="0" tIns="0" rIns="0" bIns="0" rtlCol="0" anchor="t"/>
          <a:lstStyle/>
          <a:p>
            <a:pPr indent="0" marL="0">
              <a:buNone/>
            </a:pPr>
            <a:r>
              <a:rPr lang="en-US" sz="1500" dirty="0">
                <a:solidFill>
                  <a:schemeClr val="bg1"/>
                </a:solidFill>
              </a:rPr>
              <a:t>Capture fixture + markers</a:t>
            </a:r>
            <a:endParaRPr lang="en-US" sz="1500" dirty="0"/>
          </a:p>
        </p:txBody>
      </p:sp>
      <p:sp>
        <p:nvSpPr>
          <p:cNvPr id="7" name="Text 5"/>
          <p:cNvSpPr txBox="1"/>
          <p:nvPr/>
        </p:nvSpPr>
        <p:spPr>
          <a:xfrm>
            <a:off x="777240" y="3611880"/>
            <a:ext cx="2194560" cy="457200"/>
          </a:xfrm>
          <a:prstGeom prst="rect">
            <a:avLst/>
          </a:prstGeom>
          <a:noFill/>
          <a:ln/>
        </p:spPr>
        <p:txBody>
          <a:bodyPr wrap="square" lIns="0" tIns="0" rIns="0" bIns="0" rtlCol="0" anchor="t"/>
          <a:lstStyle/>
          <a:p>
            <a:pPr indent="0" marL="0">
              <a:buNone/>
            </a:pPr>
            <a:r>
              <a:rPr lang="en-US" sz="2400" b="1" dirty="0">
                <a:solidFill>
                  <a:schemeClr val="accent2"/>
                </a:solidFill>
              </a:rPr>
              <a:t>EUR 0.36 M</a:t>
            </a:r>
            <a:endParaRPr lang="en-US" sz="2400" dirty="0"/>
          </a:p>
        </p:txBody>
      </p:sp>
      <p:sp>
        <p:nvSpPr>
          <p:cNvPr id="8" name="Text 6"/>
          <p:cNvSpPr txBox="1"/>
          <p:nvPr/>
        </p:nvSpPr>
        <p:spPr>
          <a:xfrm>
            <a:off x="777240" y="4160520"/>
            <a:ext cx="2194560" cy="640080"/>
          </a:xfrm>
          <a:prstGeom prst="rect">
            <a:avLst/>
          </a:prstGeom>
          <a:noFill/>
          <a:ln/>
        </p:spPr>
        <p:txBody>
          <a:bodyPr wrap="square" lIns="0" tIns="0" rIns="0" bIns="0" rtlCol="0" anchor="t"/>
          <a:lstStyle/>
          <a:p>
            <a:pPr indent="0" marL="0">
              <a:buNone/>
            </a:pPr>
            <a:r>
              <a:rPr lang="en-US" sz="1400" dirty="0">
                <a:solidFill>
                  <a:schemeClr val="bg2"/>
                </a:solidFill>
              </a:rPr>
              <a:t>enables: Removal</a:t>
            </a:r>
            <a:endParaRPr lang="en-US" sz="1400" dirty="0"/>
          </a:p>
        </p:txBody>
      </p:sp>
      <p:sp>
        <p:nvSpPr>
          <p:cNvPr id="9" name="Tier 2"/>
          <p:cNvSpPr/>
          <p:nvPr/>
        </p:nvSpPr>
        <p:spPr>
          <a:xfrm>
            <a:off x="3355848" y="1463040"/>
            <a:ext cx="2651760" cy="3566160"/>
          </a:xfrm>
          <a:prstGeom prst="roundRect">
            <a:avLst>
              <a:gd name="adj" fmla="val 2759"/>
            </a:avLst>
          </a:prstGeom>
          <a:solidFill>
            <a:schemeClr val="tx2"/>
          </a:solidFill>
          <a:ln w="12700">
            <a:solidFill>
              <a:schemeClr val="accent6"/>
            </a:solidFill>
            <a:prstDash val="solid"/>
          </a:ln>
        </p:spPr>
      </p:sp>
      <p:sp>
        <p:nvSpPr>
          <p:cNvPr id="10" name="Text 8"/>
          <p:cNvSpPr txBox="1"/>
          <p:nvPr/>
        </p:nvSpPr>
        <p:spPr>
          <a:xfrm>
            <a:off x="3584448" y="1645920"/>
            <a:ext cx="2194560" cy="365760"/>
          </a:xfrm>
          <a:prstGeom prst="rect">
            <a:avLst/>
          </a:prstGeom>
          <a:noFill/>
          <a:ln/>
        </p:spPr>
        <p:txBody>
          <a:bodyPr wrap="square" lIns="0" tIns="0" rIns="0" bIns="0" rtlCol="0" anchor="t"/>
          <a:lstStyle/>
          <a:p>
            <a:pPr indent="0" marL="0">
              <a:buNone/>
            </a:pPr>
            <a:r>
              <a:rPr lang="en-US" sz="1400" dirty="0">
                <a:solidFill>
                  <a:schemeClr val="bg2"/>
                </a:solidFill>
              </a:rPr>
              <a:t>Tier 2</a:t>
            </a:r>
            <a:endParaRPr lang="en-US" sz="1400" dirty="0"/>
          </a:p>
        </p:txBody>
      </p:sp>
      <p:sp>
        <p:nvSpPr>
          <p:cNvPr id="11" name="Text 9"/>
          <p:cNvSpPr txBox="1"/>
          <p:nvPr/>
        </p:nvSpPr>
        <p:spPr>
          <a:xfrm>
            <a:off x="3584448" y="2011680"/>
            <a:ext cx="2194560" cy="731520"/>
          </a:xfrm>
          <a:prstGeom prst="rect">
            <a:avLst/>
          </a:prstGeom>
          <a:noFill/>
          <a:ln/>
        </p:spPr>
        <p:txBody>
          <a:bodyPr wrap="square" lIns="0" tIns="0" rIns="0" bIns="0" rtlCol="0" anchor="t"/>
          <a:lstStyle/>
          <a:p>
            <a:pPr indent="0" marL="0">
              <a:buNone/>
            </a:pPr>
            <a:r>
              <a:rPr lang="en-US" sz="2000" b="1" dirty="0">
                <a:solidFill>
                  <a:schemeClr val="accent1"/>
                </a:solidFill>
              </a:rPr>
              <a:t>Service-ready</a:t>
            </a:r>
            <a:endParaRPr lang="en-US" sz="2000" dirty="0"/>
          </a:p>
        </p:txBody>
      </p:sp>
      <p:sp>
        <p:nvSpPr>
          <p:cNvPr id="12" name="Text 10"/>
          <p:cNvSpPr txBox="1"/>
          <p:nvPr/>
        </p:nvSpPr>
        <p:spPr>
          <a:xfrm>
            <a:off x="3584448" y="2788920"/>
            <a:ext cx="2194560" cy="731520"/>
          </a:xfrm>
          <a:prstGeom prst="rect">
            <a:avLst/>
          </a:prstGeom>
          <a:noFill/>
          <a:ln/>
        </p:spPr>
        <p:txBody>
          <a:bodyPr wrap="square" lIns="0" tIns="0" rIns="0" bIns="0" rtlCol="0" anchor="t"/>
          <a:lstStyle/>
          <a:p>
            <a:pPr indent="0" marL="0">
              <a:buNone/>
            </a:pPr>
            <a:r>
              <a:rPr lang="en-US" sz="1500" dirty="0">
                <a:solidFill>
                  <a:schemeClr val="bg1"/>
                </a:solidFill>
              </a:rPr>
              <a:t>+ IOS mode + beacon</a:t>
            </a:r>
            <a:endParaRPr lang="en-US" sz="1500" dirty="0"/>
          </a:p>
        </p:txBody>
      </p:sp>
      <p:sp>
        <p:nvSpPr>
          <p:cNvPr id="13" name="Text 11"/>
          <p:cNvSpPr txBox="1"/>
          <p:nvPr/>
        </p:nvSpPr>
        <p:spPr>
          <a:xfrm>
            <a:off x="3584448" y="3611880"/>
            <a:ext cx="2194560" cy="457200"/>
          </a:xfrm>
          <a:prstGeom prst="rect">
            <a:avLst/>
          </a:prstGeom>
          <a:noFill/>
          <a:ln/>
        </p:spPr>
        <p:txBody>
          <a:bodyPr wrap="square" lIns="0" tIns="0" rIns="0" bIns="0" rtlCol="0" anchor="t"/>
          <a:lstStyle/>
          <a:p>
            <a:pPr indent="0" marL="0">
              <a:buNone/>
            </a:pPr>
            <a:r>
              <a:rPr lang="en-US" sz="2400" b="1" dirty="0">
                <a:solidFill>
                  <a:schemeClr val="accent2"/>
                </a:solidFill>
              </a:rPr>
              <a:t>EUR 1.46 M</a:t>
            </a:r>
            <a:endParaRPr lang="en-US" sz="2400" dirty="0"/>
          </a:p>
        </p:txBody>
      </p:sp>
      <p:sp>
        <p:nvSpPr>
          <p:cNvPr id="14" name="Text 12"/>
          <p:cNvSpPr txBox="1"/>
          <p:nvPr/>
        </p:nvSpPr>
        <p:spPr>
          <a:xfrm>
            <a:off x="3584448" y="4160520"/>
            <a:ext cx="2194560" cy="640080"/>
          </a:xfrm>
          <a:prstGeom prst="rect">
            <a:avLst/>
          </a:prstGeom>
          <a:noFill/>
          <a:ln/>
        </p:spPr>
        <p:txBody>
          <a:bodyPr wrap="square" lIns="0" tIns="0" rIns="0" bIns="0" rtlCol="0" anchor="t"/>
          <a:lstStyle/>
          <a:p>
            <a:pPr indent="0" marL="0">
              <a:buNone/>
            </a:pPr>
            <a:r>
              <a:rPr lang="en-US" sz="1400" dirty="0">
                <a:solidFill>
                  <a:schemeClr val="bg2"/>
                </a:solidFill>
              </a:rPr>
              <a:t>enables: Attached propulsion</a:t>
            </a:r>
            <a:endParaRPr lang="en-US" sz="1400" dirty="0"/>
          </a:p>
        </p:txBody>
      </p:sp>
      <p:sp>
        <p:nvSpPr>
          <p:cNvPr id="15" name="Tier 3"/>
          <p:cNvSpPr/>
          <p:nvPr/>
        </p:nvSpPr>
        <p:spPr>
          <a:xfrm>
            <a:off x="6163056" y="1463040"/>
            <a:ext cx="2651760" cy="3566160"/>
          </a:xfrm>
          <a:prstGeom prst="roundRect">
            <a:avLst>
              <a:gd name="adj" fmla="val 2759"/>
            </a:avLst>
          </a:prstGeom>
          <a:solidFill>
            <a:schemeClr val="tx2"/>
          </a:solidFill>
          <a:ln w="12700">
            <a:solidFill>
              <a:schemeClr val="accent6"/>
            </a:solidFill>
            <a:prstDash val="solid"/>
          </a:ln>
        </p:spPr>
      </p:sp>
      <p:sp>
        <p:nvSpPr>
          <p:cNvPr id="16" name="Text 14"/>
          <p:cNvSpPr txBox="1"/>
          <p:nvPr/>
        </p:nvSpPr>
        <p:spPr>
          <a:xfrm>
            <a:off x="6391656" y="1645920"/>
            <a:ext cx="2194560" cy="365760"/>
          </a:xfrm>
          <a:prstGeom prst="rect">
            <a:avLst/>
          </a:prstGeom>
          <a:noFill/>
          <a:ln/>
        </p:spPr>
        <p:txBody>
          <a:bodyPr wrap="square" lIns="0" tIns="0" rIns="0" bIns="0" rtlCol="0" anchor="t"/>
          <a:lstStyle/>
          <a:p>
            <a:pPr indent="0" marL="0">
              <a:buNone/>
            </a:pPr>
            <a:r>
              <a:rPr lang="en-US" sz="1400" dirty="0">
                <a:solidFill>
                  <a:schemeClr val="bg2"/>
                </a:solidFill>
              </a:rPr>
              <a:t>Tier 3</a:t>
            </a:r>
            <a:endParaRPr lang="en-US" sz="1400" dirty="0"/>
          </a:p>
        </p:txBody>
      </p:sp>
      <p:sp>
        <p:nvSpPr>
          <p:cNvPr id="17" name="Text 15"/>
          <p:cNvSpPr txBox="1"/>
          <p:nvPr/>
        </p:nvSpPr>
        <p:spPr>
          <a:xfrm>
            <a:off x="6391656" y="2011680"/>
            <a:ext cx="2194560" cy="731520"/>
          </a:xfrm>
          <a:prstGeom prst="rect">
            <a:avLst/>
          </a:prstGeom>
          <a:noFill/>
          <a:ln/>
        </p:spPr>
        <p:txBody>
          <a:bodyPr wrap="square" lIns="0" tIns="0" rIns="0" bIns="0" rtlCol="0" anchor="t"/>
          <a:lstStyle/>
          <a:p>
            <a:pPr indent="0" marL="0">
              <a:buNone/>
            </a:pPr>
            <a:r>
              <a:rPr lang="en-US" sz="2000" b="1" dirty="0">
                <a:solidFill>
                  <a:schemeClr val="accent1"/>
                </a:solidFill>
              </a:rPr>
              <a:t>Life-extension-ready</a:t>
            </a:r>
            <a:endParaRPr lang="en-US" sz="2000" dirty="0"/>
          </a:p>
        </p:txBody>
      </p:sp>
      <p:sp>
        <p:nvSpPr>
          <p:cNvPr id="18" name="Text 16"/>
          <p:cNvSpPr txBox="1"/>
          <p:nvPr/>
        </p:nvSpPr>
        <p:spPr>
          <a:xfrm>
            <a:off x="6391656" y="2788920"/>
            <a:ext cx="2194560" cy="731520"/>
          </a:xfrm>
          <a:prstGeom prst="rect">
            <a:avLst/>
          </a:prstGeom>
          <a:noFill/>
          <a:ln/>
        </p:spPr>
        <p:txBody>
          <a:bodyPr wrap="square" lIns="0" tIns="0" rIns="0" bIns="0" rtlCol="0" anchor="t"/>
          <a:lstStyle/>
          <a:p>
            <a:pPr indent="0" marL="0">
              <a:buNone/>
            </a:pPr>
            <a:r>
              <a:rPr lang="en-US" sz="1500" dirty="0">
                <a:solidFill>
                  <a:schemeClr val="bg1"/>
                </a:solidFill>
              </a:rPr>
              <a:t>+ refuelling port</a:t>
            </a:r>
            <a:endParaRPr lang="en-US" sz="1500" dirty="0"/>
          </a:p>
        </p:txBody>
      </p:sp>
      <p:sp>
        <p:nvSpPr>
          <p:cNvPr id="19" name="Text 17"/>
          <p:cNvSpPr txBox="1"/>
          <p:nvPr/>
        </p:nvSpPr>
        <p:spPr>
          <a:xfrm>
            <a:off x="6391656" y="3611880"/>
            <a:ext cx="2194560" cy="457200"/>
          </a:xfrm>
          <a:prstGeom prst="rect">
            <a:avLst/>
          </a:prstGeom>
          <a:noFill/>
          <a:ln/>
        </p:spPr>
        <p:txBody>
          <a:bodyPr wrap="square" lIns="0" tIns="0" rIns="0" bIns="0" rtlCol="0" anchor="t"/>
          <a:lstStyle/>
          <a:p>
            <a:pPr indent="0" marL="0">
              <a:buNone/>
            </a:pPr>
            <a:r>
              <a:rPr lang="en-US" sz="2400" b="1" dirty="0">
                <a:solidFill>
                  <a:schemeClr val="accent2"/>
                </a:solidFill>
              </a:rPr>
              <a:t>EUR 2.18 M</a:t>
            </a:r>
            <a:endParaRPr lang="en-US" sz="2400" dirty="0"/>
          </a:p>
        </p:txBody>
      </p:sp>
      <p:sp>
        <p:nvSpPr>
          <p:cNvPr id="20" name="Text 18"/>
          <p:cNvSpPr txBox="1"/>
          <p:nvPr/>
        </p:nvSpPr>
        <p:spPr>
          <a:xfrm>
            <a:off x="6391656" y="4160520"/>
            <a:ext cx="2194560" cy="640080"/>
          </a:xfrm>
          <a:prstGeom prst="rect">
            <a:avLst/>
          </a:prstGeom>
          <a:noFill/>
          <a:ln/>
        </p:spPr>
        <p:txBody>
          <a:bodyPr wrap="square" lIns="0" tIns="0" rIns="0" bIns="0" rtlCol="0" anchor="t"/>
          <a:lstStyle/>
          <a:p>
            <a:pPr indent="0" marL="0">
              <a:buNone/>
            </a:pPr>
            <a:r>
              <a:rPr lang="en-US" sz="1400" dirty="0">
                <a:solidFill>
                  <a:schemeClr val="bg2"/>
                </a:solidFill>
              </a:rPr>
              <a:t>enables: Refuel and release</a:t>
            </a:r>
            <a:endParaRPr lang="en-US" sz="1400" dirty="0"/>
          </a:p>
        </p:txBody>
      </p:sp>
      <p:sp>
        <p:nvSpPr>
          <p:cNvPr id="21" name="Tier 4"/>
          <p:cNvSpPr/>
          <p:nvPr/>
        </p:nvSpPr>
        <p:spPr>
          <a:xfrm>
            <a:off x="8970264" y="1463040"/>
            <a:ext cx="2651760" cy="3566160"/>
          </a:xfrm>
          <a:prstGeom prst="roundRect">
            <a:avLst>
              <a:gd name="adj" fmla="val 2759"/>
            </a:avLst>
          </a:prstGeom>
          <a:solidFill>
            <a:schemeClr val="tx2"/>
          </a:solidFill>
          <a:ln w="12700">
            <a:solidFill>
              <a:schemeClr val="accent6"/>
            </a:solidFill>
            <a:prstDash val="solid"/>
          </a:ln>
        </p:spPr>
      </p:sp>
      <p:sp>
        <p:nvSpPr>
          <p:cNvPr id="22" name="Text 20"/>
          <p:cNvSpPr txBox="1"/>
          <p:nvPr/>
        </p:nvSpPr>
        <p:spPr>
          <a:xfrm>
            <a:off x="9198864" y="1645920"/>
            <a:ext cx="2194560" cy="365760"/>
          </a:xfrm>
          <a:prstGeom prst="rect">
            <a:avLst/>
          </a:prstGeom>
          <a:noFill/>
          <a:ln/>
        </p:spPr>
        <p:txBody>
          <a:bodyPr wrap="square" lIns="0" tIns="0" rIns="0" bIns="0" rtlCol="0" anchor="t"/>
          <a:lstStyle/>
          <a:p>
            <a:pPr indent="0" marL="0">
              <a:buNone/>
            </a:pPr>
            <a:r>
              <a:rPr lang="en-US" sz="1400" dirty="0">
                <a:solidFill>
                  <a:schemeClr val="bg2"/>
                </a:solidFill>
              </a:rPr>
              <a:t>Tier 4</a:t>
            </a:r>
            <a:endParaRPr lang="en-US" sz="1400" dirty="0"/>
          </a:p>
        </p:txBody>
      </p:sp>
      <p:sp>
        <p:nvSpPr>
          <p:cNvPr id="23" name="Text 21"/>
          <p:cNvSpPr txBox="1"/>
          <p:nvPr/>
        </p:nvSpPr>
        <p:spPr>
          <a:xfrm>
            <a:off x="9198864" y="2011680"/>
            <a:ext cx="2194560" cy="731520"/>
          </a:xfrm>
          <a:prstGeom prst="rect">
            <a:avLst/>
          </a:prstGeom>
          <a:noFill/>
          <a:ln/>
        </p:spPr>
        <p:txBody>
          <a:bodyPr wrap="square" lIns="0" tIns="0" rIns="0" bIns="0" rtlCol="0" anchor="t"/>
          <a:lstStyle/>
          <a:p>
            <a:pPr indent="0" marL="0">
              <a:buNone/>
            </a:pPr>
            <a:r>
              <a:rPr lang="en-US" sz="2000" b="1" dirty="0">
                <a:solidFill>
                  <a:schemeClr val="accent1"/>
                </a:solidFill>
              </a:rPr>
              <a:t>Augmentation-ready</a:t>
            </a:r>
            <a:endParaRPr lang="en-US" sz="2000" dirty="0"/>
          </a:p>
        </p:txBody>
      </p:sp>
      <p:sp>
        <p:nvSpPr>
          <p:cNvPr id="24" name="Text 22"/>
          <p:cNvSpPr txBox="1"/>
          <p:nvPr/>
        </p:nvSpPr>
        <p:spPr>
          <a:xfrm>
            <a:off x="9198864" y="2788920"/>
            <a:ext cx="2194560" cy="731520"/>
          </a:xfrm>
          <a:prstGeom prst="rect">
            <a:avLst/>
          </a:prstGeom>
          <a:noFill/>
          <a:ln/>
        </p:spPr>
        <p:txBody>
          <a:bodyPr wrap="square" lIns="0" tIns="0" rIns="0" bIns="0" rtlCol="0" anchor="t"/>
          <a:lstStyle/>
          <a:p>
            <a:pPr indent="0" marL="0">
              <a:buNone/>
            </a:pPr>
            <a:r>
              <a:rPr lang="en-US" sz="1500" dirty="0">
                <a:solidFill>
                  <a:schemeClr val="bg1"/>
                </a:solidFill>
              </a:rPr>
              <a:t>+ power, data, POD (OSAN)</a:t>
            </a:r>
            <a:endParaRPr lang="en-US" sz="1500" dirty="0"/>
          </a:p>
        </p:txBody>
      </p:sp>
      <p:sp>
        <p:nvSpPr>
          <p:cNvPr id="25" name="Text 23"/>
          <p:cNvSpPr txBox="1"/>
          <p:nvPr/>
        </p:nvSpPr>
        <p:spPr>
          <a:xfrm>
            <a:off x="9198864" y="3611880"/>
            <a:ext cx="2194560" cy="457200"/>
          </a:xfrm>
          <a:prstGeom prst="rect">
            <a:avLst/>
          </a:prstGeom>
          <a:noFill/>
          <a:ln/>
        </p:spPr>
        <p:txBody>
          <a:bodyPr wrap="square" lIns="0" tIns="0" rIns="0" bIns="0" rtlCol="0" anchor="t"/>
          <a:lstStyle/>
          <a:p>
            <a:pPr indent="0" marL="0">
              <a:buNone/>
            </a:pPr>
            <a:r>
              <a:rPr lang="en-US" sz="2400" b="1" dirty="0">
                <a:solidFill>
                  <a:schemeClr val="accent2"/>
                </a:solidFill>
              </a:rPr>
              <a:t>EUR 6.68 M</a:t>
            </a:r>
            <a:endParaRPr lang="en-US" sz="2400" dirty="0"/>
          </a:p>
        </p:txBody>
      </p:sp>
      <p:sp>
        <p:nvSpPr>
          <p:cNvPr id="26" name="Text 24"/>
          <p:cNvSpPr txBox="1"/>
          <p:nvPr/>
        </p:nvSpPr>
        <p:spPr>
          <a:xfrm>
            <a:off x="9198864" y="4160520"/>
            <a:ext cx="2194560" cy="640080"/>
          </a:xfrm>
          <a:prstGeom prst="rect">
            <a:avLst/>
          </a:prstGeom>
          <a:noFill/>
          <a:ln/>
        </p:spPr>
        <p:txBody>
          <a:bodyPr wrap="square" lIns="0" tIns="0" rIns="0" bIns="0" rtlCol="0" anchor="t"/>
          <a:lstStyle/>
          <a:p>
            <a:pPr indent="0" marL="0">
              <a:buNone/>
            </a:pPr>
            <a:r>
              <a:rPr lang="en-US" sz="1400" dirty="0">
                <a:solidFill>
                  <a:schemeClr val="bg2"/>
                </a:solidFill>
              </a:rPr>
              <a:t>enables: Upgrade POD</a:t>
            </a:r>
            <a:endParaRPr lang="en-US" sz="1400" dirty="0"/>
          </a:p>
        </p:txBody>
      </p:sp>
      <p:sp>
        <p:nvSpPr>
          <p:cNvPr id="27" name="Text 25"/>
          <p:cNvSpPr txBox="1"/>
          <p:nvPr/>
        </p:nvSpPr>
        <p:spPr>
          <a:xfrm>
            <a:off x="548640" y="5257800"/>
            <a:ext cx="11091672" cy="822960"/>
          </a:xfrm>
          <a:prstGeom prst="rect">
            <a:avLst/>
          </a:prstGeom>
          <a:noFill/>
          <a:ln/>
        </p:spPr>
        <p:txBody>
          <a:bodyPr wrap="square" lIns="0" tIns="0" rIns="0" bIns="0" rtlCol="0" anchor="t"/>
          <a:lstStyle/>
          <a:p>
            <a:pPr indent="0" marL="0">
              <a:buNone/>
            </a:pPr>
            <a:r>
              <a:rPr lang="en-US" sz="1500" dirty="0">
                <a:solidFill>
                  <a:schemeClr val="bg2"/>
                </a:solidFill>
              </a:rPr>
              <a:t>Buyers (hypotheses): satellite makers and operators for the kit; servicers for more successful visits per vehicle; insurers and regulators for reproducible evidence. Costs per unit are assumptions: unit price, mass, launch and shared development.</a:t>
            </a:r>
            <a:endParaRPr lang="en-US" sz="15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3200" b="1" dirty="0">
                <a:solidFill>
                  <a:schemeClr val="bg1"/>
                </a:solidFill>
              </a:rPr>
              <a:t>Markers repay almost at once; the beacon and IOS need more</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377440"/>
                <a:gridCol w="2103120"/>
                <a:gridCol w="2103120"/>
                <a:gridCol w="2286000"/>
                <a:gridCol w="2221992"/>
              </a:tblGrid>
              <a:tr h="457200">
                <a:tc>
                  <a:txBody>
                    <a:bodyPr/>
                    <a:lstStyle/>
                    <a:p>
                      <a:pPr indent="0" marL="0">
                        <a:buNone/>
                      </a:pPr>
                      <a:r>
                        <a:rPr lang="en-US" sz="1400" b="1" dirty="0">
                          <a:solidFill>
                            <a:srgbClr val="5AD1FF"/>
                          </a:solidFill>
                        </a:rPr>
                        <a:t>At 3 deg/s</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B1220"/>
                    </a:solidFill>
                  </a:tcPr>
                </a:tc>
                <a:tc>
                  <a:txBody>
                    <a:bodyPr/>
                    <a:lstStyle/>
                    <a:p>
                      <a:pPr indent="0" marL="0">
                        <a:buNone/>
                      </a:pPr>
                      <a:r>
                        <a:rPr lang="en-US" sz="1400" b="1" dirty="0">
                          <a:solidFill>
                            <a:srgbClr val="5AD1FF"/>
                          </a:solidFill>
                        </a:rPr>
                        <a:t>Success within 3 tries</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B1220"/>
                    </a:solidFill>
                  </a:tcPr>
                </a:tc>
                <a:tc>
                  <a:txBody>
                    <a:bodyPr/>
                    <a:lstStyle/>
                    <a:p>
                      <a:pPr indent="0" marL="0">
                        <a:buNone/>
                      </a:pPr>
                      <a:r>
                        <a:rPr lang="en-US" sz="1400" b="1" dirty="0">
                          <a:solidFill>
                            <a:srgbClr val="5AD1FF"/>
                          </a:solidFill>
                        </a:rPr>
                        <a:t>Add-on cost per client</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B1220"/>
                    </a:solidFill>
                  </a:tcPr>
                </a:tc>
                <a:tc>
                  <a:txBody>
                    <a:bodyPr/>
                    <a:lstStyle/>
                    <a:p>
                      <a:pPr indent="0" marL="0">
                        <a:buNone/>
                      </a:pPr>
                      <a:r>
                        <a:rPr lang="en-US" sz="1400" b="1" dirty="0">
                          <a:solidFill>
                            <a:srgbClr val="5AD1FF"/>
                          </a:solidFill>
                        </a:rPr>
                        <a:t>Break-even P(needs rescue)</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B1220"/>
                    </a:solidFill>
                  </a:tcPr>
                </a:tc>
                <a:tc>
                  <a:txBody>
                    <a:bodyPr/>
                    <a:lstStyle/>
                    <a:p>
                      <a:pPr indent="0" marL="0">
                        <a:buNone/>
                      </a:pPr>
                      <a:r>
                        <a:rPr lang="en-US" sz="1400" b="1" dirty="0">
                          <a:solidFill>
                            <a:srgbClr val="5AD1FF"/>
                          </a:solidFill>
                        </a:rPr>
                        <a:t>Servicer break-even price per success</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B1220"/>
                    </a:solidFill>
                  </a:tcPr>
                </a:tc>
              </a:tr>
              <a:tr h="457200">
                <a:tc>
                  <a:txBody>
                    <a:bodyPr/>
                    <a:lstStyle/>
                    <a:p>
                      <a:pPr indent="0" marL="0">
                        <a:buNone/>
                      </a:pPr>
                      <a:r>
                        <a:rPr lang="en-US" sz="1400" dirty="0">
                          <a:solidFill>
                            <a:srgbClr val="DFE8F5"/>
                          </a:solidFill>
                        </a:rPr>
                        <a:t>C0 unprepared</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64%</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EUR 0</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n/a</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EUR 32.0 M</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r>
              <a:tr h="457200">
                <a:tc>
                  <a:txBody>
                    <a:bodyPr/>
                    <a:lstStyle/>
                    <a:p>
                      <a:pPr indent="0" marL="0">
                        <a:buNone/>
                      </a:pPr>
                      <a:r>
                        <a:rPr lang="en-US" sz="1400" dirty="0">
                          <a:solidFill>
                            <a:srgbClr val="DFE8F5"/>
                          </a:solidFill>
                        </a:rPr>
                        <a:t>C1 markers</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98%</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EUR 45 k</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0.6% vs C0</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EUR 20.0 M</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r>
              <a:tr h="457200">
                <a:tc>
                  <a:txBody>
                    <a:bodyPr/>
                    <a:lstStyle/>
                    <a:p>
                      <a:pPr indent="0" marL="0">
                        <a:buNone/>
                      </a:pPr>
                      <a:r>
                        <a:rPr lang="en-US" sz="1400" dirty="0">
                          <a:solidFill>
                            <a:srgbClr val="DFE8F5"/>
                          </a:solidFill>
                        </a:rPr>
                        <a:t>C2 + rate beacon</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100%</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EUR 0.40 M</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75% vs C1</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EUR 19.6 M</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r>
              <a:tr h="457200">
                <a:tc>
                  <a:txBody>
                    <a:bodyPr/>
                    <a:lstStyle/>
                    <a:p>
                      <a:pPr indent="0" marL="0">
                        <a:buNone/>
                      </a:pPr>
                      <a:r>
                        <a:rPr lang="en-US" sz="1400" dirty="0">
                          <a:solidFill>
                            <a:srgbClr val="DFE8F5"/>
                          </a:solidFill>
                        </a:rPr>
                        <a:t>C3 IOS mode</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100%</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EUR 1.15 M</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14.5% vs C0</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EUR 19.6 M</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r>
            </a:tbl>
          </a:graphicData>
        </a:graphic>
      </p:graphicFrame>
      <p:sp>
        <p:nvSpPr>
          <p:cNvPr id="4" name="Assumed"/>
          <p:cNvSpPr/>
          <p:nvPr/>
        </p:nvSpPr>
        <p:spPr>
          <a:xfrm>
            <a:off x="548640" y="4114800"/>
            <a:ext cx="5394960" cy="1920240"/>
          </a:xfrm>
          <a:prstGeom prst="roundRect">
            <a:avLst>
              <a:gd name="adj" fmla="val 3810"/>
            </a:avLst>
          </a:prstGeom>
          <a:solidFill>
            <a:schemeClr val="tx2"/>
          </a:solidFill>
          <a:ln w="12700">
            <a:solidFill>
              <a:schemeClr val="accent6"/>
            </a:solidFill>
            <a:prstDash val="solid"/>
          </a:ln>
        </p:spPr>
      </p:sp>
      <p:sp>
        <p:nvSpPr>
          <p:cNvPr id="5" name="Text 2"/>
          <p:cNvSpPr txBox="1"/>
          <p:nvPr/>
        </p:nvSpPr>
        <p:spPr>
          <a:xfrm>
            <a:off x="822960" y="4251960"/>
            <a:ext cx="4846320" cy="365760"/>
          </a:xfrm>
          <a:prstGeom prst="rect">
            <a:avLst/>
          </a:prstGeom>
          <a:noFill/>
          <a:ln/>
        </p:spPr>
        <p:txBody>
          <a:bodyPr wrap="square" lIns="0" tIns="0" rIns="0" bIns="0" rtlCol="0" anchor="t"/>
          <a:lstStyle/>
          <a:p>
            <a:pPr indent="0" marL="0">
              <a:buNone/>
            </a:pPr>
            <a:r>
              <a:rPr lang="en-US" sz="1800" b="1" dirty="0">
                <a:solidFill>
                  <a:schemeClr val="accent2"/>
                </a:solidFill>
              </a:rPr>
              <a:t>Assumed inputs</a:t>
            </a:r>
            <a:endParaRPr lang="en-US" sz="1800" dirty="0"/>
          </a:p>
        </p:txBody>
      </p:sp>
      <p:sp>
        <p:nvSpPr>
          <p:cNvPr id="6" name="Text 3"/>
          <p:cNvSpPr txBox="1"/>
          <p:nvPr/>
        </p:nvSpPr>
        <p:spPr>
          <a:xfrm>
            <a:off x="822960" y="4709160"/>
            <a:ext cx="4846320" cy="1280160"/>
          </a:xfrm>
          <a:prstGeom prst="rect">
            <a:avLst/>
          </a:prstGeom>
          <a:noFill/>
          <a:ln/>
        </p:spPr>
        <p:txBody>
          <a:bodyPr wrap="square" lIns="0" tIns="0" rIns="0" bIns="0" rtlCol="0" anchor="t"/>
          <a:lstStyle/>
          <a:p>
            <a:pPr indent="0" marL="0">
              <a:buNone/>
            </a:pPr>
            <a:r>
              <a:rPr lang="en-US" sz="1500" dirty="0">
                <a:solidFill>
                  <a:schemeClr val="bg1"/>
                </a:solidFill>
              </a:rPr>
              <a:t>Rescue worth EUR 20.8 M net (EUR 40 M a year, 60% margin, 5 years, 8% discount, EUR 75 M price). Every price and probability is ours, not a customer's.</a:t>
            </a:r>
            <a:endParaRPr lang="en-US" sz="1500" dirty="0"/>
          </a:p>
        </p:txBody>
      </p:sp>
      <p:sp>
        <p:nvSpPr>
          <p:cNvPr id="7" name="Reading"/>
          <p:cNvSpPr/>
          <p:nvPr/>
        </p:nvSpPr>
        <p:spPr>
          <a:xfrm>
            <a:off x="6217920" y="4114800"/>
            <a:ext cx="5422392" cy="1920240"/>
          </a:xfrm>
          <a:prstGeom prst="roundRect">
            <a:avLst>
              <a:gd name="adj" fmla="val 3810"/>
            </a:avLst>
          </a:prstGeom>
          <a:solidFill>
            <a:schemeClr val="tx2"/>
          </a:solidFill>
          <a:ln w="12700">
            <a:solidFill>
              <a:schemeClr val="accent6"/>
            </a:solidFill>
            <a:prstDash val="solid"/>
          </a:ln>
        </p:spPr>
      </p:sp>
      <p:sp>
        <p:nvSpPr>
          <p:cNvPr id="8" name="Text 5"/>
          <p:cNvSpPr txBox="1"/>
          <p:nvPr/>
        </p:nvSpPr>
        <p:spPr>
          <a:xfrm>
            <a:off x="6492240" y="4251960"/>
            <a:ext cx="4846320" cy="365760"/>
          </a:xfrm>
          <a:prstGeom prst="rect">
            <a:avLst/>
          </a:prstGeom>
          <a:noFill/>
          <a:ln/>
        </p:spPr>
        <p:txBody>
          <a:bodyPr wrap="square" lIns="0" tIns="0" rIns="0" bIns="0" rtlCol="0" anchor="t"/>
          <a:lstStyle/>
          <a:p>
            <a:pPr indent="0" marL="0">
              <a:buNone/>
            </a:pPr>
            <a:r>
              <a:rPr lang="en-US" sz="1800" b="1" dirty="0">
                <a:solidFill>
                  <a:schemeClr val="accent3"/>
                </a:solidFill>
              </a:rPr>
              <a:t>What to test first</a:t>
            </a:r>
            <a:endParaRPr lang="en-US" sz="1800" dirty="0"/>
          </a:p>
        </p:txBody>
      </p:sp>
      <p:sp>
        <p:nvSpPr>
          <p:cNvPr id="9" name="Text 6"/>
          <p:cNvSpPr txBox="1"/>
          <p:nvPr/>
        </p:nvSpPr>
        <p:spPr>
          <a:xfrm>
            <a:off x="6492240" y="4709160"/>
            <a:ext cx="4846320" cy="1280160"/>
          </a:xfrm>
          <a:prstGeom prst="rect">
            <a:avLst/>
          </a:prstGeom>
          <a:noFill/>
          <a:ln/>
        </p:spPr>
        <p:txBody>
          <a:bodyPr wrap="square" lIns="0" tIns="0" rIns="0" bIns="0" rtlCol="0" anchor="t"/>
          <a:lstStyle/>
          <a:p>
            <a:pPr indent="0" marL="0">
              <a:buNone/>
            </a:pPr>
            <a:r>
              <a:rPr lang="en-US" sz="1500" dirty="0">
                <a:solidFill>
                  <a:schemeClr val="bg1"/>
                </a:solidFill>
              </a:rPr>
              <a:t>How often a client degrades enough to need rescue. It drives every break-even. The beacon is likely undervalued: identity, interface and health data carry no value in the simulator.</a:t>
            </a:r>
            <a:endParaRPr lang="en-US" sz="15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3200" b="1" dirty="0">
                <a:solidFill>
                  <a:schemeClr val="bg1"/>
                </a:solidFill>
              </a:rPr>
              <a:t>Others fix the servicer; we specify the client</a:t>
            </a:r>
            <a:endParaRPr lang="en-US" sz="3200" dirty="0"/>
          </a:p>
        </p:txBody>
      </p:sp>
      <p:sp>
        <p:nvSpPr>
          <p:cNvPr id="3" name="Competition"/>
          <p:cNvSpPr/>
          <p:nvPr/>
        </p:nvSpPr>
        <p:spPr>
          <a:xfrm>
            <a:off x="548640" y="1463040"/>
            <a:ext cx="5394960" cy="4206240"/>
          </a:xfrm>
          <a:prstGeom prst="roundRect">
            <a:avLst>
              <a:gd name="adj" fmla="val 1739"/>
            </a:avLst>
          </a:prstGeom>
          <a:solidFill>
            <a:schemeClr val="tx2"/>
          </a:solidFill>
          <a:ln w="12700">
            <a:solidFill>
              <a:schemeClr val="accent6"/>
            </a:solidFill>
            <a:prstDash val="solid"/>
          </a:ln>
        </p:spPr>
      </p:sp>
      <p:sp>
        <p:nvSpPr>
          <p:cNvPr id="4" name="Text 2"/>
          <p:cNvSpPr txBox="1"/>
          <p:nvPr/>
        </p:nvSpPr>
        <p:spPr>
          <a:xfrm>
            <a:off x="822960" y="1645920"/>
            <a:ext cx="4846320" cy="365760"/>
          </a:xfrm>
          <a:prstGeom prst="rect">
            <a:avLst/>
          </a:prstGeom>
          <a:noFill/>
          <a:ln/>
        </p:spPr>
        <p:txBody>
          <a:bodyPr wrap="square" lIns="0" tIns="0" rIns="0" bIns="0" rtlCol="0" anchor="t"/>
          <a:lstStyle/>
          <a:p>
            <a:pPr indent="0" marL="0">
              <a:buNone/>
            </a:pPr>
            <a:r>
              <a:rPr lang="en-US" sz="2000" b="1" dirty="0">
                <a:solidFill>
                  <a:schemeClr val="accent1"/>
                </a:solidFill>
              </a:rPr>
              <a:t>Existing offers [to verify]</a:t>
            </a:r>
            <a:endParaRPr lang="en-US" sz="2000" dirty="0"/>
          </a:p>
        </p:txBody>
      </p:sp>
      <p:sp>
        <p:nvSpPr>
          <p:cNvPr id="5" name="Text 3"/>
          <p:cNvSpPr txBox="1"/>
          <p:nvPr/>
        </p:nvSpPr>
        <p:spPr>
          <a:xfrm>
            <a:off x="822960" y="2194560"/>
            <a:ext cx="4846320" cy="32004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bg1"/>
                </a:solidFill>
              </a:rPr>
              <a:t>Northrop Grumman MEV and MRV: life extension of unprepared GEO clients</a:t>
            </a:r>
            <a:endParaRPr lang="en-US" sz="1700" dirty="0"/>
          </a:p>
          <a:p>
            <a:pPr marL="342900" indent="-342900">
              <a:spcAft>
                <a:spcPts val="800"/>
              </a:spcAft>
              <a:buSzPct val="100000"/>
              <a:buChar char="•"/>
            </a:pPr>
            <a:r>
              <a:rPr lang="en-US" sz="1700" dirty="0">
                <a:solidFill>
                  <a:schemeClr val="bg1"/>
                </a:solidFill>
              </a:rPr>
              <a:t>Astroscale: removal, inspection, docking plate on client</a:t>
            </a:r>
            <a:endParaRPr lang="en-US" sz="1700" dirty="0"/>
          </a:p>
          <a:p>
            <a:pPr marL="342900" indent="-342900">
              <a:spcAft>
                <a:spcPts val="800"/>
              </a:spcAft>
              <a:buSzPct val="100000"/>
              <a:buChar char="•"/>
            </a:pPr>
            <a:r>
              <a:rPr lang="en-US" sz="1700" dirty="0">
                <a:solidFill>
                  <a:schemeClr val="bg1"/>
                </a:solidFill>
              </a:rPr>
              <a:t>Starfish Space: autonomous docking and inspection</a:t>
            </a:r>
            <a:endParaRPr lang="en-US" sz="1700" dirty="0"/>
          </a:p>
          <a:p>
            <a:pPr marL="342900" indent="-342900">
              <a:spcAft>
                <a:spcPts val="800"/>
              </a:spcAft>
              <a:buSzPct val="100000"/>
              <a:buChar char="•"/>
            </a:pPr>
            <a:r>
              <a:rPr lang="en-US" sz="1700" dirty="0">
                <a:solidFill>
                  <a:schemeClr val="bg1"/>
                </a:solidFill>
              </a:rPr>
              <a:t>ClearSpace: capture of defunct objects</a:t>
            </a:r>
            <a:endParaRPr lang="en-US" sz="1700" dirty="0"/>
          </a:p>
          <a:p>
            <a:pPr marL="342900" indent="-342900">
              <a:spcAft>
                <a:spcPts val="800"/>
              </a:spcAft>
              <a:buSzPct val="100000"/>
              <a:buChar char="•"/>
            </a:pPr>
            <a:r>
              <a:rPr lang="en-US" sz="1700" dirty="0">
                <a:solidFill>
                  <a:schemeClr val="bg1"/>
                </a:solidFill>
              </a:rPr>
              <a:t>Orbit Fab, MDA, Airbus, Thales Alenia, OHB: refuel ports, arms, interfaces</a:t>
            </a:r>
            <a:endParaRPr lang="en-US" sz="1700" dirty="0"/>
          </a:p>
        </p:txBody>
      </p:sp>
      <p:sp>
        <p:nvSpPr>
          <p:cNvPr id="6" name="Rules"/>
          <p:cNvSpPr/>
          <p:nvPr/>
        </p:nvSpPr>
        <p:spPr>
          <a:xfrm>
            <a:off x="6217920" y="1463040"/>
            <a:ext cx="5422392" cy="4206240"/>
          </a:xfrm>
          <a:prstGeom prst="roundRect">
            <a:avLst>
              <a:gd name="adj" fmla="val 1739"/>
            </a:avLst>
          </a:prstGeom>
          <a:solidFill>
            <a:schemeClr val="tx2"/>
          </a:solidFill>
          <a:ln w="12700">
            <a:solidFill>
              <a:schemeClr val="accent6"/>
            </a:solidFill>
            <a:prstDash val="solid"/>
          </a:ln>
        </p:spPr>
      </p:sp>
      <p:sp>
        <p:nvSpPr>
          <p:cNvPr id="7" name="Text 5"/>
          <p:cNvSpPr txBox="1"/>
          <p:nvPr/>
        </p:nvSpPr>
        <p:spPr>
          <a:xfrm>
            <a:off x="6492240" y="1645920"/>
            <a:ext cx="4846320" cy="365760"/>
          </a:xfrm>
          <a:prstGeom prst="rect">
            <a:avLst/>
          </a:prstGeom>
          <a:noFill/>
          <a:ln/>
        </p:spPr>
        <p:txBody>
          <a:bodyPr wrap="square" lIns="0" tIns="0" rIns="0" bIns="0" rtlCol="0" anchor="t"/>
          <a:lstStyle/>
          <a:p>
            <a:pPr indent="0" marL="0">
              <a:buNone/>
            </a:pPr>
            <a:r>
              <a:rPr lang="en-US" sz="2000" b="1" dirty="0">
                <a:solidFill>
                  <a:schemeClr val="accent3"/>
                </a:solidFill>
              </a:rPr>
              <a:t>Rules that shape the design [to verify]</a:t>
            </a:r>
            <a:endParaRPr lang="en-US" sz="2000" dirty="0"/>
          </a:p>
        </p:txBody>
      </p:sp>
      <p:sp>
        <p:nvSpPr>
          <p:cNvPr id="8" name="Text 6"/>
          <p:cNvSpPr txBox="1"/>
          <p:nvPr/>
        </p:nvSpPr>
        <p:spPr>
          <a:xfrm>
            <a:off x="6492240" y="2194560"/>
            <a:ext cx="4846320" cy="32004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bg1"/>
                </a:solidFill>
              </a:rPr>
              <a:t>ISO 24330 for rendezvous and servicing practice</a:t>
            </a:r>
            <a:endParaRPr lang="en-US" sz="1700" dirty="0"/>
          </a:p>
          <a:p>
            <a:pPr marL="342900" indent="-342900">
              <a:spcAft>
                <a:spcPts val="800"/>
              </a:spcAft>
              <a:buSzPct val="100000"/>
              <a:buChar char="•"/>
            </a:pPr>
            <a:r>
              <a:rPr lang="en-US" sz="1700" dirty="0">
                <a:solidFill>
                  <a:schemeClr val="bg1"/>
                </a:solidFill>
              </a:rPr>
              <a:t>ISO 24113 and IADC for debris and end of life</a:t>
            </a:r>
            <a:endParaRPr lang="en-US" sz="1700" dirty="0"/>
          </a:p>
          <a:p>
            <a:pPr marL="342900" indent="-342900">
              <a:spcAft>
                <a:spcPts val="800"/>
              </a:spcAft>
              <a:buSzPct val="100000"/>
              <a:buChar char="•"/>
            </a:pPr>
            <a:r>
              <a:rPr lang="en-US" sz="1700" dirty="0">
                <a:solidFill>
                  <a:schemeClr val="bg1"/>
                </a:solidFill>
              </a:rPr>
              <a:t>ECSS series for GNC, verification and interfaces</a:t>
            </a:r>
            <a:endParaRPr lang="en-US" sz="1700" dirty="0"/>
          </a:p>
          <a:p>
            <a:pPr marL="342900" indent="-342900">
              <a:spcAft>
                <a:spcPts val="800"/>
              </a:spcAft>
              <a:buSzPct val="100000"/>
              <a:buChar char="•"/>
            </a:pPr>
            <a:r>
              <a:rPr lang="en-US" sz="1700" dirty="0">
                <a:solidFill>
                  <a:schemeClr val="bg1"/>
                </a:solidFill>
              </a:rPr>
              <a:t>NASA-STD-7009 for model credibility</a:t>
            </a:r>
            <a:endParaRPr lang="en-US" sz="1700" dirty="0"/>
          </a:p>
          <a:p>
            <a:pPr marL="342900" indent="-342900">
              <a:spcAft>
                <a:spcPts val="800"/>
              </a:spcAft>
              <a:buSzPct val="100000"/>
              <a:buChar char="•"/>
            </a:pPr>
            <a:r>
              <a:rPr lang="en-US" sz="1700" dirty="0">
                <a:solidFill>
                  <a:schemeClr val="bg1"/>
                </a:solidFill>
              </a:rPr>
              <a:t>ITU and national licensing for the beacon</a:t>
            </a:r>
            <a:endParaRPr lang="en-US" sz="1700" dirty="0"/>
          </a:p>
          <a:p>
            <a:pPr marL="342900" indent="-342900">
              <a:spcAft>
                <a:spcPts val="800"/>
              </a:spcAft>
              <a:buSzPct val="100000"/>
              <a:buChar char="•"/>
            </a:pPr>
            <a:r>
              <a:rPr lang="en-US" sz="1700" dirty="0">
                <a:solidFill>
                  <a:schemeClr val="bg1"/>
                </a:solidFill>
              </a:rPr>
              <a:t>Owner consent and national authorisation; EU Space Act evolving</a:t>
            </a:r>
            <a:endParaRPr lang="en-US" sz="17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3200" b="1" dirty="0">
                <a:solidFill>
                  <a:schemeClr val="bg1"/>
                </a:solidFill>
              </a:rPr>
              <a:t>Next: a ground demonstration with agreed criteria</a:t>
            </a:r>
            <a:endParaRPr lang="en-US" sz="3200" dirty="0"/>
          </a:p>
        </p:txBody>
      </p:sp>
      <p:sp>
        <p:nvSpPr>
          <p:cNvPr id="3" name="Stage Study"/>
          <p:cNvSpPr/>
          <p:nvPr/>
        </p:nvSpPr>
        <p:spPr>
          <a:xfrm>
            <a:off x="548640" y="1463040"/>
            <a:ext cx="2651760" cy="2286000"/>
          </a:xfrm>
          <a:prstGeom prst="roundRect">
            <a:avLst>
              <a:gd name="adj" fmla="val 3200"/>
            </a:avLst>
          </a:prstGeom>
          <a:solidFill>
            <a:schemeClr val="tx2"/>
          </a:solidFill>
          <a:ln w="12700">
            <a:solidFill>
              <a:schemeClr val="accent6"/>
            </a:solidFill>
            <a:prstDash val="solid"/>
          </a:ln>
        </p:spPr>
      </p:sp>
      <p:sp>
        <p:nvSpPr>
          <p:cNvPr id="4" name="Text 2"/>
          <p:cNvSpPr txBox="1"/>
          <p:nvPr/>
        </p:nvSpPr>
        <p:spPr>
          <a:xfrm>
            <a:off x="777240" y="1645920"/>
            <a:ext cx="2194560" cy="274320"/>
          </a:xfrm>
          <a:prstGeom prst="rect">
            <a:avLst/>
          </a:prstGeom>
          <a:noFill/>
          <a:ln/>
        </p:spPr>
        <p:txBody>
          <a:bodyPr wrap="square" lIns="0" tIns="0" rIns="0" bIns="0" rtlCol="0" anchor="t"/>
          <a:lstStyle/>
          <a:p>
            <a:pPr indent="0" marL="0">
              <a:buNone/>
            </a:pPr>
            <a:r>
              <a:rPr lang="en-US" sz="1400" dirty="0">
                <a:solidFill>
                  <a:schemeClr val="bg2"/>
                </a:solidFill>
              </a:rPr>
              <a:t>now</a:t>
            </a:r>
            <a:endParaRPr lang="en-US" sz="1400" dirty="0"/>
          </a:p>
        </p:txBody>
      </p:sp>
      <p:sp>
        <p:nvSpPr>
          <p:cNvPr id="5" name="Text 3"/>
          <p:cNvSpPr txBox="1"/>
          <p:nvPr/>
        </p:nvSpPr>
        <p:spPr>
          <a:xfrm>
            <a:off x="777240" y="1965960"/>
            <a:ext cx="2194560" cy="457200"/>
          </a:xfrm>
          <a:prstGeom prst="rect">
            <a:avLst/>
          </a:prstGeom>
          <a:noFill/>
          <a:ln/>
        </p:spPr>
        <p:txBody>
          <a:bodyPr wrap="square" lIns="0" tIns="0" rIns="0" bIns="0" rtlCol="0" anchor="t"/>
          <a:lstStyle/>
          <a:p>
            <a:pPr indent="0" marL="0">
              <a:buNone/>
            </a:pPr>
            <a:r>
              <a:rPr lang="en-US" sz="2200" b="1" dirty="0">
                <a:solidFill>
                  <a:schemeClr val="accent1"/>
                </a:solidFill>
              </a:rPr>
              <a:t>Study</a:t>
            </a:r>
            <a:endParaRPr lang="en-US" sz="2200" dirty="0"/>
          </a:p>
        </p:txBody>
      </p:sp>
      <p:sp>
        <p:nvSpPr>
          <p:cNvPr id="6" name="Text 4"/>
          <p:cNvSpPr txBox="1"/>
          <p:nvPr/>
        </p:nvSpPr>
        <p:spPr>
          <a:xfrm>
            <a:off x="777240" y="2560320"/>
            <a:ext cx="2194560" cy="1097280"/>
          </a:xfrm>
          <a:prstGeom prst="rect">
            <a:avLst/>
          </a:prstGeom>
          <a:noFill/>
          <a:ln/>
        </p:spPr>
        <p:txBody>
          <a:bodyPr wrap="square" lIns="0" tIns="0" rIns="0" bIns="0" rtlCol="0" anchor="t"/>
          <a:lstStyle/>
          <a:p>
            <a:pPr indent="0" marL="0">
              <a:buNone/>
            </a:pPr>
            <a:r>
              <a:rPr lang="en-US" sz="1500" dirty="0">
                <a:solidFill>
                  <a:schemeClr val="bg1"/>
                </a:solidFill>
              </a:rPr>
              <a:t>Envelopes, beacon and IOS concept, tier trade</a:t>
            </a:r>
            <a:endParaRPr lang="en-US" sz="1500" dirty="0"/>
          </a:p>
        </p:txBody>
      </p:sp>
      <p:sp>
        <p:nvSpPr>
          <p:cNvPr id="7" name="Stage Ground demo"/>
          <p:cNvSpPr/>
          <p:nvPr/>
        </p:nvSpPr>
        <p:spPr>
          <a:xfrm>
            <a:off x="3355848" y="1463040"/>
            <a:ext cx="2651760" cy="2286000"/>
          </a:xfrm>
          <a:prstGeom prst="roundRect">
            <a:avLst>
              <a:gd name="adj" fmla="val 3200"/>
            </a:avLst>
          </a:prstGeom>
          <a:solidFill>
            <a:schemeClr val="accent6"/>
          </a:solidFill>
          <a:ln w="12700">
            <a:solidFill>
              <a:schemeClr val="accent6"/>
            </a:solidFill>
            <a:prstDash val="solid"/>
          </a:ln>
        </p:spPr>
      </p:sp>
      <p:sp>
        <p:nvSpPr>
          <p:cNvPr id="8" name="Text 6"/>
          <p:cNvSpPr txBox="1"/>
          <p:nvPr/>
        </p:nvSpPr>
        <p:spPr>
          <a:xfrm>
            <a:off x="3584448" y="1645920"/>
            <a:ext cx="2194560" cy="274320"/>
          </a:xfrm>
          <a:prstGeom prst="rect">
            <a:avLst/>
          </a:prstGeom>
          <a:noFill/>
          <a:ln/>
        </p:spPr>
        <p:txBody>
          <a:bodyPr wrap="square" lIns="0" tIns="0" rIns="0" bIns="0" rtlCol="0" anchor="t"/>
          <a:lstStyle/>
          <a:p>
            <a:pPr indent="0" marL="0">
              <a:buNone/>
            </a:pPr>
            <a:r>
              <a:rPr lang="en-US" sz="1400" dirty="0">
                <a:solidFill>
                  <a:schemeClr val="bg2"/>
                </a:solidFill>
              </a:rPr>
              <a:t>next</a:t>
            </a:r>
            <a:endParaRPr lang="en-US" sz="1400" dirty="0"/>
          </a:p>
        </p:txBody>
      </p:sp>
      <p:sp>
        <p:nvSpPr>
          <p:cNvPr id="9" name="Text 7"/>
          <p:cNvSpPr txBox="1"/>
          <p:nvPr/>
        </p:nvSpPr>
        <p:spPr>
          <a:xfrm>
            <a:off x="3584448" y="1965960"/>
            <a:ext cx="2194560" cy="457200"/>
          </a:xfrm>
          <a:prstGeom prst="rect">
            <a:avLst/>
          </a:prstGeom>
          <a:noFill/>
          <a:ln/>
        </p:spPr>
        <p:txBody>
          <a:bodyPr wrap="square" lIns="0" tIns="0" rIns="0" bIns="0" rtlCol="0" anchor="t"/>
          <a:lstStyle/>
          <a:p>
            <a:pPr indent="0" marL="0">
              <a:buNone/>
            </a:pPr>
            <a:r>
              <a:rPr lang="en-US" sz="2200" b="1" dirty="0">
                <a:solidFill>
                  <a:schemeClr val="accent1"/>
                </a:solidFill>
              </a:rPr>
              <a:t>Ground demo</a:t>
            </a:r>
            <a:endParaRPr lang="en-US" sz="2200" dirty="0"/>
          </a:p>
        </p:txBody>
      </p:sp>
      <p:sp>
        <p:nvSpPr>
          <p:cNvPr id="10" name="Text 8"/>
          <p:cNvSpPr txBox="1"/>
          <p:nvPr/>
        </p:nvSpPr>
        <p:spPr>
          <a:xfrm>
            <a:off x="3584448" y="2560320"/>
            <a:ext cx="2194560" cy="1097280"/>
          </a:xfrm>
          <a:prstGeom prst="rect">
            <a:avLst/>
          </a:prstGeom>
          <a:noFill/>
          <a:ln/>
        </p:spPr>
        <p:txBody>
          <a:bodyPr wrap="square" lIns="0" tIns="0" rIns="0" bIns="0" rtlCol="0" anchor="t"/>
          <a:lstStyle/>
          <a:p>
            <a:pPr indent="0" marL="0">
              <a:buNone/>
            </a:pPr>
            <a:r>
              <a:rPr lang="en-US" sz="1500" dirty="0">
                <a:solidFill>
                  <a:schemeClr val="bg1"/>
                </a:solidFill>
              </a:rPr>
              <a:t>Bench B1 to B7, contact model, HIL rig</a:t>
            </a:r>
            <a:endParaRPr lang="en-US" sz="1500" dirty="0"/>
          </a:p>
        </p:txBody>
      </p:sp>
      <p:sp>
        <p:nvSpPr>
          <p:cNvPr id="11" name="Stage IOD"/>
          <p:cNvSpPr/>
          <p:nvPr/>
        </p:nvSpPr>
        <p:spPr>
          <a:xfrm>
            <a:off x="6163056" y="1463040"/>
            <a:ext cx="2651760" cy="2286000"/>
          </a:xfrm>
          <a:prstGeom prst="roundRect">
            <a:avLst>
              <a:gd name="adj" fmla="val 3200"/>
            </a:avLst>
          </a:prstGeom>
          <a:solidFill>
            <a:schemeClr val="tx2"/>
          </a:solidFill>
          <a:ln w="12700">
            <a:solidFill>
              <a:schemeClr val="accent6"/>
            </a:solidFill>
            <a:prstDash val="solid"/>
          </a:ln>
        </p:spPr>
      </p:sp>
      <p:sp>
        <p:nvSpPr>
          <p:cNvPr id="12" name="Text 10"/>
          <p:cNvSpPr txBox="1"/>
          <p:nvPr/>
        </p:nvSpPr>
        <p:spPr>
          <a:xfrm>
            <a:off x="6391656" y="1645920"/>
            <a:ext cx="2194560" cy="274320"/>
          </a:xfrm>
          <a:prstGeom prst="rect">
            <a:avLst/>
          </a:prstGeom>
          <a:noFill/>
          <a:ln/>
        </p:spPr>
        <p:txBody>
          <a:bodyPr wrap="square" lIns="0" tIns="0" rIns="0" bIns="0" rtlCol="0" anchor="t"/>
          <a:lstStyle/>
          <a:p>
            <a:pPr indent="0" marL="0">
              <a:buNone/>
            </a:pPr>
            <a:r>
              <a:rPr lang="en-US" sz="1400" dirty="0">
                <a:solidFill>
                  <a:schemeClr val="bg2"/>
                </a:solidFill>
              </a:rPr>
              <a:t>later</a:t>
            </a:r>
            <a:endParaRPr lang="en-US" sz="1400" dirty="0"/>
          </a:p>
        </p:txBody>
      </p:sp>
      <p:sp>
        <p:nvSpPr>
          <p:cNvPr id="13" name="Text 11"/>
          <p:cNvSpPr txBox="1"/>
          <p:nvPr/>
        </p:nvSpPr>
        <p:spPr>
          <a:xfrm>
            <a:off x="6391656" y="1965960"/>
            <a:ext cx="2194560" cy="457200"/>
          </a:xfrm>
          <a:prstGeom prst="rect">
            <a:avLst/>
          </a:prstGeom>
          <a:noFill/>
          <a:ln/>
        </p:spPr>
        <p:txBody>
          <a:bodyPr wrap="square" lIns="0" tIns="0" rIns="0" bIns="0" rtlCol="0" anchor="t"/>
          <a:lstStyle/>
          <a:p>
            <a:pPr indent="0" marL="0">
              <a:buNone/>
            </a:pPr>
            <a:r>
              <a:rPr lang="en-US" sz="2200" b="1" dirty="0">
                <a:solidFill>
                  <a:schemeClr val="accent1"/>
                </a:solidFill>
              </a:rPr>
              <a:t>IOD</a:t>
            </a:r>
            <a:endParaRPr lang="en-US" sz="2200" dirty="0"/>
          </a:p>
        </p:txBody>
      </p:sp>
      <p:sp>
        <p:nvSpPr>
          <p:cNvPr id="14" name="Text 12"/>
          <p:cNvSpPr txBox="1"/>
          <p:nvPr/>
        </p:nvSpPr>
        <p:spPr>
          <a:xfrm>
            <a:off x="6391656" y="2560320"/>
            <a:ext cx="2194560" cy="1097280"/>
          </a:xfrm>
          <a:prstGeom prst="rect">
            <a:avLst/>
          </a:prstGeom>
          <a:noFill/>
          <a:ln/>
        </p:spPr>
        <p:txBody>
          <a:bodyPr wrap="square" lIns="0" tIns="0" rIns="0" bIns="0" rtlCol="0" anchor="t"/>
          <a:lstStyle/>
          <a:p>
            <a:pPr indent="0" marL="0">
              <a:buNone/>
            </a:pPr>
            <a:r>
              <a:rPr lang="en-US" sz="1500" dirty="0">
                <a:solidFill>
                  <a:schemeClr val="bg1"/>
                </a:solidFill>
              </a:rPr>
              <a:t>Prepared client and servicer in orbit</a:t>
            </a:r>
            <a:endParaRPr lang="en-US" sz="1500" dirty="0"/>
          </a:p>
        </p:txBody>
      </p:sp>
      <p:sp>
        <p:nvSpPr>
          <p:cNvPr id="15" name="Stage Product family"/>
          <p:cNvSpPr/>
          <p:nvPr/>
        </p:nvSpPr>
        <p:spPr>
          <a:xfrm>
            <a:off x="8970264" y="1463040"/>
            <a:ext cx="2651760" cy="2286000"/>
          </a:xfrm>
          <a:prstGeom prst="roundRect">
            <a:avLst>
              <a:gd name="adj" fmla="val 3200"/>
            </a:avLst>
          </a:prstGeom>
          <a:solidFill>
            <a:schemeClr val="tx2"/>
          </a:solidFill>
          <a:ln w="12700">
            <a:solidFill>
              <a:schemeClr val="accent6"/>
            </a:solidFill>
            <a:prstDash val="solid"/>
          </a:ln>
        </p:spPr>
      </p:sp>
      <p:sp>
        <p:nvSpPr>
          <p:cNvPr id="16" name="Text 14"/>
          <p:cNvSpPr txBox="1"/>
          <p:nvPr/>
        </p:nvSpPr>
        <p:spPr>
          <a:xfrm>
            <a:off x="9198864" y="1645920"/>
            <a:ext cx="2194560" cy="274320"/>
          </a:xfrm>
          <a:prstGeom prst="rect">
            <a:avLst/>
          </a:prstGeom>
          <a:noFill/>
          <a:ln/>
        </p:spPr>
        <p:txBody>
          <a:bodyPr wrap="square" lIns="0" tIns="0" rIns="0" bIns="0" rtlCol="0" anchor="t"/>
          <a:lstStyle/>
          <a:p>
            <a:pPr indent="0" marL="0">
              <a:buNone/>
            </a:pPr>
            <a:r>
              <a:rPr lang="en-US" sz="1400" dirty="0">
                <a:solidFill>
                  <a:schemeClr val="bg2"/>
                </a:solidFill>
              </a:rPr>
              <a:t>after</a:t>
            </a:r>
            <a:endParaRPr lang="en-US" sz="1400" dirty="0"/>
          </a:p>
        </p:txBody>
      </p:sp>
      <p:sp>
        <p:nvSpPr>
          <p:cNvPr id="17" name="Text 15"/>
          <p:cNvSpPr txBox="1"/>
          <p:nvPr/>
        </p:nvSpPr>
        <p:spPr>
          <a:xfrm>
            <a:off x="9198864" y="1965960"/>
            <a:ext cx="2194560" cy="457200"/>
          </a:xfrm>
          <a:prstGeom prst="rect">
            <a:avLst/>
          </a:prstGeom>
          <a:noFill/>
          <a:ln/>
        </p:spPr>
        <p:txBody>
          <a:bodyPr wrap="square" lIns="0" tIns="0" rIns="0" bIns="0" rtlCol="0" anchor="t"/>
          <a:lstStyle/>
          <a:p>
            <a:pPr indent="0" marL="0">
              <a:buNone/>
            </a:pPr>
            <a:r>
              <a:rPr lang="en-US" sz="2200" b="1" dirty="0">
                <a:solidFill>
                  <a:schemeClr val="accent1"/>
                </a:solidFill>
              </a:rPr>
              <a:t>Product family</a:t>
            </a:r>
            <a:endParaRPr lang="en-US" sz="2200" dirty="0"/>
          </a:p>
        </p:txBody>
      </p:sp>
      <p:sp>
        <p:nvSpPr>
          <p:cNvPr id="18" name="Text 16"/>
          <p:cNvSpPr txBox="1"/>
          <p:nvPr/>
        </p:nvSpPr>
        <p:spPr>
          <a:xfrm>
            <a:off x="9198864" y="2560320"/>
            <a:ext cx="2194560" cy="1097280"/>
          </a:xfrm>
          <a:prstGeom prst="rect">
            <a:avLst/>
          </a:prstGeom>
          <a:noFill/>
          <a:ln/>
        </p:spPr>
        <p:txBody>
          <a:bodyPr wrap="square" lIns="0" tIns="0" rIns="0" bIns="0" rtlCol="0" anchor="t"/>
          <a:lstStyle/>
          <a:p>
            <a:pPr indent="0" marL="0">
              <a:buNone/>
            </a:pPr>
            <a:r>
              <a:rPr lang="en-US" sz="1500" dirty="0">
                <a:solidFill>
                  <a:schemeClr val="bg1"/>
                </a:solidFill>
              </a:rPr>
              <a:t>Tiers 1 to 4 as catalogue items</a:t>
            </a:r>
            <a:endParaRPr lang="en-US" sz="1500" dirty="0"/>
          </a:p>
        </p:txBody>
      </p:sp>
      <p:sp>
        <p:nvSpPr>
          <p:cNvPr id="19" name="Text 17"/>
          <p:cNvSpPr txBox="1"/>
          <p:nvPr/>
        </p:nvSpPr>
        <p:spPr>
          <a:xfrm>
            <a:off x="548640" y="4069080"/>
            <a:ext cx="3291840" cy="822960"/>
          </a:xfrm>
          <a:prstGeom prst="rect">
            <a:avLst/>
          </a:prstGeom>
          <a:noFill/>
          <a:ln/>
        </p:spPr>
        <p:txBody>
          <a:bodyPr wrap="square" lIns="0" tIns="0" rIns="0" bIns="0" rtlCol="0" anchor="t"/>
          <a:lstStyle/>
          <a:p>
            <a:pPr indent="0" marL="0">
              <a:buNone/>
            </a:pPr>
            <a:r>
              <a:rPr lang="en-US" sz="4800" b="1" dirty="0">
                <a:solidFill>
                  <a:schemeClr val="accent2"/>
                </a:solidFill>
              </a:rPr>
              <a:t>EUR 770 k</a:t>
            </a:r>
            <a:endParaRPr lang="en-US" sz="4800" dirty="0"/>
          </a:p>
        </p:txBody>
      </p:sp>
      <p:sp>
        <p:nvSpPr>
          <p:cNvPr id="20" name="Text 18"/>
          <p:cNvSpPr txBox="1"/>
          <p:nvPr/>
        </p:nvSpPr>
        <p:spPr>
          <a:xfrm>
            <a:off x="548640" y="4937760"/>
            <a:ext cx="3291840" cy="640080"/>
          </a:xfrm>
          <a:prstGeom prst="rect">
            <a:avLst/>
          </a:prstGeom>
          <a:noFill/>
          <a:ln/>
        </p:spPr>
        <p:txBody>
          <a:bodyPr wrap="square" lIns="0" tIns="0" rIns="0" bIns="0" rtlCol="0" anchor="t"/>
          <a:lstStyle/>
          <a:p>
            <a:pPr indent="0" marL="0">
              <a:buNone/>
            </a:pPr>
            <a:r>
              <a:rPr lang="en-US" sz="1400" dirty="0">
                <a:solidFill>
                  <a:schemeClr val="bg2"/>
                </a:solidFill>
              </a:rPr>
              <a:t>draft ground-demo budget (assumed)</a:t>
            </a:r>
            <a:endParaRPr lang="en-US" sz="1400" dirty="0"/>
          </a:p>
        </p:txBody>
      </p:sp>
      <p:sp>
        <p:nvSpPr>
          <p:cNvPr id="21" name="Text 19"/>
          <p:cNvSpPr txBox="1"/>
          <p:nvPr/>
        </p:nvSpPr>
        <p:spPr>
          <a:xfrm>
            <a:off x="4114800" y="4069080"/>
            <a:ext cx="2743200" cy="822960"/>
          </a:xfrm>
          <a:prstGeom prst="rect">
            <a:avLst/>
          </a:prstGeom>
          <a:noFill/>
          <a:ln/>
        </p:spPr>
        <p:txBody>
          <a:bodyPr wrap="square" lIns="0" tIns="0" rIns="0" bIns="0" rtlCol="0" anchor="t"/>
          <a:lstStyle/>
          <a:p>
            <a:pPr indent="0" marL="0">
              <a:buNone/>
            </a:pPr>
            <a:r>
              <a:rPr lang="en-US" sz="4800" b="1" dirty="0">
                <a:solidFill>
                  <a:schemeClr val="accent1"/>
                </a:solidFill>
              </a:rPr>
              <a:t>40</a:t>
            </a:r>
            <a:endParaRPr lang="en-US" sz="4800" dirty="0"/>
          </a:p>
        </p:txBody>
      </p:sp>
      <p:sp>
        <p:nvSpPr>
          <p:cNvPr id="22" name="Text 20"/>
          <p:cNvSpPr txBox="1"/>
          <p:nvPr/>
        </p:nvSpPr>
        <p:spPr>
          <a:xfrm>
            <a:off x="4114800" y="4937760"/>
            <a:ext cx="2743200" cy="640080"/>
          </a:xfrm>
          <a:prstGeom prst="rect">
            <a:avLst/>
          </a:prstGeom>
          <a:noFill/>
          <a:ln/>
        </p:spPr>
        <p:txBody>
          <a:bodyPr wrap="square" lIns="0" tIns="0" rIns="0" bIns="0" rtlCol="0" anchor="t"/>
          <a:lstStyle/>
          <a:p>
            <a:pPr indent="0" marL="0">
              <a:buNone/>
            </a:pPr>
            <a:r>
              <a:rPr lang="en-US" sz="1400" dirty="0">
                <a:solidFill>
                  <a:schemeClr val="bg2"/>
                </a:solidFill>
              </a:rPr>
              <a:t>person-months at EUR 8 k assumed</a:t>
            </a:r>
            <a:endParaRPr lang="en-US" sz="1400" dirty="0"/>
          </a:p>
        </p:txBody>
      </p:sp>
      <p:sp>
        <p:nvSpPr>
          <p:cNvPr id="23" name="Text 21"/>
          <p:cNvSpPr txBox="1"/>
          <p:nvPr/>
        </p:nvSpPr>
        <p:spPr>
          <a:xfrm>
            <a:off x="7132320" y="4114800"/>
            <a:ext cx="4480560" cy="1645920"/>
          </a:xfrm>
          <a:prstGeom prst="rect">
            <a:avLst/>
          </a:prstGeom>
          <a:noFill/>
          <a:ln/>
        </p:spPr>
        <p:txBody>
          <a:bodyPr wrap="square" lIns="0" tIns="0" rIns="0" bIns="0" rtlCol="0" anchor="t"/>
          <a:lstStyle/>
          <a:p>
            <a:pPr indent="0" marL="0">
              <a:buNone/>
            </a:pPr>
            <a:r>
              <a:rPr lang="en-US" sz="1500" dirty="0">
                <a:solidFill>
                  <a:schemeClr val="bg2"/>
                </a:solidFill>
              </a:rPr>
              <a:t>Use of funds: about 42% people, 45% bench and rig hardware, 13% contingency. Six work packages: systems, RPO and GNC, HPC and analysis, beacon bench, IOS and OSAN, business and regulatory.</a:t>
            </a:r>
            <a:endParaRPr lang="en-US" sz="15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3200" b="1" dirty="0">
                <a:solidFill>
                  <a:schemeClr val="bg1"/>
                </a:solidFill>
              </a:rPr>
              <a:t>Three asks and the risks we are watching</a:t>
            </a:r>
            <a:endParaRPr lang="en-US" sz="3200" dirty="0"/>
          </a:p>
        </p:txBody>
      </p:sp>
      <p:sp>
        <p:nvSpPr>
          <p:cNvPr id="3" name="Asks"/>
          <p:cNvSpPr/>
          <p:nvPr/>
        </p:nvSpPr>
        <p:spPr>
          <a:xfrm>
            <a:off x="548640" y="1463040"/>
            <a:ext cx="5394960" cy="4023360"/>
          </a:xfrm>
          <a:prstGeom prst="roundRect">
            <a:avLst>
              <a:gd name="adj" fmla="val 1818"/>
            </a:avLst>
          </a:prstGeom>
          <a:solidFill>
            <a:schemeClr val="tx2"/>
          </a:solidFill>
          <a:ln w="12700">
            <a:solidFill>
              <a:schemeClr val="accent6"/>
            </a:solidFill>
            <a:prstDash val="solid"/>
          </a:ln>
        </p:spPr>
      </p:sp>
      <p:sp>
        <p:nvSpPr>
          <p:cNvPr id="4" name="Text 2"/>
          <p:cNvSpPr txBox="1"/>
          <p:nvPr/>
        </p:nvSpPr>
        <p:spPr>
          <a:xfrm>
            <a:off x="822960" y="1645920"/>
            <a:ext cx="4846320" cy="365760"/>
          </a:xfrm>
          <a:prstGeom prst="rect">
            <a:avLst/>
          </a:prstGeom>
          <a:noFill/>
          <a:ln/>
        </p:spPr>
        <p:txBody>
          <a:bodyPr wrap="square" lIns="0" tIns="0" rIns="0" bIns="0" rtlCol="0" anchor="t"/>
          <a:lstStyle/>
          <a:p>
            <a:pPr indent="0" marL="0">
              <a:buNone/>
            </a:pPr>
            <a:r>
              <a:rPr lang="en-US" sz="2200" b="1" dirty="0">
                <a:solidFill>
                  <a:schemeClr val="accent3"/>
                </a:solidFill>
              </a:rPr>
              <a:t>What we need</a:t>
            </a:r>
            <a:endParaRPr lang="en-US" sz="2200" dirty="0"/>
          </a:p>
        </p:txBody>
      </p:sp>
      <p:sp>
        <p:nvSpPr>
          <p:cNvPr id="5" name="Text 3"/>
          <p:cNvSpPr txBox="1"/>
          <p:nvPr/>
        </p:nvSpPr>
        <p:spPr>
          <a:xfrm>
            <a:off x="822960" y="2286000"/>
            <a:ext cx="4846320" cy="347472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chemeClr val="bg1"/>
                </a:solidFill>
              </a:rPr>
              <a:t>Confirm the reference client and the degraded failure cases</a:t>
            </a:r>
            <a:endParaRPr lang="en-US" sz="2000" dirty="0"/>
          </a:p>
          <a:p>
            <a:pPr marL="342900" indent="-342900">
              <a:spcAft>
                <a:spcPts val="1200"/>
              </a:spcAft>
              <a:buSzPct val="100000"/>
              <a:buFont typeface="+mj-lt"/>
              <a:buAutoNum type="arabicPeriod" startAt="1"/>
            </a:pPr>
            <a:r>
              <a:rPr lang="en-US" sz="2000" dirty="0">
                <a:solidFill>
                  <a:schemeClr val="bg1"/>
                </a:solidFill>
              </a:rPr>
              <a:t>Point us to failure statistics so we can test how often rescue is needed</a:t>
            </a:r>
            <a:endParaRPr lang="en-US" sz="2000" dirty="0"/>
          </a:p>
          <a:p>
            <a:pPr marL="342900" indent="-342900">
              <a:spcAft>
                <a:spcPts val="1200"/>
              </a:spcAft>
              <a:buSzPct val="100000"/>
              <a:buFont typeface="+mj-lt"/>
              <a:buAutoNum type="arabicPeriod" startAt="1"/>
            </a:pPr>
            <a:r>
              <a:rPr lang="en-US" sz="2000" dirty="0">
                <a:solidFill>
                  <a:schemeClr val="bg1"/>
                </a:solidFill>
              </a:rPr>
              <a:t>Agree the success criteria for the ground demo</a:t>
            </a:r>
            <a:endParaRPr lang="en-US" sz="2000" dirty="0"/>
          </a:p>
        </p:txBody>
      </p:sp>
      <p:sp>
        <p:nvSpPr>
          <p:cNvPr id="6" name="Risks"/>
          <p:cNvSpPr/>
          <p:nvPr/>
        </p:nvSpPr>
        <p:spPr>
          <a:xfrm>
            <a:off x="6217920" y="1463040"/>
            <a:ext cx="5422392" cy="4023360"/>
          </a:xfrm>
          <a:prstGeom prst="roundRect">
            <a:avLst>
              <a:gd name="adj" fmla="val 1818"/>
            </a:avLst>
          </a:prstGeom>
          <a:solidFill>
            <a:schemeClr val="tx2"/>
          </a:solidFill>
          <a:ln w="12700">
            <a:solidFill>
              <a:schemeClr val="accent6"/>
            </a:solidFill>
            <a:prstDash val="solid"/>
          </a:ln>
        </p:spPr>
      </p:sp>
      <p:sp>
        <p:nvSpPr>
          <p:cNvPr id="7" name="Text 5"/>
          <p:cNvSpPr txBox="1"/>
          <p:nvPr/>
        </p:nvSpPr>
        <p:spPr>
          <a:xfrm>
            <a:off x="6492240" y="1645920"/>
            <a:ext cx="4846320" cy="365760"/>
          </a:xfrm>
          <a:prstGeom prst="rect">
            <a:avLst/>
          </a:prstGeom>
          <a:noFill/>
          <a:ln/>
        </p:spPr>
        <p:txBody>
          <a:bodyPr wrap="square" lIns="0" tIns="0" rIns="0" bIns="0" rtlCol="0" anchor="t"/>
          <a:lstStyle/>
          <a:p>
            <a:pPr indent="0" marL="0">
              <a:buNone/>
            </a:pPr>
            <a:r>
              <a:rPr lang="en-US" sz="2200" b="1" dirty="0">
                <a:solidFill>
                  <a:schemeClr val="accent4"/>
                </a:solidFill>
              </a:rPr>
              <a:t>Risks</a:t>
            </a:r>
            <a:endParaRPr lang="en-US" sz="2200" dirty="0"/>
          </a:p>
        </p:txBody>
      </p:sp>
      <p:sp>
        <p:nvSpPr>
          <p:cNvPr id="8" name="Text 6"/>
          <p:cNvSpPr txBox="1"/>
          <p:nvPr/>
        </p:nvSpPr>
        <p:spPr>
          <a:xfrm>
            <a:off x="6492240" y="2286000"/>
            <a:ext cx="4846320" cy="310896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chemeClr val="bg1"/>
                </a:solidFill>
              </a:rPr>
              <a:t>Value rests on an assumed failure rate and price</a:t>
            </a:r>
            <a:endParaRPr lang="en-US" sz="1900" dirty="0"/>
          </a:p>
          <a:p>
            <a:pPr marL="342900" indent="-342900">
              <a:spcAft>
                <a:spcPts val="1000"/>
              </a:spcAft>
              <a:buSzPct val="100000"/>
              <a:buChar char="•"/>
            </a:pPr>
            <a:r>
              <a:rPr lang="en-US" sz="1900" dirty="0">
                <a:solidFill>
                  <a:schemeClr val="bg1"/>
                </a:solidFill>
              </a:rPr>
              <a:t>Buyers may prefer servicer-side fixes</a:t>
            </a:r>
            <a:endParaRPr lang="en-US" sz="1900" dirty="0"/>
          </a:p>
          <a:p>
            <a:pPr marL="342900" indent="-342900">
              <a:spcAft>
                <a:spcPts val="1000"/>
              </a:spcAft>
              <a:buSzPct val="100000"/>
              <a:buChar char="•"/>
            </a:pPr>
            <a:r>
              <a:rPr lang="en-US" sz="1900" dirty="0">
                <a:solidFill>
                  <a:schemeClr val="bg1"/>
                </a:solidFill>
              </a:rPr>
              <a:t>Contact-model fidelity and hardware lead time</a:t>
            </a:r>
            <a:endParaRPr lang="en-US" sz="1900" dirty="0"/>
          </a:p>
          <a:p>
            <a:pPr marL="342900" indent="-342900">
              <a:spcAft>
                <a:spcPts val="1000"/>
              </a:spcAft>
              <a:buSzPct val="100000"/>
              <a:buChar char="•"/>
            </a:pPr>
            <a:r>
              <a:rPr lang="en-US" sz="1900" dirty="0">
                <a:solidFill>
                  <a:schemeClr val="bg1"/>
                </a:solidFill>
              </a:rPr>
              <a:t>Standards fragmentation and licensing timing</a:t>
            </a:r>
            <a:endParaRPr lang="en-US" sz="1900" dirty="0"/>
          </a:p>
          <a:p>
            <a:pPr marL="342900" indent="-342900">
              <a:spcAft>
                <a:spcPts val="1000"/>
              </a:spcAft>
              <a:buSzPct val="100000"/>
              <a:buChar char="•"/>
            </a:pPr>
            <a:r>
              <a:rPr lang="en-US" sz="1900" dirty="0">
                <a:solidFill>
                  <a:schemeClr val="bg1"/>
                </a:solidFill>
              </a:rPr>
              <a:t>Novelty not yet checked against patents</a:t>
            </a:r>
            <a:endParaRPr lang="en-US" sz="19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91672" cy="1280160"/>
          </a:xfrm>
          <a:prstGeom prst="rect">
            <a:avLst/>
          </a:prstGeom>
          <a:noFill/>
          <a:ln/>
        </p:spPr>
        <p:txBody>
          <a:bodyPr wrap="square" lIns="0" tIns="0" rIns="0" bIns="0" rtlCol="0"/>
          <a:lstStyle/>
          <a:p>
            <a:pPr algn="l" indent="0" marL="0">
              <a:buNone/>
            </a:pPr>
            <a:r>
              <a:rPr lang="en-US" sz="5400" b="1" dirty="0">
                <a:solidFill>
                  <a:schemeClr val="bg1"/>
                </a:solidFill>
              </a:rPr>
              <a:t>Minimum preparation. Safe when degraded. A scalable roadmap.</a:t>
            </a:r>
            <a:endParaRPr lang="en-US" sz="5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3200" b="1" dirty="0">
                <a:solidFill>
                  <a:schemeClr val="bg1"/>
                </a:solidFill>
              </a:rPr>
              <a:t>Appendix: what is evidence and what is assumed</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3840480"/>
                <a:gridCol w="3566160"/>
                <a:gridCol w="3685032"/>
              </a:tblGrid>
              <a:tr h="502920">
                <a:tc>
                  <a:txBody>
                    <a:bodyPr/>
                    <a:lstStyle/>
                    <a:p>
                      <a:pPr indent="0" marL="0">
                        <a:buNone/>
                      </a:pPr>
                      <a:r>
                        <a:rPr lang="en-US" sz="1400" b="1" dirty="0">
                          <a:solidFill>
                            <a:srgbClr val="5AD1FF"/>
                          </a:solidFill>
                        </a:rPr>
                        <a:t>Item</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B1220"/>
                    </a:solidFill>
                  </a:tcPr>
                </a:tc>
                <a:tc>
                  <a:txBody>
                    <a:bodyPr/>
                    <a:lstStyle/>
                    <a:p>
                      <a:pPr indent="0" marL="0">
                        <a:buNone/>
                      </a:pPr>
                      <a:r>
                        <a:rPr lang="en-US" sz="1400" b="1" dirty="0">
                          <a:solidFill>
                            <a:srgbClr val="5AD1FF"/>
                          </a:solidFill>
                        </a:rPr>
                        <a:t>Status</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B1220"/>
                    </a:solidFill>
                  </a:tcPr>
                </a:tc>
                <a:tc>
                  <a:txBody>
                    <a:bodyPr/>
                    <a:lstStyle/>
                    <a:p>
                      <a:pPr indent="0" marL="0">
                        <a:buNone/>
                      </a:pPr>
                      <a:r>
                        <a:rPr lang="en-US" sz="1400" b="1" dirty="0">
                          <a:solidFill>
                            <a:srgbClr val="5AD1FF"/>
                          </a:solidFill>
                        </a:rPr>
                        <a:t>Source</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B1220"/>
                    </a:solidFill>
                  </a:tcPr>
                </a:tc>
              </a:tr>
              <a:tr h="502920">
                <a:tc>
                  <a:txBody>
                    <a:bodyPr/>
                    <a:lstStyle/>
                    <a:p>
                      <a:pPr indent="0" marL="0">
                        <a:buNone/>
                      </a:pPr>
                      <a:r>
                        <a:rPr lang="en-US" sz="1400" dirty="0">
                          <a:solidFill>
                            <a:srgbClr val="DFE8F5"/>
                          </a:solidFill>
                        </a:rPr>
                        <a:t>Pass rates, paired effects, aborts</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7DFFB2"/>
                          </a:solidFill>
                        </a:rPr>
                        <a:t>Model result</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results/v4_1_validation, results/v4_0</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r>
              <a:tr h="502920">
                <a:tc>
                  <a:txBody>
                    <a:bodyPr/>
                    <a:lstStyle/>
                    <a:p>
                      <a:pPr indent="0" marL="0">
                        <a:buNone/>
                      </a:pPr>
                      <a:r>
                        <a:rPr lang="en-US" sz="1400" dirty="0">
                          <a:solidFill>
                            <a:srgbClr val="DFE8F5"/>
                          </a:solidFill>
                        </a:rPr>
                        <a:t>Beacon power, mass, link margin</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FFB454"/>
                          </a:solidFill>
                        </a:rPr>
                        <a:t>Engineering model, assumed derating</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rpo_project/ios.py, docs/BEACON_BENCH_PLAN.md</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r>
              <a:tr h="502920">
                <a:tc>
                  <a:txBody>
                    <a:bodyPr/>
                    <a:lstStyle/>
                    <a:p>
                      <a:pPr indent="0" marL="0">
                        <a:buNone/>
                      </a:pPr>
                      <a:r>
                        <a:rPr lang="en-US" sz="1400" dirty="0">
                          <a:solidFill>
                            <a:srgbClr val="DFE8F5"/>
                          </a:solidFill>
                        </a:rPr>
                        <a:t>Prices, revenue, probabilities, budget</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FF8F8F"/>
                          </a:solidFill>
                        </a:rPr>
                        <a:t>Assumed</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docs/ECONOMICS_MODEL.md, docs/PRESENTATION_PACK.md</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r>
              <a:tr h="502920">
                <a:tc>
                  <a:txBody>
                    <a:bodyPr/>
                    <a:lstStyle/>
                    <a:p>
                      <a:pPr indent="0" marL="0">
                        <a:buNone/>
                      </a:pPr>
                      <a:r>
                        <a:rPr lang="en-US" sz="1400" dirty="0">
                          <a:solidFill>
                            <a:srgbClr val="DFE8F5"/>
                          </a:solidFill>
                        </a:rPr>
                        <a:t>Competitors and standards</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FF8F8F"/>
                          </a:solidFill>
                        </a:rPr>
                        <a:t>From background knowledge, unsourced</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docs/EXPERT_CHECKPOINT_SESSION1.md</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r>
              <a:tr h="502920">
                <a:tc>
                  <a:txBody>
                    <a:bodyPr/>
                    <a:lstStyle/>
                    <a:p>
                      <a:pPr indent="0" marL="0">
                        <a:buNone/>
                      </a:pPr>
                      <a:r>
                        <a:rPr lang="en-US" sz="1400" dirty="0">
                          <a:solidFill>
                            <a:srgbClr val="DFE8F5"/>
                          </a:solidFill>
                        </a:rPr>
                        <a:t>Fuel gauge, downlink, platform demo data</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FFB454"/>
                          </a:solidFill>
                        </a:rPr>
                        <a:t>Simulated</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c>
                  <a:txBody>
                    <a:bodyPr/>
                    <a:lstStyle/>
                    <a:p>
                      <a:pPr indent="0" marL="0">
                        <a:buNone/>
                      </a:pPr>
                      <a:r>
                        <a:rPr lang="en-US" sz="1400" dirty="0">
                          <a:solidFill>
                            <a:srgbClr val="DFE8F5"/>
                          </a:solidFill>
                        </a:rPr>
                        <a:t>tools/export_fuel_demo.py, export_downlink_demo.py</a:t>
                      </a:r>
                      <a:endParaRPr lang="en-US" sz="1400" dirty="0"/>
                    </a:p>
                  </a:txBody>
                  <a:tcPr marL="91440" marR="91440" marT="45720" marB="45720">
                    <a:lnL w="12700" cap="flat" cmpd="sng" algn="ctr">
                      <a:solidFill>
                        <a:srgbClr val="243651"/>
                      </a:solidFill>
                      <a:prstDash val="solid"/>
                      <a:round/>
                      <a:headEnd type="none" w="med" len="med"/>
                      <a:tailEnd type="none" w="med" len="med"/>
                    </a:lnL>
                    <a:lnR w="12700" cap="flat" cmpd="sng" algn="ctr">
                      <a:solidFill>
                        <a:srgbClr val="243651"/>
                      </a:solidFill>
                      <a:prstDash val="solid"/>
                      <a:round/>
                      <a:headEnd type="none" w="med" len="med"/>
                      <a:tailEnd type="none" w="med" len="med"/>
                    </a:lnR>
                    <a:lnT w="12700" cap="flat" cmpd="sng" algn="ctr">
                      <a:solidFill>
                        <a:srgbClr val="243651"/>
                      </a:solidFill>
                      <a:prstDash val="solid"/>
                      <a:round/>
                      <a:headEnd type="none" w="med" len="med"/>
                      <a:tailEnd type="none" w="med" len="med"/>
                    </a:lnT>
                    <a:lnB w="12700" cap="flat" cmpd="sng" algn="ctr">
                      <a:solidFill>
                        <a:srgbClr val="243651"/>
                      </a:solidFill>
                      <a:prstDash val="solid"/>
                      <a:round/>
                      <a:headEnd type="none" w="med" len="med"/>
                      <a:tailEnd type="none" w="med" len="med"/>
                    </a:lnB>
                    <a:solidFill>
                      <a:srgbClr val="05070C"/>
                    </a:solidFill>
                  </a:tcPr>
                </a:tc>
              </a:tr>
            </a:tbl>
          </a:graphicData>
        </a:graphic>
      </p:graphicFrame>
      <p:sp>
        <p:nvSpPr>
          <p:cNvPr id="4" name="Text 1"/>
          <p:cNvSpPr txBox="1"/>
          <p:nvPr/>
        </p:nvSpPr>
        <p:spPr>
          <a:xfrm>
            <a:off x="548640" y="4754880"/>
            <a:ext cx="11091672" cy="731520"/>
          </a:xfrm>
          <a:prstGeom prst="rect">
            <a:avLst/>
          </a:prstGeom>
          <a:noFill/>
          <a:ln/>
        </p:spPr>
        <p:txBody>
          <a:bodyPr wrap="square" lIns="0" tIns="0" rIns="0" bIns="0" rtlCol="0" anchor="t"/>
          <a:lstStyle/>
          <a:p>
            <a:pPr indent="0" marL="0">
              <a:buNone/>
            </a:pPr>
            <a:r>
              <a:rPr lang="en-US" sz="1500" dirty="0">
                <a:solidFill>
                  <a:schemeClr val="bg2"/>
                </a:solidFill>
              </a:rPr>
              <a:t>TRL statement: simulation and concept today (our judgement, about TRL 2 to 3); proposed target for the ground demo about TRL 4 to 5. Not an assessed rating.</a:t>
            </a:r>
            <a:endParaRPr lang="en-US" sz="1500" dirty="0"/>
          </a:p>
        </p:txBody>
      </p:sp>
      <p:sp>
        <p:nvSpPr>
          <p:cNvPr id="25" name="Slide Number Placeholder 0"/>
          <p:cNvSpPr>
            <a:spLocks noGrp="1"/>
          </p:cNvSpPr>
          <p:nvPr>
            <p:ph type="sldNum" sz="quarter" idx="4294967295"/>
          </p:nvPr>
        </p:nvSpPr>
        <p:spPr>
          <a:xfrm>
            <a:off x="1118311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rbital Notation">
  <a:themeElements>
    <a:clrScheme name="Orbital Notation">
      <a:dk1>
        <a:srgbClr val="05070C"/>
      </a:dk1>
      <a:lt1>
        <a:srgbClr val="DFE8F5"/>
      </a:lt1>
      <a:dk2>
        <a:srgbClr val="0B1220"/>
      </a:dk2>
      <a:lt2>
        <a:srgbClr val="8FA6C8"/>
      </a:lt2>
      <a:accent1>
        <a:srgbClr val="5AD1FF"/>
      </a:accent1>
      <a:accent2>
        <a:srgbClr val="FFB454"/>
      </a:accent2>
      <a:accent3>
        <a:srgbClr val="7DFFB2"/>
      </a:accent3>
      <a:accent4>
        <a:srgbClr val="FF8F8F"/>
      </a:accent4>
      <a:accent5>
        <a:srgbClr val="7AA2FF"/>
      </a:accent5>
      <a:accent6>
        <a:srgbClr val="243651"/>
      </a:accent6>
      <a:hlink>
        <a:srgbClr val="5AD1FF"/>
      </a:hlink>
      <a:folHlink>
        <a:srgbClr val="8FA6C8"/>
      </a:folHlink>
    </a:clrScheme>
    <a:fontScheme name="Orbital Nota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Orbit Observers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Orbit Observers pitch</dc:title>
  <dc:subject>PptxGenJS Presentation</dc:subject>
  <dc:creator>Orbit Observers</dc:creator>
  <cp:lastModifiedBy>Orbit Observers</cp:lastModifiedBy>
  <cp:revision>1</cp:revision>
  <dcterms:created xsi:type="dcterms:W3CDTF">2026-10-19T11:44:22Z</dcterms:created>
  <dcterms:modified xsi:type="dcterms:W3CDTF">2026-10-19T11:44:22Z</dcterms:modified>
</cp:coreProperties>
</file>